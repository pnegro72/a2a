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4"/>
    <p:sldMasterId id="2147483760" r:id="rId5"/>
    <p:sldMasterId id="2147483812" r:id="rId6"/>
  </p:sldMasterIdLst>
  <p:notesMasterIdLst>
    <p:notesMasterId r:id="rId9"/>
  </p:notesMasterIdLst>
  <p:handoutMasterIdLst>
    <p:handoutMasterId r:id="rId10"/>
  </p:handoutMasterIdLst>
  <p:sldIdLst>
    <p:sldId id="2076136212" r:id="rId7"/>
    <p:sldId id="2076136215" r:id="rId8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3772" userDrawn="1">
          <p15:clr>
            <a:srgbClr val="A4A3A4"/>
          </p15:clr>
        </p15:guide>
        <p15:guide id="6" pos="3931" userDrawn="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5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dermann, Uta" initials="SU" lastIdx="8" clrIdx="0">
    <p:extLst>
      <p:ext uri="{19B8F6BF-5375-455C-9EA6-DF929625EA0E}">
        <p15:presenceInfo xmlns:p15="http://schemas.microsoft.com/office/powerpoint/2012/main" userId="S-1-5-21-329068152-1454471165-1417001333-4183212" providerId="AD"/>
      </p:ext>
    </p:extLst>
  </p:cmAuthor>
  <p:cmAuthor id="2" name="Habel, Till" initials="HT" lastIdx="5" clrIdx="1">
    <p:extLst>
      <p:ext uri="{19B8F6BF-5375-455C-9EA6-DF929625EA0E}">
        <p15:presenceInfo xmlns:p15="http://schemas.microsoft.com/office/powerpoint/2012/main" userId="S-1-5-21-329068152-1454471165-1417001333-7653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969696"/>
    <a:srgbClr val="5A5A5A"/>
    <a:srgbClr val="002266"/>
    <a:srgbClr val="FFB500"/>
    <a:srgbClr val="FFFFFF"/>
    <a:srgbClr val="000000"/>
    <a:srgbClr val="C9F3FF"/>
    <a:srgbClr val="F2F2F2"/>
    <a:srgbClr val="008CB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5F5B3C-5905-4D7D-BF2A-3C572E21E570}" v="1" dt="2026-03-04T19:53:33.3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>
        <p:guide pos="3840"/>
        <p:guide pos="3772"/>
        <p:guide pos="3931"/>
        <p:guide orient="horz" pos="2160"/>
        <p:guide pos="5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ena, Gonzalo Martin" userId="c5143b85-64fc-41d2-82a3-cd53ef513eab" providerId="ADAL" clId="{403801D8-8740-446F-98F1-59B124B8DBD9}"/>
    <pc:docChg chg="undo custSel modSld">
      <pc:chgData name="Lucena, Gonzalo Martin" userId="c5143b85-64fc-41d2-82a3-cd53ef513eab" providerId="ADAL" clId="{403801D8-8740-446F-98F1-59B124B8DBD9}" dt="2026-03-04T19:53:58.636" v="64" actId="1076"/>
      <pc:docMkLst>
        <pc:docMk/>
      </pc:docMkLst>
      <pc:sldChg chg="modSp mod">
        <pc:chgData name="Lucena, Gonzalo Martin" userId="c5143b85-64fc-41d2-82a3-cd53ef513eab" providerId="ADAL" clId="{403801D8-8740-446F-98F1-59B124B8DBD9}" dt="2026-03-04T19:53:03.779" v="43" actId="20577"/>
        <pc:sldMkLst>
          <pc:docMk/>
          <pc:sldMk cId="3747954151" sldId="2076136212"/>
        </pc:sldMkLst>
        <pc:spChg chg="mod">
          <ac:chgData name="Lucena, Gonzalo Martin" userId="c5143b85-64fc-41d2-82a3-cd53ef513eab" providerId="ADAL" clId="{403801D8-8740-446F-98F1-59B124B8DBD9}" dt="2026-03-04T19:53:03.779" v="43" actId="20577"/>
          <ac:spMkLst>
            <pc:docMk/>
            <pc:sldMk cId="3747954151" sldId="2076136212"/>
            <ac:spMk id="67" creationId="{C6A51E4F-7155-0013-A033-1BFC0B3D9F3D}"/>
          </ac:spMkLst>
        </pc:spChg>
      </pc:sldChg>
      <pc:sldChg chg="modSp mod">
        <pc:chgData name="Lucena, Gonzalo Martin" userId="c5143b85-64fc-41d2-82a3-cd53ef513eab" providerId="ADAL" clId="{403801D8-8740-446F-98F1-59B124B8DBD9}" dt="2026-03-04T19:53:58.636" v="64" actId="1076"/>
        <pc:sldMkLst>
          <pc:docMk/>
          <pc:sldMk cId="3487537606" sldId="2076136215"/>
        </pc:sldMkLst>
        <pc:spChg chg="mod">
          <ac:chgData name="Lucena, Gonzalo Martin" userId="c5143b85-64fc-41d2-82a3-cd53ef513eab" providerId="ADAL" clId="{403801D8-8740-446F-98F1-59B124B8DBD9}" dt="2026-03-04T19:53:52.623" v="63" actId="1076"/>
          <ac:spMkLst>
            <pc:docMk/>
            <pc:sldMk cId="3487537606" sldId="2076136215"/>
            <ac:spMk id="9" creationId="{74A37382-FFD1-74CD-A6A0-BA715F04BEDE}"/>
          </ac:spMkLst>
        </pc:spChg>
        <pc:spChg chg="mod">
          <ac:chgData name="Lucena, Gonzalo Martin" userId="c5143b85-64fc-41d2-82a3-cd53ef513eab" providerId="ADAL" clId="{403801D8-8740-446F-98F1-59B124B8DBD9}" dt="2026-03-04T19:53:58.636" v="64" actId="1076"/>
          <ac:spMkLst>
            <pc:docMk/>
            <pc:sldMk cId="3487537606" sldId="2076136215"/>
            <ac:spMk id="24" creationId="{8CB1E569-A506-CF08-BE66-65ED64F3C1F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Arial" panose="020B0604020202020204" pitchFamily="34" charset="0"/>
              </a:rPr>
              <a:t>3/4/2026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39D084F-DC83-4EB0-8CED-52E9AA3ECA1C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33544-EAA4-455F-8C8C-F9FC7D06B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8" y="1744826"/>
            <a:ext cx="6435081" cy="1714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6000" cap="all" baseline="0">
                <a:latin typeface="+mj-lt"/>
              </a:defRPr>
            </a:lvl1pPr>
          </a:lstStyle>
          <a:p>
            <a:pPr lvl="0"/>
            <a:r>
              <a:rPr lang="de-DE" err="1"/>
              <a:t>Presentation</a:t>
            </a:r>
            <a:r>
              <a:rPr lang="de-DE"/>
              <a:t> Title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6C774CE-8A51-462C-A6DA-3353B65B8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8" y="3486875"/>
            <a:ext cx="6435081" cy="5078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3000" cap="all" baseline="0">
                <a:solidFill>
                  <a:schemeClr val="tx1"/>
                </a:solidFill>
                <a:latin typeface="+mj-lt"/>
              </a:defRPr>
            </a:lvl1pPr>
            <a:lvl2pPr>
              <a:defRPr sz="3000">
                <a:latin typeface="Graphik Black" panose="020B0A03030202060203" pitchFamily="34" charset="0"/>
              </a:defRPr>
            </a:lvl2pPr>
            <a:lvl3pPr>
              <a:defRPr sz="3000">
                <a:latin typeface="Graphik Black" panose="020B0A03030202060203" pitchFamily="34" charset="0"/>
              </a:defRPr>
            </a:lvl3pPr>
            <a:lvl4pPr>
              <a:defRPr sz="3000">
                <a:latin typeface="Graphik Black" panose="020B0A03030202060203" pitchFamily="34" charset="0"/>
              </a:defRPr>
            </a:lvl4pPr>
            <a:lvl5pPr>
              <a:defRPr sz="3000">
                <a:latin typeface="Graphik Black" panose="020B0A03030202060203" pitchFamily="34" charset="0"/>
              </a:defRPr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3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spañ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938" y="88223"/>
            <a:ext cx="1336675" cy="1673225"/>
          </a:xfrm>
        </p:spPr>
        <p:txBody>
          <a:bodyPr/>
          <a:lstStyle>
            <a:lvl1pPr>
              <a:defRPr/>
            </a:lvl1pPr>
          </a:lstStyle>
          <a:p>
            <a:r>
              <a:rPr lang="es-CO" noProof="0"/>
              <a:t>Clic para adjuntar la imagen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5244" y="2132513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ÁREAS DE CONOCIMIENTO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EXPERIENCIA SELECCIONADA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PERFIL PROFESIONAL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237237" y="2237951"/>
            <a:ext cx="0" cy="331927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C22190-B227-49DD-8F11-48D76E075E94}"/>
              </a:ext>
            </a:extLst>
          </p:cNvPr>
          <p:cNvCxnSpPr>
            <a:cxnSpLocks/>
          </p:cNvCxnSpPr>
          <p:nvPr userDrawn="1"/>
        </p:nvCxnSpPr>
        <p:spPr>
          <a:xfrm>
            <a:off x="3079482" y="2237953"/>
            <a:ext cx="0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EE7479-6552-4B10-8999-F9FFF684DA70}"/>
              </a:ext>
            </a:extLst>
          </p:cNvPr>
          <p:cNvCxnSpPr>
            <a:cxnSpLocks/>
          </p:cNvCxnSpPr>
          <p:nvPr userDrawn="1"/>
        </p:nvCxnSpPr>
        <p:spPr>
          <a:xfrm flipH="1">
            <a:off x="5311323" y="2265418"/>
            <a:ext cx="1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Nombre Apellido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Rol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  <a:p>
            <a:pPr lvl="1"/>
            <a:r>
              <a:rPr lang="es-CO" noProof="0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CO" noProof="0"/>
              <a:t>Major 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 anchorCtr="0">
            <a:no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FUNCIONAL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DCDD220-FD2A-412B-830F-C6A5F46C86D4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3255677" y="4900148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A637F3C-BD10-4E01-B648-8CE5AFBAFD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455376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INDUSTRIA</a:t>
            </a:r>
          </a:p>
        </p:txBody>
      </p:sp>
    </p:spTree>
    <p:extLst>
      <p:ext uri="{BB962C8B-B14F-4D97-AF65-F5344CB8AC3E}">
        <p14:creationId xmlns:p14="http://schemas.microsoft.com/office/powerpoint/2010/main" val="238192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642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96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4553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05197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4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3288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5605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284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86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4292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29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8734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53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1676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8990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7742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5185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18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340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939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531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Arial" panose="020B0604020202020204" pitchFamily="34" charset="0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agenda summary here in Palatino Linotype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16308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91298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039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4059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0888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0506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1333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8734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9758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06425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6158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27106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3891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3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654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89699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subtitle here in Palatino Linotype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494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769504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160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465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03742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4833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716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941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55883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815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021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113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23754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63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47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7203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184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31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7558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89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0554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8107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2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3654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92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2376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24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7031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2499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6532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2124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51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8418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271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55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411971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21124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198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5675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6228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3616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9926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12167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988826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641816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91143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1749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824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2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4816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7545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18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309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01291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195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556659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5818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870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48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2836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72378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6524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06938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4.xml"/><Relationship Id="rId55" Type="http://schemas.openxmlformats.org/officeDocument/2006/relationships/oleObject" Target="../embeddings/oleObject1.bin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tags" Target="../tags/tag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56" Type="http://schemas.openxmlformats.org/officeDocument/2006/relationships/image" Target="../media/image1.emf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tags" Target="../tags/tag5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theme" Target="../theme/theme3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tags" Target="../tags/tag7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63.xml"/><Relationship Id="rId51" Type="http://schemas.openxmlformats.org/officeDocument/2006/relationships/tags" Target="../tags/tag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90F368C-0662-4B05-B5E4-7B52C6EBA9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32" imgH="530" progId="TCLayout.ActiveDocument.1">
                  <p:embed/>
                </p:oleObj>
              </mc:Choice>
              <mc:Fallback>
                <p:oleObj name="think-cell Slide" r:id="rId8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90F368C-0662-4B05-B5E4-7B52C6EBA9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949DF7F-5FAC-4247-9933-EE9462252CF9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D60B7-D06D-4830-BD69-35B1465F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65126"/>
            <a:ext cx="11425084" cy="82457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DF177-00B3-4AFF-B6D4-A595D3A7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458" y="1273629"/>
            <a:ext cx="11425084" cy="490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83EB6817-997F-4BFD-89D6-B40A72240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4419" y="6492875"/>
            <a:ext cx="4114800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r>
              <a:rPr lang="es-ES"/>
              <a:t>Copyright © 2020 Accenture. </a:t>
            </a:r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rights</a:t>
            </a:r>
            <a:r>
              <a:rPr lang="es-ES"/>
              <a:t> </a:t>
            </a:r>
            <a:r>
              <a:rPr lang="es-ES" err="1"/>
              <a:t>reserved</a:t>
            </a:r>
            <a:r>
              <a:rPr lang="es-ES"/>
              <a:t>.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D47C7C1-747A-488B-90A2-DB416575D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219" y="6492875"/>
            <a:ext cx="479323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686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56" r:id="rId2"/>
    <p:sldLayoutId id="2147483757" r:id="rId3"/>
    <p:sldLayoutId id="2147483759" r:id="rId4"/>
  </p:sldLayoutIdLst>
  <p:hf hd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2800" b="1" kern="1200" cap="all" spc="-150" baseline="0">
          <a:solidFill>
            <a:schemeClr val="tx1"/>
          </a:solidFill>
          <a:latin typeface="Graphik" panose="020B0503030202060203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8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lang="en-US" sz="1800" kern="1200" dirty="0" smtClean="0">
          <a:solidFill>
            <a:schemeClr val="accent1"/>
          </a:solidFill>
          <a:latin typeface="Graphik" panose="020B0503030202060203" pitchFamily="34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600" b="1" kern="1200" cap="all" baseline="0">
          <a:solidFill>
            <a:schemeClr val="accent2"/>
          </a:solidFill>
          <a:latin typeface="Graphik" panose="020B0503030202060203" pitchFamily="34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400" b="1" kern="1200">
          <a:solidFill>
            <a:schemeClr val="accent4"/>
          </a:solidFill>
          <a:latin typeface="Graphik" panose="020B0503030202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4DDAE6C-DBD6-9171-7CEF-37612C1A40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5" imgW="532" imgH="530" progId="TCLayout.ActiveDocument.1">
                  <p:embed/>
                </p:oleObj>
              </mc:Choice>
              <mc:Fallback>
                <p:oleObj name="think-cell Slide" r:id="rId55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4DDAE6C-DBD6-9171-7CEF-37612C1A40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6918C99E-8041-E18D-FDC3-3EAD90D1708D}"/>
              </a:ext>
            </a:extLst>
          </p:cNvPr>
          <p:cNvSpPr/>
          <p:nvPr userDrawn="1">
            <p:custDataLst>
              <p:tags r:id="rId5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1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797" r:id="rId37"/>
    <p:sldLayoutId id="2147483798" r:id="rId38"/>
    <p:sldLayoutId id="2147483799" r:id="rId39"/>
    <p:sldLayoutId id="2147483800" r:id="rId40"/>
    <p:sldLayoutId id="2147483801" r:id="rId41"/>
    <p:sldLayoutId id="2147483802" r:id="rId42"/>
    <p:sldLayoutId id="2147483803" r:id="rId43"/>
    <p:sldLayoutId id="2147483804" r:id="rId44"/>
    <p:sldLayoutId id="2147483805" r:id="rId45"/>
    <p:sldLayoutId id="2147483806" r:id="rId46"/>
    <p:sldLayoutId id="2147483807" r:id="rId47"/>
    <p:sldLayoutId id="2147483808" r:id="rId48"/>
    <p:sldLayoutId id="2147483809" r:id="rId49"/>
    <p:sldLayoutId id="2147483810" r:id="rId50"/>
    <p:sldLayoutId id="2147483811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8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  <p:sldLayoutId id="2147483840" r:id="rId28"/>
    <p:sldLayoutId id="2147483841" r:id="rId29"/>
    <p:sldLayoutId id="2147483842" r:id="rId30"/>
    <p:sldLayoutId id="2147483843" r:id="rId31"/>
    <p:sldLayoutId id="2147483844" r:id="rId32"/>
    <p:sldLayoutId id="2147483845" r:id="rId33"/>
    <p:sldLayoutId id="2147483846" r:id="rId34"/>
    <p:sldLayoutId id="2147483847" r:id="rId35"/>
    <p:sldLayoutId id="2147483848" r:id="rId36"/>
    <p:sldLayoutId id="2147483849" r:id="rId37"/>
    <p:sldLayoutId id="2147483850" r:id="rId38"/>
    <p:sldLayoutId id="2147483851" r:id="rId39"/>
    <p:sldLayoutId id="2147483852" r:id="rId40"/>
    <p:sldLayoutId id="2147483853" r:id="rId41"/>
    <p:sldLayoutId id="2147483854" r:id="rId42"/>
    <p:sldLayoutId id="2147483855" r:id="rId43"/>
    <p:sldLayoutId id="2147483856" r:id="rId44"/>
    <p:sldLayoutId id="2147483857" r:id="rId45"/>
    <p:sldLayoutId id="2147483858" r:id="rId46"/>
    <p:sldLayoutId id="2147483859" r:id="rId47"/>
    <p:sldLayoutId id="2147483860" r:id="rId48"/>
    <p:sldLayoutId id="2147483861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mailto:j.zapata@accenture.com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21.png"/><Relationship Id="rId7" Type="http://schemas.openxmlformats.org/officeDocument/2006/relationships/hyperlink" Target="mailto:j.zapata@accenture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Gonzalo Lucena</a:t>
            </a: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chemeClr val="accent3"/>
                </a:solidFill>
                <a:latin typeface="Graphik Black"/>
              </a:rPr>
              <a:t>AI LLM Technology Arch Sr Analyst</a:t>
            </a:r>
          </a:p>
          <a:p>
            <a:pPr marL="0" indent="0">
              <a:buNone/>
            </a:pPr>
            <a:r>
              <a:rPr lang="en-US" sz="1200" b="1" dirty="0">
                <a:hlinkClick r:id="rId3"/>
              </a:rPr>
              <a:t>Technology AI </a:t>
            </a:r>
            <a:r>
              <a:rPr lang="es-AR" sz="1200" dirty="0"/>
              <a:t> | LATAM HUB</a:t>
            </a:r>
          </a:p>
          <a:p>
            <a:pPr marL="0" indent="0">
              <a:buNone/>
            </a:pPr>
            <a:r>
              <a:rPr lang="en-US" sz="1200" b="1" dirty="0">
                <a:latin typeface="Graphik"/>
              </a:rPr>
              <a:t>gonzalo.lucena@accenture.com</a:t>
            </a: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851841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5226" cy="10637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3835" cy="2136594"/>
            <a:chOff x="652656" y="2462768"/>
            <a:chExt cx="2903835" cy="2136594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4385441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SPECIALIZATIONS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611504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49438" y="3861758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Bachelor's Degree in Information Technology (UP)</a:t>
            </a:r>
          </a:p>
          <a:p>
            <a:pPr marL="171450" indent="-171450">
              <a:buChar char="•"/>
            </a:pPr>
            <a:r>
              <a:rPr lang="en-US" sz="1000" dirty="0">
                <a:solidFill>
                  <a:srgbClr val="000000"/>
                </a:solidFill>
                <a:latin typeface="Graphik"/>
              </a:rPr>
              <a:t>Systems Analyst (IIDE)</a:t>
            </a:r>
            <a:endParaRPr lang="es-AR" dirty="0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5" y="2709462"/>
            <a:ext cx="2702016" cy="3009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Graphik"/>
              </a:rPr>
              <a:t>I´m quick to adapt to new technologies and situations, with a strong sense of responsibility and a constant predisposition to face obstacles and solve problems using teamwork and communication.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49438" y="4596773"/>
            <a:ext cx="2952329" cy="321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err="1">
                <a:solidFill>
                  <a:srgbClr val="000000"/>
                </a:solidFill>
                <a:latin typeface="Graphik"/>
              </a:rPr>
              <a:t>Certifiación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 Azure Fundamentals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Graphik"/>
              </a:rPr>
              <a:t>Certifiación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 GCP Professional Data Engineer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Graphik"/>
              </a:rPr>
              <a:t>Certifiación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 Airflow Fundamentals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Graphik"/>
              </a:rPr>
              <a:t>Certifiación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 GCP Professional ML Engineer</a:t>
            </a:r>
          </a:p>
          <a:p>
            <a:endParaRPr lang="en-US" sz="1000" dirty="0">
              <a:solidFill>
                <a:srgbClr val="000000"/>
              </a:solidFill>
              <a:latin typeface="Graphik"/>
            </a:endParaRPr>
          </a:p>
          <a:p>
            <a:pPr>
              <a:buFont typeface="Arial,Sans-Serif" panose="020B0604020202020204" pitchFamily="34" charset="0"/>
            </a:pPr>
            <a:endParaRPr lang="en-US" sz="1000" dirty="0">
              <a:solidFill>
                <a:srgbClr val="000000"/>
              </a:solidFill>
              <a:latin typeface="Graphik"/>
            </a:endParaRPr>
          </a:p>
          <a:p>
            <a:pPr algn="l">
              <a:buFont typeface="Arial,Sans-Serif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Graphik"/>
            </a:endParaRPr>
          </a:p>
          <a:p>
            <a:pPr algn="l">
              <a:buFont typeface="Arial,Sans-Serif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Graphik"/>
            </a:endParaRPr>
          </a:p>
          <a:p>
            <a:pPr algn="l">
              <a:buFont typeface="Arial,Sans-Serif" panose="020B0604020202020204" pitchFamily="34" charset="0"/>
              <a:buChar char="•"/>
            </a:pPr>
            <a:endParaRPr lang="es-AR" sz="1000" dirty="0">
              <a:solidFill>
                <a:srgbClr val="000000"/>
              </a:solidFill>
              <a:latin typeface="Graphik"/>
            </a:endParaRPr>
          </a:p>
          <a:p>
            <a:pPr algn="l">
              <a:buFont typeface="Arial,Sans-Serif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endParaRPr lang="en-US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Spanish (Native)</a:t>
            </a:r>
          </a:p>
          <a:p>
            <a:r>
              <a:rPr lang="en-US" dirty="0"/>
              <a:t>English (Proficient-C2)</a:t>
            </a:r>
          </a:p>
          <a:p>
            <a:r>
              <a:rPr lang="en-US" dirty="0"/>
              <a:t>Japanese (Beginner)</a:t>
            </a:r>
          </a:p>
          <a:p>
            <a:r>
              <a:rPr lang="en-US" dirty="0"/>
              <a:t>LSA (Advanced)</a:t>
            </a:r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Data Platform</a:t>
            </a:r>
          </a:p>
          <a:p>
            <a:r>
              <a:rPr lang="en-US" dirty="0"/>
              <a:t>Data &amp; AI</a:t>
            </a:r>
          </a:p>
          <a:p>
            <a:r>
              <a:rPr lang="en-US" dirty="0"/>
              <a:t>AI Solutions</a:t>
            </a:r>
          </a:p>
          <a:p>
            <a:endParaRPr lang="es-AR" dirty="0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3668181" cy="54725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it-IT" sz="1000" dirty="0">
                <a:solidFill>
                  <a:srgbClr val="000000"/>
                </a:solidFill>
                <a:latin typeface="+mn-lt"/>
              </a:rPr>
              <a:t>Askaxiom AI agent (March 2025 – Present)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cs typeface="Calibri" panose="020F0502020204030204" pitchFamily="34" charset="0"/>
              </a:rPr>
              <a:t>Developed text to </a:t>
            </a:r>
            <a:r>
              <a:rPr lang="en-US" sz="1000" b="0" dirty="0" err="1">
                <a:cs typeface="Calibri" panose="020F0502020204030204" pitchFamily="34" charset="0"/>
              </a:rPr>
              <a:t>sql</a:t>
            </a:r>
            <a:r>
              <a:rPr lang="en-US" sz="1000" b="0" dirty="0">
                <a:cs typeface="Calibri" panose="020F0502020204030204" pitchFamily="34" charset="0"/>
              </a:rPr>
              <a:t> Agentic Ai workflow nodes using python, </a:t>
            </a:r>
            <a:r>
              <a:rPr lang="en-US" sz="1000" b="0" dirty="0" err="1">
                <a:cs typeface="Calibri" panose="020F0502020204030204" pitchFamily="34" charset="0"/>
              </a:rPr>
              <a:t>langchain</a:t>
            </a:r>
            <a:r>
              <a:rPr lang="en-US" sz="1000" b="0" dirty="0">
                <a:cs typeface="Calibri" panose="020F0502020204030204" pitchFamily="34" charset="0"/>
              </a:rPr>
              <a:t>, neo4j and docker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cs typeface="Calibri" panose="020F0502020204030204" pitchFamily="34" charset="0"/>
              </a:rPr>
              <a:t>Worked on Agents using the </a:t>
            </a:r>
            <a:r>
              <a:rPr lang="en-US" sz="1000" b="0" dirty="0" err="1">
                <a:cs typeface="Calibri" panose="020F0502020204030204" pitchFamily="34" charset="0"/>
              </a:rPr>
              <a:t>ReAct</a:t>
            </a:r>
            <a:r>
              <a:rPr lang="en-US" sz="1000" b="0" dirty="0">
                <a:cs typeface="Calibri" panose="020F0502020204030204" pitchFamily="34" charset="0"/>
              </a:rPr>
              <a:t> pattern, snowflake ai and Gemini Enterprise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cs typeface="Calibri" panose="020F0502020204030204" pitchFamily="34" charset="0"/>
              </a:rPr>
              <a:t>Developed MCP tools for </a:t>
            </a:r>
            <a:r>
              <a:rPr lang="en-US" sz="1000" b="0" dirty="0" err="1">
                <a:cs typeface="Calibri" panose="020F0502020204030204" pitchFamily="34" charset="0"/>
              </a:rPr>
              <a:t>bigquery</a:t>
            </a:r>
            <a:r>
              <a:rPr lang="en-US" sz="1000" b="0" dirty="0">
                <a:cs typeface="Calibri" panose="020F0502020204030204" pitchFamily="34" charset="0"/>
              </a:rPr>
              <a:t> and neo4j connection.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cs typeface="Calibri" panose="020F0502020204030204" pitchFamily="34" charset="0"/>
              </a:rPr>
              <a:t>Working on a Python ETL process integrated with Power BI dashboards.</a:t>
            </a:r>
            <a:endParaRPr lang="it-IT" sz="1000" dirty="0">
              <a:solidFill>
                <a:srgbClr val="000000"/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it-IT" sz="1000" dirty="0">
                <a:solidFill>
                  <a:srgbClr val="000000"/>
                </a:solidFill>
                <a:latin typeface="+mn-lt"/>
              </a:rPr>
              <a:t>Internal Audit Team (Sep 2021 – March 2025)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Using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BigQuery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to analyze data with SQL.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Working with Google Functions and Python scripts.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Using Composer to automate a workflow with Airflow as an orchestrator.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Running and monitoring pipelines.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Using Terraform and Azure DevOps Pipelines.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Using Scrum and Kanban methodologies.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TENARIS V MODEL (Mar 2021 - Aug 2021)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Working with Azure Cloud tools to migrate the client´s systems.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Using Azure Virtual Machines to deploy an Airflow demo.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Developing and testing Python scripts for ACL automatization.. 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pt-BR" sz="1000" dirty="0">
                <a:solidFill>
                  <a:srgbClr val="000000"/>
                </a:solidFill>
                <a:latin typeface="+mn-lt"/>
              </a:rPr>
              <a:t>DAS (Ene 2015 - Mar 2021)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Developed a mobile app in Java with Android Studio.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Developed a desktop app with C++ and SQL.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Developed, tested and deployed brand new ETL and automatization tools with C# and Python, and improved on existing processes.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Administered a RDBMS using SQL.</a:t>
            </a: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 marL="171450" indent="-171450">
              <a:spcAft>
                <a:spcPts val="300"/>
              </a:spcAft>
              <a:buFont typeface="Arial,Sans-Serif"/>
              <a:buChar char="•"/>
            </a:pPr>
            <a:endParaRPr lang="en-US" sz="1000" dirty="0">
              <a:latin typeface="+mn-lt"/>
            </a:endParaRP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Accenture Applied Intelligence</a:t>
            </a:r>
          </a:p>
        </p:txBody>
      </p:sp>
      <p:pic>
        <p:nvPicPr>
          <p:cNvPr id="10" name="Picture Placeholder 15" descr="A person with the hand on the chin&#10;&#10;Description automatically generated with medium confidence">
            <a:extLst>
              <a:ext uri="{FF2B5EF4-FFF2-40B4-BE49-F238E27FC236}">
                <a16:creationId xmlns:a16="http://schemas.microsoft.com/office/drawing/2014/main" id="{6A114F75-F913-6014-C8D6-84A7FEC60A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57" r="10057"/>
          <a:stretch>
            <a:fillRect/>
          </a:stretch>
        </p:blipFill>
        <p:spPr>
          <a:xfrm>
            <a:off x="282877" y="682357"/>
            <a:ext cx="1336675" cy="16732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11CEFBA-819E-1F5D-53D5-ECB06EED97CB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Software Engineering: </a:t>
            </a:r>
            <a:r>
              <a:rPr lang="en-US" b="0" dirty="0">
                <a:solidFill>
                  <a:srgbClr val="000000"/>
                </a:solidFill>
              </a:rPr>
              <a:t>Python, SQL, C/C++/C#, Java, </a:t>
            </a:r>
            <a:r>
              <a:rPr lang="en-US" b="0" dirty="0" err="1">
                <a:solidFill>
                  <a:srgbClr val="000000"/>
                </a:solidFill>
              </a:rPr>
              <a:t>Javascript</a:t>
            </a:r>
            <a:r>
              <a:rPr lang="en-US" b="0" dirty="0">
                <a:solidFill>
                  <a:srgbClr val="000000"/>
                </a:solidFill>
              </a:rPr>
              <a:t>, </a:t>
            </a:r>
          </a:p>
          <a:p>
            <a:r>
              <a:rPr lang="en-US" dirty="0"/>
              <a:t>Cloud: </a:t>
            </a:r>
            <a:r>
              <a:rPr lang="en-US" b="0" dirty="0">
                <a:solidFill>
                  <a:srgbClr val="000000"/>
                </a:solidFill>
              </a:rPr>
              <a:t>GCP and Azure Certified.</a:t>
            </a:r>
          </a:p>
          <a:p>
            <a:r>
              <a:rPr lang="en-US" dirty="0"/>
              <a:t>Management: </a:t>
            </a:r>
            <a:r>
              <a:rPr lang="en-US" b="0" dirty="0">
                <a:solidFill>
                  <a:srgbClr val="000000"/>
                </a:solidFill>
              </a:rPr>
              <a:t>Azure DevOps</a:t>
            </a:r>
          </a:p>
          <a:p>
            <a:r>
              <a:rPr lang="en-US" dirty="0"/>
              <a:t>Big Data: </a:t>
            </a:r>
            <a:r>
              <a:rPr lang="en-US" b="0" dirty="0">
                <a:solidFill>
                  <a:srgbClr val="000000"/>
                </a:solidFill>
              </a:rPr>
              <a:t>Databricks, </a:t>
            </a:r>
            <a:r>
              <a:rPr lang="en-US" b="0" dirty="0" err="1">
                <a:solidFill>
                  <a:srgbClr val="000000"/>
                </a:solidFill>
              </a:rPr>
              <a:t>Bigquery</a:t>
            </a:r>
            <a:endParaRPr lang="en-US" b="0" dirty="0">
              <a:solidFill>
                <a:srgbClr val="000000"/>
              </a:solidFill>
            </a:endParaRPr>
          </a:p>
          <a:p>
            <a:r>
              <a:rPr lang="en-US" dirty="0"/>
              <a:t>DB: </a:t>
            </a:r>
            <a:r>
              <a:rPr lang="en-US" b="0" dirty="0">
                <a:solidFill>
                  <a:srgbClr val="000000"/>
                </a:solidFill>
              </a:rPr>
              <a:t>SQL, NoSQL, </a:t>
            </a:r>
            <a:r>
              <a:rPr lang="en-US" b="0" dirty="0" err="1">
                <a:solidFill>
                  <a:srgbClr val="000000"/>
                </a:solidFill>
              </a:rPr>
              <a:t>HeidiSQL</a:t>
            </a:r>
            <a:endParaRPr lang="en-US" b="0" dirty="0">
              <a:solidFill>
                <a:srgbClr val="000000"/>
              </a:solidFill>
            </a:endParaRPr>
          </a:p>
          <a:p>
            <a:r>
              <a:rPr lang="en-US" dirty="0"/>
              <a:t>Methodologies: </a:t>
            </a:r>
            <a:r>
              <a:rPr lang="en-US" b="0" dirty="0">
                <a:solidFill>
                  <a:srgbClr val="000000"/>
                </a:solidFill>
              </a:rPr>
              <a:t>Scrum, Kanban</a:t>
            </a:r>
          </a:p>
          <a:p>
            <a:r>
              <a:rPr lang="en-US" dirty="0"/>
              <a:t>Versioning: </a:t>
            </a:r>
            <a:r>
              <a:rPr lang="en-US" b="0" dirty="0">
                <a:solidFill>
                  <a:srgbClr val="000000"/>
                </a:solidFill>
              </a:rPr>
              <a:t>GitHub</a:t>
            </a:r>
          </a:p>
          <a:p>
            <a:r>
              <a:rPr lang="en-US" dirty="0"/>
              <a:t>AI: </a:t>
            </a:r>
            <a:r>
              <a:rPr lang="en-US" b="0" dirty="0">
                <a:solidFill>
                  <a:srgbClr val="000000"/>
                </a:solidFill>
              </a:rPr>
              <a:t>Agents, </a:t>
            </a:r>
            <a:r>
              <a:rPr lang="en-US" b="0" dirty="0" err="1">
                <a:solidFill>
                  <a:srgbClr val="000000"/>
                </a:solidFill>
              </a:rPr>
              <a:t>langchain</a:t>
            </a:r>
            <a:r>
              <a:rPr lang="en-US" b="0" dirty="0">
                <a:solidFill>
                  <a:srgbClr val="000000"/>
                </a:solidFill>
              </a:rPr>
              <a:t>, </a:t>
            </a:r>
            <a:r>
              <a:rPr lang="en-US" b="0" dirty="0" err="1">
                <a:solidFill>
                  <a:srgbClr val="000000"/>
                </a:solidFill>
              </a:rPr>
              <a:t>langfuse</a:t>
            </a:r>
            <a:r>
              <a:rPr lang="en-US" b="0" dirty="0">
                <a:solidFill>
                  <a:srgbClr val="000000"/>
                </a:solidFill>
              </a:rPr>
              <a:t>, neo4j, Machine Learning, text to </a:t>
            </a:r>
            <a:r>
              <a:rPr lang="en-US" b="0" dirty="0" err="1">
                <a:solidFill>
                  <a:srgbClr val="000000"/>
                </a:solidFill>
              </a:rPr>
              <a:t>sql</a:t>
            </a:r>
            <a:r>
              <a:rPr lang="en-US" b="0" dirty="0">
                <a:solidFill>
                  <a:srgbClr val="000000"/>
                </a:solidFill>
              </a:rPr>
              <a:t> </a:t>
            </a:r>
            <a:r>
              <a:rPr lang="en-US" b="0" dirty="0" err="1">
                <a:solidFill>
                  <a:srgbClr val="000000"/>
                </a:solidFill>
              </a:rPr>
              <a:t>llm</a:t>
            </a:r>
            <a:r>
              <a:rPr lang="en-US" b="0" dirty="0">
                <a:solidFill>
                  <a:srgbClr val="000000"/>
                </a:solidFill>
              </a:rPr>
              <a:t>, Model training, feature engineering</a:t>
            </a:r>
          </a:p>
          <a:p>
            <a:endParaRPr lang="en-US" b="0" dirty="0">
              <a:solidFill>
                <a:srgbClr val="000000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Placeholder 2">
            <a:extLst>
              <a:ext uri="{FF2B5EF4-FFF2-40B4-BE49-F238E27FC236}">
                <a16:creationId xmlns:a16="http://schemas.microsoft.com/office/drawing/2014/main" id="{F168229F-20A6-4241-9662-BC34A0D431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29" b="4129"/>
          <a:stretch/>
        </p:blipFill>
        <p:spPr>
          <a:xfrm>
            <a:off x="4933871" y="1709490"/>
            <a:ext cx="617076" cy="559672"/>
          </a:xfrm>
          <a:prstGeom prst="rect">
            <a:avLst/>
          </a:prstGeom>
        </p:spPr>
      </p:pic>
      <p:pic>
        <p:nvPicPr>
          <p:cNvPr id="8" name="Picture 2" descr="Google Cloud Certified - Associate Cloud Engineer | cabai.pro">
            <a:extLst>
              <a:ext uri="{FF2B5EF4-FFF2-40B4-BE49-F238E27FC236}">
                <a16:creationId xmlns:a16="http://schemas.microsoft.com/office/drawing/2014/main" id="{26369846-E5AC-499B-600C-497F2B009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130" y="1675373"/>
            <a:ext cx="588840" cy="5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Data Engineering training: Apache Airflow - Xebia Academy">
            <a:extLst>
              <a:ext uri="{FF2B5EF4-FFF2-40B4-BE49-F238E27FC236}">
                <a16:creationId xmlns:a16="http://schemas.microsoft.com/office/drawing/2014/main" id="{6315C45A-F905-BA73-EE08-39B1D5EE6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492" y="1643323"/>
            <a:ext cx="1219787" cy="64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hart&#10;&#10;Description automatically generated">
            <a:extLst>
              <a:ext uri="{FF2B5EF4-FFF2-40B4-BE49-F238E27FC236}">
                <a16:creationId xmlns:a16="http://schemas.microsoft.com/office/drawing/2014/main" id="{DEBD468B-9B43-653A-2421-B2B77ADC74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7821" y="1671809"/>
            <a:ext cx="686719" cy="68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EXPERIENCIA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870124" cy="2182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HABILIDADES Y HERRAMIENTAS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3835" cy="2136594"/>
            <a:chOff x="652656" y="2462768"/>
            <a:chExt cx="2903835" cy="2136594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PERFIL PROFESIONAL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4385441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ESPECIALIZACIONES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611504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EDUCACION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IDIOMAS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AREAS DE EXPERIENCIA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INDUSTRIA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Software Engineering: </a:t>
            </a:r>
            <a:r>
              <a:rPr lang="en-US" b="0" dirty="0">
                <a:solidFill>
                  <a:srgbClr val="000000"/>
                </a:solidFill>
              </a:rPr>
              <a:t>Python, SQL, C/C++/C#, Java, </a:t>
            </a:r>
            <a:r>
              <a:rPr lang="en-US" b="0" dirty="0" err="1">
                <a:solidFill>
                  <a:srgbClr val="000000"/>
                </a:solidFill>
              </a:rPr>
              <a:t>Javascript</a:t>
            </a:r>
            <a:r>
              <a:rPr lang="en-US" b="0" dirty="0">
                <a:solidFill>
                  <a:srgbClr val="000000"/>
                </a:solidFill>
              </a:rPr>
              <a:t>, </a:t>
            </a:r>
          </a:p>
          <a:p>
            <a:r>
              <a:rPr lang="en-US" dirty="0"/>
              <a:t>Cloud: </a:t>
            </a:r>
            <a:r>
              <a:rPr lang="en-US" b="0" dirty="0">
                <a:solidFill>
                  <a:srgbClr val="000000"/>
                </a:solidFill>
              </a:rPr>
              <a:t>GCP and Azure Certified.</a:t>
            </a:r>
          </a:p>
          <a:p>
            <a:r>
              <a:rPr lang="en-US" dirty="0"/>
              <a:t>Management: </a:t>
            </a:r>
            <a:r>
              <a:rPr lang="en-US" b="0" dirty="0">
                <a:solidFill>
                  <a:srgbClr val="000000"/>
                </a:solidFill>
              </a:rPr>
              <a:t>Azure DevOps</a:t>
            </a:r>
          </a:p>
          <a:p>
            <a:r>
              <a:rPr lang="en-US" dirty="0"/>
              <a:t>Big Data: </a:t>
            </a:r>
            <a:r>
              <a:rPr lang="en-US" b="0" dirty="0">
                <a:solidFill>
                  <a:srgbClr val="000000"/>
                </a:solidFill>
              </a:rPr>
              <a:t>Databricks, </a:t>
            </a:r>
            <a:r>
              <a:rPr lang="en-US" b="0" dirty="0" err="1">
                <a:solidFill>
                  <a:srgbClr val="000000"/>
                </a:solidFill>
              </a:rPr>
              <a:t>Bigquery</a:t>
            </a:r>
            <a:endParaRPr lang="en-US" b="0" dirty="0">
              <a:solidFill>
                <a:srgbClr val="000000"/>
              </a:solidFill>
            </a:endParaRPr>
          </a:p>
          <a:p>
            <a:r>
              <a:rPr lang="en-US" dirty="0"/>
              <a:t>DB: </a:t>
            </a:r>
            <a:r>
              <a:rPr lang="en-US" b="0" dirty="0">
                <a:solidFill>
                  <a:srgbClr val="000000"/>
                </a:solidFill>
              </a:rPr>
              <a:t>SQL, NoSQL, </a:t>
            </a:r>
            <a:r>
              <a:rPr lang="en-US" b="0" dirty="0" err="1">
                <a:solidFill>
                  <a:srgbClr val="000000"/>
                </a:solidFill>
              </a:rPr>
              <a:t>HeidiSQL</a:t>
            </a:r>
            <a:endParaRPr lang="en-US" b="0" dirty="0">
              <a:solidFill>
                <a:srgbClr val="000000"/>
              </a:solidFill>
            </a:endParaRPr>
          </a:p>
          <a:p>
            <a:r>
              <a:rPr lang="en-US" dirty="0"/>
              <a:t>Methodologies: </a:t>
            </a:r>
            <a:r>
              <a:rPr lang="en-US" b="0" dirty="0">
                <a:solidFill>
                  <a:srgbClr val="000000"/>
                </a:solidFill>
              </a:rPr>
              <a:t>Scrum, Kanban</a:t>
            </a:r>
          </a:p>
          <a:p>
            <a:r>
              <a:rPr lang="en-US" dirty="0"/>
              <a:t>Versioning: </a:t>
            </a:r>
            <a:r>
              <a:rPr lang="en-US" b="0" dirty="0">
                <a:solidFill>
                  <a:srgbClr val="000000"/>
                </a:solidFill>
              </a:rPr>
              <a:t>GitHub</a:t>
            </a:r>
          </a:p>
          <a:p>
            <a:r>
              <a:rPr lang="en-US" dirty="0"/>
              <a:t>AI: </a:t>
            </a:r>
            <a:r>
              <a:rPr lang="en-US" b="0" dirty="0">
                <a:solidFill>
                  <a:srgbClr val="000000"/>
                </a:solidFill>
              </a:rPr>
              <a:t>Agents, </a:t>
            </a:r>
            <a:r>
              <a:rPr lang="en-US" b="0" dirty="0" err="1">
                <a:solidFill>
                  <a:srgbClr val="000000"/>
                </a:solidFill>
              </a:rPr>
              <a:t>langchain</a:t>
            </a:r>
            <a:r>
              <a:rPr lang="en-US" b="0" dirty="0">
                <a:solidFill>
                  <a:srgbClr val="000000"/>
                </a:solidFill>
              </a:rPr>
              <a:t>, </a:t>
            </a:r>
            <a:r>
              <a:rPr lang="en-US" b="0" dirty="0" err="1">
                <a:solidFill>
                  <a:srgbClr val="000000"/>
                </a:solidFill>
              </a:rPr>
              <a:t>langfuse</a:t>
            </a:r>
            <a:r>
              <a:rPr lang="en-US" b="0" dirty="0">
                <a:solidFill>
                  <a:srgbClr val="000000"/>
                </a:solidFill>
              </a:rPr>
              <a:t>, neo4j, Machine Learning, text to </a:t>
            </a:r>
            <a:r>
              <a:rPr lang="en-US" b="0" dirty="0" err="1">
                <a:solidFill>
                  <a:srgbClr val="000000"/>
                </a:solidFill>
              </a:rPr>
              <a:t>sql</a:t>
            </a:r>
            <a:r>
              <a:rPr lang="en-US" b="0" dirty="0">
                <a:solidFill>
                  <a:srgbClr val="000000"/>
                </a:solidFill>
              </a:rPr>
              <a:t> </a:t>
            </a:r>
            <a:r>
              <a:rPr lang="en-US" b="0" dirty="0" err="1">
                <a:solidFill>
                  <a:srgbClr val="000000"/>
                </a:solidFill>
              </a:rPr>
              <a:t>llm</a:t>
            </a:r>
            <a:r>
              <a:rPr lang="en-US" b="0" dirty="0">
                <a:solidFill>
                  <a:srgbClr val="000000"/>
                </a:solidFill>
              </a:rPr>
              <a:t>, Model training, feature engineering</a:t>
            </a:r>
          </a:p>
          <a:p>
            <a:endParaRPr lang="en-US" b="0" dirty="0">
              <a:solidFill>
                <a:srgbClr val="000000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49438" y="3861758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en-US" sz="1000" dirty="0" err="1">
                <a:solidFill>
                  <a:srgbClr val="000000"/>
                </a:solidFill>
              </a:rPr>
              <a:t>Licenciatura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en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Tecnologías</a:t>
            </a:r>
            <a:r>
              <a:rPr lang="en-US" sz="1000" dirty="0">
                <a:solidFill>
                  <a:srgbClr val="000000"/>
                </a:solidFill>
              </a:rPr>
              <a:t> de la </a:t>
            </a:r>
            <a:r>
              <a:rPr lang="en-US" sz="1000" dirty="0" err="1">
                <a:solidFill>
                  <a:srgbClr val="000000"/>
                </a:solidFill>
              </a:rPr>
              <a:t>Información</a:t>
            </a:r>
            <a:r>
              <a:rPr lang="en-US" sz="1000" dirty="0">
                <a:solidFill>
                  <a:srgbClr val="000000"/>
                </a:solidFill>
              </a:rPr>
              <a:t> (UP)</a:t>
            </a:r>
          </a:p>
          <a:p>
            <a:pPr marL="171450" indent="-171450">
              <a:buChar char="•"/>
            </a:pPr>
            <a:r>
              <a:rPr lang="en-US" sz="1000" dirty="0" err="1"/>
              <a:t>Analista</a:t>
            </a:r>
            <a:r>
              <a:rPr lang="en-US" sz="1000" dirty="0"/>
              <a:t> de </a:t>
            </a:r>
            <a:r>
              <a:rPr lang="en-US" sz="1000" dirty="0" err="1"/>
              <a:t>Sistemas</a:t>
            </a:r>
            <a:r>
              <a:rPr lang="en-US" sz="1000" dirty="0"/>
              <a:t> (IIDE)</a:t>
            </a:r>
          </a:p>
          <a:p>
            <a:endParaRPr lang="es-AR" dirty="0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5" y="2709462"/>
            <a:ext cx="2702016" cy="3009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00" dirty="0">
                <a:latin typeface="Graphik"/>
              </a:rPr>
              <a:t>Soy rápido para adaptarme a las nuevas tecnologías , con un fuerte sentido de la responsabilidad y una predisposición constante para enfrentar obstáculos y resolver problemas utilizando el trabajo en equipo y la comunicación.</a:t>
            </a:r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 err="1"/>
              <a:t>Inglés</a:t>
            </a:r>
            <a:r>
              <a:rPr lang="en-US" dirty="0"/>
              <a:t> (Avanzado-C2)</a:t>
            </a:r>
          </a:p>
          <a:p>
            <a:r>
              <a:rPr lang="en-US" dirty="0" err="1"/>
              <a:t>Japonés</a:t>
            </a:r>
            <a:r>
              <a:rPr lang="en-US" dirty="0"/>
              <a:t> (</a:t>
            </a:r>
            <a:r>
              <a:rPr lang="en-US" dirty="0" err="1"/>
              <a:t>Básico</a:t>
            </a:r>
            <a:r>
              <a:rPr lang="en-US" dirty="0"/>
              <a:t>)</a:t>
            </a:r>
          </a:p>
          <a:p>
            <a:r>
              <a:rPr lang="en-US" dirty="0" err="1"/>
              <a:t>Español</a:t>
            </a:r>
            <a:r>
              <a:rPr lang="en-US" dirty="0"/>
              <a:t> (</a:t>
            </a:r>
            <a:r>
              <a:rPr lang="en-US" dirty="0" err="1"/>
              <a:t>Nativo</a:t>
            </a:r>
            <a:r>
              <a:rPr lang="en-US" dirty="0"/>
              <a:t>)</a:t>
            </a:r>
          </a:p>
          <a:p>
            <a:r>
              <a:rPr lang="en-US" dirty="0"/>
              <a:t>LSA (Avanzado)</a:t>
            </a:r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Data Platform</a:t>
            </a:r>
          </a:p>
          <a:p>
            <a:r>
              <a:rPr lang="en-US" dirty="0"/>
              <a:t>Data &amp; AI</a:t>
            </a:r>
          </a:p>
          <a:p>
            <a:r>
              <a:rPr lang="en-US" dirty="0"/>
              <a:t>AI Solutions</a:t>
            </a:r>
          </a:p>
          <a:p>
            <a:endParaRPr lang="es-AR" dirty="0"/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2022 Accenture.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Accenture Applied Intelligence</a:t>
            </a:r>
          </a:p>
        </p:txBody>
      </p:sp>
      <p:pic>
        <p:nvPicPr>
          <p:cNvPr id="10" name="Picture Placeholder 2">
            <a:extLst>
              <a:ext uri="{FF2B5EF4-FFF2-40B4-BE49-F238E27FC236}">
                <a16:creationId xmlns:a16="http://schemas.microsoft.com/office/drawing/2014/main" id="{AA1AAA36-943E-A326-AF8E-CD16FF6E3E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29" b="4129"/>
          <a:stretch/>
        </p:blipFill>
        <p:spPr>
          <a:xfrm>
            <a:off x="4933871" y="1709490"/>
            <a:ext cx="617076" cy="559672"/>
          </a:xfrm>
          <a:prstGeom prst="rect">
            <a:avLst/>
          </a:prstGeom>
        </p:spPr>
      </p:pic>
      <p:pic>
        <p:nvPicPr>
          <p:cNvPr id="14" name="Picture 2" descr="Google Cloud Certified - Associate Cloud Engineer | cabai.pro">
            <a:extLst>
              <a:ext uri="{FF2B5EF4-FFF2-40B4-BE49-F238E27FC236}">
                <a16:creationId xmlns:a16="http://schemas.microsoft.com/office/drawing/2014/main" id="{ECC8B0C2-EEC9-7E10-9838-B1A981C88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130" y="1675373"/>
            <a:ext cx="588840" cy="5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ata Engineering training: Apache Airflow - Xebia Academy">
            <a:extLst>
              <a:ext uri="{FF2B5EF4-FFF2-40B4-BE49-F238E27FC236}">
                <a16:creationId xmlns:a16="http://schemas.microsoft.com/office/drawing/2014/main" id="{948CF0B6-8837-4DEE-AD18-B871861C7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492" y="1643323"/>
            <a:ext cx="1219787" cy="64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E4A9AA6-3466-0C5C-2133-1879C6E02F74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Gonzalo Lucena</a:t>
            </a: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81F4FE0-9967-DF36-936F-C46CDCE69D2E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chemeClr val="accent3"/>
                </a:solidFill>
                <a:latin typeface="Graphik Black"/>
              </a:rPr>
              <a:t>AI LLM Technology Arch Sr Analyst</a:t>
            </a:r>
          </a:p>
          <a:p>
            <a:pPr marL="0" indent="0">
              <a:buNone/>
            </a:pPr>
            <a:r>
              <a:rPr lang="en-US" sz="1200" b="1" dirty="0">
                <a:hlinkClick r:id="rId7"/>
              </a:rPr>
              <a:t>Technology AI  </a:t>
            </a:r>
            <a:r>
              <a:rPr lang="es-AR" sz="1200" dirty="0"/>
              <a:t> | LATAM HUB</a:t>
            </a:r>
          </a:p>
          <a:p>
            <a:pPr marL="0" indent="0">
              <a:buNone/>
            </a:pPr>
            <a:r>
              <a:rPr lang="en-US" sz="1200" b="1" dirty="0">
                <a:latin typeface="Graphik"/>
              </a:rPr>
              <a:t>gonzalo.lucena@accenture.com</a:t>
            </a: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pic>
        <p:nvPicPr>
          <p:cNvPr id="19" name="Picture Placeholder 15" descr="A person with the hand on the chin&#10;&#10;Description automatically generated with medium confidence">
            <a:extLst>
              <a:ext uri="{FF2B5EF4-FFF2-40B4-BE49-F238E27FC236}">
                <a16:creationId xmlns:a16="http://schemas.microsoft.com/office/drawing/2014/main" id="{8FF15D45-0513-ACD3-5D9B-4BB5765774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057" r="10057"/>
          <a:stretch>
            <a:fillRect/>
          </a:stretch>
        </p:blipFill>
        <p:spPr>
          <a:xfrm>
            <a:off x="282877" y="682357"/>
            <a:ext cx="1336675" cy="16732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D0248E1-5D36-B3EB-009D-0C42301BED4A}"/>
              </a:ext>
            </a:extLst>
          </p:cNvPr>
          <p:cNvSpPr txBox="1">
            <a:spLocks/>
          </p:cNvSpPr>
          <p:nvPr/>
        </p:nvSpPr>
        <p:spPr>
          <a:xfrm>
            <a:off x="249438" y="4596773"/>
            <a:ext cx="2952329" cy="321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err="1">
                <a:solidFill>
                  <a:srgbClr val="000000"/>
                </a:solidFill>
                <a:latin typeface="Graphik"/>
              </a:rPr>
              <a:t>Certifiación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 Azure Fundamentals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Graphik"/>
              </a:rPr>
              <a:t>Certifiación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 GCP Professional Data Engineer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Graphik"/>
              </a:rPr>
              <a:t>Certifiación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 Airflow Fundamentals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Graphik"/>
              </a:rPr>
              <a:t>Certifiación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 GCP Professional ML Engineer</a:t>
            </a:r>
          </a:p>
          <a:p>
            <a:endParaRPr lang="en-US" sz="1000" dirty="0">
              <a:solidFill>
                <a:srgbClr val="000000"/>
              </a:solidFill>
              <a:latin typeface="Graphik"/>
            </a:endParaRPr>
          </a:p>
          <a:p>
            <a:pPr>
              <a:buFont typeface="Arial,Sans-Serif" panose="020B0604020202020204" pitchFamily="34" charset="0"/>
            </a:pPr>
            <a:endParaRPr lang="en-US" sz="1000" dirty="0">
              <a:solidFill>
                <a:srgbClr val="000000"/>
              </a:solidFill>
              <a:latin typeface="Graphik"/>
            </a:endParaRPr>
          </a:p>
          <a:p>
            <a:pPr algn="l">
              <a:buFont typeface="Arial,Sans-Serif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Graphik"/>
            </a:endParaRPr>
          </a:p>
          <a:p>
            <a:pPr algn="l">
              <a:buFont typeface="Arial,Sans-Serif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  <a:latin typeface="Graphik"/>
            </a:endParaRPr>
          </a:p>
          <a:p>
            <a:pPr algn="l">
              <a:buFont typeface="Arial,Sans-Serif" panose="020B0604020202020204" pitchFamily="34" charset="0"/>
              <a:buChar char="•"/>
            </a:pPr>
            <a:endParaRPr lang="es-AR" sz="1000" dirty="0">
              <a:solidFill>
                <a:srgbClr val="000000"/>
              </a:solidFill>
              <a:latin typeface="Graphik"/>
            </a:endParaRPr>
          </a:p>
          <a:p>
            <a:pPr algn="l">
              <a:buFont typeface="Arial,Sans-Serif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endParaRPr lang="en-US" sz="1000" dirty="0">
              <a:latin typeface="Graphik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CB1E569-A506-CF08-BE66-65ED64F3C1FA}"/>
              </a:ext>
            </a:extLst>
          </p:cNvPr>
          <p:cNvSpPr txBox="1">
            <a:spLocks/>
          </p:cNvSpPr>
          <p:nvPr/>
        </p:nvSpPr>
        <p:spPr>
          <a:xfrm>
            <a:off x="6832495" y="600626"/>
            <a:ext cx="3609162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it-IT" sz="1000" dirty="0">
                <a:solidFill>
                  <a:srgbClr val="000000"/>
                </a:solidFill>
              </a:rPr>
              <a:t>Askaxiom AI agent (March 2025 – Present)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cs typeface="Calibri" panose="020F0502020204030204" pitchFamily="34" charset="0"/>
              </a:rPr>
              <a:t>Desarrollado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nodos</a:t>
            </a:r>
            <a:r>
              <a:rPr lang="en-US" sz="1000" b="0" dirty="0">
                <a:cs typeface="Calibri" panose="020F0502020204030204" pitchFamily="34" charset="0"/>
              </a:rPr>
              <a:t> de un Agentic Ai workflow de text to </a:t>
            </a:r>
            <a:r>
              <a:rPr lang="en-US" sz="1000" b="0" dirty="0" err="1">
                <a:cs typeface="Calibri" panose="020F0502020204030204" pitchFamily="34" charset="0"/>
              </a:rPr>
              <a:t>sql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usando</a:t>
            </a:r>
            <a:r>
              <a:rPr lang="en-US" sz="1000" b="0" dirty="0">
                <a:cs typeface="Calibri" panose="020F0502020204030204" pitchFamily="34" charset="0"/>
              </a:rPr>
              <a:t> python, </a:t>
            </a:r>
            <a:r>
              <a:rPr lang="en-US" sz="1000" b="0" dirty="0" err="1">
                <a:cs typeface="Calibri" panose="020F0502020204030204" pitchFamily="34" charset="0"/>
              </a:rPr>
              <a:t>langchain</a:t>
            </a:r>
            <a:r>
              <a:rPr lang="en-US" sz="1000" b="0" dirty="0">
                <a:cs typeface="Calibri" panose="020F0502020204030204" pitchFamily="34" charset="0"/>
              </a:rPr>
              <a:t>, neo4j y docker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cs typeface="Calibri" panose="020F0502020204030204" pitchFamily="34" charset="0"/>
              </a:rPr>
              <a:t>Trabajado</a:t>
            </a:r>
            <a:r>
              <a:rPr lang="en-US" sz="1000" b="0" dirty="0">
                <a:cs typeface="Calibri" panose="020F0502020204030204" pitchFamily="34" charset="0"/>
              </a:rPr>
              <a:t> con </a:t>
            </a:r>
            <a:r>
              <a:rPr lang="en-US" sz="1000" b="0" dirty="0" err="1">
                <a:cs typeface="Calibri" panose="020F0502020204030204" pitchFamily="34" charset="0"/>
              </a:rPr>
              <a:t>Agentes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usando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el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patrón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ReAct</a:t>
            </a:r>
            <a:r>
              <a:rPr lang="en-US" sz="1000" b="0" dirty="0">
                <a:cs typeface="Calibri" panose="020F0502020204030204" pitchFamily="34" charset="0"/>
              </a:rPr>
              <a:t>, snowflake ai y Gemini Enterprise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cs typeface="Calibri" panose="020F0502020204030204" pitchFamily="34" charset="0"/>
              </a:rPr>
              <a:t>Desarrollado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herramientas</a:t>
            </a:r>
            <a:r>
              <a:rPr lang="en-US" sz="1000" b="0" dirty="0">
                <a:cs typeface="Calibri" panose="020F0502020204030204" pitchFamily="34" charset="0"/>
              </a:rPr>
              <a:t> MCP para </a:t>
            </a:r>
            <a:r>
              <a:rPr lang="en-US" sz="1000" b="0" dirty="0" err="1">
                <a:cs typeface="Calibri" panose="020F0502020204030204" pitchFamily="34" charset="0"/>
              </a:rPr>
              <a:t>conectar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el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agente</a:t>
            </a:r>
            <a:r>
              <a:rPr lang="en-US" sz="1000" b="0" dirty="0">
                <a:cs typeface="Calibri" panose="020F0502020204030204" pitchFamily="34" charset="0"/>
              </a:rPr>
              <a:t> a </a:t>
            </a:r>
            <a:r>
              <a:rPr lang="en-US" sz="1000" b="0" dirty="0" err="1">
                <a:cs typeface="Calibri" panose="020F0502020204030204" pitchFamily="34" charset="0"/>
              </a:rPr>
              <a:t>bigquery</a:t>
            </a:r>
            <a:r>
              <a:rPr lang="en-US" sz="1000" b="0" dirty="0">
                <a:cs typeface="Calibri" panose="020F0502020204030204" pitchFamily="34" charset="0"/>
              </a:rPr>
              <a:t> y neo4j.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cs typeface="Calibri" panose="020F0502020204030204" pitchFamily="34" charset="0"/>
              </a:rPr>
              <a:t>Trabajado</a:t>
            </a:r>
            <a:r>
              <a:rPr lang="en-US" sz="1000" b="0" dirty="0">
                <a:cs typeface="Calibri" panose="020F0502020204030204" pitchFamily="34" charset="0"/>
              </a:rPr>
              <a:t> </a:t>
            </a:r>
            <a:r>
              <a:rPr lang="en-US" sz="1000" b="0" dirty="0" err="1">
                <a:cs typeface="Calibri" panose="020F0502020204030204" pitchFamily="34" charset="0"/>
              </a:rPr>
              <a:t>en</a:t>
            </a:r>
            <a:r>
              <a:rPr lang="en-US" sz="1000" b="0" dirty="0">
                <a:cs typeface="Calibri" panose="020F0502020204030204" pitchFamily="34" charset="0"/>
              </a:rPr>
              <a:t> un </a:t>
            </a:r>
            <a:r>
              <a:rPr lang="en-US" sz="1000" b="0" dirty="0" err="1">
                <a:cs typeface="Calibri" panose="020F0502020204030204" pitchFamily="34" charset="0"/>
              </a:rPr>
              <a:t>proceso</a:t>
            </a:r>
            <a:r>
              <a:rPr lang="en-US" sz="1000" b="0" dirty="0">
                <a:cs typeface="Calibri" panose="020F0502020204030204" pitchFamily="34" charset="0"/>
              </a:rPr>
              <a:t> ETL con Python </a:t>
            </a:r>
            <a:r>
              <a:rPr lang="en-US" sz="1000" b="0" dirty="0" err="1">
                <a:cs typeface="Calibri" panose="020F0502020204030204" pitchFamily="34" charset="0"/>
              </a:rPr>
              <a:t>integrado</a:t>
            </a:r>
            <a:r>
              <a:rPr lang="en-US" sz="1000" b="0" dirty="0">
                <a:cs typeface="Calibri" panose="020F0502020204030204" pitchFamily="34" charset="0"/>
              </a:rPr>
              <a:t> a dashboards de Power BI.</a:t>
            </a:r>
            <a:endParaRPr lang="it-IT" sz="1000" dirty="0">
              <a:solidFill>
                <a:srgbClr val="000000"/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it-IT" sz="1000" dirty="0">
                <a:solidFill>
                  <a:srgbClr val="000000"/>
                </a:solidFill>
                <a:latin typeface="+mn-lt"/>
              </a:rPr>
              <a:t>Accenture CIO (Sep 2021 – Present)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Usando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BigQuery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para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analizar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data con SQL.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Trabajando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con Google Functions y scripts de Python.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Usando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Composer para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automatizar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workflows con Airflow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como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orquestador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Ejecutando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y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monitoreando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pipelines.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Usando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Terraform y Azure DevOps Pipelines.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Usando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metodologías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Scrum y Kanban.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TENARIS V MODEL (Mar 2021 - Aug 2021)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Trabajando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con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herramientas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Azure Cloud para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migrar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los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sistemas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del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cliente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Usando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Azure Virtual Machines para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generar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una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demo de Airflow.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Desarrollando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y probando scripts  de Python para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procesos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de ACL.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pt-BR" sz="1000" dirty="0">
                <a:solidFill>
                  <a:srgbClr val="000000"/>
                </a:solidFill>
                <a:latin typeface="+mn-lt"/>
              </a:rPr>
              <a:t>DAS (Ene 2015 - Mar 2021)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Desarrollando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una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app mobile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en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Java con Android Studio.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Desarrollando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una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app de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escritorio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con C++ y SQL.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Desarrollando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, probando e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implementando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herramientas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de ETL y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automatización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con C# y Python, y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mejorando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procesos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ya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existentes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latin typeface="+mn-lt"/>
                <a:cs typeface="Calibri" panose="020F0502020204030204" pitchFamily="34" charset="0"/>
              </a:rPr>
              <a:t>Administrando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una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RDBMS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usando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SQL.</a:t>
            </a: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 marL="171450" indent="-171450">
              <a:spcAft>
                <a:spcPts val="300"/>
              </a:spcAft>
              <a:buFont typeface="Arial,Sans-Serif"/>
              <a:buChar char="•"/>
            </a:pPr>
            <a:endParaRPr lang="en-US" sz="1000" dirty="0">
              <a:latin typeface="+mn-lt"/>
            </a:endParaRPr>
          </a:p>
        </p:txBody>
      </p:sp>
      <p:pic>
        <p:nvPicPr>
          <p:cNvPr id="2" name="Picture 2" descr="Chart&#10;&#10;Description automatically generated">
            <a:extLst>
              <a:ext uri="{FF2B5EF4-FFF2-40B4-BE49-F238E27FC236}">
                <a16:creationId xmlns:a16="http://schemas.microsoft.com/office/drawing/2014/main" id="{E5A71597-194F-F7FF-E610-4C1FDEBF3A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7821" y="1671809"/>
            <a:ext cx="686719" cy="68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376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Dividers SectionNumber SlideNumber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6_Office Theme">
  <a:themeElements>
    <a:clrScheme name="VISA">
      <a:dk1>
        <a:sysClr val="windowText" lastClr="000000"/>
      </a:dk1>
      <a:lt1>
        <a:sysClr val="window" lastClr="FFFFFF"/>
      </a:lt1>
      <a:dk2>
        <a:srgbClr val="F0F0F0"/>
      </a:dk2>
      <a:lt2>
        <a:srgbClr val="ADADAD"/>
      </a:lt2>
      <a:accent1>
        <a:srgbClr val="1A1F71"/>
      </a:accent1>
      <a:accent2>
        <a:srgbClr val="F7B600"/>
      </a:accent2>
      <a:accent3>
        <a:srgbClr val="5C5C5C"/>
      </a:accent3>
      <a:accent4>
        <a:srgbClr val="003EA9"/>
      </a:accent4>
      <a:accent5>
        <a:srgbClr val="EF8400"/>
      </a:accent5>
      <a:accent6>
        <a:srgbClr val="FFD700"/>
      </a:accent6>
      <a:hlink>
        <a:srgbClr val="1A1F71"/>
      </a:hlink>
      <a:folHlink>
        <a:srgbClr val="ADADAD"/>
      </a:folHlink>
    </a:clrScheme>
    <a:fontScheme name="Custom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bg2">
              <a:lumMod val="9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CENtur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CENture" id="{CC97BB4A-B5B4-4409-B17B-7852844FDFFA}" vid="{0BB4CAA1-AE1F-4AF8-B344-62FB55F0150B}"/>
    </a:ext>
  </a:extLst>
</a:theme>
</file>

<file path=ppt/theme/theme3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adda6-93f2-443e-b0ef-40d6e1dc8c9d" xsi:nil="true"/>
    <lcf76f155ced4ddcb4097134ff3c332f xmlns="9e5dff9b-ec84-400a-8d4d-02e96956639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b3e803809cee597fc3b47f0bb07c2c3c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31b344b0215af432afecb1c8ed6d0c85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53E4F1-EED6-4251-8956-041C290CB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7B172E-CD09-404A-9D73-CF6EC1E50CB2}">
  <ds:schemaRefs>
    <ds:schemaRef ds:uri="4f00eddc-dff8-4c78-a9cd-e10741fc346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18bdf6a-17d6-42f2-bf93-b799822b66d5"/>
    <ds:schemaRef ds:uri="3f7fa16c-f0a7-4e93-83e5-916308b974b7"/>
  </ds:schemaRefs>
</ds:datastoreItem>
</file>

<file path=customXml/itemProps3.xml><?xml version="1.0" encoding="utf-8"?>
<ds:datastoreItem xmlns:ds="http://schemas.openxmlformats.org/officeDocument/2006/customXml" ds:itemID="{2BFF15D1-F850-4CDC-A9C7-8B42BDC812C5}"/>
</file>

<file path=docMetadata/LabelInfo.xml><?xml version="1.0" encoding="utf-8"?>
<clbl:labelList xmlns:clbl="http://schemas.microsoft.com/office/2020/mipLabelMetadata">
  <clbl:label id="{1bc0f418-96a4-4caf-9d7c-ccc5ec7f9d91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857</Words>
  <Application>Microsoft Office PowerPoint</Application>
  <PresentationFormat>Widescreen</PresentationFormat>
  <Paragraphs>140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5" baseType="lpstr">
      <vt:lpstr>Arial</vt:lpstr>
      <vt:lpstr>Arial Black</vt:lpstr>
      <vt:lpstr>Arial,Sans-Serif</vt:lpstr>
      <vt:lpstr>Calibri</vt:lpstr>
      <vt:lpstr>Graphik</vt:lpstr>
      <vt:lpstr>Graphik Black</vt:lpstr>
      <vt:lpstr>Graphik Super</vt:lpstr>
      <vt:lpstr>GT Sectra Fine Rg</vt:lpstr>
      <vt:lpstr>Palatino Linotype</vt:lpstr>
      <vt:lpstr>6_Office Theme</vt:lpstr>
      <vt:lpstr>ThemeACCENture</vt:lpstr>
      <vt:lpstr>ThemeACN2</vt:lpstr>
      <vt:lpstr>think-cell Slide</vt:lpstr>
      <vt:lpstr>PowerPoint Presentation</vt:lpstr>
      <vt:lpstr>PowerPoint Presentation</vt:lpstr>
    </vt:vector>
  </TitlesOfParts>
  <Company>Accenture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Proposal CoE</dc:title>
  <dc:creator>rosana.gonzalez@accenture.com</dc:creator>
  <cp:keywords>Products CV Template</cp:keywords>
  <cp:lastModifiedBy>Lucena, Gonzalo Martin</cp:lastModifiedBy>
  <cp:revision>50</cp:revision>
  <dcterms:modified xsi:type="dcterms:W3CDTF">2026-03-04T19:54:07Z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Order">
    <vt:r8>390400</vt:r8>
  </property>
  <property fmtid="{D5CDD505-2E9C-101B-9397-08002B2CF9AE}" pid="4" name="xd_ProgID">
    <vt:lpwstr/>
  </property>
  <property fmtid="{D5CDD505-2E9C-101B-9397-08002B2CF9AE}" pid="5" name="_CopySource">
    <vt:lpwstr>https://ts.accenture.com/sites/PRODUCTS_ASG/dcde/Mentoring/PRD Onboarding Deck/ASG_PRD Onboarding Session_2018_01_January_final.pptx</vt:lpwstr>
  </property>
  <property fmtid="{D5CDD505-2E9C-101B-9397-08002B2CF9AE}" pid="6" name="TemplateUrl">
    <vt:lpwstr/>
  </property>
  <property fmtid="{D5CDD505-2E9C-101B-9397-08002B2CF9AE}" pid="7" name="MSIP_Label_1bc0f418-96a4-4caf-9d7c-ccc5ec7f9d91_Enabled">
    <vt:lpwstr>true</vt:lpwstr>
  </property>
  <property fmtid="{D5CDD505-2E9C-101B-9397-08002B2CF9AE}" pid="8" name="MSIP_Label_1bc0f418-96a4-4caf-9d7c-ccc5ec7f9d91_SetDate">
    <vt:lpwstr>2020-04-30T23:14:57Z</vt:lpwstr>
  </property>
  <property fmtid="{D5CDD505-2E9C-101B-9397-08002B2CF9AE}" pid="9" name="MSIP_Label_1bc0f418-96a4-4caf-9d7c-ccc5ec7f9d91_Method">
    <vt:lpwstr>Privileged</vt:lpwstr>
  </property>
  <property fmtid="{D5CDD505-2E9C-101B-9397-08002B2CF9AE}" pid="10" name="MSIP_Label_1bc0f418-96a4-4caf-9d7c-ccc5ec7f9d91_Name">
    <vt:lpwstr>1bc0f418-96a4-4caf-9d7c-ccc5ec7f9d91</vt:lpwstr>
  </property>
  <property fmtid="{D5CDD505-2E9C-101B-9397-08002B2CF9AE}" pid="11" name="MSIP_Label_1bc0f418-96a4-4caf-9d7c-ccc5ec7f9d91_SiteId">
    <vt:lpwstr>e0793d39-0939-496d-b129-198edd916feb</vt:lpwstr>
  </property>
  <property fmtid="{D5CDD505-2E9C-101B-9397-08002B2CF9AE}" pid="12" name="MSIP_Label_1bc0f418-96a4-4caf-9d7c-ccc5ec7f9d91_ActionId">
    <vt:lpwstr>6258137a-c4ad-4877-b5d3-000067d54560</vt:lpwstr>
  </property>
  <property fmtid="{D5CDD505-2E9C-101B-9397-08002B2CF9AE}" pid="13" name="MSIP_Label_1bc0f418-96a4-4caf-9d7c-ccc5ec7f9d91_ContentBits">
    <vt:lpwstr>0</vt:lpwstr>
  </property>
  <property fmtid="{D5CDD505-2E9C-101B-9397-08002B2CF9AE}" pid="14" name="MediaServiceImageTags">
    <vt:lpwstr/>
  </property>
</Properties>
</file>