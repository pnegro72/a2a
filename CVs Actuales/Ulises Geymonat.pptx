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2076136191" r:id="rId5"/>
    <p:sldId id="207613619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028818-60E8-224B-FCEC-2F176496F6C0}" v="5" dt="2026-03-04T13:35:14.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D48BCA-BE89-4A55-9F9F-9EB404AA49A1}"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AB8A0E-1D0A-41D3-9C83-DEA695FDEB69}" type="slidenum">
              <a:rPr lang="en-US" smtClean="0"/>
              <a:t>‹#›</a:t>
            </a:fld>
            <a:endParaRPr lang="en-US"/>
          </a:p>
        </p:txBody>
      </p:sp>
    </p:spTree>
    <p:extLst>
      <p:ext uri="{BB962C8B-B14F-4D97-AF65-F5344CB8AC3E}">
        <p14:creationId xmlns:p14="http://schemas.microsoft.com/office/powerpoint/2010/main" val="1650686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73318799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D2A40-219B-4A42-BDCD-91ED101679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2AC728-5E8B-42F7-9F39-F04825FAA4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B3194B-FBE7-4F5A-BBFD-20B6E0DC0B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56486-13E7-424D-BC87-91F135AC8676}" type="datetimeFigureOut">
              <a:rPr lang="en-US" smtClean="0"/>
              <a:t>3/5/2026</a:t>
            </a:fld>
            <a:endParaRPr lang="en-US"/>
          </a:p>
        </p:txBody>
      </p:sp>
      <p:sp>
        <p:nvSpPr>
          <p:cNvPr id="5" name="Footer Placeholder 4">
            <a:extLst>
              <a:ext uri="{FF2B5EF4-FFF2-40B4-BE49-F238E27FC236}">
                <a16:creationId xmlns:a16="http://schemas.microsoft.com/office/drawing/2014/main" id="{32D166AE-AC75-490C-A610-10357335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F249CD1-69FD-462A-8C84-A583CCA694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A859B2-4A9A-4F64-9661-9DC88835B741}" type="slidenum">
              <a:rPr lang="en-US" smtClean="0"/>
              <a:t>‹#›</a:t>
            </a:fld>
            <a:endParaRPr lang="en-US"/>
          </a:p>
        </p:txBody>
      </p:sp>
    </p:spTree>
    <p:extLst>
      <p:ext uri="{BB962C8B-B14F-4D97-AF65-F5344CB8AC3E}">
        <p14:creationId xmlns:p14="http://schemas.microsoft.com/office/powerpoint/2010/main" val="25033857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a:normAutofit fontScale="92500" lnSpcReduction="20000"/>
          </a:bodyPr>
          <a:lstStyle/>
          <a:p>
            <a:r>
              <a:rPr lang="en-US" dirty="0"/>
              <a:t>Ulises Geymonat</a:t>
            </a:r>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p:txBody>
          <a:bodyPr>
            <a:normAutofit fontScale="70000" lnSpcReduction="20000"/>
          </a:bodyPr>
          <a:lstStyle/>
          <a:p>
            <a:r>
              <a:rPr lang="en-US" b="1" dirty="0"/>
              <a:t>Software Engineer | AI &amp; LLM Technology Architecture</a:t>
            </a:r>
            <a:endParaRPr lang="en-US" dirty="0"/>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dirty="0"/>
              <a:t>ulises.geymonat@accenture.com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dirty="0"/>
              <a:t>La Plata, Buenos Aires, Argentina</a:t>
            </a:r>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7"/>
            <a:ext cx="2650385" cy="2919138"/>
          </a:xfrm>
        </p:spPr>
        <p:txBody>
          <a:bodyPr>
            <a:normAutofit fontScale="85000" lnSpcReduction="20000"/>
          </a:bodyPr>
          <a:lstStyle/>
          <a:p>
            <a:pPr marL="0" indent="0">
              <a:buNone/>
            </a:pPr>
            <a:r>
              <a:rPr lang="en-US" dirty="0"/>
              <a:t>Software engineer currently completing a Bachelor’s Degree in Information Systems at Universidad Nacional de La Plata (UNLP), with final thesis pending. Experience building and integrating enterprise applications and system integrations using full-stack development and cloud platforms.</a:t>
            </a:r>
          </a:p>
          <a:p>
            <a:pPr marL="0" indent="0">
              <a:buNone/>
            </a:pPr>
            <a:r>
              <a:rPr lang="en-US" dirty="0"/>
              <a:t>Has contributed to solutions supporting U.S.-based higher education organizations, integrating academic systems, e-commerce platforms, and external services through APIs and data processes.</a:t>
            </a:r>
          </a:p>
          <a:p>
            <a:pPr marL="0" indent="0">
              <a:buNone/>
            </a:pPr>
            <a:r>
              <a:rPr lang="en-US" dirty="0"/>
              <a:t>Currently expanding capabilities in AI-powered systems through Accenture’s AI Academy (in progress), focusing on LLM-based applications and intelligent workflows.</a:t>
            </a:r>
          </a:p>
          <a:p>
            <a:r>
              <a:rPr lang="en-US" dirty="0"/>
              <a:t>Spanish (Native)</a:t>
            </a:r>
          </a:p>
          <a:p>
            <a:r>
              <a:rPr lang="en-US" dirty="0"/>
              <a:t>English (C2)</a:t>
            </a:r>
          </a:p>
          <a:p>
            <a:r>
              <a:rPr lang="en-US" dirty="0"/>
              <a:t>French (Basic)</a:t>
            </a:r>
          </a:p>
        </p:txBody>
      </p:sp>
      <p:sp>
        <p:nvSpPr>
          <p:cNvPr id="11" name="Text Placeholder 10">
            <a:extLst>
              <a:ext uri="{FF2B5EF4-FFF2-40B4-BE49-F238E27FC236}">
                <a16:creationId xmlns:a16="http://schemas.microsoft.com/office/drawing/2014/main" id="{1B95D3D0-EDF6-4D74-965C-4B25FEDFCCC5}"/>
              </a:ext>
            </a:extLst>
          </p:cNvPr>
          <p:cNvSpPr>
            <a:spLocks noGrp="1"/>
          </p:cNvSpPr>
          <p:nvPr>
            <p:ph type="body" sz="quarter" idx="17"/>
          </p:nvPr>
        </p:nvSpPr>
        <p:spPr>
          <a:xfrm>
            <a:off x="3083867" y="2670017"/>
            <a:ext cx="2251611" cy="1503957"/>
          </a:xfrm>
        </p:spPr>
        <p:txBody>
          <a:bodyPr vert="horz" lIns="91440" tIns="45720" rIns="91440" bIns="45720" rtlCol="0" anchor="t">
            <a:noAutofit/>
          </a:bodyPr>
          <a:lstStyle/>
          <a:p>
            <a:pPr>
              <a:lnSpc>
                <a:spcPct val="100000"/>
              </a:lnSpc>
              <a:spcBef>
                <a:spcPts val="450"/>
              </a:spcBef>
              <a:tabLst>
                <a:tab pos="133270" algn="l"/>
              </a:tabLst>
              <a:defRPr/>
            </a:pPr>
            <a:r>
              <a:rPr lang="en-US" sz="860" dirty="0"/>
              <a:t> Full-Stack Application Development</a:t>
            </a:r>
          </a:p>
          <a:p>
            <a:pPr>
              <a:lnSpc>
                <a:spcPct val="100000"/>
              </a:lnSpc>
              <a:spcBef>
                <a:spcPts val="450"/>
              </a:spcBef>
              <a:tabLst>
                <a:tab pos="133270" algn="l"/>
              </a:tabLst>
              <a:defRPr/>
            </a:pPr>
            <a:r>
              <a:rPr lang="en-US" sz="860" dirty="0"/>
              <a:t> Backend &amp; API Development</a:t>
            </a:r>
          </a:p>
          <a:p>
            <a:pPr>
              <a:lnSpc>
                <a:spcPct val="100000"/>
              </a:lnSpc>
              <a:spcBef>
                <a:spcPts val="450"/>
              </a:spcBef>
              <a:tabLst>
                <a:tab pos="133270" algn="l"/>
              </a:tabLst>
              <a:defRPr/>
            </a:pPr>
            <a:r>
              <a:rPr lang="en-US" sz="860" dirty="0"/>
              <a:t> Enterprise Systems Integration </a:t>
            </a:r>
          </a:p>
          <a:p>
            <a:r>
              <a:rPr lang="en-US" sz="860" dirty="0"/>
              <a:t>Cloud Platforms &amp; Backend Services</a:t>
            </a:r>
          </a:p>
          <a:p>
            <a:pPr>
              <a:lnSpc>
                <a:spcPct val="100000"/>
              </a:lnSpc>
              <a:spcBef>
                <a:spcPts val="450"/>
              </a:spcBef>
              <a:tabLst>
                <a:tab pos="133270" algn="l"/>
              </a:tabLst>
              <a:defRPr/>
            </a:pPr>
            <a:r>
              <a:rPr lang="en-US" sz="860" dirty="0"/>
              <a:t>AI &amp; LLM Applications (Training in progress)</a:t>
            </a:r>
          </a:p>
          <a:p>
            <a:pPr>
              <a:lnSpc>
                <a:spcPct val="100000"/>
              </a:lnSpc>
              <a:spcBef>
                <a:spcPts val="450"/>
              </a:spcBef>
              <a:tabLst>
                <a:tab pos="133270" algn="l"/>
              </a:tabLst>
              <a:defRPr/>
            </a:pPr>
            <a:endParaRPr lang="en-US" altLang="en-US" sz="86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2134980F-833A-4CEA-B193-B68AFF606610}"/>
              </a:ext>
            </a:extLst>
          </p:cNvPr>
          <p:cNvSpPr>
            <a:spLocks noGrp="1"/>
          </p:cNvSpPr>
          <p:nvPr>
            <p:ph type="body" sz="quarter" idx="18"/>
          </p:nvPr>
        </p:nvSpPr>
        <p:spPr>
          <a:xfrm>
            <a:off x="5427750" y="2425645"/>
            <a:ext cx="6524747" cy="4053221"/>
          </a:xfrm>
        </p:spPr>
        <p:txBody>
          <a:bodyPr>
            <a:noAutofit/>
          </a:bodyPr>
          <a:lstStyle/>
          <a:p>
            <a:pPr marL="0" indent="0">
              <a:buNone/>
            </a:pPr>
            <a:r>
              <a:rPr lang="en-US" sz="1000" dirty="0"/>
              <a:t>FOLLETT HIGHER EDUCATION – </a:t>
            </a:r>
            <a:r>
              <a:rPr lang="en-US" sz="1000" dirty="0" err="1"/>
              <a:t>CourseTracks</a:t>
            </a:r>
            <a:endParaRPr lang="en-US" sz="1000" dirty="0"/>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n-US" sz="1000" b="0" dirty="0"/>
              <a:t>Contributed to the development and integration of enterprise applications supporting U.S.-based higher education institutions. Worked on integrations between academic platforms, e-commerce services, and external systems through APIs and data processes within a full-stack and cloud-based environment.</a:t>
            </a:r>
          </a:p>
          <a:p>
            <a:pPr marL="0" indent="0" defTabSz="912813">
              <a:lnSpc>
                <a:spcPct val="100000"/>
              </a:lnSpc>
              <a:spcBef>
                <a:spcPts val="0"/>
              </a:spcBef>
              <a:buNone/>
              <a:tabLst>
                <a:tab pos="917575" algn="l"/>
              </a:tabLst>
              <a:defRPr/>
            </a:pPr>
            <a:endParaRPr lang="es-AR" sz="1000" b="0" dirty="0">
              <a:solidFill>
                <a:prstClr val="black"/>
              </a:solidFill>
            </a:endParaRPr>
          </a:p>
          <a:p>
            <a:pPr marL="0" lvl="0" indent="0" defTabSz="912813">
              <a:lnSpc>
                <a:spcPct val="100000"/>
              </a:lnSpc>
              <a:spcBef>
                <a:spcPts val="0"/>
              </a:spcBef>
              <a:buNone/>
              <a:tabLst>
                <a:tab pos="917575" algn="l"/>
              </a:tabLst>
              <a:defRPr/>
            </a:pPr>
            <a:r>
              <a:rPr lang="en-US" sz="1000" dirty="0"/>
              <a:t>Ministry of Economy – Province of Buenos Aires</a:t>
            </a:r>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n-US" sz="1000" b="0" dirty="0"/>
              <a:t>Contributed to the development of internal systems supporting public sector administrative processes. Contributed to the implementation of application features and integrations using modern web technologies and relational databases while working in agile development teams delivering solutions to improve internal operations.</a:t>
            </a:r>
          </a:p>
          <a:p>
            <a:pPr marL="0" indent="0" defTabSz="912813">
              <a:lnSpc>
                <a:spcPct val="100000"/>
              </a:lnSpc>
              <a:spcBef>
                <a:spcPts val="0"/>
              </a:spcBef>
              <a:buNone/>
              <a:tabLst>
                <a:tab pos="917575" algn="l"/>
              </a:tabLst>
              <a:defRPr/>
            </a:pPr>
            <a:endParaRPr lang="en-US" sz="1000" b="0" dirty="0">
              <a:solidFill>
                <a:prstClr val="black"/>
              </a:solidFill>
            </a:endParaRPr>
          </a:p>
          <a:p>
            <a:pPr marL="0" indent="0">
              <a:buNone/>
            </a:pPr>
            <a:r>
              <a:rPr lang="it-IT" sz="1000" dirty="0"/>
              <a:t>AI Academy – Accenture (In Progress)</a:t>
            </a:r>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n-US" sz="1000" b="0" dirty="0"/>
              <a:t>Currently undertaking advanced training in Artificial Intelligence and Large Language Model applications through Accenture’s AI Academy, focusing on the development of AI-powered applications and intelligent workflows.</a:t>
            </a:r>
            <a:br>
              <a:rPr lang="en-US" sz="1000" b="0" dirty="0"/>
            </a:br>
            <a:endParaRPr lang="it-IT" b="0" dirty="0"/>
          </a:p>
          <a:p>
            <a:pPr marL="0" indent="0">
              <a:buNone/>
            </a:pPr>
            <a:r>
              <a:rPr lang="fr-FR" sz="1000" dirty="0"/>
              <a:t>ACSERP – Río de la </a:t>
            </a:r>
            <a:r>
              <a:rPr lang="fr-FR" sz="1000" dirty="0" err="1"/>
              <a:t>Plata</a:t>
            </a:r>
            <a:r>
              <a:rPr lang="fr-FR" sz="1000" dirty="0"/>
              <a:t> </a:t>
            </a:r>
            <a:r>
              <a:rPr lang="fr-FR" sz="1000" dirty="0" err="1"/>
              <a:t>Educational</a:t>
            </a:r>
            <a:r>
              <a:rPr lang="fr-FR" sz="1000" dirty="0"/>
              <a:t> Simulations Association</a:t>
            </a:r>
          </a:p>
          <a:p>
            <a:pPr marL="0" indent="0" defTabSz="912813">
              <a:lnSpc>
                <a:spcPct val="100000"/>
              </a:lnSpc>
              <a:spcBef>
                <a:spcPts val="0"/>
              </a:spcBef>
              <a:buNone/>
              <a:tabLst>
                <a:tab pos="917575" algn="l"/>
              </a:tabLst>
              <a:defRPr/>
            </a:pPr>
            <a:endParaRPr lang="it-IT" sz="1000" b="0" dirty="0">
              <a:solidFill>
                <a:prstClr val="black"/>
              </a:solidFill>
            </a:endParaRPr>
          </a:p>
          <a:p>
            <a:pPr defTabSz="912813">
              <a:lnSpc>
                <a:spcPct val="100000"/>
              </a:lnSpc>
              <a:spcBef>
                <a:spcPts val="0"/>
              </a:spcBef>
              <a:tabLst>
                <a:tab pos="917575" algn="l"/>
              </a:tabLst>
              <a:defRPr/>
            </a:pPr>
            <a:r>
              <a:rPr lang="en-US" sz="1000" b="0" dirty="0"/>
              <a:t>Designed and developed the institutional website for ACSERP – Río de la Plata Educational Simulations Association, an organization dedicated to organizing Model United Nations (Model UN) educational simulations.</a:t>
            </a:r>
            <a:endParaRPr lang="it-IT" sz="1000" b="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a:xfrm>
            <a:off x="2369005" y="887223"/>
            <a:ext cx="7083220" cy="237126"/>
          </a:xfrm>
        </p:spPr>
        <p:txBody>
          <a:bodyPr>
            <a:normAutofit fontScale="85000" lnSpcReduction="10000"/>
          </a:bodyPr>
          <a:lstStyle/>
          <a:p>
            <a:r>
              <a:rPr lang="en-US" dirty="0"/>
              <a:t>Full-Stack Development | Backend &amp; API Engineering | Enterprise Systems Integration | AI &amp; LLM Applications</a:t>
            </a:r>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sp>
        <p:nvSpPr>
          <p:cNvPr id="30" name="Text Placeholder 10">
            <a:extLst>
              <a:ext uri="{FF2B5EF4-FFF2-40B4-BE49-F238E27FC236}">
                <a16:creationId xmlns:a16="http://schemas.microsoft.com/office/drawing/2014/main" id="{D8EBDDCE-48D7-4534-8057-F03D089029E4}"/>
              </a:ext>
            </a:extLst>
          </p:cNvPr>
          <p:cNvSpPr txBox="1">
            <a:spLocks/>
          </p:cNvSpPr>
          <p:nvPr/>
        </p:nvSpPr>
        <p:spPr>
          <a:xfrm>
            <a:off x="3231099" y="3950647"/>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3658CBF4-BCD4-4FE7-976F-59FAEC664190}"/>
              </a:ext>
            </a:extLst>
          </p:cNvPr>
          <p:cNvSpPr txBox="1">
            <a:spLocks/>
          </p:cNvSpPr>
          <p:nvPr/>
        </p:nvSpPr>
        <p:spPr>
          <a:xfrm>
            <a:off x="3122221" y="4187983"/>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450"/>
              </a:spcBef>
              <a:tabLst>
                <a:tab pos="133270" algn="l"/>
              </a:tabLst>
              <a:defRPr/>
            </a:pPr>
            <a:r>
              <a:rPr lang="en-US" sz="900" dirty="0"/>
              <a:t>Higher Education</a:t>
            </a:r>
          </a:p>
          <a:p>
            <a:pPr>
              <a:lnSpc>
                <a:spcPct val="100000"/>
              </a:lnSpc>
              <a:spcBef>
                <a:spcPts val="450"/>
              </a:spcBef>
              <a:tabLst>
                <a:tab pos="133270" algn="l"/>
              </a:tabLst>
              <a:defRPr/>
            </a:pPr>
            <a:r>
              <a:rPr lang="en-US" sz="900" dirty="0"/>
              <a:t> Enterprise Software</a:t>
            </a:r>
          </a:p>
          <a:p>
            <a:pPr>
              <a:lnSpc>
                <a:spcPct val="100000"/>
              </a:lnSpc>
              <a:spcBef>
                <a:spcPts val="450"/>
              </a:spcBef>
              <a:tabLst>
                <a:tab pos="133270" algn="l"/>
              </a:tabLst>
              <a:defRPr/>
            </a:pPr>
            <a:r>
              <a:rPr lang="en-US" sz="900" dirty="0"/>
              <a:t> Public Sector</a:t>
            </a:r>
            <a:endParaRPr lang="en-US" altLang="en-US" sz="900" dirty="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208D3015-BB46-4C76-ABE0-1D7F99BFFC21}"/>
              </a:ext>
            </a:extLst>
          </p:cNvPr>
          <p:cNvSpPr txBox="1"/>
          <p:nvPr/>
        </p:nvSpPr>
        <p:spPr>
          <a:xfrm>
            <a:off x="210586" y="5245785"/>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AEC9E137-957C-3A35-467E-838DA660A245}"/>
              </a:ext>
            </a:extLst>
          </p:cNvPr>
          <p:cNvSpPr txBox="1"/>
          <p:nvPr/>
        </p:nvSpPr>
        <p:spPr>
          <a:xfrm>
            <a:off x="341211" y="5603433"/>
            <a:ext cx="2781010" cy="1015663"/>
          </a:xfrm>
          <a:prstGeom prst="rect">
            <a:avLst/>
          </a:prstGeom>
          <a:noFill/>
        </p:spPr>
        <p:txBody>
          <a:bodyPr wrap="square" rtlCol="0">
            <a:spAutoFit/>
          </a:bodyPr>
          <a:lstStyle/>
          <a:p>
            <a:pPr marL="171450" indent="-171450">
              <a:buFont typeface="Arial" panose="020B0604020202020204" pitchFamily="34" charset="0"/>
              <a:buChar char="•"/>
            </a:pPr>
            <a:r>
              <a:rPr lang="en-US" sz="1000" dirty="0"/>
              <a:t>EF SET English Certificate – C2 Proficient (83/100)</a:t>
            </a:r>
            <a:br>
              <a:rPr lang="en-US" sz="1000" dirty="0"/>
            </a:br>
            <a:r>
              <a:rPr lang="en-US" sz="1000" dirty="0"/>
              <a:t>EF Standard English Test, 2025</a:t>
            </a:r>
          </a:p>
          <a:p>
            <a:pPr marL="171450" indent="-171450">
              <a:buFont typeface="Arial" panose="020B0604020202020204" pitchFamily="34" charset="0"/>
              <a:buChar char="•"/>
            </a:pPr>
            <a:r>
              <a:rPr lang="en-US" sz="1000" dirty="0"/>
              <a:t>Cambridge English – First Certificate in English (FCE)</a:t>
            </a:r>
            <a:br>
              <a:rPr lang="en-US" sz="1000" dirty="0"/>
            </a:br>
            <a:r>
              <a:rPr lang="en-US" sz="1000" dirty="0"/>
              <a:t>University of Cambridge, 2019</a:t>
            </a:r>
          </a:p>
        </p:txBody>
      </p:sp>
      <p:pic>
        <p:nvPicPr>
          <p:cNvPr id="20" name="Picture Placeholder 19" descr="A person in a suit&#10;&#10;AI-generated content may be incorrect.">
            <a:extLst>
              <a:ext uri="{FF2B5EF4-FFF2-40B4-BE49-F238E27FC236}">
                <a16:creationId xmlns:a16="http://schemas.microsoft.com/office/drawing/2014/main" id="{B14B7A68-DD41-3980-A675-1310288D1145}"/>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9433" r="9433"/>
          <a:stretch>
            <a:fillRect/>
          </a:stretch>
        </p:blipFill>
        <p:spPr>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21239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CB2AB-670E-734D-9509-D80FCF18505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327F86-8540-0EA6-9059-601937E4E67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4BFBA5-6622-4657-A915-630FEC1BA0AA}" type="slidenum">
              <a:rPr kumimoji="0" lang="es-ES" sz="1000" b="0" i="0" u="none" strike="noStrike" kern="1200" cap="none" spc="0" normalizeH="0" baseline="0" noProof="0" smtClean="0">
                <a:ln>
                  <a:noFill/>
                </a:ln>
                <a:solidFill>
                  <a:prstClr val="white">
                    <a:lumMod val="6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s-ES" sz="1000" b="0" i="0" u="none" strike="noStrike" kern="1200" cap="none" spc="0" normalizeH="0" baseline="0" noProof="0">
              <a:ln>
                <a:noFill/>
              </a:ln>
              <a:solidFill>
                <a:prstClr val="white">
                  <a:lumMod val="65000"/>
                </a:prstClr>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12D6DF00-97C3-D880-EDBD-53079BEE807E}"/>
              </a:ext>
            </a:extLst>
          </p:cNvPr>
          <p:cNvSpPr>
            <a:spLocks noGrp="1"/>
          </p:cNvSpPr>
          <p:nvPr>
            <p:ph type="body" sz="quarter" idx="11"/>
          </p:nvPr>
        </p:nvSpPr>
        <p:spPr/>
        <p:txBody>
          <a:bodyPr>
            <a:normAutofit fontScale="92500" lnSpcReduction="20000"/>
          </a:bodyPr>
          <a:lstStyle/>
          <a:p>
            <a:r>
              <a:rPr lang="en-US" dirty="0"/>
              <a:t>Ulises Geymonat</a:t>
            </a:r>
          </a:p>
        </p:txBody>
      </p:sp>
      <p:sp>
        <p:nvSpPr>
          <p:cNvPr id="6" name="Text Placeholder 5">
            <a:extLst>
              <a:ext uri="{FF2B5EF4-FFF2-40B4-BE49-F238E27FC236}">
                <a16:creationId xmlns:a16="http://schemas.microsoft.com/office/drawing/2014/main" id="{CCB65A56-0A13-0291-982B-3942FB34C848}"/>
              </a:ext>
            </a:extLst>
          </p:cNvPr>
          <p:cNvSpPr>
            <a:spLocks noGrp="1"/>
          </p:cNvSpPr>
          <p:nvPr>
            <p:ph type="body" sz="quarter" idx="12"/>
          </p:nvPr>
        </p:nvSpPr>
        <p:spPr>
          <a:xfrm>
            <a:off x="2369005" y="504446"/>
            <a:ext cx="7246633" cy="432241"/>
          </a:xfrm>
        </p:spPr>
        <p:txBody>
          <a:bodyPr>
            <a:normAutofit fontScale="47500" lnSpcReduction="20000"/>
          </a:bodyPr>
          <a:lstStyle/>
          <a:p>
            <a:r>
              <a:rPr lang="en-US" sz="3200" b="1" dirty="0" err="1"/>
              <a:t>Ingeniero</a:t>
            </a:r>
            <a:r>
              <a:rPr lang="en-US" sz="3200" b="1" dirty="0"/>
              <a:t> de Software | </a:t>
            </a:r>
            <a:r>
              <a:rPr lang="en-US" sz="3200" b="1" dirty="0" err="1"/>
              <a:t>Arquitectura</a:t>
            </a:r>
            <a:r>
              <a:rPr lang="en-US" sz="3200" b="1" dirty="0"/>
              <a:t> de </a:t>
            </a:r>
            <a:r>
              <a:rPr lang="en-US" sz="3200" b="1" dirty="0" err="1"/>
              <a:t>Tecnología</a:t>
            </a:r>
            <a:r>
              <a:rPr lang="en-US" sz="3200" b="1" dirty="0"/>
              <a:t> de IA y LLM</a:t>
            </a:r>
            <a:endParaRPr lang="en-US" sz="3200" dirty="0"/>
          </a:p>
          <a:p>
            <a:endParaRPr lang="en-US" dirty="0"/>
          </a:p>
        </p:txBody>
      </p:sp>
      <p:sp>
        <p:nvSpPr>
          <p:cNvPr id="7" name="Text Placeholder 6">
            <a:extLst>
              <a:ext uri="{FF2B5EF4-FFF2-40B4-BE49-F238E27FC236}">
                <a16:creationId xmlns:a16="http://schemas.microsoft.com/office/drawing/2014/main" id="{FA84F891-0356-76A3-1DB2-FF15933EDE01}"/>
              </a:ext>
            </a:extLst>
          </p:cNvPr>
          <p:cNvSpPr>
            <a:spLocks noGrp="1"/>
          </p:cNvSpPr>
          <p:nvPr>
            <p:ph type="body" sz="quarter" idx="13"/>
          </p:nvPr>
        </p:nvSpPr>
        <p:spPr/>
        <p:txBody>
          <a:bodyPr/>
          <a:lstStyle/>
          <a:p>
            <a:r>
              <a:rPr lang="en-US" dirty="0"/>
              <a:t>ulises.geymonat@accenture.com</a:t>
            </a:r>
          </a:p>
        </p:txBody>
      </p:sp>
      <p:sp>
        <p:nvSpPr>
          <p:cNvPr id="8" name="Text Placeholder 7">
            <a:extLst>
              <a:ext uri="{FF2B5EF4-FFF2-40B4-BE49-F238E27FC236}">
                <a16:creationId xmlns:a16="http://schemas.microsoft.com/office/drawing/2014/main" id="{D49888D7-F660-311A-6379-42A5201E336A}"/>
              </a:ext>
            </a:extLst>
          </p:cNvPr>
          <p:cNvSpPr>
            <a:spLocks noGrp="1"/>
          </p:cNvSpPr>
          <p:nvPr>
            <p:ph type="body" sz="quarter" idx="14"/>
          </p:nvPr>
        </p:nvSpPr>
        <p:spPr/>
        <p:txBody>
          <a:bodyPr/>
          <a:lstStyle/>
          <a:p>
            <a:r>
              <a:rPr lang="en-US" dirty="0"/>
              <a:t>La Plata, Buenos Aires, Argentina</a:t>
            </a:r>
          </a:p>
        </p:txBody>
      </p:sp>
      <p:sp>
        <p:nvSpPr>
          <p:cNvPr id="10" name="Text Placeholder 9">
            <a:extLst>
              <a:ext uri="{FF2B5EF4-FFF2-40B4-BE49-F238E27FC236}">
                <a16:creationId xmlns:a16="http://schemas.microsoft.com/office/drawing/2014/main" id="{17A0D0EE-6E4C-6A10-1298-EF8B39086D6F}"/>
              </a:ext>
            </a:extLst>
          </p:cNvPr>
          <p:cNvSpPr>
            <a:spLocks noGrp="1"/>
          </p:cNvSpPr>
          <p:nvPr>
            <p:ph type="body" sz="quarter" idx="16"/>
          </p:nvPr>
        </p:nvSpPr>
        <p:spPr>
          <a:xfrm>
            <a:off x="341211" y="2421647"/>
            <a:ext cx="2650385" cy="2919138"/>
          </a:xfrm>
        </p:spPr>
        <p:txBody>
          <a:bodyPr>
            <a:normAutofit fontScale="85000" lnSpcReduction="10000"/>
          </a:bodyPr>
          <a:lstStyle/>
          <a:p>
            <a:pPr marL="0" indent="0">
              <a:buNone/>
            </a:pPr>
            <a:r>
              <a:rPr lang="es-ES" dirty="0"/>
              <a:t>Ingeniero de Software actualmente finalizando la Licenciatura en Sistemas en la Universidad Nacional de La Plata (UNLP), con tesis pendiente. Experiencia en el desarrollo e integración de aplicaciones empresariales utilizando desarrollo full-</a:t>
            </a:r>
            <a:r>
              <a:rPr lang="es-ES" dirty="0" err="1"/>
              <a:t>stack</a:t>
            </a:r>
            <a:r>
              <a:rPr lang="es-ES" dirty="0"/>
              <a:t> y plataformas </a:t>
            </a:r>
            <a:r>
              <a:rPr lang="es-ES" dirty="0" err="1"/>
              <a:t>cloud</a:t>
            </a:r>
            <a:r>
              <a:rPr lang="es-ES" dirty="0"/>
              <a:t>.</a:t>
            </a:r>
          </a:p>
          <a:p>
            <a:pPr marL="0" indent="0">
              <a:buNone/>
            </a:pPr>
            <a:r>
              <a:rPr lang="es-ES" dirty="0"/>
              <a:t>Ha contribuido al desarrollo de soluciones para instituciones de educación superior en Estados Unidos, integrando sistemas académicos, plataformas de comercio electrónico y servicios externos mediante </a:t>
            </a:r>
            <a:r>
              <a:rPr lang="es-ES" dirty="0" err="1"/>
              <a:t>APIs</a:t>
            </a:r>
            <a:r>
              <a:rPr lang="es-ES" dirty="0"/>
              <a:t> y procesos de datos.</a:t>
            </a:r>
          </a:p>
          <a:p>
            <a:pPr marL="0" indent="0">
              <a:buNone/>
            </a:pPr>
            <a:r>
              <a:rPr lang="es-ES" dirty="0"/>
              <a:t>Actualmente ampliando conocimientos en sistemas impulsados por inteligencia artificial a través de la AI </a:t>
            </a:r>
            <a:r>
              <a:rPr lang="es-ES" dirty="0" err="1"/>
              <a:t>Academy</a:t>
            </a:r>
            <a:r>
              <a:rPr lang="es-ES" dirty="0"/>
              <a:t> de Accenture (en curso), con foco en aplicaciones basadas en LLM y flujos de trabajo inteligentes.</a:t>
            </a:r>
          </a:p>
          <a:p>
            <a:pPr marL="0" indent="0">
              <a:buNone/>
            </a:pPr>
            <a:r>
              <a:rPr lang="es-ES" dirty="0"/>
              <a:t>• Español (Nativo)</a:t>
            </a:r>
            <a:br>
              <a:rPr lang="es-ES" dirty="0"/>
            </a:br>
            <a:r>
              <a:rPr lang="es-ES" dirty="0"/>
              <a:t>• Inglés (C2)</a:t>
            </a:r>
            <a:br>
              <a:rPr lang="es-ES" dirty="0"/>
            </a:br>
            <a:r>
              <a:rPr lang="es-ES" dirty="0"/>
              <a:t>• Francés (Básico)</a:t>
            </a:r>
          </a:p>
        </p:txBody>
      </p:sp>
      <p:sp>
        <p:nvSpPr>
          <p:cNvPr id="11" name="Text Placeholder 10">
            <a:extLst>
              <a:ext uri="{FF2B5EF4-FFF2-40B4-BE49-F238E27FC236}">
                <a16:creationId xmlns:a16="http://schemas.microsoft.com/office/drawing/2014/main" id="{E35FBB42-ACBC-F7CB-1D1A-89DA22608A56}"/>
              </a:ext>
            </a:extLst>
          </p:cNvPr>
          <p:cNvSpPr>
            <a:spLocks noGrp="1"/>
          </p:cNvSpPr>
          <p:nvPr>
            <p:ph type="body" sz="quarter" idx="17"/>
          </p:nvPr>
        </p:nvSpPr>
        <p:spPr>
          <a:xfrm>
            <a:off x="3176139" y="2715430"/>
            <a:ext cx="2251611" cy="1370691"/>
          </a:xfrm>
        </p:spPr>
        <p:txBody>
          <a:bodyPr vert="horz" lIns="91440" tIns="45720" rIns="91440" bIns="45720" rtlCol="0" anchor="t">
            <a:noAutofit/>
          </a:bodyPr>
          <a:lstStyle/>
          <a:p>
            <a:pPr marL="0" indent="0">
              <a:lnSpc>
                <a:spcPct val="100000"/>
              </a:lnSpc>
              <a:spcBef>
                <a:spcPts val="450"/>
              </a:spcBef>
              <a:buNone/>
              <a:tabLst>
                <a:tab pos="133270" algn="l"/>
              </a:tabLst>
              <a:defRPr/>
            </a:pPr>
            <a:r>
              <a:rPr lang="es-ES" sz="900" dirty="0"/>
              <a:t>• Desarrollo de Aplicaciones Full-</a:t>
            </a:r>
            <a:r>
              <a:rPr lang="es-ES" sz="900" dirty="0" err="1"/>
              <a:t>Stack</a:t>
            </a:r>
            <a:br>
              <a:rPr lang="es-ES" sz="900" dirty="0"/>
            </a:br>
            <a:r>
              <a:rPr lang="es-ES" sz="900" dirty="0"/>
              <a:t>• Desarrollo </a:t>
            </a:r>
            <a:r>
              <a:rPr lang="es-ES" sz="900" dirty="0" err="1"/>
              <a:t>Backend</a:t>
            </a:r>
            <a:r>
              <a:rPr lang="es-ES" sz="900" dirty="0"/>
              <a:t> y </a:t>
            </a:r>
            <a:r>
              <a:rPr lang="es-ES" sz="900" dirty="0" err="1"/>
              <a:t>APIs</a:t>
            </a:r>
            <a:br>
              <a:rPr lang="es-ES" sz="900" dirty="0"/>
            </a:br>
            <a:r>
              <a:rPr lang="es-ES" sz="900" dirty="0"/>
              <a:t>• Integración de Sistemas Empresariales</a:t>
            </a:r>
            <a:br>
              <a:rPr lang="es-ES" sz="900" dirty="0"/>
            </a:br>
            <a:r>
              <a:rPr lang="es-ES" sz="900" dirty="0"/>
              <a:t>• Plataformas Cloud y Servicios </a:t>
            </a:r>
            <a:r>
              <a:rPr lang="es-ES" sz="900" dirty="0" err="1"/>
              <a:t>Backend</a:t>
            </a:r>
            <a:br>
              <a:rPr lang="es-ES" sz="900" dirty="0"/>
            </a:br>
            <a:r>
              <a:rPr lang="es-ES" sz="900" dirty="0"/>
              <a:t>• Aplicaciones de IA y LLM (Formación en curso)</a:t>
            </a:r>
            <a:endParaRPr lang="en-US" altLang="en-US" sz="900" dirty="0">
              <a:solidFill>
                <a:prstClr val="black"/>
              </a:solidFill>
              <a:latin typeface="Calibri" panose="020F0502020204030204"/>
              <a:cs typeface="Arial"/>
            </a:endParaRPr>
          </a:p>
        </p:txBody>
      </p:sp>
      <p:sp>
        <p:nvSpPr>
          <p:cNvPr id="12" name="Text Placeholder 11">
            <a:extLst>
              <a:ext uri="{FF2B5EF4-FFF2-40B4-BE49-F238E27FC236}">
                <a16:creationId xmlns:a16="http://schemas.microsoft.com/office/drawing/2014/main" id="{D82FFA02-C4D9-D4E0-720E-9CFCCD5D9EDA}"/>
              </a:ext>
            </a:extLst>
          </p:cNvPr>
          <p:cNvSpPr>
            <a:spLocks noGrp="1"/>
          </p:cNvSpPr>
          <p:nvPr>
            <p:ph type="body" sz="quarter" idx="18"/>
          </p:nvPr>
        </p:nvSpPr>
        <p:spPr>
          <a:xfrm>
            <a:off x="5427750" y="2425645"/>
            <a:ext cx="6524747" cy="4053221"/>
          </a:xfrm>
        </p:spPr>
        <p:txBody>
          <a:bodyPr>
            <a:noAutofit/>
          </a:bodyPr>
          <a:lstStyle/>
          <a:p>
            <a:pPr marL="0" indent="0">
              <a:buNone/>
            </a:pPr>
            <a:r>
              <a:rPr lang="en-US" sz="1000" dirty="0"/>
              <a:t>FOLLETT HIGHER EDUCATION – </a:t>
            </a:r>
            <a:r>
              <a:rPr lang="en-US" sz="1000" dirty="0" err="1"/>
              <a:t>CourseTracks</a:t>
            </a:r>
            <a:endParaRPr lang="en-US" sz="1000" dirty="0"/>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s-ES" sz="1000" b="0" dirty="0"/>
              <a:t>Participación en el desarrollo e integración de aplicaciones empresariales que brindan soporte a instituciones de educación superior en Estados Unidos. Trabajo en integraciones entre plataformas académicas, servicios de comercio electrónico y sistemas externos mediante </a:t>
            </a:r>
            <a:r>
              <a:rPr lang="es-ES" sz="1000" b="0" dirty="0" err="1"/>
              <a:t>APIs</a:t>
            </a:r>
            <a:r>
              <a:rPr lang="es-ES" sz="1000" b="0" dirty="0"/>
              <a:t> y procesos de datos, contribuyendo al desarrollo de funcionalidades dentro de un entorno full-</a:t>
            </a:r>
            <a:r>
              <a:rPr lang="es-ES" sz="1000" b="0" dirty="0" err="1"/>
              <a:t>stack</a:t>
            </a:r>
            <a:r>
              <a:rPr lang="es-ES" sz="1000" b="0" dirty="0"/>
              <a:t> y </a:t>
            </a:r>
            <a:r>
              <a:rPr lang="es-ES" sz="1000" b="0" dirty="0" err="1"/>
              <a:t>cloud</a:t>
            </a:r>
            <a:r>
              <a:rPr lang="es-ES" sz="1000" b="0" dirty="0"/>
              <a:t>.</a:t>
            </a:r>
          </a:p>
          <a:p>
            <a:pPr marL="0" indent="0" defTabSz="912813">
              <a:lnSpc>
                <a:spcPct val="100000"/>
              </a:lnSpc>
              <a:spcBef>
                <a:spcPts val="0"/>
              </a:spcBef>
              <a:buNone/>
              <a:tabLst>
                <a:tab pos="917575" algn="l"/>
              </a:tabLst>
              <a:defRPr/>
            </a:pPr>
            <a:endParaRPr lang="es-AR" sz="1000" b="0" dirty="0">
              <a:solidFill>
                <a:prstClr val="black"/>
              </a:solidFill>
            </a:endParaRPr>
          </a:p>
          <a:p>
            <a:pPr marL="0" indent="0">
              <a:buNone/>
            </a:pPr>
            <a:r>
              <a:rPr lang="es-ES" sz="1000" dirty="0"/>
              <a:t>Ministerio de Economía – Provincia de Buenos Aires</a:t>
            </a:r>
          </a:p>
          <a:p>
            <a:pPr marL="0" lvl="0" indent="0" defTabSz="912813">
              <a:lnSpc>
                <a:spcPct val="100000"/>
              </a:lnSpc>
              <a:spcBef>
                <a:spcPts val="0"/>
              </a:spcBef>
              <a:buNone/>
              <a:tabLst>
                <a:tab pos="917575" algn="l"/>
              </a:tabLst>
              <a:defRPr/>
            </a:pPr>
            <a:endParaRPr lang="en-US" sz="1000" dirty="0">
              <a:solidFill>
                <a:prstClr val="black"/>
              </a:solidFill>
            </a:endParaRPr>
          </a:p>
          <a:p>
            <a:pPr defTabSz="912813">
              <a:lnSpc>
                <a:spcPct val="100000"/>
              </a:lnSpc>
              <a:spcBef>
                <a:spcPts val="0"/>
              </a:spcBef>
              <a:tabLst>
                <a:tab pos="917575" algn="l"/>
              </a:tabLst>
              <a:defRPr/>
            </a:pPr>
            <a:r>
              <a:rPr lang="es-ES" sz="1000" b="0" dirty="0"/>
              <a:t>Participación en el desarrollo de sistemas internos orientados a procesos administrativos del sector público. Contribución en la implementación de funcionalidades e integraciones utilizando tecnologías web modernas y bases de datos relacionales, trabajando en equipos ágiles para mejorar procesos operativos internos.</a:t>
            </a:r>
            <a:endParaRPr lang="en-US" sz="1000" b="0" dirty="0">
              <a:solidFill>
                <a:prstClr val="black"/>
              </a:solidFill>
            </a:endParaRPr>
          </a:p>
          <a:p>
            <a:pPr marL="0" indent="0">
              <a:buNone/>
            </a:pPr>
            <a:r>
              <a:rPr lang="en-US" sz="1000" dirty="0"/>
              <a:t>AI Academy – Accenture (En </a:t>
            </a:r>
            <a:r>
              <a:rPr lang="en-US" sz="1000" dirty="0" err="1"/>
              <a:t>curso</a:t>
            </a:r>
            <a:r>
              <a:rPr lang="en-US" sz="1000" dirty="0"/>
              <a:t>)</a:t>
            </a:r>
          </a:p>
          <a:p>
            <a:pPr marL="0" lvl="0" indent="0" defTabSz="912813">
              <a:lnSpc>
                <a:spcPct val="100000"/>
              </a:lnSpc>
              <a:spcBef>
                <a:spcPts val="0"/>
              </a:spcBef>
              <a:buNone/>
              <a:tabLst>
                <a:tab pos="917575" algn="l"/>
              </a:tabLst>
              <a:defRPr/>
            </a:pPr>
            <a:endParaRPr lang="en-US" sz="1000" b="0" dirty="0">
              <a:solidFill>
                <a:prstClr val="black"/>
              </a:solidFill>
            </a:endParaRPr>
          </a:p>
          <a:p>
            <a:pPr defTabSz="912813">
              <a:lnSpc>
                <a:spcPct val="100000"/>
              </a:lnSpc>
              <a:spcBef>
                <a:spcPts val="0"/>
              </a:spcBef>
              <a:tabLst>
                <a:tab pos="917575" algn="l"/>
              </a:tabLst>
              <a:defRPr/>
            </a:pPr>
            <a:r>
              <a:rPr lang="es-ES" sz="1000" b="0" dirty="0"/>
              <a:t>Formación avanzada en Inteligencia Artificial y aplicaciones basadas en </a:t>
            </a:r>
            <a:r>
              <a:rPr lang="es-ES" sz="1000" b="0" dirty="0" err="1"/>
              <a:t>Large</a:t>
            </a:r>
            <a:r>
              <a:rPr lang="es-ES" sz="1000" b="0" dirty="0"/>
              <a:t> </a:t>
            </a:r>
            <a:r>
              <a:rPr lang="es-ES" sz="1000" b="0" dirty="0" err="1"/>
              <a:t>Language</a:t>
            </a:r>
            <a:r>
              <a:rPr lang="es-ES" sz="1000" b="0" dirty="0"/>
              <a:t> </a:t>
            </a:r>
            <a:r>
              <a:rPr lang="es-ES" sz="1000" b="0" dirty="0" err="1"/>
              <a:t>Models</a:t>
            </a:r>
            <a:r>
              <a:rPr lang="es-ES" sz="1000" b="0" dirty="0"/>
              <a:t> (</a:t>
            </a:r>
            <a:r>
              <a:rPr lang="es-ES" sz="1000" b="0" dirty="0" err="1"/>
              <a:t>LLMs</a:t>
            </a:r>
            <a:r>
              <a:rPr lang="es-ES" sz="1000" b="0" dirty="0"/>
              <a:t>) a través de la AI </a:t>
            </a:r>
            <a:r>
              <a:rPr lang="es-ES" sz="1000" b="0" dirty="0" err="1"/>
              <a:t>Academy</a:t>
            </a:r>
            <a:r>
              <a:rPr lang="es-ES" sz="1000" b="0" dirty="0"/>
              <a:t> de Accenture, con foco en el desarrollo de aplicaciones impulsadas por IA y flujos de trabajo inteligentes.</a:t>
            </a:r>
            <a:br>
              <a:rPr lang="en-US" sz="1000" b="0" dirty="0"/>
            </a:br>
            <a:endParaRPr lang="it-IT" b="0" dirty="0"/>
          </a:p>
          <a:p>
            <a:pPr marL="0" indent="0">
              <a:buNone/>
            </a:pPr>
            <a:r>
              <a:rPr lang="es-ES" sz="1000" dirty="0"/>
              <a:t>ACSERP – Asociación Civil Simulacros Educativos Río de la Plata</a:t>
            </a:r>
          </a:p>
          <a:p>
            <a:pPr marL="0" indent="0" defTabSz="912813">
              <a:lnSpc>
                <a:spcPct val="100000"/>
              </a:lnSpc>
              <a:spcBef>
                <a:spcPts val="0"/>
              </a:spcBef>
              <a:buNone/>
              <a:tabLst>
                <a:tab pos="917575" algn="l"/>
              </a:tabLst>
              <a:defRPr/>
            </a:pPr>
            <a:endParaRPr lang="it-IT" sz="1000" dirty="0">
              <a:solidFill>
                <a:prstClr val="black"/>
              </a:solidFill>
            </a:endParaRPr>
          </a:p>
          <a:p>
            <a:pPr defTabSz="912813">
              <a:lnSpc>
                <a:spcPct val="100000"/>
              </a:lnSpc>
              <a:spcBef>
                <a:spcPts val="0"/>
              </a:spcBef>
              <a:tabLst>
                <a:tab pos="917575" algn="l"/>
              </a:tabLst>
              <a:defRPr/>
            </a:pPr>
            <a:r>
              <a:rPr lang="es-ES" sz="1000" b="0" dirty="0"/>
              <a:t>Diseño y desarrollo del sitio web institucional de la Asociación Civil Simulacros Educativos Río de la Plata (ACSERP), organización dedicada a la realización de simulaciones educativas de Modelo de Naciones Unidas (</a:t>
            </a:r>
            <a:r>
              <a:rPr lang="es-ES" sz="1000" b="0" dirty="0" err="1"/>
              <a:t>Model</a:t>
            </a:r>
            <a:r>
              <a:rPr lang="es-ES" sz="1000" b="0" dirty="0"/>
              <a:t> UN).</a:t>
            </a:r>
            <a:endParaRPr lang="it-IT" sz="1000" b="0" dirty="0">
              <a:solidFill>
                <a:prstClr val="black"/>
              </a:solidFill>
            </a:endParaRPr>
          </a:p>
          <a:p>
            <a:pPr marL="0" indent="0" defTabSz="912813">
              <a:lnSpc>
                <a:spcPct val="100000"/>
              </a:lnSpc>
              <a:spcBef>
                <a:spcPts val="0"/>
              </a:spcBef>
              <a:buNone/>
              <a:tabLst>
                <a:tab pos="917575" algn="l"/>
              </a:tabLst>
              <a:defRPr/>
            </a:pPr>
            <a:endParaRPr lang="it-IT" sz="1000" dirty="0">
              <a:solidFill>
                <a:prstClr val="black"/>
              </a:solidFill>
            </a:endParaRPr>
          </a:p>
          <a:p>
            <a:pPr lvl="0" defTabSz="912813">
              <a:lnSpc>
                <a:spcPct val="100000"/>
              </a:lnSpc>
              <a:spcBef>
                <a:spcPts val="0"/>
              </a:spcBef>
              <a:buFontTx/>
              <a:buChar char="-"/>
              <a:tabLst>
                <a:tab pos="917575" algn="l"/>
              </a:tabLst>
              <a:defRPr/>
            </a:pPr>
            <a:endParaRPr lang="en-US" sz="1000" dirty="0">
              <a:solidFill>
                <a:prstClr val="black"/>
              </a:solidFill>
            </a:endParaRPr>
          </a:p>
          <a:p>
            <a:pPr marL="0" lvl="0" indent="0" defTabSz="912813">
              <a:lnSpc>
                <a:spcPct val="100000"/>
              </a:lnSpc>
              <a:spcBef>
                <a:spcPts val="0"/>
              </a:spcBef>
              <a:buNone/>
              <a:tabLst>
                <a:tab pos="917575" algn="l"/>
              </a:tabLst>
              <a:defRPr/>
            </a:pPr>
            <a:endParaRPr lang="en-US" sz="1000" dirty="0">
              <a:solidFill>
                <a:prstClr val="black"/>
              </a:solidFill>
            </a:endParaRPr>
          </a:p>
        </p:txBody>
      </p:sp>
      <p:sp>
        <p:nvSpPr>
          <p:cNvPr id="13" name="Text Placeholder 12">
            <a:extLst>
              <a:ext uri="{FF2B5EF4-FFF2-40B4-BE49-F238E27FC236}">
                <a16:creationId xmlns:a16="http://schemas.microsoft.com/office/drawing/2014/main" id="{E88BE94C-7A86-640F-619F-F95731464969}"/>
              </a:ext>
            </a:extLst>
          </p:cNvPr>
          <p:cNvSpPr>
            <a:spLocks noGrp="1"/>
          </p:cNvSpPr>
          <p:nvPr>
            <p:ph type="body" sz="quarter" idx="19"/>
          </p:nvPr>
        </p:nvSpPr>
        <p:spPr>
          <a:xfrm>
            <a:off x="2369005" y="857657"/>
            <a:ext cx="7083220" cy="237126"/>
          </a:xfrm>
        </p:spPr>
        <p:txBody>
          <a:bodyPr>
            <a:noAutofit/>
          </a:bodyPr>
          <a:lstStyle/>
          <a:p>
            <a:r>
              <a:rPr lang="es-ES" sz="1000" dirty="0"/>
              <a:t>Desarrollo Full-</a:t>
            </a:r>
            <a:r>
              <a:rPr lang="es-ES" sz="1000" dirty="0" err="1"/>
              <a:t>Stack</a:t>
            </a:r>
            <a:r>
              <a:rPr lang="es-ES" sz="1000" dirty="0"/>
              <a:t> | Ingeniería </a:t>
            </a:r>
            <a:r>
              <a:rPr lang="es-ES" sz="1000" dirty="0" err="1"/>
              <a:t>Backend</a:t>
            </a:r>
            <a:r>
              <a:rPr lang="es-ES" sz="1000" dirty="0"/>
              <a:t> y de </a:t>
            </a:r>
            <a:r>
              <a:rPr lang="es-ES" sz="1000" dirty="0" err="1"/>
              <a:t>APIs</a:t>
            </a:r>
            <a:r>
              <a:rPr lang="es-ES" sz="1000" dirty="0"/>
              <a:t> | Integración de Sistemas Empresariales | Aplicaciones de IA y LLM</a:t>
            </a:r>
          </a:p>
        </p:txBody>
      </p:sp>
      <p:sp>
        <p:nvSpPr>
          <p:cNvPr id="3" name="Footer Placeholder 2">
            <a:extLst>
              <a:ext uri="{FF2B5EF4-FFF2-40B4-BE49-F238E27FC236}">
                <a16:creationId xmlns:a16="http://schemas.microsoft.com/office/drawing/2014/main" id="{50E9E0D3-FACD-9D94-D76A-416E524C7735}"/>
              </a:ext>
            </a:extLst>
          </p:cNvPr>
          <p:cNvSpPr>
            <a:spLocks noGrp="1"/>
          </p:cNvSpPr>
          <p:nvPr>
            <p:ph type="ftr" sz="quarter" idx="4294967295"/>
          </p:nvPr>
        </p:nvSpPr>
        <p:spPr>
          <a:xfrm>
            <a:off x="8077200" y="6492875"/>
            <a:ext cx="4114800"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Copyright © 2021 Accenture.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All</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rights</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 </a:t>
            </a:r>
            <a:r>
              <a:rPr kumimoji="0" lang="es-ES" sz="1200" b="0" i="0" u="none" strike="noStrike" kern="1200" cap="none" spc="0" normalizeH="0" baseline="0" noProof="0" err="1">
                <a:ln>
                  <a:noFill/>
                </a:ln>
                <a:solidFill>
                  <a:prstClr val="black">
                    <a:tint val="75000"/>
                  </a:prstClr>
                </a:solidFill>
                <a:effectLst/>
                <a:uLnTx/>
                <a:uFillTx/>
                <a:latin typeface="Calibri" panose="020F0502020204030204"/>
                <a:ea typeface="+mn-ea"/>
                <a:cs typeface="+mn-cs"/>
              </a:rPr>
              <a:t>reserved</a:t>
            </a:r>
            <a:r>
              <a:rPr kumimoji="0" lang="es-E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a:t>
            </a:r>
          </a:p>
        </p:txBody>
      </p:sp>
      <p:sp>
        <p:nvSpPr>
          <p:cNvPr id="30" name="Text Placeholder 10">
            <a:extLst>
              <a:ext uri="{FF2B5EF4-FFF2-40B4-BE49-F238E27FC236}">
                <a16:creationId xmlns:a16="http://schemas.microsoft.com/office/drawing/2014/main" id="{066C47DC-EC0A-98B2-7EC3-051D3EC1DA19}"/>
              </a:ext>
            </a:extLst>
          </p:cNvPr>
          <p:cNvSpPr txBox="1">
            <a:spLocks/>
          </p:cNvSpPr>
          <p:nvPr/>
        </p:nvSpPr>
        <p:spPr>
          <a:xfrm>
            <a:off x="3231099" y="3950647"/>
            <a:ext cx="2012108" cy="1159413"/>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170781" indent="-170781">
              <a:lnSpc>
                <a:spcPct val="100000"/>
              </a:lnSpc>
              <a:spcBef>
                <a:spcPts val="450"/>
              </a:spcBef>
              <a:tabLst>
                <a:tab pos="133270" algn="l"/>
              </a:tabLst>
              <a:defRPr/>
            </a:pPr>
            <a:endParaRPr lang="en-US" altLang="en-US" sz="800">
              <a:solidFill>
                <a:prstClr val="black"/>
              </a:solidFill>
              <a:latin typeface="Calibri" panose="020F0502020204030204"/>
              <a:cs typeface="Arial"/>
            </a:endParaRPr>
          </a:p>
          <a:p>
            <a:pPr marL="0" indent="0">
              <a:lnSpc>
                <a:spcPct val="100000"/>
              </a:lnSpc>
              <a:spcBef>
                <a:spcPts val="450"/>
              </a:spcBef>
              <a:buFont typeface="Arial" panose="020B0604020202020204" pitchFamily="34" charset="0"/>
              <a:buNone/>
              <a:tabLst>
                <a:tab pos="133270" algn="l"/>
              </a:tabLst>
              <a:defRPr/>
            </a:pPr>
            <a:endParaRPr lang="en-US" altLang="en-US" sz="800">
              <a:solidFill>
                <a:prstClr val="black"/>
              </a:solidFill>
              <a:latin typeface="Calibri" panose="020F0502020204030204"/>
              <a:cs typeface="Arial"/>
            </a:endParaRPr>
          </a:p>
        </p:txBody>
      </p:sp>
      <p:sp>
        <p:nvSpPr>
          <p:cNvPr id="31" name="Text Placeholder 10">
            <a:extLst>
              <a:ext uri="{FF2B5EF4-FFF2-40B4-BE49-F238E27FC236}">
                <a16:creationId xmlns:a16="http://schemas.microsoft.com/office/drawing/2014/main" id="{A4CD4C0E-D2B8-B6CE-82EE-494DBB1A3369}"/>
              </a:ext>
            </a:extLst>
          </p:cNvPr>
          <p:cNvSpPr txBox="1">
            <a:spLocks/>
          </p:cNvSpPr>
          <p:nvPr/>
        </p:nvSpPr>
        <p:spPr>
          <a:xfrm>
            <a:off x="3122221" y="4187983"/>
            <a:ext cx="2012108" cy="1018115"/>
          </a:xfrm>
          <a:prstGeom prst="rect">
            <a:avLst/>
          </a:prstGeom>
        </p:spPr>
        <p:txBody>
          <a:bodyPr vert="horz" lIns="91440" tIns="45720" rIns="91440" bIns="45720" rtlCol="0">
            <a:normAutofit/>
          </a:bodyPr>
          <a:lstStyle>
            <a:lvl1pPr marL="171450" indent="-171450" algn="l" defTabSz="914400" rtl="0" eaLnBrk="1" latinLnBrk="0" hangingPunct="1">
              <a:lnSpc>
                <a:spcPct val="90000"/>
              </a:lnSpc>
              <a:spcBef>
                <a:spcPts val="1000"/>
              </a:spcBef>
              <a:buFont typeface="Arial" panose="020B0604020202020204" pitchFamily="34" charset="0"/>
              <a:buChar char="•"/>
              <a:defRPr sz="1200" kern="1200">
                <a:solidFill>
                  <a:schemeClr val="tx1"/>
                </a:solidFill>
                <a:latin typeface="Graphik" panose="020B050303020206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50"/>
              </a:spcBef>
              <a:buNone/>
              <a:tabLst>
                <a:tab pos="133270" algn="l"/>
              </a:tabLst>
              <a:defRPr/>
            </a:pPr>
            <a:r>
              <a:rPr lang="es-ES" sz="900" dirty="0"/>
              <a:t>• Educación Superior</a:t>
            </a:r>
            <a:br>
              <a:rPr lang="es-ES" sz="900" dirty="0"/>
            </a:br>
            <a:r>
              <a:rPr lang="es-ES" sz="900" dirty="0"/>
              <a:t>• Software Empresarial</a:t>
            </a:r>
            <a:br>
              <a:rPr lang="es-ES" sz="900" dirty="0"/>
            </a:br>
            <a:r>
              <a:rPr lang="es-ES" sz="900" dirty="0"/>
              <a:t>• Sector Público</a:t>
            </a:r>
            <a:endParaRPr lang="en-US" altLang="en-US" sz="900" dirty="0">
              <a:solidFill>
                <a:prstClr val="black"/>
              </a:solidFill>
              <a:latin typeface="Calibri" panose="020F0502020204030204"/>
              <a:cs typeface="Arial"/>
            </a:endParaRPr>
          </a:p>
        </p:txBody>
      </p:sp>
      <p:sp>
        <p:nvSpPr>
          <p:cNvPr id="2" name="TextBox 1">
            <a:extLst>
              <a:ext uri="{FF2B5EF4-FFF2-40B4-BE49-F238E27FC236}">
                <a16:creationId xmlns:a16="http://schemas.microsoft.com/office/drawing/2014/main" id="{B9771E7E-1BD6-EE31-49F1-CA103063474A}"/>
              </a:ext>
            </a:extLst>
          </p:cNvPr>
          <p:cNvSpPr txBox="1"/>
          <p:nvPr/>
        </p:nvSpPr>
        <p:spPr>
          <a:xfrm>
            <a:off x="210586" y="5245785"/>
            <a:ext cx="2342612" cy="261610"/>
          </a:xfrm>
          <a:prstGeom prst="rect">
            <a:avLst/>
          </a:prstGeom>
          <a:noFill/>
        </p:spPr>
        <p:txBody>
          <a:bodyPr wrap="square" rtlCol="0">
            <a:spAutoFit/>
          </a:bodyPr>
          <a:lstStyle/>
          <a:p>
            <a:r>
              <a:rPr lang="es-AR" sz="1100" b="1">
                <a:solidFill>
                  <a:srgbClr val="7030A0"/>
                </a:solidFill>
                <a:latin typeface="Graphik" panose="020B0503030202060203" pitchFamily="34" charset="0"/>
              </a:rPr>
              <a:t>CERTIFICATIONS</a:t>
            </a:r>
            <a:endParaRPr lang="en-US" sz="1100" b="1">
              <a:solidFill>
                <a:srgbClr val="7030A0"/>
              </a:solidFill>
              <a:latin typeface="Graphik" panose="020B0503030202060203" pitchFamily="34" charset="0"/>
            </a:endParaRPr>
          </a:p>
        </p:txBody>
      </p:sp>
      <p:sp>
        <p:nvSpPr>
          <p:cNvPr id="14" name="TextBox 13">
            <a:extLst>
              <a:ext uri="{FF2B5EF4-FFF2-40B4-BE49-F238E27FC236}">
                <a16:creationId xmlns:a16="http://schemas.microsoft.com/office/drawing/2014/main" id="{07EF9E8B-64C4-BB1F-131F-11375F340817}"/>
              </a:ext>
            </a:extLst>
          </p:cNvPr>
          <p:cNvSpPr txBox="1"/>
          <p:nvPr/>
        </p:nvSpPr>
        <p:spPr>
          <a:xfrm>
            <a:off x="341211" y="5603433"/>
            <a:ext cx="2781010" cy="1015663"/>
          </a:xfrm>
          <a:prstGeom prst="rect">
            <a:avLst/>
          </a:prstGeom>
          <a:noFill/>
        </p:spPr>
        <p:txBody>
          <a:bodyPr wrap="square" rtlCol="0">
            <a:spAutoFit/>
          </a:bodyPr>
          <a:lstStyle/>
          <a:p>
            <a:pPr marL="171450" indent="-171450">
              <a:buFont typeface="Arial" panose="020B0604020202020204" pitchFamily="34" charset="0"/>
              <a:buChar char="•"/>
            </a:pPr>
            <a:r>
              <a:rPr lang="en-US" sz="1000" dirty="0"/>
              <a:t>EF SET English Certificate – C2 Proficient (83/100)</a:t>
            </a:r>
            <a:br>
              <a:rPr lang="en-US" sz="1000" dirty="0"/>
            </a:br>
            <a:r>
              <a:rPr lang="en-US" sz="1000" dirty="0"/>
              <a:t>EF Standard English Test, 2025</a:t>
            </a:r>
          </a:p>
          <a:p>
            <a:pPr marL="171450" indent="-171450">
              <a:buFont typeface="Arial" panose="020B0604020202020204" pitchFamily="34" charset="0"/>
              <a:buChar char="•"/>
            </a:pPr>
            <a:r>
              <a:rPr lang="en-US" sz="1000" dirty="0"/>
              <a:t>Cambridge English – First Certificate in English (FCE)</a:t>
            </a:r>
            <a:br>
              <a:rPr lang="en-US" sz="1000" dirty="0"/>
            </a:br>
            <a:r>
              <a:rPr lang="en-US" sz="1000" dirty="0"/>
              <a:t>University of Cambridge, 2019</a:t>
            </a:r>
          </a:p>
        </p:txBody>
      </p:sp>
      <p:pic>
        <p:nvPicPr>
          <p:cNvPr id="20" name="Picture Placeholder 19" descr="A person in a suit&#10;&#10;AI-generated content may be incorrect.">
            <a:extLst>
              <a:ext uri="{FF2B5EF4-FFF2-40B4-BE49-F238E27FC236}">
                <a16:creationId xmlns:a16="http://schemas.microsoft.com/office/drawing/2014/main" id="{14695711-17DA-B043-5889-248A3C2A60FB}"/>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9433" r="9433"/>
          <a:stretch>
            <a:fillRect/>
          </a:stretch>
        </p:blipFill>
        <p:spPr>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99565470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e1adda6-93f2-443e-b0ef-40d6e1dc8c9d" xsi:nil="true"/>
    <lcf76f155ced4ddcb4097134ff3c332f xmlns="9e5dff9b-ec84-400a-8d4d-02e96956639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b3e803809cee597fc3b47f0bb07c2c3c">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31b344b0215af432afecb1c8ed6d0c85"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FDDEF0-1083-4094-9B20-46F9C8F1434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144C9B9-51C1-4799-AC7C-FA632A9C1FB3}">
  <ds:schemaRefs>
    <ds:schemaRef ds:uri="http://schemas.microsoft.com/sharepoint/v3/contenttype/forms"/>
  </ds:schemaRefs>
</ds:datastoreItem>
</file>

<file path=customXml/itemProps3.xml><?xml version="1.0" encoding="utf-8"?>
<ds:datastoreItem xmlns:ds="http://schemas.openxmlformats.org/officeDocument/2006/customXml" ds:itemID="{A3FE0D68-CD84-443B-974E-C9AFCADC7292}"/>
</file>

<file path=docProps/app.xml><?xml version="1.0" encoding="utf-8"?>
<Properties xmlns="http://schemas.openxmlformats.org/officeDocument/2006/extended-properties" xmlns:vt="http://schemas.openxmlformats.org/officeDocument/2006/docPropsVTypes">
  <TotalTime>55</TotalTime>
  <Words>867</Words>
  <Application>Microsoft Office PowerPoint</Application>
  <PresentationFormat>Widescreen</PresentationFormat>
  <Paragraphs>70</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Aptos</vt:lpstr>
      <vt:lpstr>Arial</vt:lpstr>
      <vt:lpstr>Calibri</vt:lpstr>
      <vt:lpstr>Calibri Light</vt:lpstr>
      <vt:lpstr>Graphik</vt:lpstr>
      <vt:lpstr>Graphik Black</vt:lpstr>
      <vt:lpstr>Graphik Super</vt:lpstr>
      <vt:lpstr>1_Office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Penacchioni, Ana</dc:creator>
  <cp:lastModifiedBy>Geymonat, Ulises</cp:lastModifiedBy>
  <cp:revision>4</cp:revision>
  <dcterms:created xsi:type="dcterms:W3CDTF">2022-03-18T18:13:59Z</dcterms:created>
  <dcterms:modified xsi:type="dcterms:W3CDTF">2026-03-05T12:19:07Z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ies>
</file>