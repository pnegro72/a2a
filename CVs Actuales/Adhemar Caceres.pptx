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07613621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00FF"/>
    <a:srgbClr val="7500C0"/>
    <a:srgbClr val="460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1F582D-6A4F-B511-1C1E-92470D19CED9}" v="3" dt="2026-03-26T13:57:32.8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876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ceres, Adhemar" userId="S::a.caceres.rojas@accenture.com::d5926726-eef4-4082-bcf9-43aa768f94ac" providerId="AD" clId="Web-{C41F582D-6A4F-B511-1C1E-92470D19CED9}"/>
    <pc:docChg chg="addSld delSld modSld">
      <pc:chgData name="Caceres, Adhemar" userId="S::a.caceres.rojas@accenture.com::d5926726-eef4-4082-bcf9-43aa768f94ac" providerId="AD" clId="Web-{C41F582D-6A4F-B511-1C1E-92470D19CED9}" dt="2026-03-26T13:57:32.822" v="2"/>
      <pc:docMkLst>
        <pc:docMk/>
      </pc:docMkLst>
      <pc:sldChg chg="del">
        <pc:chgData name="Caceres, Adhemar" userId="S::a.caceres.rojas@accenture.com::d5926726-eef4-4082-bcf9-43aa768f94ac" providerId="AD" clId="Web-{C41F582D-6A4F-B511-1C1E-92470D19CED9}" dt="2026-03-26T13:57:32.822" v="2"/>
        <pc:sldMkLst>
          <pc:docMk/>
          <pc:sldMk cId="3747954151" sldId="2076136212"/>
        </pc:sldMkLst>
      </pc:sldChg>
      <pc:sldChg chg="modSp add">
        <pc:chgData name="Caceres, Adhemar" userId="S::a.caceres.rojas@accenture.com::d5926726-eef4-4082-bcf9-43aa768f94ac" providerId="AD" clId="Web-{C41F582D-6A4F-B511-1C1E-92470D19CED9}" dt="2026-03-26T13:56:58.131" v="1" actId="1076"/>
        <pc:sldMkLst>
          <pc:docMk/>
          <pc:sldMk cId="805661194" sldId="2076136213"/>
        </pc:sldMkLst>
        <pc:spChg chg="mod">
          <ac:chgData name="Caceres, Adhemar" userId="S::a.caceres.rojas@accenture.com::d5926726-eef4-4082-bcf9-43aa768f94ac" providerId="AD" clId="Web-{C41F582D-6A4F-B511-1C1E-92470D19CED9}" dt="2026-03-26T13:56:58.131" v="1" actId="1076"/>
          <ac:spMkLst>
            <pc:docMk/>
            <pc:sldMk cId="805661194" sldId="2076136213"/>
            <ac:spMk id="2" creationId="{1CEEF2B6-12FF-1F3B-0ADF-93251083EC6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AAC62-BF2B-4F17-A281-1372B1E4E7B0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F59354-9A81-4987-9140-5CE923F05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21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89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770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067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43178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12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7707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80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8157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256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18288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45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7539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71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150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20473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42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342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7242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280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68741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02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1346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2112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3081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Graphik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</a:t>
            </a:r>
            <a:r>
              <a:rPr lang="en-GB"/>
              <a:t>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622954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782834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3485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725610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50526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72625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631839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281415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680215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825672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780762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893192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00825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87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50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394938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Place sub-headline here in GT Sectra Fine </a:t>
            </a:r>
            <a:r>
              <a:rPr lang="en-GB" err="1"/>
              <a:t>Rg</a:t>
            </a:r>
            <a:r>
              <a:rPr lang="en-GB"/>
              <a:t> 24pt, indent for other levels</a:t>
            </a:r>
            <a:endParaRPr lang="en-US"/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68227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736104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72655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4411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14DCF5-5ED0-4270-8AF9-09AB7E3D7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8"/>
            <a:ext cx="5330952" cy="2395728"/>
          </a:xfrm>
        </p:spPr>
        <p:txBody>
          <a:bodyPr anchor="ctr"/>
          <a:lstStyle/>
          <a:p>
            <a:r>
              <a:rPr lang="en-GB"/>
              <a:t>Place headline here 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504077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2204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4853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1076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481997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78000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06056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cons Library Layout">
    <p:bg>
      <p:bgPr>
        <a:solidFill>
          <a:schemeClr val="tx2">
            <a:lumMod val="40000"/>
            <a:lumOff val="6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k">
            <a:hlinkClick r:id="" action="ppaction://noaction"/>
          </p:cNvPr>
          <p:cNvSpPr/>
          <p:nvPr/>
        </p:nvSpPr>
        <p:spPr>
          <a:xfrm>
            <a:off x="10882946" y="105450"/>
            <a:ext cx="118872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12700" cmpd="sng">
            <a:noFill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0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△ </a:t>
            </a:r>
            <a:r>
              <a:rPr lang="en-US" sz="1050" b="0" u="sng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Back to index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635411" y="10545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635411" y="37977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9"/>
          <p:cNvSpPr txBox="1">
            <a:spLocks/>
          </p:cNvSpPr>
          <p:nvPr/>
        </p:nvSpPr>
        <p:spPr>
          <a:xfrm>
            <a:off x="3635411" y="174557"/>
            <a:ext cx="6400800" cy="136107"/>
          </a:xfrm>
          <a:prstGeom prst="rect">
            <a:avLst/>
          </a:prstGeom>
          <a:ln w="12700">
            <a:noFill/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anchor="ctr">
            <a:sp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None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179388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358775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tabLst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538163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717550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000" b="1">
                <a:solidFill>
                  <a:schemeClr val="tx2"/>
                </a:solidFill>
                <a:latin typeface="+mj-lt"/>
              </a:rPr>
              <a:t>ONLY CHOOSE AN ICON THAT VERY CLEARLY MATCHES THE TEXT IT WILL ACCOMPANY</a:t>
            </a:r>
            <a:endParaRPr lang="en-AU" sz="9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57328" y="4627141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57328" y="2597056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996370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191581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552539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274454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913497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35412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996370" y="2712307"/>
            <a:ext cx="8195211" cy="1799583"/>
            <a:chOff x="1995590" y="682378"/>
            <a:chExt cx="8192010" cy="18000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96370" y="4742394"/>
            <a:ext cx="8195211" cy="1799583"/>
            <a:chOff x="1995590" y="682378"/>
            <a:chExt cx="8192010" cy="180000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4BC60B0-B1D6-4061-83BA-885AC97C4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328" y="105451"/>
            <a:ext cx="3278082" cy="314608"/>
          </a:xfrm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AU" sz="2000" b="1" i="0" kern="1200" cap="all" baseline="0" dirty="0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rtl="0" eaLnBrk="1" fontAlgn="base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Font typeface="Graphik" pitchFamily="34" charset="0"/>
              <a:buNone/>
            </a:pPr>
            <a:r>
              <a:rPr lang="en-US"/>
              <a:t>CATEGORY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956369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37483A8-E899-0C9C-DC82-453B940B15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1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532" imgH="530" progId="TCLayout.ActiveDocument.1">
                  <p:embed/>
                </p:oleObj>
              </mc:Choice>
              <mc:Fallback>
                <p:oleObj name="think-cell Slide" r:id="rId53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37483A8-E899-0C9C-DC82-453B940B15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1B92786-28A6-2E84-7F69-1F45B9050E9B}"/>
              </a:ext>
            </a:extLst>
          </p:cNvPr>
          <p:cNvSpPr/>
          <p:nvPr userDrawn="1">
            <p:custDataLst>
              <p:tags r:id="rId5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008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diagram&#10;&#10;Description automatically generated">
            <a:extLst>
              <a:ext uri="{FF2B5EF4-FFF2-40B4-BE49-F238E27FC236}">
                <a16:creationId xmlns:a16="http://schemas.microsoft.com/office/drawing/2014/main" id="{339CA5F8-5150-298C-D8C9-4C8811B324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1999" cy="6352674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CEEF2B6-12FF-1F3B-0ADF-93251083EC65}"/>
              </a:ext>
            </a:extLst>
          </p:cNvPr>
          <p:cNvSpPr txBox="1">
            <a:spLocks/>
          </p:cNvSpPr>
          <p:nvPr/>
        </p:nvSpPr>
        <p:spPr>
          <a:xfrm>
            <a:off x="329470" y="208333"/>
            <a:ext cx="6449864" cy="3937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3200" b="1" dirty="0">
                <a:solidFill>
                  <a:schemeClr val="accent3"/>
                </a:solidFill>
                <a:latin typeface="Graphik"/>
              </a:rPr>
              <a:t>Adhemar Caceres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BD5EC0B-4D54-E441-7F31-D4C98525F636}"/>
              </a:ext>
            </a:extLst>
          </p:cNvPr>
          <p:cNvSpPr txBox="1">
            <a:spLocks/>
          </p:cNvSpPr>
          <p:nvPr/>
        </p:nvSpPr>
        <p:spPr>
          <a:xfrm>
            <a:off x="1875000" y="956458"/>
            <a:ext cx="4712989" cy="1405505"/>
          </a:xfrm>
          <a:prstGeom prst="rect">
            <a:avLst/>
          </a:prstGeom>
        </p:spPr>
        <p:txBody>
          <a:bodyPr vert="horz" lIns="0" tIns="0" rIns="0" bIns="0" rtlCol="0" anchor="t">
            <a:normAutofit lnSpcReduction="10000"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Graphik Black"/>
              </a:rPr>
              <a:t>Data Eng, </a:t>
            </a:r>
            <a:r>
              <a:rPr lang="en-US" dirty="0" err="1">
                <a:solidFill>
                  <a:schemeClr val="accent3"/>
                </a:solidFill>
                <a:latin typeface="Graphik Black"/>
              </a:rPr>
              <a:t>Mgmt</a:t>
            </a:r>
            <a:r>
              <a:rPr lang="en-US" dirty="0">
                <a:solidFill>
                  <a:schemeClr val="accent3"/>
                </a:solidFill>
                <a:latin typeface="Graphik Black"/>
              </a:rPr>
              <a:t> &amp; Governance Associate</a:t>
            </a:r>
          </a:p>
          <a:p>
            <a:pPr marL="0" indent="0">
              <a:buNone/>
            </a:pPr>
            <a:r>
              <a:rPr lang="es-AR" sz="1200" dirty="0" err="1"/>
              <a:t>Technology</a:t>
            </a:r>
            <a:r>
              <a:rPr lang="es-AR" sz="1200" dirty="0"/>
              <a:t> / Data &amp; AI</a:t>
            </a:r>
          </a:p>
          <a:p>
            <a:pPr marL="0" indent="0">
              <a:buNone/>
            </a:pPr>
            <a:r>
              <a:rPr lang="en-US" sz="1200" b="1" dirty="0">
                <a:latin typeface="Graphik"/>
              </a:rPr>
              <a:t>a.caceres.rojas@accenture.com</a:t>
            </a:r>
          </a:p>
          <a:p>
            <a:pPr marL="0" indent="0">
              <a:buNone/>
            </a:pPr>
            <a:r>
              <a:rPr lang="en-US" sz="1200" dirty="0">
                <a:latin typeface="Graphik"/>
              </a:rPr>
              <a:t>Buenos Aires, Argentina</a:t>
            </a:r>
            <a:endParaRPr lang="en-US" sz="1200" dirty="0"/>
          </a:p>
          <a:p>
            <a:endParaRPr lang="en-US" sz="900" b="1" dirty="0"/>
          </a:p>
          <a:p>
            <a:endParaRPr lang="en-US" sz="1200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A37382-FFD1-74CD-A6A0-BA715F04BEDE}"/>
              </a:ext>
            </a:extLst>
          </p:cNvPr>
          <p:cNvSpPr/>
          <p:nvPr/>
        </p:nvSpPr>
        <p:spPr>
          <a:xfrm>
            <a:off x="6790076" y="171448"/>
            <a:ext cx="5301053" cy="604605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E58DF97-0E0E-C3A8-6E0E-C6ED1FC42713}"/>
              </a:ext>
            </a:extLst>
          </p:cNvPr>
          <p:cNvSpPr txBox="1">
            <a:spLocks/>
          </p:cNvSpPr>
          <p:nvPr/>
        </p:nvSpPr>
        <p:spPr>
          <a:xfrm>
            <a:off x="6907844" y="312234"/>
            <a:ext cx="2594524" cy="2056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600" b="1">
                <a:solidFill>
                  <a:schemeClr val="accent2"/>
                </a:solidFill>
                <a:latin typeface="+mj-lt"/>
              </a:rPr>
              <a:t>SELECTED EXPERIENCE </a:t>
            </a:r>
            <a:endParaRPr lang="en-US" sz="16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9CBEA1-1572-AE45-9D04-FA330F835AD4}"/>
              </a:ext>
            </a:extLst>
          </p:cNvPr>
          <p:cNvSpPr/>
          <p:nvPr/>
        </p:nvSpPr>
        <p:spPr>
          <a:xfrm>
            <a:off x="100869" y="5237270"/>
            <a:ext cx="3252480" cy="9741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125A6B-6104-78D8-2910-B3EC4F868DBE}"/>
              </a:ext>
            </a:extLst>
          </p:cNvPr>
          <p:cNvSpPr/>
          <p:nvPr/>
        </p:nvSpPr>
        <p:spPr>
          <a:xfrm>
            <a:off x="3431213" y="2349359"/>
            <a:ext cx="3246987" cy="28169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AF538BA-C4F9-94DB-B619-3A89CAF5483A}"/>
              </a:ext>
            </a:extLst>
          </p:cNvPr>
          <p:cNvSpPr txBox="1">
            <a:spLocks/>
          </p:cNvSpPr>
          <p:nvPr/>
        </p:nvSpPr>
        <p:spPr>
          <a:xfrm>
            <a:off x="3717865" y="2598950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000" b="1">
                <a:solidFill>
                  <a:schemeClr val="accent2"/>
                </a:solidFill>
                <a:latin typeface="+mj-lt"/>
              </a:rPr>
              <a:t>HARD/SOFT SKILLS &amp; TOOLS</a:t>
            </a:r>
            <a:endParaRPr lang="en-US" sz="10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B14698-C111-E862-4B03-3CEA5E264033}"/>
              </a:ext>
            </a:extLst>
          </p:cNvPr>
          <p:cNvSpPr>
            <a:spLocks/>
          </p:cNvSpPr>
          <p:nvPr/>
        </p:nvSpPr>
        <p:spPr>
          <a:xfrm>
            <a:off x="100869" y="2349360"/>
            <a:ext cx="3252479" cy="28224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A82F26F-973E-6E47-064A-E58BB5E2C6B3}"/>
              </a:ext>
            </a:extLst>
          </p:cNvPr>
          <p:cNvGrpSpPr>
            <a:grpSpLocks/>
          </p:cNvGrpSpPr>
          <p:nvPr/>
        </p:nvGrpSpPr>
        <p:grpSpPr>
          <a:xfrm>
            <a:off x="328699" y="2429619"/>
            <a:ext cx="2903835" cy="2136594"/>
            <a:chOff x="652656" y="2462768"/>
            <a:chExt cx="2903835" cy="2136594"/>
          </a:xfrm>
        </p:grpSpPr>
        <p:sp>
          <p:nvSpPr>
            <p:cNvPr id="28" name="Text Placeholder 4">
              <a:extLst>
                <a:ext uri="{FF2B5EF4-FFF2-40B4-BE49-F238E27FC236}">
                  <a16:creationId xmlns:a16="http://schemas.microsoft.com/office/drawing/2014/main" id="{72A9259A-DC95-7929-2407-42F74D35B297}"/>
                </a:ext>
              </a:extLst>
            </p:cNvPr>
            <p:cNvSpPr txBox="1">
              <a:spLocks/>
            </p:cNvSpPr>
            <p:nvPr/>
          </p:nvSpPr>
          <p:spPr>
            <a:xfrm>
              <a:off x="652656" y="2462768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>
                  <a:solidFill>
                    <a:schemeClr val="accent1"/>
                  </a:solidFill>
                  <a:latin typeface="+mj-lt"/>
                </a:rPr>
                <a:t>PROFESSIONAL BACKGROUND</a:t>
              </a:r>
              <a:endParaRPr lang="en-US" sz="1200" b="1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29" name="Text Placeholder 4">
              <a:extLst>
                <a:ext uri="{FF2B5EF4-FFF2-40B4-BE49-F238E27FC236}">
                  <a16:creationId xmlns:a16="http://schemas.microsoft.com/office/drawing/2014/main" id="{1B6E0D27-DFC9-0BED-62DE-B980A526E12C}"/>
                </a:ext>
              </a:extLst>
            </p:cNvPr>
            <p:cNvSpPr txBox="1">
              <a:spLocks/>
            </p:cNvSpPr>
            <p:nvPr/>
          </p:nvSpPr>
          <p:spPr>
            <a:xfrm>
              <a:off x="668713" y="4385441"/>
              <a:ext cx="2887778" cy="213921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>
                  <a:solidFill>
                    <a:schemeClr val="accent1"/>
                  </a:solidFill>
                  <a:latin typeface="+mj-lt"/>
                </a:rPr>
                <a:t>SPECIALIZATIONS</a:t>
              </a:r>
              <a:endParaRPr lang="en-US" sz="1200" b="1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35" name="Text Placeholder 4">
              <a:extLst>
                <a:ext uri="{FF2B5EF4-FFF2-40B4-BE49-F238E27FC236}">
                  <a16:creationId xmlns:a16="http://schemas.microsoft.com/office/drawing/2014/main" id="{CAE6442A-7F7A-7520-E012-744876DD2E5B}"/>
                </a:ext>
              </a:extLst>
            </p:cNvPr>
            <p:cNvSpPr txBox="1">
              <a:spLocks/>
            </p:cNvSpPr>
            <p:nvPr/>
          </p:nvSpPr>
          <p:spPr>
            <a:xfrm>
              <a:off x="668713" y="3611504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>
                  <a:solidFill>
                    <a:schemeClr val="accent1"/>
                  </a:solidFill>
                  <a:latin typeface="+mj-lt"/>
                </a:rPr>
                <a:t>EDUCATION</a:t>
              </a:r>
              <a:endParaRPr lang="en-US" sz="1200" b="1">
                <a:solidFill>
                  <a:schemeClr val="accent1"/>
                </a:solidFill>
                <a:latin typeface="+mj-lt"/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D3F3331-A2F2-3187-3314-9536E3A05809}"/>
              </a:ext>
            </a:extLst>
          </p:cNvPr>
          <p:cNvSpPr/>
          <p:nvPr/>
        </p:nvSpPr>
        <p:spPr>
          <a:xfrm>
            <a:off x="3431214" y="5236790"/>
            <a:ext cx="3246987" cy="96902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171450" indent="-17145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000">
              <a:solidFill>
                <a:schemeClr val="tx1"/>
              </a:solidFill>
              <a:latin typeface="Graphik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2E6DC0A-D16B-3A77-6077-F57069BD7EDC}"/>
              </a:ext>
            </a:extLst>
          </p:cNvPr>
          <p:cNvSpPr txBox="1">
            <a:spLocks/>
          </p:cNvSpPr>
          <p:nvPr/>
        </p:nvSpPr>
        <p:spPr>
          <a:xfrm>
            <a:off x="328699" y="5299574"/>
            <a:ext cx="1478408" cy="2001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LANGUAGES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6F73DCD2-A285-29D0-D542-E4F69730AE06}"/>
              </a:ext>
            </a:extLst>
          </p:cNvPr>
          <p:cNvSpPr txBox="1">
            <a:spLocks/>
          </p:cNvSpPr>
          <p:nvPr/>
        </p:nvSpPr>
        <p:spPr>
          <a:xfrm>
            <a:off x="3717864" y="2425651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AREA OF EXPERTISE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83AF36ED-0DC5-5D34-4D4E-DFABF505923D}"/>
              </a:ext>
            </a:extLst>
          </p:cNvPr>
          <p:cNvSpPr txBox="1">
            <a:spLocks/>
          </p:cNvSpPr>
          <p:nvPr/>
        </p:nvSpPr>
        <p:spPr>
          <a:xfrm>
            <a:off x="3679756" y="5301889"/>
            <a:ext cx="1278123" cy="338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INDUSTRY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88916E2A-4E45-86B5-A986-94589B9AFC66}"/>
              </a:ext>
            </a:extLst>
          </p:cNvPr>
          <p:cNvSpPr txBox="1">
            <a:spLocks/>
          </p:cNvSpPr>
          <p:nvPr/>
        </p:nvSpPr>
        <p:spPr>
          <a:xfrm>
            <a:off x="3605712" y="2874620"/>
            <a:ext cx="2668543" cy="22153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 b="1" i="0" u="none" strike="noStrike">
                <a:solidFill>
                  <a:schemeClr val="accent3"/>
                </a:solidFill>
                <a:effectLst/>
                <a:latin typeface="+mj-lt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RPA: </a:t>
            </a:r>
            <a:r>
              <a:rPr lang="en-US" b="0" dirty="0">
                <a:solidFill>
                  <a:schemeClr val="tx1"/>
                </a:solidFill>
              </a:rPr>
              <a:t>UiPath, Blue Prism, Power Automate Cloud Flows, Automation Anywhere, Power Automate Desktop.</a:t>
            </a:r>
          </a:p>
          <a:p>
            <a:r>
              <a:rPr lang="en-US" dirty="0"/>
              <a:t>Dev: </a:t>
            </a:r>
            <a:r>
              <a:rPr lang="en-US" b="0" dirty="0">
                <a:solidFill>
                  <a:schemeClr val="tx1"/>
                </a:solidFill>
              </a:rPr>
              <a:t>C, C++, Java, </a:t>
            </a:r>
            <a:r>
              <a:rPr lang="en-US" b="0" dirty="0" err="1">
                <a:solidFill>
                  <a:schemeClr val="tx1"/>
                </a:solidFill>
              </a:rPr>
              <a:t>.Net</a:t>
            </a:r>
            <a:endParaRPr lang="en-US" b="0" dirty="0">
              <a:solidFill>
                <a:schemeClr val="tx1"/>
              </a:solidFill>
            </a:endParaRPr>
          </a:p>
          <a:p>
            <a:r>
              <a:rPr lang="en-US" dirty="0"/>
              <a:t>DB:  </a:t>
            </a:r>
            <a:r>
              <a:rPr lang="en-US" b="0" dirty="0">
                <a:solidFill>
                  <a:schemeClr val="tx1"/>
                </a:solidFill>
              </a:rPr>
              <a:t>SQL.</a:t>
            </a:r>
          </a:p>
          <a:p>
            <a:r>
              <a:rPr lang="en-US" dirty="0"/>
              <a:t>Management:  </a:t>
            </a:r>
            <a:r>
              <a:rPr lang="en-US" b="0" dirty="0">
                <a:solidFill>
                  <a:schemeClr val="tx1"/>
                </a:solidFill>
              </a:rPr>
              <a:t>Jira.</a:t>
            </a:r>
          </a:p>
          <a:p>
            <a:r>
              <a:rPr lang="en-US" dirty="0"/>
              <a:t>Others:</a:t>
            </a:r>
            <a:r>
              <a:rPr lang="en-US" b="0" dirty="0">
                <a:solidFill>
                  <a:schemeClr val="tx1"/>
                </a:solidFill>
              </a:rPr>
              <a:t> Git, Confluence, Microsoft Office, Basic knowledge in electronics.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CE6DAE4F-8226-621D-1573-393F25103FEA}"/>
              </a:ext>
            </a:extLst>
          </p:cNvPr>
          <p:cNvSpPr txBox="1">
            <a:spLocks/>
          </p:cNvSpPr>
          <p:nvPr/>
        </p:nvSpPr>
        <p:spPr>
          <a:xfrm>
            <a:off x="249438" y="3834326"/>
            <a:ext cx="3106657" cy="6209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Systems Engineering, UTN (2019 - present)</a:t>
            </a:r>
          </a:p>
          <a:p>
            <a:pPr marL="171450" indent="-171450"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HS Degree with accounting Specialization</a:t>
            </a:r>
            <a:br>
              <a:rPr lang="en-US" sz="1000" dirty="0">
                <a:solidFill>
                  <a:srgbClr val="000000"/>
                </a:solidFill>
              </a:rPr>
            </a:br>
            <a:r>
              <a:rPr lang="en-US" sz="1000" dirty="0">
                <a:solidFill>
                  <a:srgbClr val="000000"/>
                </a:solidFill>
              </a:rPr>
              <a:t>(2011 - 2015)</a:t>
            </a:r>
          </a:p>
          <a:p>
            <a:endParaRPr lang="es-AR" dirty="0">
              <a:latin typeface="Graphik"/>
            </a:endParaRPr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67B10EEE-BF1A-4587-0DE7-065C396FC396}"/>
              </a:ext>
            </a:extLst>
          </p:cNvPr>
          <p:cNvSpPr txBox="1">
            <a:spLocks/>
          </p:cNvSpPr>
          <p:nvPr/>
        </p:nvSpPr>
        <p:spPr>
          <a:xfrm>
            <a:off x="202404" y="2709461"/>
            <a:ext cx="3086979" cy="1238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raphik"/>
                <a:ea typeface="+mn-ea"/>
                <a:cs typeface="+mn-cs"/>
              </a:rPr>
              <a:t>Student in Information Systems Engineering.</a:t>
            </a:r>
            <a:br>
              <a:rPr lang="en-US" sz="1000" dirty="0">
                <a:latin typeface="Graphik"/>
              </a:rPr>
            </a:br>
            <a:r>
              <a:rPr lang="en-US" sz="1000" dirty="0">
                <a:latin typeface="Graphik"/>
              </a:rPr>
              <a:t>I am currently developing in the role of Application Support for AI Chatbots.</a:t>
            </a:r>
            <a:br>
              <a:rPr lang="en-US" sz="1000" dirty="0">
                <a:latin typeface="Graphik"/>
              </a:rPr>
            </a:br>
            <a:r>
              <a:rPr lang="en-US" sz="1000" dirty="0">
                <a:latin typeface="Graphik"/>
              </a:rPr>
              <a:t>I was part of different projects for different industries.</a:t>
            </a:r>
            <a:endParaRPr lang="en-US" dirty="0"/>
          </a:p>
          <a:p>
            <a:pPr marL="171450" indent="-171450">
              <a:buChar char="•"/>
            </a:pPr>
            <a:endParaRPr lang="en-US" sz="1000" dirty="0"/>
          </a:p>
          <a:p>
            <a:endParaRPr lang="es-AR" sz="1000" dirty="0">
              <a:latin typeface="Graphik"/>
            </a:endParaRPr>
          </a:p>
        </p:txBody>
      </p:sp>
      <p:sp>
        <p:nvSpPr>
          <p:cNvPr id="50" name="Text Placeholder 13">
            <a:extLst>
              <a:ext uri="{FF2B5EF4-FFF2-40B4-BE49-F238E27FC236}">
                <a16:creationId xmlns:a16="http://schemas.microsoft.com/office/drawing/2014/main" id="{F5B1C679-DFF5-C42C-3C67-B3D6B74019FF}"/>
              </a:ext>
            </a:extLst>
          </p:cNvPr>
          <p:cNvSpPr txBox="1">
            <a:spLocks/>
          </p:cNvSpPr>
          <p:nvPr/>
        </p:nvSpPr>
        <p:spPr>
          <a:xfrm>
            <a:off x="249438" y="4596773"/>
            <a:ext cx="3039945" cy="58108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Graphik"/>
              </a:rPr>
              <a:t>UiPath Certified Advanced RPA Developer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Graphik"/>
              </a:rPr>
              <a:t>Automation Anywhere Certified Advanced RPA Prof</a:t>
            </a:r>
            <a:r>
              <a:rPr lang="en-US" sz="1000" dirty="0">
                <a:solidFill>
                  <a:srgbClr val="000000"/>
                </a:solidFill>
                <a:latin typeface="Graphik"/>
              </a:rPr>
              <a:t>essional</a:t>
            </a:r>
            <a:endParaRPr lang="en-US" sz="1000" b="0" i="0" u="none" strike="noStrike" dirty="0">
              <a:solidFill>
                <a:srgbClr val="000000"/>
              </a:solidFill>
              <a:effectLst/>
              <a:latin typeface="Graphik" panose="020B0503030202060203" pitchFamily="34" charset="0"/>
            </a:endParaRPr>
          </a:p>
          <a:p>
            <a:pPr marL="0" indent="0" algn="l" rtl="0" fontAlgn="base">
              <a:buNone/>
            </a:pPr>
            <a:endParaRPr lang="en-US" sz="1000" dirty="0">
              <a:solidFill>
                <a:srgbClr val="000000"/>
              </a:solidFill>
            </a:endParaRPr>
          </a:p>
          <a:p>
            <a:endParaRPr lang="es-AR" sz="1000" dirty="0">
              <a:latin typeface="Graphik"/>
            </a:endParaRP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72302F36-E7BC-42A3-0A43-CDD2E2AB577E}"/>
              </a:ext>
            </a:extLst>
          </p:cNvPr>
          <p:cNvSpPr txBox="1">
            <a:spLocks/>
          </p:cNvSpPr>
          <p:nvPr/>
        </p:nvSpPr>
        <p:spPr>
          <a:xfrm>
            <a:off x="249438" y="5529965"/>
            <a:ext cx="2702016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English (Advanced)</a:t>
            </a:r>
          </a:p>
          <a:p>
            <a:r>
              <a:rPr lang="en-US" dirty="0"/>
              <a:t>Spanish (Native)</a:t>
            </a:r>
          </a:p>
        </p:txBody>
      </p:sp>
      <p:sp>
        <p:nvSpPr>
          <p:cNvPr id="52" name="Text Placeholder 13">
            <a:extLst>
              <a:ext uri="{FF2B5EF4-FFF2-40B4-BE49-F238E27FC236}">
                <a16:creationId xmlns:a16="http://schemas.microsoft.com/office/drawing/2014/main" id="{35A5E06F-27C7-2207-0875-01BABFD0C887}"/>
              </a:ext>
            </a:extLst>
          </p:cNvPr>
          <p:cNvSpPr txBox="1">
            <a:spLocks/>
          </p:cNvSpPr>
          <p:nvPr/>
        </p:nvSpPr>
        <p:spPr>
          <a:xfrm>
            <a:off x="4919202" y="5535372"/>
            <a:ext cx="1440137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IT Services</a:t>
            </a:r>
          </a:p>
          <a:p>
            <a:r>
              <a:rPr lang="en-US" dirty="0"/>
              <a:t>Financial</a:t>
            </a:r>
          </a:p>
          <a:p>
            <a:pPr marL="0" indent="0">
              <a:buNone/>
            </a:pPr>
            <a:endParaRPr lang="es-AR" dirty="0"/>
          </a:p>
        </p:txBody>
      </p:sp>
      <p:sp>
        <p:nvSpPr>
          <p:cNvPr id="53" name="Text Placeholder 13">
            <a:extLst>
              <a:ext uri="{FF2B5EF4-FFF2-40B4-BE49-F238E27FC236}">
                <a16:creationId xmlns:a16="http://schemas.microsoft.com/office/drawing/2014/main" id="{30377A8A-69CD-5F83-DA2E-98B9A486EC39}"/>
              </a:ext>
            </a:extLst>
          </p:cNvPr>
          <p:cNvSpPr txBox="1">
            <a:spLocks/>
          </p:cNvSpPr>
          <p:nvPr/>
        </p:nvSpPr>
        <p:spPr>
          <a:xfrm>
            <a:off x="3597166" y="5523679"/>
            <a:ext cx="1440137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Pharmaceutical</a:t>
            </a:r>
          </a:p>
          <a:p>
            <a:r>
              <a:rPr lang="en-US" dirty="0"/>
              <a:t>Healthcare</a:t>
            </a:r>
          </a:p>
          <a:p>
            <a:r>
              <a:rPr lang="en-US" dirty="0"/>
              <a:t>E-Commerce</a:t>
            </a:r>
          </a:p>
          <a:p>
            <a:endParaRPr lang="es-AR" dirty="0"/>
          </a:p>
        </p:txBody>
      </p:sp>
      <p:sp>
        <p:nvSpPr>
          <p:cNvPr id="67" name="Text Placeholder 11">
            <a:extLst>
              <a:ext uri="{FF2B5EF4-FFF2-40B4-BE49-F238E27FC236}">
                <a16:creationId xmlns:a16="http://schemas.microsoft.com/office/drawing/2014/main" id="{C6A51E4F-7155-0013-A033-1BFC0B3D9F3D}"/>
              </a:ext>
            </a:extLst>
          </p:cNvPr>
          <p:cNvSpPr txBox="1">
            <a:spLocks/>
          </p:cNvSpPr>
          <p:nvPr/>
        </p:nvSpPr>
        <p:spPr>
          <a:xfrm>
            <a:off x="6907843" y="733213"/>
            <a:ext cx="5081751" cy="52986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>
                <a:solidFill>
                  <a:srgbClr val="000000"/>
                </a:solidFill>
                <a:latin typeface="+mn-lt"/>
              </a:rPr>
              <a:t>AX AI Application Support, USA (2025 – Present)</a:t>
            </a:r>
            <a:endParaRPr lang="en-US" sz="1000" b="0">
              <a:solidFill>
                <a:srgbClr val="000000"/>
              </a:solidFill>
              <a:latin typeface="+mn-lt"/>
            </a:endParaRPr>
          </a:p>
          <a:p>
            <a:pPr marL="285750" indent="-285750">
              <a:spcAft>
                <a:spcPts val="300"/>
              </a:spcAft>
              <a:buFont typeface="Arial,Sans-Serif"/>
              <a:buChar char="•"/>
            </a:pPr>
            <a:r>
              <a:rPr lang="en-US" sz="1000" b="0">
                <a:latin typeface="+mn-lt"/>
                <a:cs typeface="Calibri"/>
              </a:rPr>
              <a:t>Role: Chatbot Support Team</a:t>
            </a:r>
            <a:endParaRPr lang="en-US" sz="1000" b="0">
              <a:solidFill>
                <a:srgbClr val="000000"/>
              </a:solidFill>
              <a:latin typeface="+mn-lt"/>
              <a:cs typeface="Calibri" panose="020F0502020204030204" pitchFamily="34" charset="0"/>
            </a:endParaRPr>
          </a:p>
          <a:p>
            <a:pPr marL="285750" indent="-285750">
              <a:spcAft>
                <a:spcPts val="300"/>
              </a:spcAft>
              <a:buFont typeface="Arial,Sans-Serif"/>
              <a:buChar char="•"/>
            </a:pPr>
            <a:r>
              <a:rPr lang="en-US" sz="1000" b="0">
                <a:latin typeface="+mn-lt"/>
                <a:cs typeface="Calibri" panose="020F0502020204030204" pitchFamily="34" charset="0"/>
              </a:rPr>
              <a:t>Industry: Pharmaceutical</a:t>
            </a:r>
            <a:endParaRPr lang="en-US" sz="1000" b="0">
              <a:solidFill>
                <a:srgbClr val="000000"/>
              </a:solidFill>
              <a:latin typeface="+mn-lt"/>
              <a:cs typeface="Calibri" panose="020F0502020204030204" pitchFamily="34" charset="0"/>
            </a:endParaRPr>
          </a:p>
          <a:p>
            <a:pPr marL="285750" indent="-285750">
              <a:spcAft>
                <a:spcPts val="300"/>
              </a:spcAft>
              <a:buFont typeface="Arial,Sans-Serif"/>
              <a:buChar char="•"/>
            </a:pPr>
            <a:r>
              <a:rPr lang="en-US" sz="1000" b="0">
                <a:latin typeface="+mn-lt"/>
                <a:cs typeface="Calibri"/>
              </a:rPr>
              <a:t>Main tool/s: Service Now / LangSmith / Python</a:t>
            </a:r>
            <a:endParaRPr lang="en-US" sz="1000" b="0">
              <a:solidFill>
                <a:srgbClr val="000000"/>
              </a:solidFill>
              <a:latin typeface="+mn-lt"/>
              <a:cs typeface="Calibri" panose="020F0502020204030204" pitchFamily="34" charset="0"/>
            </a:endParaRP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>
                <a:solidFill>
                  <a:srgbClr val="000000"/>
                </a:solidFill>
                <a:latin typeface="+mn-lt"/>
              </a:rPr>
              <a:t>Intelligent Automation </a:t>
            </a:r>
            <a:r>
              <a:rPr lang="en-US" sz="1000" dirty="0" err="1">
                <a:solidFill>
                  <a:srgbClr val="000000"/>
                </a:solidFill>
                <a:latin typeface="+mn-lt"/>
              </a:rPr>
              <a:t>CoE</a:t>
            </a:r>
            <a:r>
              <a:rPr lang="en-US" sz="1000">
                <a:solidFill>
                  <a:srgbClr val="000000"/>
                </a:solidFill>
                <a:latin typeface="+mn-lt"/>
              </a:rPr>
              <a:t>, USA-UK (2024 – 2025)</a:t>
            </a:r>
            <a:endParaRPr lang="en-US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rgbClr val="A100FF"/>
                </a:solidFill>
                <a:latin typeface="+mn-lt"/>
                <a:cs typeface="Calibri" panose="020F0502020204030204" pitchFamily="34" charset="0"/>
              </a:rPr>
              <a:t>Role: Application Maintenance Team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rgbClr val="A100FF"/>
                </a:solidFill>
                <a:latin typeface="+mn-lt"/>
                <a:cs typeface="Calibri" panose="020F0502020204030204" pitchFamily="34" charset="0"/>
              </a:rPr>
              <a:t>Industry: Pharmaceutical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rgbClr val="A100FF"/>
                </a:solidFill>
                <a:latin typeface="+mn-lt"/>
                <a:cs typeface="Calibri" panose="020F0502020204030204" pitchFamily="34" charset="0"/>
              </a:rPr>
              <a:t>Main tool/s: UiPath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IS Automation Dev Team, USA (2024)</a:t>
            </a:r>
            <a:r>
              <a:rPr lang="en-US" sz="1000" b="0" dirty="0">
                <a:solidFill>
                  <a:srgbClr val="000000"/>
                </a:solidFill>
                <a:latin typeface="+mn-lt"/>
              </a:rPr>
              <a:t>​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Role: RPA Developer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Industry: Healthcare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Main tool/s: UiPath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Intelligent Automation </a:t>
            </a:r>
            <a:r>
              <a:rPr lang="en-US" sz="1000" dirty="0" err="1">
                <a:solidFill>
                  <a:srgbClr val="000000"/>
                </a:solidFill>
                <a:latin typeface="+mn-lt"/>
              </a:rPr>
              <a:t>CoE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, USA-UK (2022 – 2023)</a:t>
            </a:r>
            <a:r>
              <a:rPr lang="en-US" sz="1000" b="0" dirty="0">
                <a:solidFill>
                  <a:srgbClr val="000000"/>
                </a:solidFill>
                <a:latin typeface="+mn-lt"/>
              </a:rPr>
              <a:t>​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Role: RPA Developer / Tester / Application Maintenance Team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Industry: Pharmaceutical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Main tool/s: UiPath / Blue Prism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RPA Dev Team (2021 – 2022)</a:t>
            </a:r>
            <a:r>
              <a:rPr lang="en-US" sz="1000" b="0" dirty="0">
                <a:solidFill>
                  <a:srgbClr val="000000"/>
                </a:solidFill>
                <a:latin typeface="+mn-lt"/>
              </a:rPr>
              <a:t>​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Role: RPA Developer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Industry: E-Commerce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Main tool/s: UiPath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Accenture Internal Projects (2021)</a:t>
            </a:r>
            <a:r>
              <a:rPr lang="en-US" sz="1000" b="0" dirty="0">
                <a:solidFill>
                  <a:srgbClr val="000000"/>
                </a:solidFill>
                <a:latin typeface="+mn-lt"/>
              </a:rPr>
              <a:t>​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Role: RPA Developer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Industry: IT Services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Main tool/s: Power Automate Cloud Flows / UiPath</a:t>
            </a:r>
          </a:p>
          <a:p>
            <a:pPr>
              <a:spcAft>
                <a:spcPts val="300"/>
              </a:spcAft>
            </a:pPr>
            <a:endParaRPr lang="en-US" sz="1000" b="0" dirty="0">
              <a:latin typeface="+mn-lt"/>
            </a:endParaRPr>
          </a:p>
          <a:p>
            <a:pPr>
              <a:spcAft>
                <a:spcPts val="300"/>
              </a:spcAft>
            </a:pPr>
            <a:endParaRPr lang="en-US" sz="1000" b="0" dirty="0">
              <a:latin typeface="+mn-lt"/>
            </a:endParaRPr>
          </a:p>
          <a:p>
            <a:pPr>
              <a:spcAft>
                <a:spcPts val="300"/>
              </a:spcAft>
            </a:pPr>
            <a:endParaRPr lang="en-US" sz="1000" b="0" dirty="0">
              <a:latin typeface="+mn-lt"/>
            </a:endParaRPr>
          </a:p>
          <a:p>
            <a:pPr marL="171450" indent="-171450">
              <a:spcAft>
                <a:spcPts val="300"/>
              </a:spcAft>
              <a:buFont typeface="Arial,Sans-Serif"/>
              <a:buChar char="•"/>
            </a:pPr>
            <a:endParaRPr lang="en-US" sz="1000" dirty="0">
              <a:latin typeface="+mn-lt"/>
            </a:endParaRPr>
          </a:p>
        </p:txBody>
      </p:sp>
      <p:sp>
        <p:nvSpPr>
          <p:cNvPr id="70" name="Title 8">
            <a:extLst>
              <a:ext uri="{FF2B5EF4-FFF2-40B4-BE49-F238E27FC236}">
                <a16:creationId xmlns:a16="http://schemas.microsoft.com/office/drawing/2014/main" id="{96770A72-DC69-0907-ADF8-C3F228C3B9E6}"/>
              </a:ext>
            </a:extLst>
          </p:cNvPr>
          <p:cNvSpPr txBox="1">
            <a:spLocks/>
          </p:cNvSpPr>
          <p:nvPr/>
        </p:nvSpPr>
        <p:spPr>
          <a:xfrm>
            <a:off x="641267" y="6217505"/>
            <a:ext cx="5761038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Accenture Technology Data &amp; AI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8E3B94E-C94F-4360-38B8-030F249161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5456" y="789719"/>
            <a:ext cx="1476126" cy="1476126"/>
          </a:xfrm>
          <a:prstGeom prst="ellipse">
            <a:avLst/>
          </a:prstGeom>
          <a:ln w="28575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6" name="Picture 3">
            <a:extLst>
              <a:ext uri="{FF2B5EF4-FFF2-40B4-BE49-F238E27FC236}">
                <a16:creationId xmlns:a16="http://schemas.microsoft.com/office/drawing/2014/main" id="{F4015066-C22B-35BE-66A3-07B462ADD9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87315" y="1600820"/>
            <a:ext cx="497558" cy="6106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0DC949-17A7-DFE9-7164-103E80D111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10088" y="1600695"/>
            <a:ext cx="596922" cy="59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6611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heme/theme1.xml><?xml version="1.0" encoding="utf-8"?>
<a:theme xmlns:a="http://schemas.openxmlformats.org/drawingml/2006/main" name="ThemeACN2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1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ThemeACN2" id="{C5CBB487-2795-4FA3-82FE-53D900CF3761}" vid="{C10CF5D9-D365-43EF-8820-07B68B70E8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5dff9b-ec84-400a-8d4d-02e969566393">
      <Terms xmlns="http://schemas.microsoft.com/office/infopath/2007/PartnerControls"/>
    </lcf76f155ced4ddcb4097134ff3c332f>
    <TaxCatchAll xmlns="9e1adda6-93f2-443e-b0ef-40d6e1dc8c9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666D6F4CFFA446B5D32C4039F08BDD" ma:contentTypeVersion="12" ma:contentTypeDescription="Create a new document." ma:contentTypeScope="" ma:versionID="7a6cc17327f8fd4a1bea693b89822f0e">
  <xsd:schema xmlns:xsd="http://www.w3.org/2001/XMLSchema" xmlns:xs="http://www.w3.org/2001/XMLSchema" xmlns:p="http://schemas.microsoft.com/office/2006/metadata/properties" xmlns:ns2="9e5dff9b-ec84-400a-8d4d-02e969566393" xmlns:ns3="9e1adda6-93f2-443e-b0ef-40d6e1dc8c9d" targetNamespace="http://schemas.microsoft.com/office/2006/metadata/properties" ma:root="true" ma:fieldsID="0fcd0ec4e5a5c37c753411fc93cc8c20" ns2:_="" ns3:_="">
    <xsd:import namespace="9e5dff9b-ec84-400a-8d4d-02e969566393"/>
    <xsd:import namespace="9e1adda6-93f2-443e-b0ef-40d6e1dc8c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5dff9b-ec84-400a-8d4d-02e969566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adda6-93f2-443e-b0ef-40d6e1dc8c9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4a7b0e6-297d-4a6a-b5d6-da3887b93b0d}" ma:internalName="TaxCatchAll" ma:showField="CatchAllData" ma:web="9e1adda6-93f2-443e-b0ef-40d6e1dc8c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F190C0-2289-408C-859E-D9DE16203037}">
  <ds:schemaRefs>
    <ds:schemaRef ds:uri="http://schemas.microsoft.com/office/2006/metadata/properties"/>
    <ds:schemaRef ds:uri="http://www.w3.org/XML/1998/namespace"/>
    <ds:schemaRef ds:uri="http://schemas.microsoft.com/office/infopath/2007/PartnerControls"/>
    <ds:schemaRef ds:uri="118bdf6a-17d6-42f2-bf93-b799822b66d5"/>
    <ds:schemaRef ds:uri="http://purl.org/dc/elements/1.1/"/>
    <ds:schemaRef ds:uri="http://schemas.microsoft.com/office/2006/documentManagement/types"/>
    <ds:schemaRef ds:uri="3f7fa16c-f0a7-4e93-83e5-916308b974b7"/>
    <ds:schemaRef ds:uri="http://purl.org/dc/dcmitype/"/>
    <ds:schemaRef ds:uri="http://schemas.openxmlformats.org/package/2006/metadata/core-properties"/>
    <ds:schemaRef ds:uri="http://purl.org/dc/terms/"/>
    <ds:schemaRef ds:uri="9e5dff9b-ec84-400a-8d4d-02e969566393"/>
    <ds:schemaRef ds:uri="9e1adda6-93f2-443e-b0ef-40d6e1dc8c9d"/>
  </ds:schemaRefs>
</ds:datastoreItem>
</file>

<file path=customXml/itemProps2.xml><?xml version="1.0" encoding="utf-8"?>
<ds:datastoreItem xmlns:ds="http://schemas.openxmlformats.org/officeDocument/2006/customXml" ds:itemID="{8D13FB34-5A1C-4C07-9505-15A13190B9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17FD1E-7191-40CA-9A41-13428D32A1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5dff9b-ec84-400a-8d4d-02e969566393"/>
    <ds:schemaRef ds:uri="9e1adda6-93f2-443e-b0ef-40d6e1dc8c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1014</TotalTime>
  <Words>258</Words>
  <Application>Microsoft Office PowerPoint</Application>
  <PresentationFormat>Widescreen</PresentationFormat>
  <Paragraphs>40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ThemeACN2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Comerci, Sandro</dc:creator>
  <cp:lastModifiedBy>Caceres, Adhemar</cp:lastModifiedBy>
  <cp:revision>24</cp:revision>
  <dcterms:created xsi:type="dcterms:W3CDTF">2022-12-16T18:40:20Z</dcterms:created>
  <dcterms:modified xsi:type="dcterms:W3CDTF">2026-03-26T13:57:33Z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0x010100D1666D6F4CFFA446B5D32C4039F08BDD</vt:lpwstr>
  </property>
  <property fmtid="{D5CDD505-2E9C-101B-9397-08002B2CF9AE}" pid="3" name="MediaServiceImageTags">
    <vt:lpwstr/>
  </property>
</Properties>
</file>