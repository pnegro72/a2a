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7"/>
  </p:notesMasterIdLst>
  <p:sldIdLst>
    <p:sldId id="207613621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3" d="100"/>
          <a:sy n="63" d="100"/>
        </p:scale>
        <p:origin x="8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AAC62-BF2B-4F17-A281-1372B1E4E7B0}" type="datetimeFigureOut">
              <a:rPr lang="en-US" smtClean="0"/>
              <a:t>10/6/2023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59354-9A81-4987-9140-5CE923F05530}" type="slidenum">
              <a:rPr lang="en-US" smtClean="0"/>
              <a:t>‹#›</a:t>
            </a:fld>
            <a:endParaRPr lang="en-US"/>
          </a:p>
        </p:txBody>
      </p:sp>
    </p:spTree>
    <p:extLst>
      <p:ext uri="{BB962C8B-B14F-4D97-AF65-F5344CB8AC3E}">
        <p14:creationId xmlns:p14="http://schemas.microsoft.com/office/powerpoint/2010/main" val="2935521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a:p>
        </p:txBody>
      </p:sp>
    </p:spTree>
    <p:extLst>
      <p:ext uri="{BB962C8B-B14F-4D97-AF65-F5344CB8AC3E}">
        <p14:creationId xmlns:p14="http://schemas.microsoft.com/office/powerpoint/2010/main" val="2749389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4766-C1B0-42EE-A8CC-394BA0D3A7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AFF0D8-F3F4-4176-AB73-C23367EEDF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F0C5C6-F18A-4FE4-B5A6-8992F879286D}"/>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5" name="Footer Placeholder 4">
            <a:extLst>
              <a:ext uri="{FF2B5EF4-FFF2-40B4-BE49-F238E27FC236}">
                <a16:creationId xmlns:a16="http://schemas.microsoft.com/office/drawing/2014/main" id="{C0CFC83F-DCCD-4AF2-8260-AFD253D666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852342-E448-43DB-B506-CCA2BEB1740E}"/>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56541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AAA1-EC0A-46E6-9332-DEDE592EB2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CB01CB-1A68-431F-9C90-D6C3E85A37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8C8A4-426B-4BBC-9D55-8C9B2E6F269C}"/>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5" name="Footer Placeholder 4">
            <a:extLst>
              <a:ext uri="{FF2B5EF4-FFF2-40B4-BE49-F238E27FC236}">
                <a16:creationId xmlns:a16="http://schemas.microsoft.com/office/drawing/2014/main" id="{E719AD0D-EB31-418C-89B3-04F05D0B4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58A09-9162-4136-B707-9654AEB98664}"/>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79076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D170-D99D-4B74-9BF3-0D9EC0E8FE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9C96A0-89BC-4BF4-B1FB-29F4D6A32E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C38725-D08D-4BD6-861D-CF980D1F7E0E}"/>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5" name="Footer Placeholder 4">
            <a:extLst>
              <a:ext uri="{FF2B5EF4-FFF2-40B4-BE49-F238E27FC236}">
                <a16:creationId xmlns:a16="http://schemas.microsoft.com/office/drawing/2014/main" id="{9C5FBB76-3E78-4B5F-9A37-CF56AFE23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C09EE-43E9-4EAE-AF8D-1E6092B83973}"/>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527719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1123-A841-46D8-813F-A90E554557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7D972E-06C5-42C2-B976-BC019B301B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926D72-BD5B-428F-A34F-4DE2525CB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F07D4F-4B9E-4393-AE40-6CA9251187EE}"/>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6" name="Footer Placeholder 5">
            <a:extLst>
              <a:ext uri="{FF2B5EF4-FFF2-40B4-BE49-F238E27FC236}">
                <a16:creationId xmlns:a16="http://schemas.microsoft.com/office/drawing/2014/main" id="{68D068A1-8045-4ADA-906F-844627D78E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D2D8E0-3EA2-4BB5-8F90-1F37180F5E6B}"/>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28966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8E95-24BD-44AE-8EBE-CF7341462E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99CFAE-BA6E-4C1D-98CF-DB46B22F94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C63BE9-4440-4527-BEAC-B5E31B838A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8C0A57-A703-4786-8811-7215CD0569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EC5770-250D-444A-92A8-40B995B3C7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695BDE-59C6-4961-8DC3-3AC2ACB5E7FF}"/>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8" name="Footer Placeholder 7">
            <a:extLst>
              <a:ext uri="{FF2B5EF4-FFF2-40B4-BE49-F238E27FC236}">
                <a16:creationId xmlns:a16="http://schemas.microsoft.com/office/drawing/2014/main" id="{B729A259-0BB7-45D1-8FBC-504BF9F3BB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B4A92B-AC98-4DB3-921F-303CF8D91490}"/>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1905439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D4E4-2D9B-4BCA-A995-8D4AEB67CA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9F9369-0845-4C9C-91E4-41CFC4D2A981}"/>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4" name="Footer Placeholder 3">
            <a:extLst>
              <a:ext uri="{FF2B5EF4-FFF2-40B4-BE49-F238E27FC236}">
                <a16:creationId xmlns:a16="http://schemas.microsoft.com/office/drawing/2014/main" id="{5BF83F7B-3964-439D-8BFA-4F4DB9FA47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D5A799-A788-4AA5-AD62-97373732E21B}"/>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160987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ED551-C51B-4D3D-86C6-C7585CB37D10}"/>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3" name="Footer Placeholder 2">
            <a:extLst>
              <a:ext uri="{FF2B5EF4-FFF2-40B4-BE49-F238E27FC236}">
                <a16:creationId xmlns:a16="http://schemas.microsoft.com/office/drawing/2014/main" id="{BCDA5D5F-8D15-4922-A810-71C052950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51D0C6-BE75-4CCF-92AC-76ED5C77B1CE}"/>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31551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ED27-5B71-4953-96DB-B2F0F7339A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BAFC44-D1E4-47B0-A0AE-EDAAE9DFCE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6DE38D-F56B-4865-B48E-DF1CE5CE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5AF5D0-0224-4ACA-B172-23A0BDCC5D36}"/>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6" name="Footer Placeholder 5">
            <a:extLst>
              <a:ext uri="{FF2B5EF4-FFF2-40B4-BE49-F238E27FC236}">
                <a16:creationId xmlns:a16="http://schemas.microsoft.com/office/drawing/2014/main" id="{A9A19C3F-71D2-4DE3-B369-EC03DE6220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87772-C12A-4786-AFBB-526AEFA00580}"/>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4176202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60087-A8AD-4E19-8A44-71A37B615F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21789A-46D2-460F-87B8-22625C8265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B19932-7071-452D-91FF-2C3008DD5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F4F40E-8FC4-4C79-9B32-B2AA72B495F6}"/>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6" name="Footer Placeholder 5">
            <a:extLst>
              <a:ext uri="{FF2B5EF4-FFF2-40B4-BE49-F238E27FC236}">
                <a16:creationId xmlns:a16="http://schemas.microsoft.com/office/drawing/2014/main" id="{87D362E7-2704-475B-8C26-570762BE66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589CB-F0C9-43E5-A742-F260581BBE22}"/>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3711931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802E-C910-4C8A-B05B-72F6B7959D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A7636B-D181-4162-9FBC-CF172B6202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1EF142-3B8B-43FA-86F4-F868058695F0}"/>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5" name="Footer Placeholder 4">
            <a:extLst>
              <a:ext uri="{FF2B5EF4-FFF2-40B4-BE49-F238E27FC236}">
                <a16:creationId xmlns:a16="http://schemas.microsoft.com/office/drawing/2014/main" id="{2E797561-6084-4FD5-87A2-8F186AA0F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7715C-A5DE-415D-B205-27BEDF727D69}"/>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983974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5AA1E0-70D7-40D8-B667-3BDAAFAE06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F1D6A9-2CB9-466C-A5C9-EBA1F37D1E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31BCBC-878D-4F2F-9A09-B09E4A086327}"/>
              </a:ext>
            </a:extLst>
          </p:cNvPr>
          <p:cNvSpPr>
            <a:spLocks noGrp="1"/>
          </p:cNvSpPr>
          <p:nvPr>
            <p:ph type="dt" sz="half" idx="10"/>
          </p:nvPr>
        </p:nvSpPr>
        <p:spPr/>
        <p:txBody>
          <a:bodyPr/>
          <a:lstStyle/>
          <a:p>
            <a:fld id="{77CF3A1A-E8E9-4F1D-A0E4-983A98264649}" type="datetimeFigureOut">
              <a:rPr lang="en-US" smtClean="0"/>
              <a:t>10/6/2023</a:t>
            </a:fld>
            <a:endParaRPr lang="en-US"/>
          </a:p>
        </p:txBody>
      </p:sp>
      <p:sp>
        <p:nvSpPr>
          <p:cNvPr id="5" name="Footer Placeholder 4">
            <a:extLst>
              <a:ext uri="{FF2B5EF4-FFF2-40B4-BE49-F238E27FC236}">
                <a16:creationId xmlns:a16="http://schemas.microsoft.com/office/drawing/2014/main" id="{024FE3E5-28BC-4564-9051-C92E4FCD3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1334E-5062-4EF9-909D-07BA937D9DC9}"/>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817159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2847706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6067176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34317852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671237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3770704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2168034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7815780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525693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5174598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5753970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Graphik"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1217146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115095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30714297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734271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27242829"/>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3280106"/>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6874161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415050208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88134628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221122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3308195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US"/>
              <a:t>Place agenda summary here </a:t>
            </a:r>
            <a:r>
              <a:rPr lang="en-GB"/>
              <a:t>in GT Sectra Fine </a:t>
            </a:r>
            <a:r>
              <a:rPr lang="en-GB" err="1"/>
              <a:t>Rg</a:t>
            </a:r>
            <a:r>
              <a:rPr lang="en-GB"/>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576229544"/>
      </p:ext>
    </p:extLst>
  </p:cSld>
  <p:clrMapOvr>
    <a:masterClrMapping/>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467828348"/>
      </p:ext>
    </p:extLst>
  </p:cSld>
  <p:clrMapOvr>
    <a:masterClrMapping/>
  </p:clrMapOvr>
  <p:hf hdr="0" dt="0"/>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9834854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87256100"/>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264505260"/>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63726252"/>
      </p:ext>
    </p:extLst>
  </p:cSld>
  <p:clrMapOvr>
    <a:masterClrMapping/>
  </p:clrMapOvr>
  <p:hf hdr="0" dt="0"/>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46318394"/>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392814153"/>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556802156"/>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868256720"/>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88780762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318931921"/>
      </p:ext>
    </p:extLst>
  </p:cSld>
  <p:clrMapOvr>
    <a:masterClrMapping/>
  </p:clrMapOvr>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3329008253"/>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20918766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8377504"/>
      </p:ext>
    </p:extLst>
  </p:cSld>
  <p:clrMapOvr>
    <a:masterClrMapping/>
  </p:clrMapOvr>
  <p:hf hdr="0" dt="0"/>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63949386"/>
      </p:ext>
    </p:extLst>
  </p:cSld>
  <p:clrMapOvr>
    <a:masterClrMapping/>
  </p:clrMapOvr>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GB"/>
              <a:t>Place sub-headline here in GT Sectra Fine </a:t>
            </a:r>
            <a:r>
              <a:rPr lang="en-GB" err="1"/>
              <a:t>Rg</a:t>
            </a:r>
            <a:r>
              <a:rPr lang="en-GB"/>
              <a:t>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5682270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877361043"/>
      </p:ext>
    </p:extLst>
  </p:cSld>
  <p:clrMapOvr>
    <a:masterClrMapping/>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33726555"/>
      </p:ext>
    </p:extLst>
  </p:cSld>
  <p:clrMapOvr>
    <a:masterClrMapping/>
  </p:clrMapOvr>
  <p:hf hdr="0" dt="0"/>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380441172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50407786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66220434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7548539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5107668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054819979"/>
      </p:ext>
    </p:extLst>
  </p:cSld>
  <p:clrMapOvr>
    <a:masterClrMapping/>
  </p:clrMapOvr>
  <p:hf hdr="0" dt="0"/>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4780009"/>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82060565"/>
      </p:ext>
    </p:extLst>
  </p:cSld>
  <p:clrMapOvr>
    <a:masterClrMapping/>
  </p:clrMapOvr>
  <p:hf hdr="0" dt="0"/>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Graphik" pitchFamily="34" charset="0"/>
              <a:buNone/>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Graphik" pitchFamily="34" charset="0"/>
              <a:buChar char="‒"/>
              <a:tabLst/>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Graphik" pitchFamily="34" charset="0"/>
              <a:buNone/>
            </a:pPr>
            <a:r>
              <a:rPr lang="en-US"/>
              <a:t>CATEGORY</a:t>
            </a:r>
            <a:endParaRPr lang="en-AU"/>
          </a:p>
        </p:txBody>
      </p:sp>
    </p:spTree>
    <p:extLst>
      <p:ext uri="{BB962C8B-B14F-4D97-AF65-F5344CB8AC3E}">
        <p14:creationId xmlns:p14="http://schemas.microsoft.com/office/powerpoint/2010/main" val="111956369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oleObject" Target="../embeddings/oleObject1.bin"/><Relationship Id="rId5" Type="http://schemas.openxmlformats.org/officeDocument/2006/relationships/slideLayout" Target="../slideLayouts/slideLayout1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ags" Target="../tags/tag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tags" Target="../tags/tag1.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image" Target="../media/image1.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63B39-D0EC-4F45-AA3D-D0B39B9B3A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2061E0-1F00-4058-9465-8DFE3CCBC0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83CB0-1328-4CFC-811B-6316DE07C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F3A1A-E8E9-4F1D-A0E4-983A98264649}" type="datetimeFigureOut">
              <a:rPr lang="en-US" smtClean="0"/>
              <a:t>10/6/2023</a:t>
            </a:fld>
            <a:endParaRPr lang="en-US"/>
          </a:p>
        </p:txBody>
      </p:sp>
      <p:sp>
        <p:nvSpPr>
          <p:cNvPr id="5" name="Footer Placeholder 4">
            <a:extLst>
              <a:ext uri="{FF2B5EF4-FFF2-40B4-BE49-F238E27FC236}">
                <a16:creationId xmlns:a16="http://schemas.microsoft.com/office/drawing/2014/main" id="{5A2EC30C-8EF3-4E47-8B26-4FAA64C149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41EA07-B266-4D79-A329-C70E2F166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65103A-1B8E-4DB3-9398-D9E2B8A04713}" type="slidenum">
              <a:rPr lang="en-US" smtClean="0"/>
              <a:t>‹#›</a:t>
            </a:fld>
            <a:endParaRPr lang="en-US"/>
          </a:p>
        </p:txBody>
      </p:sp>
    </p:spTree>
    <p:extLst>
      <p:ext uri="{BB962C8B-B14F-4D97-AF65-F5344CB8AC3E}">
        <p14:creationId xmlns:p14="http://schemas.microsoft.com/office/powerpoint/2010/main" val="801406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937483A8-E899-0C9C-DC82-453B940B15E0}"/>
              </a:ext>
            </a:extLst>
          </p:cNvPr>
          <p:cNvGraphicFramePr>
            <a:graphicFrameLocks noChangeAspect="1"/>
          </p:cNvGraphicFramePr>
          <p:nvPr userDrawn="1">
            <p:custDataLst>
              <p:tags r:id="rId51"/>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532" imgH="530" progId="TCLayout.ActiveDocument.1">
                  <p:embed/>
                </p:oleObj>
              </mc:Choice>
              <mc:Fallback>
                <p:oleObj name="think-cell Slide" r:id="rId53" imgW="532" imgH="530" progId="TCLayout.ActiveDocument.1">
                  <p:embed/>
                  <p:pic>
                    <p:nvPicPr>
                      <p:cNvPr id="5" name="Object 4" hidden="1">
                        <a:extLst>
                          <a:ext uri="{FF2B5EF4-FFF2-40B4-BE49-F238E27FC236}">
                            <a16:creationId xmlns:a16="http://schemas.microsoft.com/office/drawing/2014/main" id="{937483A8-E899-0C9C-DC82-453B940B15E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1B92786-28A6-2E84-7F69-1F45B9050E9B}"/>
              </a:ext>
            </a:extLst>
          </p:cNvPr>
          <p:cNvSpPr/>
          <p:nvPr userDrawn="1">
            <p:custDataLst>
              <p:tags r:id="rId52"/>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1273008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2.xml"/><Relationship Id="rId5" Type="http://schemas.openxmlformats.org/officeDocument/2006/relationships/image" Target="../media/image16.png"/><Relationship Id="rId4"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dirty="0">
                <a:solidFill>
                  <a:schemeClr val="accent3"/>
                </a:solidFill>
                <a:latin typeface="Graphik"/>
              </a:rPr>
              <a:t>Lucas Peredo</a:t>
            </a:r>
          </a:p>
          <a:p>
            <a:pPr marL="0" indent="0">
              <a:buNone/>
            </a:pPr>
            <a:endParaRPr lang="en-US" sz="3200" b="1" dirty="0">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75000" y="956458"/>
            <a:ext cx="4712989" cy="1405505"/>
          </a:xfrm>
          <a:prstGeom prst="rect">
            <a:avLst/>
          </a:prstGeom>
        </p:spPr>
        <p:txBody>
          <a:bodyPr vert="horz" lIns="0" tIns="0" rIns="0" bIns="0" rtlCol="0" anchor="t">
            <a:norm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n-US" sz="2000" b="0" i="0" u="none" strike="noStrike" kern="1200" cap="none" spc="0" normalizeH="0" baseline="0" noProof="0" dirty="0">
                <a:ln>
                  <a:noFill/>
                </a:ln>
                <a:solidFill>
                  <a:srgbClr val="460073"/>
                </a:solidFill>
                <a:effectLst/>
                <a:uLnTx/>
                <a:uFillTx/>
                <a:latin typeface="Graphik Black"/>
                <a:ea typeface="+mn-ea"/>
                <a:cs typeface="+mn-cs"/>
              </a:rPr>
              <a:t>Data Engineering Specialist</a:t>
            </a:r>
          </a:p>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s-AR" sz="1200" b="0" i="0" u="none" strike="noStrike" kern="1200" cap="none" spc="0" normalizeH="0" baseline="0" noProof="0" dirty="0">
                <a:ln>
                  <a:noFill/>
                </a:ln>
                <a:solidFill>
                  <a:srgbClr val="000000"/>
                </a:solidFill>
                <a:effectLst/>
                <a:uLnTx/>
                <a:uFillTx/>
                <a:latin typeface="Graphik"/>
                <a:ea typeface="+mn-ea"/>
                <a:cs typeface="+mn-cs"/>
              </a:rPr>
              <a:t>Technology /</a:t>
            </a:r>
            <a:r>
              <a:rPr lang="es-AR" sz="1200" dirty="0"/>
              <a:t> AI Engineering Analyst</a:t>
            </a:r>
            <a:endParaRPr kumimoji="0" lang="es-AR" sz="12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lang="en-US" sz="1200" b="1" dirty="0">
                <a:solidFill>
                  <a:srgbClr val="000000"/>
                </a:solidFill>
                <a:latin typeface="Graphik"/>
              </a:rPr>
              <a:t>lucas.d.gomezperedo@accenture.com</a:t>
            </a:r>
            <a:endParaRPr kumimoji="0" lang="en-US" sz="1200" b="1" i="0" u="none" strike="noStrike" kern="1200" cap="none" spc="0" normalizeH="0" baseline="0" noProof="0" dirty="0">
              <a:ln>
                <a:noFill/>
              </a:ln>
              <a:solidFill>
                <a:srgbClr val="000000"/>
              </a:solidFill>
              <a:effectLst/>
              <a:uLnTx/>
              <a:uFillTx/>
              <a:latin typeface="Graphik"/>
              <a:ea typeface="+mn-ea"/>
              <a:cs typeface="+mn-cs"/>
            </a:endParaRPr>
          </a:p>
          <a:p>
            <a:pPr marL="0" indent="0">
              <a:buNone/>
            </a:pPr>
            <a:r>
              <a:rPr lang="en-US" sz="1200" dirty="0">
                <a:latin typeface="Graphik"/>
              </a:rPr>
              <a:t>Buenos Aires, Argentina</a:t>
            </a:r>
          </a:p>
          <a:p>
            <a:endParaRPr lang="en-US" sz="900" b="1" dirty="0"/>
          </a:p>
          <a:p>
            <a:endParaRPr lang="en-US" sz="1200" dirty="0"/>
          </a:p>
          <a:p>
            <a:endParaRPr lang="en-US" dirty="0"/>
          </a:p>
        </p:txBody>
      </p:sp>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46057"/>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12" name="Rectangle 11">
            <a:extLst>
              <a:ext uri="{FF2B5EF4-FFF2-40B4-BE49-F238E27FC236}">
                <a16:creationId xmlns:a16="http://schemas.microsoft.com/office/drawing/2014/main" id="{C99CBEA1-1572-AE45-9D04-FA330F835AD4}"/>
              </a:ext>
            </a:extLst>
          </p:cNvPr>
          <p:cNvSpPr/>
          <p:nvPr/>
        </p:nvSpPr>
        <p:spPr>
          <a:xfrm>
            <a:off x="118899" y="5592789"/>
            <a:ext cx="3252480" cy="620941"/>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3" name="Rectangle 22">
            <a:extLst>
              <a:ext uri="{FF2B5EF4-FFF2-40B4-BE49-F238E27FC236}">
                <a16:creationId xmlns:a16="http://schemas.microsoft.com/office/drawing/2014/main" id="{CB125A6B-6104-78D8-2910-B3EC4F868DBE}"/>
              </a:ext>
            </a:extLst>
          </p:cNvPr>
          <p:cNvSpPr/>
          <p:nvPr/>
        </p:nvSpPr>
        <p:spPr>
          <a:xfrm>
            <a:off x="3431213" y="2347568"/>
            <a:ext cx="3246987" cy="281697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3717865" y="2598950"/>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a:solidFill>
                  <a:schemeClr val="accent2"/>
                </a:solidFill>
                <a:latin typeface="+mj-lt"/>
              </a:rPr>
              <a:t>HARD/SOFT SKILLS &amp; TOOLS</a:t>
            </a:r>
            <a:endParaRPr lang="en-US" sz="1000" b="1">
              <a:solidFill>
                <a:schemeClr val="accent2"/>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44764" y="2510952"/>
            <a:ext cx="3258541" cy="2238889"/>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r>
              <a:rPr lang="en-US" sz="1050" b="0" i="0" dirty="0">
                <a:solidFill>
                  <a:srgbClr val="3C4043"/>
                </a:solidFill>
                <a:effectLst/>
                <a:latin typeface="Roboto" panose="02000000000000000000" pitchFamily="2" charset="0"/>
              </a:rPr>
              <a:t>4 years working in the systems area and 3 years in process automation in different languages in the role of developer with the blue prism automation tool. fulfilling functions of process survey, analysis, solution design, monitoring and support to the end user in different projects of financial entities in the area of operations. Currently I develop monitoring, training, and transfer of knowledge of processes already developed previously.</a:t>
            </a:r>
            <a:endParaRPr lang="en-US" sz="1050" dirty="0"/>
          </a:p>
        </p:txBody>
      </p:sp>
      <p:grpSp>
        <p:nvGrpSpPr>
          <p:cNvPr id="27" name="Group 26">
            <a:extLst>
              <a:ext uri="{FF2B5EF4-FFF2-40B4-BE49-F238E27FC236}">
                <a16:creationId xmlns:a16="http://schemas.microsoft.com/office/drawing/2014/main" id="{FA82F26F-973E-6E47-064A-E58BB5E2C6B3}"/>
              </a:ext>
            </a:extLst>
          </p:cNvPr>
          <p:cNvGrpSpPr>
            <a:grpSpLocks/>
          </p:cNvGrpSpPr>
          <p:nvPr/>
        </p:nvGrpSpPr>
        <p:grpSpPr>
          <a:xfrm>
            <a:off x="328699" y="2551539"/>
            <a:ext cx="2900108" cy="2643657"/>
            <a:chOff x="652656" y="2290048"/>
            <a:chExt cx="2900108" cy="2643657"/>
          </a:xfrm>
        </p:grpSpPr>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652656" y="2290048"/>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PROFESSIONAL BACKGROUND</a:t>
              </a:r>
            </a:p>
            <a:p>
              <a:pPr marL="0" indent="0">
                <a:buNone/>
              </a:pPr>
              <a:endParaRPr lang="en-US" sz="1200" b="1" dirty="0">
                <a:solidFill>
                  <a:schemeClr val="accent1"/>
                </a:solidFill>
                <a:latin typeface="+mj-lt"/>
              </a:endParaRPr>
            </a:p>
          </p:txBody>
        </p:sp>
        <p:sp>
          <p:nvSpPr>
            <p:cNvPr id="35" name="Text Placeholder 4">
              <a:extLst>
                <a:ext uri="{FF2B5EF4-FFF2-40B4-BE49-F238E27FC236}">
                  <a16:creationId xmlns:a16="http://schemas.microsoft.com/office/drawing/2014/main" id="{CAE6442A-7F7A-7520-E012-744876DD2E5B}"/>
                </a:ext>
              </a:extLst>
            </p:cNvPr>
            <p:cNvSpPr txBox="1">
              <a:spLocks/>
            </p:cNvSpPr>
            <p:nvPr/>
          </p:nvSpPr>
          <p:spPr>
            <a:xfrm>
              <a:off x="664986" y="4595043"/>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EDUCATION</a:t>
              </a:r>
              <a:endParaRPr lang="en-US" sz="1200" b="1" dirty="0">
                <a:solidFill>
                  <a:schemeClr val="accent1"/>
                </a:solidFill>
                <a:latin typeface="+mj-lt"/>
              </a:endParaRPr>
            </a:p>
          </p:txBody>
        </p:sp>
      </p:gr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28699" y="5594214"/>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LANGUAGES</a:t>
            </a:r>
            <a:endParaRPr lang="en-US" sz="1200" b="1">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3717864" y="2425651"/>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AREA OF EXPERTISE</a:t>
            </a:r>
            <a:endParaRPr lang="en-US" sz="1200" b="1" dirty="0">
              <a:solidFill>
                <a:schemeClr val="accent1"/>
              </a:solidFill>
              <a:latin typeface="+mj-lt"/>
            </a:endParaRPr>
          </a:p>
        </p:txBody>
      </p:sp>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3679756" y="5301889"/>
            <a:ext cx="1278123"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INDUSTRY</a:t>
            </a:r>
            <a:endParaRPr lang="en-US" sz="1200" b="1">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3605712" y="2874620"/>
            <a:ext cx="2668543"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kumimoji="0" lang="en-US" b="1" i="0" u="none" strike="noStrike" kern="1200" cap="none" spc="0" normalizeH="0" baseline="0" noProof="0" dirty="0">
                <a:ln>
                  <a:noFill/>
                </a:ln>
                <a:solidFill>
                  <a:srgbClr val="460073"/>
                </a:solidFill>
                <a:effectLst/>
                <a:uLnTx/>
                <a:uFillTx/>
                <a:latin typeface="Graphik"/>
                <a:ea typeface="+mn-ea"/>
                <a:cs typeface="+mn-cs"/>
              </a:rPr>
              <a:t>Dev</a:t>
            </a:r>
            <a:r>
              <a:rPr kumimoji="0" lang="en-US" sz="800" b="1" i="0" u="none" strike="noStrike" kern="1200" cap="none" spc="0" normalizeH="0" baseline="0" noProof="0" dirty="0">
                <a:ln>
                  <a:noFill/>
                </a:ln>
                <a:solidFill>
                  <a:srgbClr val="460073"/>
                </a:solidFill>
                <a:effectLst/>
                <a:uLnTx/>
                <a:uFillTx/>
                <a:latin typeface="Graphik"/>
                <a:ea typeface="+mn-ea"/>
                <a:cs typeface="+mn-cs"/>
              </a:rPr>
              <a:t>: </a:t>
            </a:r>
            <a:r>
              <a:rPr lang="en-US" b="0" dirty="0">
                <a:solidFill>
                  <a:srgbClr val="000000"/>
                </a:solidFill>
                <a:latin typeface="Graphik"/>
              </a:rPr>
              <a:t>C#,C++, PHP, JS</a:t>
            </a:r>
            <a:endParaRPr kumimoji="0" lang="en-US" sz="8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lang="en-US" dirty="0">
                <a:solidFill>
                  <a:srgbClr val="460073"/>
                </a:solidFill>
                <a:latin typeface="Graphik"/>
              </a:rPr>
              <a:t>DB</a:t>
            </a:r>
            <a:r>
              <a:rPr kumimoji="0" lang="en-US" sz="800" b="1" i="0" u="none" strike="noStrike" kern="1200" cap="none" spc="0" normalizeH="0" baseline="0" noProof="0" dirty="0">
                <a:ln>
                  <a:noFill/>
                </a:ln>
                <a:solidFill>
                  <a:srgbClr val="460073"/>
                </a:solidFill>
                <a:effectLst/>
                <a:uLnTx/>
                <a:uFillTx/>
                <a:latin typeface="Graphik"/>
                <a:ea typeface="+mn-ea"/>
                <a:cs typeface="+mn-cs"/>
              </a:rPr>
              <a:t>: </a:t>
            </a:r>
            <a:r>
              <a:rPr lang="en-US" b="0" dirty="0">
                <a:solidFill>
                  <a:srgbClr val="000000"/>
                </a:solidFill>
                <a:latin typeface="Graphik"/>
              </a:rPr>
              <a:t>Oracle/SQL Server/ MySQL</a:t>
            </a:r>
          </a:p>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lang="en-US" dirty="0">
                <a:solidFill>
                  <a:srgbClr val="460073"/>
                </a:solidFill>
                <a:latin typeface="Graphik"/>
              </a:rPr>
              <a:t>Others:</a:t>
            </a:r>
            <a:r>
              <a:rPr lang="en-US" b="0" dirty="0">
                <a:solidFill>
                  <a:srgbClr val="000000"/>
                </a:solidFill>
                <a:latin typeface="Graphik"/>
              </a:rPr>
              <a:t> Software Developer, Agile methodologies</a:t>
            </a:r>
          </a:p>
          <a:p>
            <a:endParaRPr lang="en-US" dirty="0"/>
          </a:p>
          <a:p>
            <a:endParaRPr lang="en-US" dirty="0"/>
          </a:p>
          <a:p>
            <a:endParaRPr lang="en-US" dirty="0"/>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221046" y="5117539"/>
            <a:ext cx="3106657" cy="620940"/>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spcBef>
                <a:spcPts val="600"/>
              </a:spcBef>
              <a:buFont typeface="Arial" panose="020B0604020202020204" pitchFamily="34" charset="0"/>
              <a:buChar char="•"/>
              <a:defRPr/>
            </a:pPr>
            <a:r>
              <a:rPr lang="en-US" sz="1000" dirty="0">
                <a:solidFill>
                  <a:prstClr val="black"/>
                </a:solidFill>
              </a:rPr>
              <a:t>Tecnicatura en Análisis de Sistemas - graduated</a:t>
            </a:r>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202406" y="2732286"/>
            <a:ext cx="2702016" cy="1062078"/>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spcBef>
                <a:spcPts val="600"/>
              </a:spcBef>
              <a:buFont typeface="Arial" panose="020B0604020202020204" pitchFamily="34" charset="0"/>
              <a:buChar char="•"/>
              <a:defRPr/>
            </a:pPr>
            <a:endParaRPr lang="en-US" sz="1000" dirty="0"/>
          </a:p>
          <a:p>
            <a:pPr marL="171450" indent="-171450">
              <a:buChar char="•"/>
            </a:pPr>
            <a:endParaRPr lang="en-US" sz="1000" dirty="0"/>
          </a:p>
          <a:p>
            <a:endParaRPr lang="es-AR" sz="1000" dirty="0">
              <a:latin typeface="Graphik"/>
            </a:endParaRPr>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49438" y="5806317"/>
            <a:ext cx="2702016"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English (B1)</a:t>
            </a:r>
          </a:p>
          <a:p>
            <a:r>
              <a:rPr lang="en-US" dirty="0"/>
              <a:t>Spanish (Native)</a:t>
            </a:r>
          </a:p>
          <a:p>
            <a:pPr marL="0" indent="0">
              <a:buNone/>
            </a:pPr>
            <a:endParaRPr lang="en-US" dirty="0"/>
          </a:p>
          <a:p>
            <a:endParaRPr lang="es-AR" dirty="0"/>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3597166" y="5523679"/>
            <a:ext cx="3044481"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Banking</a:t>
            </a:r>
          </a:p>
          <a:p>
            <a:r>
              <a:rPr lang="en-US" b="0" i="0" dirty="0">
                <a:solidFill>
                  <a:srgbClr val="3C4043"/>
                </a:solidFill>
                <a:effectLst/>
                <a:latin typeface="Roboto" panose="02000000000000000000" pitchFamily="2" charset="0"/>
              </a:rPr>
              <a:t>Government area</a:t>
            </a:r>
            <a:r>
              <a:rPr lang="en-US" dirty="0"/>
              <a:t> </a:t>
            </a:r>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07843" y="733213"/>
            <a:ext cx="5081751" cy="5510185"/>
          </a:xfrm>
          <a:prstGeom prst="rect">
            <a:avLst/>
          </a:prstGeom>
        </p:spPr>
        <p:txBody>
          <a:bodyPr vert="horz" lIns="0" tIns="0" rIns="0" bIns="0" rtlCol="0" anchor="t">
            <a:no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just">
              <a:spcBef>
                <a:spcPts val="100"/>
              </a:spcBef>
              <a:spcAft>
                <a:spcPts val="300"/>
              </a:spcAft>
            </a:pPr>
            <a:r>
              <a:rPr lang="en-US" sz="1000" dirty="0">
                <a:solidFill>
                  <a:srgbClr val="000000"/>
                </a:solidFill>
                <a:latin typeface="+mn-lt"/>
              </a:rPr>
              <a:t>Analyst RPA @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RPA Developer</a:t>
            </a:r>
          </a:p>
          <a:p>
            <a:pPr marL="285750" indent="-285750">
              <a:spcAft>
                <a:spcPts val="300"/>
              </a:spcAft>
              <a:buFont typeface="Arial" panose="020B0604020202020204" pitchFamily="34" charset="0"/>
              <a:buChar char="•"/>
            </a:pPr>
            <a:r>
              <a:rPr lang="en-US" sz="1000" b="0" dirty="0">
                <a:solidFill>
                  <a:schemeClr val="accent6">
                    <a:lumMod val="50000"/>
                  </a:schemeClr>
                </a:solidFill>
                <a:latin typeface="+mn-lt"/>
                <a:cs typeface="Calibri" panose="020F0502020204030204" pitchFamily="34" charset="0"/>
              </a:rPr>
              <a:t>Project: Grupo Petersen</a:t>
            </a:r>
          </a:p>
          <a:p>
            <a:pPr marL="285750" indent="-285750">
              <a:spcAft>
                <a:spcPts val="300"/>
              </a:spcAft>
              <a:buFont typeface="Arial" panose="020B0604020202020204" pitchFamily="34" charset="0"/>
              <a:buChar char="•"/>
            </a:pPr>
            <a:r>
              <a:rPr lang="en-US" sz="1000" b="0" dirty="0">
                <a:solidFill>
                  <a:schemeClr val="accent6">
                    <a:lumMod val="50000"/>
                  </a:schemeClr>
                </a:solidFill>
                <a:latin typeface="+mn-lt"/>
                <a:cs typeface="Calibri" panose="020F0502020204030204" pitchFamily="34" charset="0"/>
              </a:rPr>
              <a:t>Blue Prism</a:t>
            </a:r>
            <a:endParaRPr lang="en-US" sz="1000" dirty="0">
              <a:solidFill>
                <a:schemeClr val="accent6">
                  <a:lumMod val="50000"/>
                </a:schemeClr>
              </a:solidFill>
              <a:latin typeface="+mn-lt"/>
            </a:endParaRPr>
          </a:p>
          <a:p>
            <a:pPr algn="just">
              <a:spcBef>
                <a:spcPts val="100"/>
              </a:spcBef>
              <a:spcAft>
                <a:spcPts val="300"/>
              </a:spcAft>
            </a:pPr>
            <a:r>
              <a:rPr lang="en-US" sz="1000" dirty="0">
                <a:solidFill>
                  <a:srgbClr val="000000"/>
                </a:solidFill>
                <a:latin typeface="+mn-lt"/>
              </a:rPr>
              <a:t>Developer RPA @ Accenture,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RPA Developer</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 Galicia</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Blue Prism </a:t>
            </a:r>
          </a:p>
          <a:p>
            <a:pPr algn="just">
              <a:spcBef>
                <a:spcPts val="100"/>
              </a:spcBef>
              <a:spcAft>
                <a:spcPts val="300"/>
              </a:spcAft>
            </a:pPr>
            <a:r>
              <a:rPr lang="en-US" sz="1000" dirty="0">
                <a:solidFill>
                  <a:srgbClr val="000000"/>
                </a:solidFill>
                <a:latin typeface="+mn-lt"/>
              </a:rPr>
              <a:t>Data Entry / QA @ RENAPER,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Data Entry</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 Digitalization</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Digitalization, SQL Server</a:t>
            </a:r>
          </a:p>
        </p:txBody>
      </p:sp>
      <p:sp>
        <p:nvSpPr>
          <p:cNvPr id="68" name="Slide Number Placeholder 5">
            <a:extLst>
              <a:ext uri="{FF2B5EF4-FFF2-40B4-BE49-F238E27FC236}">
                <a16:creationId xmlns:a16="http://schemas.microsoft.com/office/drawing/2014/main" id="{40407413-FB81-C4CE-CBD5-376A257F75CC}"/>
              </a:ext>
            </a:extLst>
          </p:cNvPr>
          <p:cNvSpPr txBox="1">
            <a:spLocks/>
          </p:cNvSpPr>
          <p:nvPr/>
        </p:nvSpPr>
        <p:spPr>
          <a:xfrm>
            <a:off x="11484746" y="6490025"/>
            <a:ext cx="326254" cy="201168"/>
          </a:xfrm>
          <a:prstGeom prst="rect">
            <a:avLst/>
          </a:prstGeom>
        </p:spPr>
        <p:txBody>
          <a:bodyPr vert="horz" wrap="none" lIns="0" tIns="0" rIns="0" bIns="0" rtlCol="0" anchor="ctr">
            <a:norm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2000" b="1" kern="1200" dirty="0" smtClean="0">
                <a:solidFill>
                  <a:schemeClr val="tx1"/>
                </a:solidFill>
                <a:latin typeface="+mj-lt"/>
                <a:ea typeface="+mn-ea"/>
                <a:cs typeface="+mn-cs"/>
              </a:defRPr>
            </a:lvl1pPr>
            <a:lvl2pPr marL="0" indent="0" algn="l" defTabSz="228600" rtl="0" eaLnBrk="1" latinLnBrk="0" hangingPunct="1">
              <a:lnSpc>
                <a:spcPct val="100000"/>
              </a:lnSpc>
              <a:spcBef>
                <a:spcPts val="0"/>
              </a:spcBef>
              <a:spcAft>
                <a:spcPts val="600"/>
              </a:spcAft>
              <a:buClrTx/>
              <a:buFont typeface="Graphik" panose="020B0503030202060203" pitchFamily="34" charset="0"/>
              <a:buNone/>
              <a:defRPr lang="en-US" sz="1600" kern="1200" dirty="0">
                <a:solidFill>
                  <a:schemeClr val="tx1"/>
                </a:solidFill>
                <a:latin typeface="+mn-lt"/>
                <a:ea typeface="+mn-ea"/>
                <a:cs typeface="+mn-cs"/>
              </a:defRPr>
            </a:lvl2pPr>
            <a:lvl3pPr marL="285750" indent="-285750" algn="l" defTabSz="228600" rtl="0" eaLnBrk="1" latinLnBrk="0" hangingPunct="1">
              <a:lnSpc>
                <a:spcPct val="100000"/>
              </a:lnSpc>
              <a:spcBef>
                <a:spcPts val="0"/>
              </a:spcBef>
              <a:spcAft>
                <a:spcPts val="600"/>
              </a:spcAft>
              <a:buFont typeface="Graphik" panose="020B0604020202020204" pitchFamily="34" charset="0"/>
              <a:buChar char="•"/>
              <a:defRPr lang="en-US" sz="1600" kern="1200" dirty="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r"/>
            <a:r>
              <a:rPr lang="es-ES" sz="800" b="0">
                <a:solidFill>
                  <a:schemeClr val="bg1"/>
                </a:solidFill>
              </a:rPr>
              <a:t>4</a:t>
            </a: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2023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217505"/>
            <a:ext cx="5761038" cy="739775"/>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dirty="0">
                <a:solidFill>
                  <a:schemeClr val="bg1"/>
                </a:solidFill>
              </a:rPr>
              <a:t>Accenture</a:t>
            </a:r>
          </a:p>
        </p:txBody>
      </p:sp>
      <p:pic>
        <p:nvPicPr>
          <p:cNvPr id="6" name="Picture Placeholder 10">
            <a:extLst>
              <a:ext uri="{FF2B5EF4-FFF2-40B4-BE49-F238E27FC236}">
                <a16:creationId xmlns:a16="http://schemas.microsoft.com/office/drawing/2014/main" id="{01ACA14B-112E-B6B4-EBFC-0B3CBA6C7F4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21046" y="893692"/>
            <a:ext cx="1432909" cy="1432909"/>
          </a:xfrm>
          <a:prstGeom prst="rect">
            <a:avLst/>
          </a:prstGeom>
        </p:spPr>
      </p:pic>
      <p:pic>
        <p:nvPicPr>
          <p:cNvPr id="5" name="Picture 4">
            <a:extLst>
              <a:ext uri="{FF2B5EF4-FFF2-40B4-BE49-F238E27FC236}">
                <a16:creationId xmlns:a16="http://schemas.microsoft.com/office/drawing/2014/main" id="{451DBA45-1A0D-4EC7-4852-DC4071FEF30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012793" y="1677783"/>
            <a:ext cx="522923" cy="522923"/>
          </a:xfrm>
          <a:prstGeom prst="rect">
            <a:avLst/>
          </a:prstGeom>
        </p:spPr>
      </p:pic>
    </p:spTree>
    <p:extLst>
      <p:ext uri="{BB962C8B-B14F-4D97-AF65-F5344CB8AC3E}">
        <p14:creationId xmlns:p14="http://schemas.microsoft.com/office/powerpoint/2010/main" val="37479541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ACN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N2" id="{C5CBB487-2795-4FA3-82FE-53D900CF3761}" vid="{C10CF5D9-D365-43EF-8820-07B68B70E83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e5dff9b-ec84-400a-8d4d-02e969566393">
      <Terms xmlns="http://schemas.microsoft.com/office/infopath/2007/PartnerControls"/>
    </lcf76f155ced4ddcb4097134ff3c332f>
    <TaxCatchAll xmlns="9e1adda6-93f2-443e-b0ef-40d6e1dc8c9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24e4c7a8421853a402df6e265f794394">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ca37c5a048a84fd67bc1e66e7d26fe3d"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F190C0-2289-408C-859E-D9DE16203037}">
  <ds:schemaRefs>
    <ds:schemaRef ds:uri="http://schemas.microsoft.com/office/2006/metadata/properties"/>
    <ds:schemaRef ds:uri="http://www.w3.org/XML/1998/namespace"/>
    <ds:schemaRef ds:uri="http://schemas.microsoft.com/office/infopath/2007/PartnerControls"/>
    <ds:schemaRef ds:uri="118bdf6a-17d6-42f2-bf93-b799822b66d5"/>
    <ds:schemaRef ds:uri="http://purl.org/dc/elements/1.1/"/>
    <ds:schemaRef ds:uri="http://schemas.microsoft.com/office/2006/documentManagement/types"/>
    <ds:schemaRef ds:uri="3f7fa16c-f0a7-4e93-83e5-916308b974b7"/>
    <ds:schemaRef ds:uri="http://purl.org/dc/dcmitype/"/>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13BB3DEE-1302-44B0-9E4F-9CA1C78AF27C}"/>
</file>

<file path=customXml/itemProps3.xml><?xml version="1.0" encoding="utf-8"?>
<ds:datastoreItem xmlns:ds="http://schemas.openxmlformats.org/officeDocument/2006/customXml" ds:itemID="{8D13FB34-5A1C-4C07-9505-15A13190B9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659</TotalTime>
  <Words>221</Words>
  <Application>Microsoft Office PowerPoint</Application>
  <PresentationFormat>Widescreen</PresentationFormat>
  <Paragraphs>40</Paragraphs>
  <Slides>1</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11" baseType="lpstr">
      <vt:lpstr>Arial</vt:lpstr>
      <vt:lpstr>Calibri</vt:lpstr>
      <vt:lpstr>Calibri Light</vt:lpstr>
      <vt:lpstr>Graphik</vt:lpstr>
      <vt:lpstr>Graphik Black</vt:lpstr>
      <vt:lpstr>GT Sectra Fine Rg</vt:lpstr>
      <vt:lpstr>Roboto</vt:lpstr>
      <vt:lpstr>Office Theme</vt:lpstr>
      <vt:lpstr>ThemeACN2</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Danibal, Sofia</dc:creator>
  <cp:lastModifiedBy>Gomez Peredo, Lucas Damian</cp:lastModifiedBy>
  <cp:revision>7</cp:revision>
  <dcterms:created xsi:type="dcterms:W3CDTF">2022-12-16T18:40:20Z</dcterms:created>
  <dcterms:modified xsi:type="dcterms:W3CDTF">2023-10-06T19:29:21Z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MediaServiceImageTags">
    <vt:lpwstr/>
  </property>
</Properties>
</file>