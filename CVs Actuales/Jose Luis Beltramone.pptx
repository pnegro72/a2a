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9"/>
  </p:notesMasterIdLst>
  <p:handoutMasterIdLst>
    <p:handoutMasterId r:id="rId10"/>
  </p:handoutMasterIdLst>
  <p:sldIdLst>
    <p:sldId id="2076136212" r:id="rId7"/>
    <p:sldId id="2076136215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969696"/>
    <a:srgbClr val="5A5A5A"/>
    <a:srgbClr val="002266"/>
    <a:srgbClr val="FFB500"/>
    <a:srgbClr val="FFFFFF"/>
    <a:srgbClr val="000000"/>
    <a:srgbClr val="C9F3FF"/>
    <a:srgbClr val="F2F2F2"/>
    <a:srgbClr val="008CB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A1DE4-D595-3858-7D7C-1123C7AFC00B}" v="130" dt="2024-09-27T18:55:44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pos="3772"/>
        <p:guide pos="3931"/>
        <p:guide orient="horz" pos="2160"/>
        <p:guide pos="59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9/27/2024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9/27/2024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>
                <a:solidFill>
                  <a:schemeClr val="accent3"/>
                </a:solidFill>
                <a:latin typeface="Graphik"/>
              </a:rPr>
              <a:t>José Luis Beltramone</a:t>
            </a:r>
            <a:endParaRPr lang="en-US" sz="3200" b="1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Graphik Black"/>
              </a:rPr>
              <a:t>Data Engineering Manager</a:t>
            </a:r>
          </a:p>
          <a:p>
            <a:pPr marL="0" indent="0">
              <a:buNone/>
            </a:pPr>
            <a:r>
              <a:rPr lang="es-AR" sz="1200" err="1"/>
              <a:t>Technology</a:t>
            </a:r>
            <a:r>
              <a:rPr lang="es-AR" sz="1200"/>
              <a:t> – Cloud </a:t>
            </a:r>
            <a:r>
              <a:rPr lang="es-AR" sz="1200" err="1"/>
              <a:t>First</a:t>
            </a:r>
            <a:r>
              <a:rPr lang="es-AR" sz="1200"/>
              <a:t> / Data &amp; AI</a:t>
            </a:r>
          </a:p>
          <a:p>
            <a:pPr marL="0" indent="0">
              <a:buNone/>
            </a:pPr>
            <a:r>
              <a:rPr lang="en-US" sz="1200" b="1">
                <a:latin typeface="Graphik"/>
              </a:rPr>
              <a:t>jose.beltramone@accenture.com</a:t>
            </a:r>
          </a:p>
          <a:p>
            <a:pPr marL="0" indent="0">
              <a:buNone/>
            </a:pPr>
            <a:r>
              <a:rPr lang="en-US" sz="1200">
                <a:latin typeface="Graphik"/>
              </a:rPr>
              <a:t>La Plata, Argentina</a:t>
            </a:r>
            <a:endParaRPr lang="en-US" sz="1200"/>
          </a:p>
          <a:p>
            <a:endParaRPr lang="en-US" sz="900" b="1"/>
          </a:p>
          <a:p>
            <a:endParaRPr lang="en-US" sz="1200"/>
          </a:p>
          <a:p>
            <a:endParaRPr lang="en-US"/>
          </a:p>
        </p:txBody>
      </p:sp>
      <p:pic>
        <p:nvPicPr>
          <p:cNvPr id="7" name="Picture Placeholder 2">
            <a:extLst>
              <a:ext uri="{FF2B5EF4-FFF2-40B4-BE49-F238E27FC236}">
                <a16:creationId xmlns:a16="http://schemas.microsoft.com/office/drawing/2014/main" id="{70046F3B-2B36-0972-3812-387A63BA0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40" b="3740"/>
          <a:stretch/>
        </p:blipFill>
        <p:spPr>
          <a:xfrm>
            <a:off x="4684141" y="1324279"/>
            <a:ext cx="864818" cy="800125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450" y="764813"/>
            <a:ext cx="1518138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432224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04948"/>
            <a:ext cx="2858282" cy="228498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Data Engineering: </a:t>
            </a:r>
            <a:r>
              <a:rPr lang="en-US" b="0"/>
              <a:t>Hadoop ecosystem, Spark, Databricks, Snowflake</a:t>
            </a:r>
            <a:r>
              <a:rPr lang="en-US"/>
              <a:t> </a:t>
            </a:r>
          </a:p>
          <a:p>
            <a:r>
              <a:rPr lang="en-US"/>
              <a:t>Data Science: </a:t>
            </a:r>
            <a:r>
              <a:rPr lang="en-US" b="0"/>
              <a:t>Supervised &amp; Unsupervised Learning. algorithms,  Time Series forecasting, NLP, </a:t>
            </a:r>
            <a:r>
              <a:rPr lang="en-US" b="0" err="1"/>
              <a:t>GenAI</a:t>
            </a:r>
            <a:r>
              <a:rPr lang="en-US" b="0"/>
              <a:t> Chat BOTs</a:t>
            </a:r>
          </a:p>
          <a:p>
            <a:r>
              <a:rPr lang="en-US"/>
              <a:t>Data Visualization:</a:t>
            </a:r>
            <a:r>
              <a:rPr lang="en-US" b="0"/>
              <a:t> Power-BI, Tableau</a:t>
            </a:r>
          </a:p>
          <a:p>
            <a:r>
              <a:rPr lang="en-US"/>
              <a:t>Dev:</a:t>
            </a:r>
            <a:r>
              <a:rPr lang="en-US" b="0"/>
              <a:t> Python/</a:t>
            </a:r>
            <a:r>
              <a:rPr lang="en-US" b="0" err="1"/>
              <a:t>PySpark</a:t>
            </a:r>
            <a:r>
              <a:rPr lang="en-US" b="0"/>
              <a:t>, R, C++, HTML / CSS, </a:t>
            </a:r>
            <a:r>
              <a:rPr lang="en-US" b="0" err="1"/>
              <a:t>javascript</a:t>
            </a:r>
            <a:endParaRPr lang="en-US" b="0"/>
          </a:p>
          <a:p>
            <a:r>
              <a:rPr lang="en-US"/>
              <a:t>DB: </a:t>
            </a:r>
            <a:r>
              <a:rPr lang="en-US" b="0"/>
              <a:t>MySQL, SQL Server,  </a:t>
            </a:r>
            <a:r>
              <a:rPr lang="en-US" b="0" err="1"/>
              <a:t>Postrge</a:t>
            </a:r>
            <a:r>
              <a:rPr lang="en-US" b="0"/>
              <a:t>/</a:t>
            </a:r>
            <a:r>
              <a:rPr lang="en-US" b="0" err="1"/>
              <a:t>PostGIS</a:t>
            </a:r>
            <a:r>
              <a:rPr lang="en-US" b="0"/>
              <a:t>, Neo4j</a:t>
            </a:r>
          </a:p>
          <a:p>
            <a:r>
              <a:rPr lang="en-US"/>
              <a:t>IP Networks Engineering, Terrestrial &amp; Satellite. Solution Management,</a:t>
            </a:r>
          </a:p>
          <a:p>
            <a:r>
              <a:rPr lang="en-US"/>
              <a:t>International Large Projects Management, Account &amp; Commercial Management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49438" y="3682478"/>
            <a:ext cx="3106657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rgbClr val="000000"/>
                </a:solidFill>
                <a:latin typeface="Graphik"/>
              </a:rPr>
              <a:t>-Data Science Specialist (ITBA)</a:t>
            </a:r>
            <a:endParaRPr lang="en-US"/>
          </a:p>
          <a:p>
            <a:pPr>
              <a:buFont typeface="Arial,Sans-Serif" panose="020B0604020202020204" pitchFamily="34" charset="0"/>
            </a:pPr>
            <a:r>
              <a:rPr lang="en-US" sz="1000">
                <a:solidFill>
                  <a:srgbClr val="000000"/>
                </a:solidFill>
                <a:latin typeface="Graphik"/>
              </a:rPr>
              <a:t>-Telecoms Mgmt. Spec. (</a:t>
            </a:r>
            <a:r>
              <a:rPr lang="en-US" sz="1000" err="1">
                <a:solidFill>
                  <a:srgbClr val="000000"/>
                </a:solidFill>
                <a:latin typeface="Graphik"/>
              </a:rPr>
              <a:t>UdeSA</a:t>
            </a:r>
            <a:r>
              <a:rPr lang="en-US" sz="1000">
                <a:solidFill>
                  <a:srgbClr val="000000"/>
                </a:solidFill>
                <a:latin typeface="Graphik"/>
              </a:rPr>
              <a:t>)</a:t>
            </a:r>
            <a:endParaRPr lang="en-US" sz="1000">
              <a:latin typeface="Graphik"/>
            </a:endParaRPr>
          </a:p>
          <a:p>
            <a:r>
              <a:rPr lang="en-US" sz="1000">
                <a:solidFill>
                  <a:srgbClr val="000000"/>
                </a:solidFill>
                <a:latin typeface="Graphik"/>
              </a:rPr>
              <a:t>- Electronic Engineer (UNLP)</a:t>
            </a:r>
            <a:endParaRPr lang="en-US"/>
          </a:p>
          <a:p>
            <a:pPr marL="171450" indent="-171450">
              <a:buChar char="•"/>
            </a:pPr>
            <a:endParaRPr lang="en-US" sz="1000">
              <a:solidFill>
                <a:srgbClr val="000000"/>
              </a:solidFill>
            </a:endParaRPr>
          </a:p>
          <a:p>
            <a:pPr marL="171450" indent="-171450">
              <a:buChar char="•"/>
            </a:pPr>
            <a:endParaRPr lang="en-US" sz="1000"/>
          </a:p>
          <a:p>
            <a:endParaRPr lang="es-AR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4" y="2709462"/>
            <a:ext cx="2824863" cy="4336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Graphik"/>
              </a:rPr>
              <a:t>Long (+30 years) experience in large international ICT &amp; Data Projects, working with Tier-1 NGO and Business Corporations.</a:t>
            </a:r>
            <a:endParaRPr lang="en-US" sz="1000"/>
          </a:p>
          <a:p>
            <a:endParaRPr lang="es-AR" sz="1000">
              <a:latin typeface="Graphik"/>
            </a:endParaRP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596773"/>
            <a:ext cx="1687017" cy="2722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0000"/>
                </a:solidFill>
                <a:latin typeface="Graphik"/>
              </a:rPr>
              <a:t>AWS Cloud Practitioner</a:t>
            </a:r>
            <a:endParaRPr lang="en-US" sz="1000" b="0" i="0" u="none" strike="noStrike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>
              <a:solidFill>
                <a:srgbClr val="000000"/>
              </a:solidFill>
            </a:endParaRPr>
          </a:p>
          <a:p>
            <a:endParaRPr lang="es-AR" sz="100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English  (Full professional)</a:t>
            </a:r>
          </a:p>
          <a:p>
            <a:r>
              <a:rPr lang="en-US"/>
              <a:t>French (Professional working)</a:t>
            </a:r>
          </a:p>
          <a:p>
            <a:r>
              <a:rPr lang="en-US"/>
              <a:t>Spanish (Native)</a:t>
            </a:r>
          </a:p>
          <a:p>
            <a:endParaRPr lang="es-AR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5206050" y="5523420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Information Tech.</a:t>
            </a:r>
          </a:p>
          <a:p>
            <a:r>
              <a:rPr lang="en-US"/>
              <a:t>UN-Agencies &amp; NGO</a:t>
            </a:r>
          </a:p>
          <a:p>
            <a:r>
              <a:rPr lang="en-US"/>
              <a:t>Media </a:t>
            </a:r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531019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Telecoms</a:t>
            </a:r>
          </a:p>
          <a:p>
            <a:r>
              <a:rPr lang="en-US"/>
              <a:t>Logistics &amp; Supply Ch.</a:t>
            </a:r>
          </a:p>
          <a:p>
            <a:r>
              <a:rPr lang="en-US"/>
              <a:t>Retail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Accenture – Pan </a:t>
            </a:r>
            <a:r>
              <a:rPr lang="en-US" sz="1000" err="1">
                <a:solidFill>
                  <a:srgbClr val="000000"/>
                </a:solidFill>
                <a:latin typeface="+mn-lt"/>
              </a:rPr>
              <a:t>Amerincan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 Energy (April 2024-)</a:t>
            </a:r>
            <a:endParaRPr lang="en-US" sz="1000">
              <a:solidFill>
                <a:srgbClr val="A100FF"/>
              </a:solidFill>
              <a:latin typeface="+mn-lt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-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Data Scientist:</a:t>
            </a:r>
            <a:r>
              <a:rPr lang="en-US" sz="1000" b="0">
                <a:latin typeface="+mn-lt"/>
              </a:rPr>
              <a:t> ML/</a:t>
            </a:r>
            <a:r>
              <a:rPr lang="en-US" sz="1000" b="0" err="1">
                <a:latin typeface="+mn-lt"/>
              </a:rPr>
              <a:t>MLOps</a:t>
            </a:r>
            <a:r>
              <a:rPr lang="en-US" sz="1000" b="0">
                <a:latin typeface="+mn-lt"/>
              </a:rPr>
              <a:t> deployment on AWS Cloud </a:t>
            </a:r>
            <a:endParaRPr lang="en-US"/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Accenture – Global IT, DEX (April 2023 – March 2024)</a:t>
            </a:r>
            <a:br>
              <a:rPr lang="en-US" sz="1000" dirty="0">
                <a:latin typeface="+mn-lt"/>
              </a:rPr>
            </a:br>
            <a:r>
              <a:rPr lang="en-US" sz="1000" dirty="0">
                <a:solidFill>
                  <a:srgbClr val="000000"/>
                </a:solidFill>
                <a:latin typeface="+mn-lt"/>
              </a:rPr>
              <a:t>-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Data Scientist, Team Lead:</a:t>
            </a:r>
            <a:r>
              <a:rPr lang="en-US" sz="1000" b="0" dirty="0">
                <a:latin typeface="+mn-lt"/>
                <a:cs typeface="Calibri"/>
              </a:rPr>
              <a:t> Development of a Gen AI / API based architecture to enhance DEX </a:t>
            </a:r>
            <a:r>
              <a:rPr lang="en-US" sz="1000" b="0">
                <a:latin typeface="+mn-lt"/>
                <a:cs typeface="Calibri"/>
              </a:rPr>
              <a:t>user interaction, using Azure-OpenAI + API Management Service platform, Semantic Kernel as orchestrator and ADX &amp; Az Cognitive Search for data layer. </a:t>
            </a:r>
            <a:br>
              <a:rPr lang="en-US" sz="1000" dirty="0">
                <a:latin typeface="+mn-lt"/>
              </a:rPr>
            </a:br>
            <a:r>
              <a:rPr lang="en-US" sz="1000" b="0">
                <a:solidFill>
                  <a:srgbClr val="000000"/>
                </a:solidFill>
                <a:latin typeface="+mn-lt"/>
              </a:rPr>
              <a:t>-Tech Arch Team Lead: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0">
                <a:latin typeface="+mn-lt"/>
                <a:cs typeface="Calibri"/>
              </a:rPr>
              <a:t>Data Sources evaluation an integration to GCP Data Lake (GCP </a:t>
            </a:r>
            <a:r>
              <a:rPr lang="en-US" sz="1000" b="0" err="1">
                <a:latin typeface="+mn-lt"/>
                <a:cs typeface="Calibri"/>
              </a:rPr>
              <a:t>BigQuery</a:t>
            </a:r>
            <a:r>
              <a:rPr lang="en-US" sz="1000" b="0" dirty="0">
                <a:latin typeface="+mn-lt"/>
                <a:cs typeface="Calibri"/>
              </a:rPr>
              <a:t>) &amp; Microsoft Fabric. </a:t>
            </a:r>
            <a:endParaRPr lang="en-US" sz="1000">
              <a:latin typeface="+mn-lt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Walmart Data Warehousing to Big Query (July 2022 – March 2023)</a:t>
            </a:r>
            <a:br>
              <a:rPr lang="en-US" sz="1000" dirty="0">
                <a:latin typeface="+mn-lt"/>
              </a:rPr>
            </a:br>
            <a:r>
              <a:rPr lang="en-US" sz="1000" b="0" dirty="0">
                <a:latin typeface="+mn-lt"/>
                <a:cs typeface="Calibri"/>
              </a:rPr>
              <a:t>Migration &amp; Validation of ETL workflows from on-premise framework (</a:t>
            </a:r>
            <a:r>
              <a:rPr lang="en-US" sz="1000" b="0" dirty="0" err="1">
                <a:latin typeface="+mn-lt"/>
                <a:cs typeface="Calibri"/>
              </a:rPr>
              <a:t>Automic</a:t>
            </a:r>
            <a:r>
              <a:rPr lang="en-US" sz="1000" b="0" dirty="0">
                <a:latin typeface="+mn-lt"/>
                <a:cs typeface="Calibri"/>
              </a:rPr>
              <a:t> / </a:t>
            </a:r>
            <a:r>
              <a:rPr lang="en-US" sz="1000" b="0" dirty="0" err="1">
                <a:latin typeface="+mn-lt"/>
                <a:cs typeface="Calibri"/>
              </a:rPr>
              <a:t>SQLServer</a:t>
            </a:r>
            <a:r>
              <a:rPr lang="en-US" sz="1000" b="0" dirty="0">
                <a:latin typeface="+mn-lt"/>
                <a:cs typeface="Calibri"/>
              </a:rPr>
              <a:t>) to Google Big Query. Using VM, SQL, Hive, Python, Airflow, GCS, </a:t>
            </a:r>
            <a:r>
              <a:rPr lang="en-US" sz="1000" b="0" dirty="0" err="1">
                <a:latin typeface="+mn-lt"/>
                <a:cs typeface="Calibri"/>
              </a:rPr>
              <a:t>DataProc</a:t>
            </a:r>
            <a:r>
              <a:rPr lang="en-US" sz="1000" b="0" dirty="0">
                <a:latin typeface="+mn-lt"/>
                <a:cs typeface="Calibri"/>
              </a:rPr>
              <a:t> and </a:t>
            </a:r>
            <a:r>
              <a:rPr lang="en-US" sz="1000" b="0" dirty="0" err="1">
                <a:latin typeface="+mn-lt"/>
                <a:cs typeface="Calibri"/>
              </a:rPr>
              <a:t>BigQuery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American Tire Distributors (Apr – Jun 2022) </a:t>
            </a:r>
            <a:br>
              <a:rPr lang="en-US" sz="1000" dirty="0">
                <a:latin typeface="+mn-lt"/>
              </a:rPr>
            </a:br>
            <a:r>
              <a:rPr lang="en-US" sz="1000" b="0" dirty="0">
                <a:latin typeface="+mn-lt"/>
                <a:cs typeface="Calibri"/>
              </a:rPr>
              <a:t>Data Visualizations with SQL Server, </a:t>
            </a:r>
            <a:r>
              <a:rPr lang="en-US" sz="1000" b="0" dirty="0" err="1">
                <a:latin typeface="+mn-lt"/>
                <a:cs typeface="Calibri"/>
              </a:rPr>
              <a:t>PowerQuery</a:t>
            </a:r>
            <a:r>
              <a:rPr lang="en-US" sz="1000" b="0" dirty="0">
                <a:latin typeface="+mn-lt"/>
                <a:cs typeface="Calibri"/>
              </a:rPr>
              <a:t> &amp; DAX on MS Power BI 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VMWare (March 2022)</a:t>
            </a:r>
            <a:br>
              <a:rPr lang="en-US" sz="1000" dirty="0">
                <a:latin typeface="+mn-lt"/>
              </a:rPr>
            </a:br>
            <a:r>
              <a:rPr lang="en-US" sz="1000" b="0" dirty="0">
                <a:latin typeface="+mn-lt"/>
                <a:cs typeface="Calibri"/>
              </a:rPr>
              <a:t>PM for ETL pipelines and KPI dashboard creations 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Mercado Libre (Dec – 2021 - Feb 2022)</a:t>
            </a:r>
            <a:br>
              <a:rPr lang="en-US" sz="1000" dirty="0">
                <a:latin typeface="+mn-lt"/>
              </a:rPr>
            </a:br>
            <a:r>
              <a:rPr lang="en-US" sz="1000" b="0" dirty="0">
                <a:latin typeface="+mn-lt"/>
                <a:cs typeface="Calibri"/>
              </a:rPr>
              <a:t>Runbook for ETL pipelines support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NextEra (Aug – Nov 2021) 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b="0" dirty="0">
                <a:latin typeface="+mn-lt"/>
                <a:cs typeface="Calibri"/>
              </a:rPr>
              <a:t>Data Engineering support for the migration of the Data Lake, Data Warehouse</a:t>
            </a:r>
            <a:br>
              <a:rPr lang="en-US" sz="1000" b="0" dirty="0">
                <a:latin typeface="+mn-lt"/>
                <a:cs typeface="Calibri"/>
              </a:rPr>
            </a:br>
            <a:r>
              <a:rPr lang="en-US" sz="1000" b="0" dirty="0">
                <a:latin typeface="+mn-lt"/>
                <a:cs typeface="Calibri"/>
              </a:rPr>
              <a:t> and related ETL processes to AWS cloud.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endParaRPr lang="en-US" sz="100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 err="1">
                <a:solidFill>
                  <a:srgbClr val="000000"/>
                </a:solidFill>
                <a:latin typeface="+mn-lt"/>
              </a:rPr>
              <a:t>Entidad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Binacional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Yacyretá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(2018 -2021)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b="0" dirty="0">
                <a:latin typeface="+mn-lt"/>
                <a:cs typeface="Calibri"/>
              </a:rPr>
              <a:t>- Energy generation capacity forecasting using Machine Learning algorithm on SCADA data. </a:t>
            </a:r>
            <a:br>
              <a:rPr lang="en-US" sz="1000" b="0" dirty="0">
                <a:latin typeface="+mn-lt"/>
                <a:cs typeface="Calibri"/>
              </a:rPr>
            </a:br>
            <a:r>
              <a:rPr lang="en-US" sz="1000" b="0" dirty="0">
                <a:latin typeface="+mn-lt"/>
                <a:cs typeface="Calibri"/>
              </a:rPr>
              <a:t>- Engineering, Tendering and Project Management for the SOTR (Real-Time Operating System with </a:t>
            </a:r>
            <a:r>
              <a:rPr lang="en-US" sz="1000" b="0" dirty="0" err="1">
                <a:latin typeface="+mn-lt"/>
                <a:cs typeface="Calibri"/>
              </a:rPr>
              <a:t>Cammesa</a:t>
            </a:r>
            <a:r>
              <a:rPr lang="en-US" sz="1000" b="0" dirty="0">
                <a:latin typeface="+mn-lt"/>
                <a:cs typeface="Calibri"/>
              </a:rPr>
              <a:t> &amp; Transener) migration over TCP/IP and 20% reduction of operating costs.</a:t>
            </a:r>
            <a:endParaRPr lang="en-US" sz="1000" b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</a:t>
            </a:r>
            <a:r>
              <a:rPr lang="en-US" sz="1800">
                <a:solidFill>
                  <a:schemeClr val="bg1"/>
                </a:solidFill>
              </a:rPr>
              <a:t>Technology Data &amp; AI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6" name="Picture 15" descr="José Luis Beltramone&#10;">
            <a:extLst>
              <a:ext uri="{FF2B5EF4-FFF2-40B4-BE49-F238E27FC236}">
                <a16:creationId xmlns:a16="http://schemas.microsoft.com/office/drawing/2014/main" id="{8DADF413-1B3F-423C-904D-D3FB89704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90" y="793540"/>
            <a:ext cx="1459674" cy="145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>
                <a:solidFill>
                  <a:schemeClr val="accent3"/>
                </a:solidFill>
                <a:latin typeface="Graphik"/>
              </a:rPr>
              <a:t>José Luis Beltramone</a:t>
            </a:r>
            <a:endParaRPr lang="es-AR" sz="3200" b="1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>
                <a:solidFill>
                  <a:schemeClr val="accent3"/>
                </a:solidFill>
                <a:latin typeface="Graphik Black"/>
              </a:rPr>
              <a:t>Data Engineering Manager </a:t>
            </a:r>
          </a:p>
          <a:p>
            <a:pPr marL="0" indent="0">
              <a:buNone/>
            </a:pPr>
            <a:r>
              <a:rPr lang="es-AR" sz="1200"/>
              <a:t>Technology – Cloud First / Data &amp; AI</a:t>
            </a:r>
          </a:p>
          <a:p>
            <a:pPr marL="0" indent="0">
              <a:buNone/>
            </a:pPr>
            <a:r>
              <a:rPr lang="es-AR" sz="1200" b="1">
                <a:latin typeface="Graphik"/>
              </a:rPr>
              <a:t>jose.beltramone@accenture.com</a:t>
            </a:r>
          </a:p>
          <a:p>
            <a:pPr marL="0" indent="0">
              <a:buNone/>
            </a:pPr>
            <a:r>
              <a:rPr lang="es-AR" sz="1200">
                <a:latin typeface="Graphik"/>
              </a:rPr>
              <a:t>La Plata, Argentina</a:t>
            </a:r>
            <a:endParaRPr lang="es-AR" sz="900" b="1"/>
          </a:p>
          <a:p>
            <a:endParaRPr lang="es-AR" sz="1200"/>
          </a:p>
          <a:p>
            <a:endParaRPr lang="es-AR"/>
          </a:p>
        </p:txBody>
      </p:sp>
      <p:pic>
        <p:nvPicPr>
          <p:cNvPr id="7" name="Picture Placeholder 2">
            <a:extLst>
              <a:ext uri="{FF2B5EF4-FFF2-40B4-BE49-F238E27FC236}">
                <a16:creationId xmlns:a16="http://schemas.microsoft.com/office/drawing/2014/main" id="{70046F3B-2B36-0972-3812-387A63BA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0" b="3740"/>
          <a:stretch/>
        </p:blipFill>
        <p:spPr>
          <a:xfrm>
            <a:off x="4608096" y="1334419"/>
            <a:ext cx="875724" cy="810215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50" y="764813"/>
            <a:ext cx="1518138" cy="151813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s-A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s-AR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870124" cy="2182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HABILIDADES Y HERRAMIENTAS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s-AR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8"/>
            <a:ext cx="2912544" cy="2321354"/>
            <a:chOff x="652656" y="2462768"/>
            <a:chExt cx="2912544" cy="2177439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PERFIL PROFESIONAL</a:t>
              </a: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77422" y="4426286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ESPECIALIZACIONES</a:t>
              </a: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448439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EDUCACION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s-AR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IDIOMAS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AREAS DE EXPERIENCIA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INDUSTRIA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13657"/>
            <a:ext cx="2870124" cy="227627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AR"/>
              <a:t>In. de Datos: Hadoop </a:t>
            </a:r>
            <a:r>
              <a:rPr lang="es-AR" err="1"/>
              <a:t>ecosystem</a:t>
            </a:r>
            <a:r>
              <a:rPr lang="es-AR"/>
              <a:t>, </a:t>
            </a:r>
            <a:r>
              <a:rPr lang="es-AR" err="1"/>
              <a:t>Spark</a:t>
            </a:r>
            <a:r>
              <a:rPr lang="es-AR"/>
              <a:t>, </a:t>
            </a:r>
            <a:r>
              <a:rPr lang="es-AR" err="1"/>
              <a:t>Databricks</a:t>
            </a:r>
            <a:r>
              <a:rPr lang="es-AR"/>
              <a:t>, </a:t>
            </a:r>
            <a:r>
              <a:rPr lang="es-AR" err="1"/>
              <a:t>Snowflake</a:t>
            </a:r>
            <a:r>
              <a:rPr lang="es-AR"/>
              <a:t> </a:t>
            </a:r>
          </a:p>
          <a:p>
            <a:r>
              <a:rPr lang="es-AR"/>
              <a:t>Ciencia de Datos: </a:t>
            </a:r>
            <a:r>
              <a:rPr lang="es-AR" b="0"/>
              <a:t>Algoritmos de aprendizaje supervisado y no-supervisado. </a:t>
            </a:r>
            <a:r>
              <a:rPr lang="es-AR" b="0" err="1"/>
              <a:t>Prediccion</a:t>
            </a:r>
            <a:r>
              <a:rPr lang="es-AR" b="0"/>
              <a:t> de Series de tiempo, IA Gen.</a:t>
            </a:r>
          </a:p>
          <a:p>
            <a:r>
              <a:rPr lang="es-AR"/>
              <a:t>Visualización de Datos:</a:t>
            </a:r>
            <a:r>
              <a:rPr lang="es-AR" b="0"/>
              <a:t> </a:t>
            </a:r>
            <a:r>
              <a:rPr lang="es-AR" b="0" err="1"/>
              <a:t>Power</a:t>
            </a:r>
            <a:r>
              <a:rPr lang="es-AR" b="0"/>
              <a:t>-BI, </a:t>
            </a:r>
            <a:r>
              <a:rPr lang="es-AR" b="0" err="1"/>
              <a:t>Tableau</a:t>
            </a:r>
            <a:endParaRPr lang="es-AR" b="0"/>
          </a:p>
          <a:p>
            <a:r>
              <a:rPr lang="es-AR"/>
              <a:t>Desarrollo:</a:t>
            </a:r>
            <a:r>
              <a:rPr lang="es-AR" b="0"/>
              <a:t> Python/</a:t>
            </a:r>
            <a:r>
              <a:rPr lang="es-AR" b="0" err="1"/>
              <a:t>PySpark</a:t>
            </a:r>
            <a:r>
              <a:rPr lang="es-AR" b="0"/>
              <a:t>, R, C++, HTML / CSS, </a:t>
            </a:r>
            <a:r>
              <a:rPr lang="es-AR" b="0" err="1"/>
              <a:t>javascript</a:t>
            </a:r>
            <a:endParaRPr lang="es-AR" b="0"/>
          </a:p>
          <a:p>
            <a:r>
              <a:rPr lang="es-AR"/>
              <a:t>DB: </a:t>
            </a:r>
            <a:r>
              <a:rPr lang="es-AR" b="0"/>
              <a:t>MySQL, SQL Server,  </a:t>
            </a:r>
            <a:r>
              <a:rPr lang="es-AR" b="0" err="1"/>
              <a:t>Postrge</a:t>
            </a:r>
            <a:r>
              <a:rPr lang="es-AR" b="0"/>
              <a:t>/</a:t>
            </a:r>
            <a:r>
              <a:rPr lang="es-AR" b="0" err="1"/>
              <a:t>PostGIS</a:t>
            </a:r>
            <a:r>
              <a:rPr lang="es-AR" b="0"/>
              <a:t>, Neo4j</a:t>
            </a:r>
          </a:p>
          <a:p>
            <a:r>
              <a:rPr lang="es-AR"/>
              <a:t>Ingeniería de redes IP, Terrestres y Satelitales. Ingeniería de Soluciones, Gerencia de Proyectos, Comercial y de Cuentas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159521" y="3717639"/>
            <a:ext cx="3106657" cy="739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s-AR" sz="1000">
                <a:solidFill>
                  <a:srgbClr val="000000"/>
                </a:solidFill>
              </a:rPr>
              <a:t>-Ingeiero Electrónico (UNLP)</a:t>
            </a:r>
          </a:p>
          <a:p>
            <a:pPr marL="171450" indent="-171450">
              <a:buChar char="•"/>
            </a:pPr>
            <a:r>
              <a:rPr lang="es-AR" sz="1000">
                <a:solidFill>
                  <a:srgbClr val="000000"/>
                </a:solidFill>
              </a:rPr>
              <a:t>-Especialista en Gerenciamiento de Empresas de Telecomunicaciones  (UdeSA)</a:t>
            </a:r>
          </a:p>
          <a:p>
            <a:pPr marL="171450" indent="-171450">
              <a:buChar char="•"/>
            </a:pPr>
            <a:r>
              <a:rPr lang="es-AR" sz="1000">
                <a:solidFill>
                  <a:srgbClr val="000000"/>
                </a:solidFill>
              </a:rPr>
              <a:t>-Especialista en Ciencia de Datos (ITBA) </a:t>
            </a:r>
          </a:p>
          <a:p>
            <a:pPr marL="171450" indent="-171450">
              <a:buChar char="•"/>
            </a:pPr>
            <a:endParaRPr lang="es-AR" sz="1000">
              <a:solidFill>
                <a:srgbClr val="000000"/>
              </a:solidFill>
            </a:endParaRPr>
          </a:p>
          <a:p>
            <a:pPr marL="171450" indent="-171450">
              <a:buChar char="•"/>
            </a:pPr>
            <a:endParaRPr lang="es-AR" sz="1000"/>
          </a:p>
          <a:p>
            <a:endParaRPr lang="es-AR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4" y="2649701"/>
            <a:ext cx="3030129" cy="6669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00">
                <a:latin typeface="Graphik"/>
              </a:rPr>
              <a:t>Más de 30 años de experiencia en grandes proyectos internacionales de infocomunicaciones y datos, con ONG y corporaciones de primera línea, a nivel mundial.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770953"/>
            <a:ext cx="1687017" cy="2722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s-AR" sz="1000">
                <a:solidFill>
                  <a:srgbClr val="000000"/>
                </a:solidFill>
                <a:latin typeface="Graphik"/>
              </a:rPr>
              <a:t>AWS Cloud Practitioner</a:t>
            </a:r>
            <a:endParaRPr lang="es-AR" sz="1000">
              <a:solidFill>
                <a:srgbClr val="000000"/>
              </a:solidFill>
            </a:endParaRPr>
          </a:p>
          <a:p>
            <a:endParaRPr lang="es-AR" sz="100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AR"/>
              <a:t>Inglés (Avanzado)</a:t>
            </a:r>
          </a:p>
          <a:p>
            <a:r>
              <a:rPr lang="es-AR"/>
              <a:t>Francés (Profesional)</a:t>
            </a:r>
          </a:p>
          <a:p>
            <a:r>
              <a:rPr lang="es-AR"/>
              <a:t>Español (Nativo)</a:t>
            </a:r>
          </a:p>
          <a:p>
            <a:endParaRPr lang="es-AR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518047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AR"/>
              <a:t>Tecnología de la </a:t>
            </a:r>
            <a:r>
              <a:rPr lang="es-AR" err="1"/>
              <a:t>Inf</a:t>
            </a:r>
            <a:r>
              <a:rPr lang="es-AR"/>
              <a:t>.</a:t>
            </a:r>
          </a:p>
          <a:p>
            <a:r>
              <a:rPr lang="es-AR"/>
              <a:t>ONU y </a:t>
            </a:r>
            <a:r>
              <a:rPr lang="es-AR" err="1"/>
              <a:t>ONG’s</a:t>
            </a:r>
            <a:endParaRPr lang="es-AR"/>
          </a:p>
          <a:p>
            <a:r>
              <a:rPr lang="es-AR"/>
              <a:t>Medios</a:t>
            </a:r>
          </a:p>
          <a:p>
            <a:endParaRPr lang="es-AR"/>
          </a:p>
          <a:p>
            <a:endParaRPr lang="es-AR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535953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AR"/>
              <a:t>Telecomunicaciones</a:t>
            </a:r>
          </a:p>
          <a:p>
            <a:r>
              <a:rPr lang="es-AR"/>
              <a:t>Logística y Suministros</a:t>
            </a:r>
          </a:p>
          <a:p>
            <a:r>
              <a:rPr lang="es-AR"/>
              <a:t>Venta minorista</a:t>
            </a:r>
          </a:p>
          <a:p>
            <a:endParaRPr lang="es-AR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s-AR" sz="1000">
              <a:latin typeface="+mn-lt"/>
            </a:endParaRP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s-AR" sz="2000">
                <a:solidFill>
                  <a:schemeClr val="bg1"/>
                </a:solidFill>
              </a:rPr>
              <a:t>Accenture </a:t>
            </a:r>
            <a:r>
              <a:rPr lang="en-US" sz="1800">
                <a:solidFill>
                  <a:schemeClr val="bg1"/>
                </a:solidFill>
              </a:rPr>
              <a:t>Technology Data &amp; AI</a:t>
            </a:r>
            <a:endParaRPr lang="es-AR" sz="2000">
              <a:solidFill>
                <a:schemeClr val="bg1"/>
              </a:solidFill>
            </a:endParaRPr>
          </a:p>
        </p:txBody>
      </p:sp>
      <p:pic>
        <p:nvPicPr>
          <p:cNvPr id="34" name="Picture 33" descr="José Luis Beltramone&#10;">
            <a:extLst>
              <a:ext uri="{FF2B5EF4-FFF2-40B4-BE49-F238E27FC236}">
                <a16:creationId xmlns:a16="http://schemas.microsoft.com/office/drawing/2014/main" id="{040C1285-1D68-484D-B3FB-7F16C39A0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90" y="793540"/>
            <a:ext cx="1459674" cy="145967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34680AC-9109-404A-9475-9070B2C8F265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91440" rIns="91440" bIns="91440" rtlCol="0" anchor="ctr"/>
          <a:lstStyle/>
          <a:p>
            <a:pPr defTabSz="228600">
              <a:spcBef>
                <a:spcPts val="100"/>
              </a:spcBef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</a:rPr>
              <a:t>Accenture – Pan </a:t>
            </a:r>
            <a:r>
              <a:rPr lang="en-US" sz="1000" b="1" dirty="0" err="1">
                <a:solidFill>
                  <a:srgbClr val="000000"/>
                </a:solidFill>
              </a:rPr>
              <a:t>Amerincan</a:t>
            </a:r>
            <a:r>
              <a:rPr lang="en-US" sz="1000" b="1" dirty="0">
                <a:solidFill>
                  <a:srgbClr val="000000"/>
                </a:solidFill>
              </a:rPr>
              <a:t> Energy (Abril 2024-)</a:t>
            </a:r>
            <a:endParaRPr lang="en-US" sz="1000" dirty="0">
              <a:solidFill>
                <a:srgbClr val="000000"/>
              </a:solidFill>
            </a:endParaRPr>
          </a:p>
          <a:p>
            <a:pPr defTabSz="228600">
              <a:spcBef>
                <a:spcPts val="100"/>
              </a:spcBef>
              <a:spcAft>
                <a:spcPts val="300"/>
              </a:spcAft>
            </a:pPr>
            <a:r>
              <a:rPr lang="en-US" sz="1000" b="1" dirty="0">
                <a:solidFill>
                  <a:srgbClr val="000000"/>
                </a:solidFill>
              </a:rPr>
              <a:t>-</a:t>
            </a:r>
            <a:r>
              <a:rPr lang="en-US" sz="1000" dirty="0" err="1">
                <a:solidFill>
                  <a:srgbClr val="000000"/>
                </a:solidFill>
              </a:rPr>
              <a:t>Científico</a:t>
            </a:r>
            <a:r>
              <a:rPr lang="en-US" sz="1000" dirty="0">
                <a:solidFill>
                  <a:srgbClr val="000000"/>
                </a:solidFill>
              </a:rPr>
              <a:t> de </a:t>
            </a:r>
            <a:r>
              <a:rPr lang="en-US" sz="1000" dirty="0" err="1">
                <a:solidFill>
                  <a:srgbClr val="000000"/>
                </a:solidFill>
              </a:rPr>
              <a:t>Datos</a:t>
            </a:r>
            <a:r>
              <a:rPr lang="en-US" sz="1000" dirty="0">
                <a:solidFill>
                  <a:srgbClr val="000000"/>
                </a:solidFill>
              </a:rPr>
              <a:t>:</a:t>
            </a:r>
            <a:r>
              <a:rPr lang="en-US" sz="1000" dirty="0">
                <a:solidFill>
                  <a:srgbClr val="A100FF"/>
                </a:solidFill>
              </a:rPr>
              <a:t> </a:t>
            </a:r>
            <a:r>
              <a:rPr lang="en-US" sz="1000" dirty="0" err="1">
                <a:solidFill>
                  <a:srgbClr val="A100FF"/>
                </a:solidFill>
              </a:rPr>
              <a:t>Despliegue</a:t>
            </a:r>
            <a:r>
              <a:rPr lang="en-US" sz="1000" dirty="0">
                <a:solidFill>
                  <a:srgbClr val="A100FF"/>
                </a:solidFill>
              </a:rPr>
              <a:t> de </a:t>
            </a:r>
            <a:r>
              <a:rPr lang="en-US" sz="1000" dirty="0" err="1">
                <a:solidFill>
                  <a:srgbClr val="A100FF"/>
                </a:solidFill>
              </a:rPr>
              <a:t>plataforma</a:t>
            </a:r>
            <a:r>
              <a:rPr lang="en-US" sz="1000" dirty="0">
                <a:solidFill>
                  <a:srgbClr val="A100FF"/>
                </a:solidFill>
              </a:rPr>
              <a:t> de ML/</a:t>
            </a:r>
            <a:r>
              <a:rPr lang="en-US" sz="1000" dirty="0" err="1">
                <a:solidFill>
                  <a:srgbClr val="A100FF"/>
                </a:solidFill>
              </a:rPr>
              <a:t>MLOps</a:t>
            </a:r>
            <a:r>
              <a:rPr lang="en-US" sz="1000" dirty="0">
                <a:solidFill>
                  <a:srgbClr val="A100FF"/>
                </a:solidFill>
              </a:rPr>
              <a:t> </a:t>
            </a:r>
            <a:r>
              <a:rPr lang="en-US" sz="1000" dirty="0" err="1">
                <a:solidFill>
                  <a:srgbClr val="A100FF"/>
                </a:solidFill>
              </a:rPr>
              <a:t>en</a:t>
            </a:r>
            <a:r>
              <a:rPr lang="en-US" sz="1000" dirty="0">
                <a:solidFill>
                  <a:srgbClr val="A100FF"/>
                </a:solidFill>
              </a:rPr>
              <a:t> la </a:t>
            </a:r>
            <a:r>
              <a:rPr lang="en-US" sz="1000" dirty="0" err="1">
                <a:solidFill>
                  <a:srgbClr val="A100FF"/>
                </a:solidFill>
              </a:rPr>
              <a:t>nube</a:t>
            </a:r>
            <a:r>
              <a:rPr lang="en-US" sz="1000" dirty="0">
                <a:solidFill>
                  <a:srgbClr val="A100FF"/>
                </a:solidFill>
              </a:rPr>
              <a:t> de AWS</a:t>
            </a:r>
          </a:p>
          <a:p>
            <a:pPr defTabSz="228600">
              <a:spcBef>
                <a:spcPts val="600"/>
              </a:spcBef>
              <a:spcAft>
                <a:spcPts val="300"/>
              </a:spcAft>
            </a:pPr>
            <a:r>
              <a:rPr lang="es-ES" sz="1000" b="1" dirty="0">
                <a:solidFill>
                  <a:srgbClr val="000000"/>
                </a:solidFill>
              </a:rPr>
              <a:t>Accenture: Global ID, DEX (April ‘23 – March ‘24)</a:t>
            </a:r>
            <a:br>
              <a:rPr lang="es-ES" sz="1000" b="1" dirty="0"/>
            </a:br>
            <a:r>
              <a:rPr lang="es-ES" sz="1000" b="1" dirty="0">
                <a:solidFill>
                  <a:srgbClr val="000000"/>
                </a:solidFill>
              </a:rPr>
              <a:t>- </a:t>
            </a:r>
            <a:r>
              <a:rPr lang="es-ES" sz="1000" dirty="0">
                <a:solidFill>
                  <a:srgbClr val="000000"/>
                </a:solidFill>
              </a:rPr>
              <a:t>Científico de datos, líder de equipo:</a:t>
            </a:r>
            <a:r>
              <a:rPr lang="es-ES" sz="1000" b="1" dirty="0">
                <a:solidFill>
                  <a:srgbClr val="000000"/>
                </a:solidFill>
              </a:rPr>
              <a:t> 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Desarrollo de una arquitectura basada en Gen AI/API para mejorar la interacción del usuario DEX, utilizando la plataforma Azure-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OpenAI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 + API Management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Service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,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Semantic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Kernel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 como orquestador y ADX &amp;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Az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 Cognitive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Search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 para datos. capa. </a:t>
            </a:r>
            <a:br>
              <a:rPr lang="es-ES" sz="1000" dirty="0">
                <a:cs typeface="Calibri" panose="020F0502020204030204" pitchFamily="34" charset="0"/>
              </a:rPr>
            </a:br>
            <a:r>
              <a:rPr lang="es-ES" sz="1000" b="1" dirty="0">
                <a:solidFill>
                  <a:srgbClr val="000000"/>
                </a:solidFill>
              </a:rPr>
              <a:t>-</a:t>
            </a:r>
            <a:r>
              <a:rPr lang="es-ES" sz="1000" dirty="0" err="1">
                <a:solidFill>
                  <a:srgbClr val="000000"/>
                </a:solidFill>
              </a:rPr>
              <a:t>Tech</a:t>
            </a:r>
            <a:r>
              <a:rPr lang="es-ES" sz="1000" dirty="0">
                <a:solidFill>
                  <a:srgbClr val="000000"/>
                </a:solidFill>
              </a:rPr>
              <a:t> </a:t>
            </a:r>
            <a:r>
              <a:rPr lang="es-ES" sz="1000" dirty="0" err="1">
                <a:solidFill>
                  <a:srgbClr val="000000"/>
                </a:solidFill>
              </a:rPr>
              <a:t>Arch</a:t>
            </a:r>
            <a:r>
              <a:rPr lang="es-ES" sz="1000" dirty="0">
                <a:solidFill>
                  <a:srgbClr val="000000"/>
                </a:solidFill>
              </a:rPr>
              <a:t>, Líder del equipo:</a:t>
            </a:r>
            <a:r>
              <a:rPr lang="es-ES" sz="1000" b="1" dirty="0">
                <a:solidFill>
                  <a:srgbClr val="000000"/>
                </a:solidFill>
              </a:rPr>
              <a:t>  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evaluación de fuentes de datos e integración con GCP Data Lake (GCP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BigQuery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) y Microsoft </a:t>
            </a:r>
            <a:r>
              <a:rPr lang="es-ES" sz="1000" dirty="0" err="1">
                <a:solidFill>
                  <a:schemeClr val="accent1"/>
                </a:solidFill>
                <a:cs typeface="Calibri"/>
              </a:rPr>
              <a:t>Fabric</a:t>
            </a:r>
            <a:r>
              <a:rPr lang="es-ES" sz="1000" dirty="0">
                <a:solidFill>
                  <a:schemeClr val="accent1"/>
                </a:solidFill>
                <a:cs typeface="Calibri"/>
              </a:rPr>
              <a:t>.</a:t>
            </a:r>
            <a:endParaRPr lang="es-AR" sz="1000" dirty="0">
              <a:solidFill>
                <a:schemeClr val="accent1"/>
              </a:solidFill>
              <a:cs typeface="Calibri"/>
            </a:endParaRPr>
          </a:p>
          <a:p>
            <a:pPr defTabSz="228600">
              <a:spcBef>
                <a:spcPts val="100"/>
              </a:spcBef>
              <a:spcAft>
                <a:spcPts val="300"/>
              </a:spcAft>
            </a:pPr>
            <a:r>
              <a:rPr lang="es-AR" sz="1000" b="1" dirty="0">
                <a:solidFill>
                  <a:srgbClr val="000000"/>
                </a:solidFill>
              </a:rPr>
              <a:t>Accenture – Walmart Data </a:t>
            </a:r>
            <a:r>
              <a:rPr lang="es-AR" sz="1000" b="1" dirty="0" err="1">
                <a:solidFill>
                  <a:srgbClr val="000000"/>
                </a:solidFill>
              </a:rPr>
              <a:t>Warehousing</a:t>
            </a:r>
            <a:r>
              <a:rPr lang="es-AR" sz="1000" b="1" dirty="0">
                <a:solidFill>
                  <a:srgbClr val="000000"/>
                </a:solidFill>
              </a:rPr>
              <a:t> </a:t>
            </a:r>
            <a:r>
              <a:rPr lang="es-AR" sz="1000" b="1" dirty="0" err="1">
                <a:solidFill>
                  <a:srgbClr val="000000"/>
                </a:solidFill>
              </a:rPr>
              <a:t>to</a:t>
            </a:r>
            <a:r>
              <a:rPr lang="es-AR" sz="1000" b="1" dirty="0">
                <a:solidFill>
                  <a:srgbClr val="000000"/>
                </a:solidFill>
              </a:rPr>
              <a:t> Big </a:t>
            </a:r>
            <a:r>
              <a:rPr lang="es-AR" sz="1000" b="1" dirty="0" err="1">
                <a:solidFill>
                  <a:srgbClr val="000000"/>
                </a:solidFill>
              </a:rPr>
              <a:t>Query</a:t>
            </a:r>
            <a:r>
              <a:rPr lang="es-AR" sz="1000" b="1" dirty="0">
                <a:solidFill>
                  <a:srgbClr val="000000"/>
                </a:solidFill>
              </a:rPr>
              <a:t> (</a:t>
            </a:r>
            <a:r>
              <a:rPr lang="es-AR" sz="1000" b="1" dirty="0" err="1">
                <a:solidFill>
                  <a:srgbClr val="000000"/>
                </a:solidFill>
              </a:rPr>
              <a:t>July</a:t>
            </a:r>
            <a:r>
              <a:rPr lang="es-AR" sz="1000" b="1" dirty="0">
                <a:solidFill>
                  <a:srgbClr val="000000"/>
                </a:solidFill>
              </a:rPr>
              <a:t> 2022 - )</a:t>
            </a:r>
            <a:br>
              <a:rPr lang="es-AR" sz="1800" b="0" i="0" u="none" strike="noStrike" kern="1200" baseline="0" dirty="0">
                <a:latin typeface="Graphik" panose="020B0503030202060203" pitchFamily="34" charset="0"/>
              </a:rPr>
            </a:br>
            <a:r>
              <a:rPr lang="es-AR" sz="1000" dirty="0">
                <a:solidFill>
                  <a:schemeClr val="accent1"/>
                </a:solidFill>
                <a:cs typeface="Calibri"/>
              </a:rPr>
              <a:t>Migración &amp; Validación de flujos  ETL desde una infraestructura ‘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on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-premise’ a la nube de Google, utilizando SQL,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Hive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, Python,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Airflow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, GCS,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DataProc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,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BigQuery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.</a:t>
            </a:r>
          </a:p>
          <a:p>
            <a:pPr rtl="0"/>
            <a:r>
              <a:rPr lang="es-AR" sz="1000" b="1" dirty="0">
                <a:solidFill>
                  <a:srgbClr val="000000"/>
                </a:solidFill>
              </a:rPr>
              <a:t>Accenture – American Tire </a:t>
            </a:r>
            <a:r>
              <a:rPr lang="es-AR" sz="1000" b="1" dirty="0" err="1">
                <a:solidFill>
                  <a:srgbClr val="000000"/>
                </a:solidFill>
              </a:rPr>
              <a:t>Distributors</a:t>
            </a:r>
            <a:r>
              <a:rPr lang="es-AR" sz="1000" b="1" dirty="0">
                <a:solidFill>
                  <a:srgbClr val="000000"/>
                </a:solidFill>
              </a:rPr>
              <a:t> (</a:t>
            </a:r>
            <a:r>
              <a:rPr lang="es-AR" sz="1000" b="1" dirty="0" err="1">
                <a:solidFill>
                  <a:srgbClr val="000000"/>
                </a:solidFill>
              </a:rPr>
              <a:t>Apr</a:t>
            </a:r>
            <a:r>
              <a:rPr lang="es-AR" sz="1000" b="1" dirty="0">
                <a:solidFill>
                  <a:srgbClr val="000000"/>
                </a:solidFill>
              </a:rPr>
              <a:t> – Jun 2022) </a:t>
            </a:r>
            <a:br>
              <a:rPr lang="es-AR" sz="1800" b="0" i="0" u="none" strike="noStrike" kern="1200" baseline="0" dirty="0">
                <a:latin typeface="Graphik" panose="020B0503030202060203" pitchFamily="34" charset="0"/>
              </a:rPr>
            </a:br>
            <a:r>
              <a:rPr lang="es-AR" sz="1000" dirty="0">
                <a:solidFill>
                  <a:schemeClr val="accent1"/>
                </a:solidFill>
                <a:cs typeface="Calibri"/>
              </a:rPr>
              <a:t>Visualización de datos en tableros de control con SQL Server,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PowerQuery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 &amp; DAX en MS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Power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 BI </a:t>
            </a:r>
          </a:p>
          <a:p>
            <a:pPr rtl="0"/>
            <a:r>
              <a:rPr lang="es-AR" sz="1000" b="1" dirty="0">
                <a:solidFill>
                  <a:srgbClr val="000000"/>
                </a:solidFill>
              </a:rPr>
              <a:t>Accenture – </a:t>
            </a:r>
            <a:r>
              <a:rPr lang="es-AR" sz="1000" b="1" dirty="0" err="1">
                <a:solidFill>
                  <a:srgbClr val="000000"/>
                </a:solidFill>
              </a:rPr>
              <a:t>VMWare</a:t>
            </a:r>
            <a:r>
              <a:rPr lang="es-AR" sz="1000" b="1" dirty="0">
                <a:solidFill>
                  <a:srgbClr val="000000"/>
                </a:solidFill>
              </a:rPr>
              <a:t> (March 2022)</a:t>
            </a:r>
            <a:br>
              <a:rPr lang="es-AR" sz="1800" b="0" i="0" u="none" strike="noStrike" kern="1200" baseline="0" dirty="0">
                <a:latin typeface="Graphik" panose="020B0503030202060203" pitchFamily="34" charset="0"/>
              </a:rPr>
            </a:br>
            <a:r>
              <a:rPr lang="es-AR" sz="1000" dirty="0">
                <a:solidFill>
                  <a:schemeClr val="accent1"/>
                </a:solidFill>
                <a:cs typeface="Calibri"/>
              </a:rPr>
              <a:t>Gestión del proyecto para la creación de flujos de ETL y de indicadores clave de gestión. </a:t>
            </a:r>
          </a:p>
          <a:p>
            <a:pPr rtl="0"/>
            <a:r>
              <a:rPr lang="es-AR" sz="1000" b="1" dirty="0">
                <a:solidFill>
                  <a:srgbClr val="000000"/>
                </a:solidFill>
              </a:rPr>
              <a:t>Accenture – Mercado Libre (</a:t>
            </a:r>
            <a:r>
              <a:rPr lang="es-AR" sz="1000" b="1" dirty="0" err="1">
                <a:solidFill>
                  <a:srgbClr val="000000"/>
                </a:solidFill>
              </a:rPr>
              <a:t>Dec</a:t>
            </a:r>
            <a:r>
              <a:rPr lang="es-AR" sz="1000" b="1" dirty="0">
                <a:solidFill>
                  <a:srgbClr val="000000"/>
                </a:solidFill>
              </a:rPr>
              <a:t> – 2021 - Feb 2022)</a:t>
            </a:r>
            <a:br>
              <a:rPr lang="es-AR" sz="1800" b="0" i="0" u="none" strike="noStrike" kern="1200" baseline="0" dirty="0">
                <a:latin typeface="Graphik" panose="020B0503030202060203" pitchFamily="34" charset="0"/>
              </a:rPr>
            </a:br>
            <a:r>
              <a:rPr lang="es-AR" sz="1000" dirty="0">
                <a:solidFill>
                  <a:schemeClr val="accent1"/>
                </a:solidFill>
                <a:cs typeface="Calibri"/>
              </a:rPr>
              <a:t>Libro de rutinas de soporte para la ejecución de flujos de ETL</a:t>
            </a:r>
          </a:p>
          <a:p>
            <a:pPr algn="just" rtl="0"/>
            <a:r>
              <a:rPr lang="es-AR" sz="1000" b="1" dirty="0">
                <a:solidFill>
                  <a:srgbClr val="000000"/>
                </a:solidFill>
              </a:rPr>
              <a:t>Accenture – </a:t>
            </a:r>
            <a:r>
              <a:rPr lang="es-AR" sz="1000" b="1" dirty="0" err="1">
                <a:solidFill>
                  <a:srgbClr val="000000"/>
                </a:solidFill>
              </a:rPr>
              <a:t>NextEra</a:t>
            </a:r>
            <a:r>
              <a:rPr lang="es-AR" sz="1000" b="1" dirty="0">
                <a:solidFill>
                  <a:srgbClr val="000000"/>
                </a:solidFill>
              </a:rPr>
              <a:t> (</a:t>
            </a:r>
            <a:r>
              <a:rPr lang="es-AR" sz="1000" b="1" dirty="0" err="1">
                <a:solidFill>
                  <a:srgbClr val="000000"/>
                </a:solidFill>
              </a:rPr>
              <a:t>Aug</a:t>
            </a:r>
            <a:r>
              <a:rPr lang="es-AR" sz="1000" b="1" dirty="0">
                <a:solidFill>
                  <a:srgbClr val="000000"/>
                </a:solidFill>
              </a:rPr>
              <a:t> – Nov 2021) </a:t>
            </a:r>
          </a:p>
          <a:p>
            <a:pPr algn="just" rtl="0"/>
            <a:r>
              <a:rPr lang="es-AR" sz="1000" dirty="0">
                <a:solidFill>
                  <a:schemeClr val="accent1"/>
                </a:solidFill>
                <a:cs typeface="Calibri"/>
              </a:rPr>
              <a:t>Ingeniería de datos para la migración de un ‘Data Lake’ y Data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warehouse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 ‘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on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-premise’ a la nube de AWS.</a:t>
            </a:r>
          </a:p>
          <a:p>
            <a:pPr algn="just" rtl="0"/>
            <a:endParaRPr lang="es-AR" sz="1800" b="0" i="0" u="none" strike="noStrike" kern="1200" baseline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 algn="just" rtl="0"/>
            <a:r>
              <a:rPr lang="es-AR" sz="1000" b="1" dirty="0">
                <a:solidFill>
                  <a:srgbClr val="000000"/>
                </a:solidFill>
              </a:rPr>
              <a:t>Entidad Binacional </a:t>
            </a:r>
            <a:r>
              <a:rPr lang="es-AR" sz="1000" b="1" dirty="0" err="1">
                <a:solidFill>
                  <a:srgbClr val="000000"/>
                </a:solidFill>
              </a:rPr>
              <a:t>Yacyretá</a:t>
            </a:r>
            <a:r>
              <a:rPr lang="es-AR" sz="1000" b="1" dirty="0">
                <a:solidFill>
                  <a:srgbClr val="000000"/>
                </a:solidFill>
              </a:rPr>
              <a:t> (2018 -2021)</a:t>
            </a:r>
          </a:p>
          <a:p>
            <a:pPr algn="just" rtl="0">
              <a:spcAft>
                <a:spcPts val="200"/>
              </a:spcAft>
            </a:pPr>
            <a:r>
              <a:rPr lang="es-AR" sz="1000" dirty="0">
                <a:solidFill>
                  <a:schemeClr val="accent1"/>
                </a:solidFill>
                <a:cs typeface="Calibri"/>
              </a:rPr>
              <a:t>-Predicción de la capacidad de generación de energía con algoritmos de Machine </a:t>
            </a:r>
            <a:r>
              <a:rPr lang="es-AR" sz="1000" dirty="0" err="1">
                <a:solidFill>
                  <a:schemeClr val="accent1"/>
                </a:solidFill>
                <a:cs typeface="Calibri"/>
              </a:rPr>
              <a:t>Learning</a:t>
            </a:r>
            <a:r>
              <a:rPr lang="es-AR" sz="1000" dirty="0">
                <a:solidFill>
                  <a:schemeClr val="accent1"/>
                </a:solidFill>
                <a:cs typeface="Calibri"/>
              </a:rPr>
              <a:t>, sobre datos adquiridos del  sistema SCADA.</a:t>
            </a:r>
          </a:p>
          <a:p>
            <a:pPr algn="just" rtl="0"/>
            <a:r>
              <a:rPr lang="es-AR" sz="1000" dirty="0">
                <a:solidFill>
                  <a:schemeClr val="accent1"/>
                </a:solidFill>
                <a:cs typeface="Calibri"/>
              </a:rPr>
              <a:t>-Ingeniería, Proceso de Oferta y Asignación, Gestión del Proyecto de Implementación, para la red de Comunicaciones SOTR (Sistema de Operación en Tiempo Real) con Cammesa y Transener y su migración tecnológica a TCP/IP, con reducción del costo operative del 20%.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98820830-76BE-45F4-A595-38B7B2C382EA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EXPERIENCIA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7537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  <MediaLengthInSeconds xmlns="9e5dff9b-ec84-400a-8d4d-02e9695663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7B172E-CD09-404A-9D73-CF6EC1E50CB2}">
  <ds:schemaRefs>
    <ds:schemaRef ds:uri="0c88877e-19b1-4bb1-9a6e-cfa46a7e2bfe"/>
    <ds:schemaRef ds:uri="6554e7c6-1e7a-4761-a432-d0e1608eb8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6A93A2-4641-4B82-8F02-C43084FF112E}"/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6_Office Theme</vt:lpstr>
      <vt:lpstr>ThemeACCENture</vt:lpstr>
      <vt:lpstr>ThemeACN2</vt:lpstr>
      <vt:lpstr>PowerPoint Presentation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revision>28</cp:revision>
  <dcterms:modified xsi:type="dcterms:W3CDTF">2024-09-27T18:58:25Z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  <property fmtid="{D5CDD505-2E9C-101B-9397-08002B2CF9AE}" pid="15" name="ComplianceAssetId">
    <vt:lpwstr/>
  </property>
  <property fmtid="{D5CDD505-2E9C-101B-9397-08002B2CF9AE}" pid="16" name="_ExtendedDescription">
    <vt:lpwstr/>
  </property>
  <property fmtid="{D5CDD505-2E9C-101B-9397-08002B2CF9AE}" pid="17" name="xd_Signature">
    <vt:bool>false</vt:bool>
  </property>
  <property fmtid="{D5CDD505-2E9C-101B-9397-08002B2CF9AE}" pid="18" name="TriggerFlowInfo">
    <vt:lpwstr/>
  </property>
</Properties>
</file>