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0" r:id="rId4"/>
    <p:sldMasterId id="2147483760" r:id="rId5"/>
    <p:sldMasterId id="2147483812" r:id="rId6"/>
  </p:sldMasterIdLst>
  <p:notesMasterIdLst>
    <p:notesMasterId r:id="rId9"/>
  </p:notesMasterIdLst>
  <p:handoutMasterIdLst>
    <p:handoutMasterId r:id="rId10"/>
  </p:handoutMasterIdLst>
  <p:sldIdLst>
    <p:sldId id="2076136212" r:id="rId7"/>
    <p:sldId id="2076136215" r:id="rId8"/>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3" pos="3772" userDrawn="1">
          <p15:clr>
            <a:srgbClr val="A4A3A4"/>
          </p15:clr>
        </p15:guide>
        <p15:guide id="6" pos="3931" userDrawn="1">
          <p15:clr>
            <a:srgbClr val="A4A3A4"/>
          </p15:clr>
        </p15:guide>
        <p15:guide id="7" orient="horz" pos="2160">
          <p15:clr>
            <a:srgbClr val="A4A3A4"/>
          </p15:clr>
        </p15:guide>
        <p15:guide id="8" pos="5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ermann, Uta" initials="SU" lastIdx="8" clrIdx="0">
    <p:extLst>
      <p:ext uri="{19B8F6BF-5375-455C-9EA6-DF929625EA0E}">
        <p15:presenceInfo xmlns:p15="http://schemas.microsoft.com/office/powerpoint/2012/main" userId="S-1-5-21-329068152-1454471165-1417001333-4183212" providerId="AD"/>
      </p:ext>
    </p:extLst>
  </p:cmAuthor>
  <p:cmAuthor id="2" name="Habel, Till" initials="HT" lastIdx="5" clrIdx="1">
    <p:extLst>
      <p:ext uri="{19B8F6BF-5375-455C-9EA6-DF929625EA0E}">
        <p15:presenceInfo xmlns:p15="http://schemas.microsoft.com/office/powerpoint/2012/main" userId="S-1-5-21-329068152-1454471165-1417001333-7653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969696"/>
    <a:srgbClr val="5A5A5A"/>
    <a:srgbClr val="002266"/>
    <a:srgbClr val="FFB500"/>
    <a:srgbClr val="FFFFFF"/>
    <a:srgbClr val="000000"/>
    <a:srgbClr val="C9F3FF"/>
    <a:srgbClr val="F2F2F2"/>
    <a:srgbClr val="008CB3"/>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55453-7DE7-424B-B659-74B879BC96E9}" v="12" dt="2026-04-17T14:26:53.5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32"/>
      </p:cViewPr>
      <p:guideLst>
        <p:guide pos="3840"/>
        <p:guide pos="3772"/>
        <p:guide pos="3931"/>
        <p:guide orient="horz" pos="2160"/>
        <p:guide pos="59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covino, Sergio" userId="3398d792-7830-49f5-aa88-60fa93dd7d9e" providerId="ADAL" clId="{F16504F9-1C92-4EEE-AEF9-3FBF6CA2B890}"/>
    <pc:docChg chg="undo custSel modSld">
      <pc:chgData name="Iacovino, Sergio" userId="3398d792-7830-49f5-aa88-60fa93dd7d9e" providerId="ADAL" clId="{F16504F9-1C92-4EEE-AEF9-3FBF6CA2B890}" dt="2026-04-17T14:34:01.148" v="621" actId="20577"/>
      <pc:docMkLst>
        <pc:docMk/>
      </pc:docMkLst>
      <pc:sldChg chg="addSp delSp modSp mod">
        <pc:chgData name="Iacovino, Sergio" userId="3398d792-7830-49f5-aa88-60fa93dd7d9e" providerId="ADAL" clId="{F16504F9-1C92-4EEE-AEF9-3FBF6CA2B890}" dt="2026-04-17T14:34:01.148" v="621" actId="20577"/>
        <pc:sldMkLst>
          <pc:docMk/>
          <pc:sldMk cId="3747954151" sldId="2076136212"/>
        </pc:sldMkLst>
        <pc:spChg chg="mod">
          <ac:chgData name="Iacovino, Sergio" userId="3398d792-7830-49f5-aa88-60fa93dd7d9e" providerId="ADAL" clId="{F16504F9-1C92-4EEE-AEF9-3FBF6CA2B890}" dt="2026-04-17T14:33:23.392" v="601" actId="20577"/>
          <ac:spMkLst>
            <pc:docMk/>
            <pc:sldMk cId="3747954151" sldId="2076136212"/>
            <ac:spMk id="3" creationId="{FBD5EC0B-4D54-E441-7F31-D4C98525F636}"/>
          </ac:spMkLst>
        </pc:spChg>
        <pc:spChg chg="mod">
          <ac:chgData name="Iacovino, Sergio" userId="3398d792-7830-49f5-aa88-60fa93dd7d9e" providerId="ADAL" clId="{F16504F9-1C92-4EEE-AEF9-3FBF6CA2B890}" dt="2026-04-17T14:25:56.677" v="539" actId="108"/>
          <ac:spMkLst>
            <pc:docMk/>
            <pc:sldMk cId="3747954151" sldId="2076136212"/>
            <ac:spMk id="10" creationId="{71135C8A-7227-CEE1-EE37-44A1CF8EE4F1}"/>
          </ac:spMkLst>
        </pc:spChg>
        <pc:spChg chg="mod">
          <ac:chgData name="Iacovino, Sergio" userId="3398d792-7830-49f5-aa88-60fa93dd7d9e" providerId="ADAL" clId="{F16504F9-1C92-4EEE-AEF9-3FBF6CA2B890}" dt="2026-04-17T14:28:15.090" v="562" actId="14100"/>
          <ac:spMkLst>
            <pc:docMk/>
            <pc:sldMk cId="3747954151" sldId="2076136212"/>
            <ac:spMk id="12" creationId="{C99CBEA1-1572-AE45-9D04-FA330F835AD4}"/>
          </ac:spMkLst>
        </pc:spChg>
        <pc:spChg chg="mod">
          <ac:chgData name="Iacovino, Sergio" userId="3398d792-7830-49f5-aa88-60fa93dd7d9e" providerId="ADAL" clId="{F16504F9-1C92-4EEE-AEF9-3FBF6CA2B890}" dt="2026-04-17T14:33:11.857" v="590" actId="14100"/>
          <ac:spMkLst>
            <pc:docMk/>
            <pc:sldMk cId="3747954151" sldId="2076136212"/>
            <ac:spMk id="23" creationId="{CB125A6B-6104-78D8-2910-B3EC4F868DBE}"/>
          </ac:spMkLst>
        </pc:spChg>
        <pc:spChg chg="mod">
          <ac:chgData name="Iacovino, Sergio" userId="3398d792-7830-49f5-aa88-60fa93dd7d9e" providerId="ADAL" clId="{F16504F9-1C92-4EEE-AEF9-3FBF6CA2B890}" dt="2026-04-17T14:31:52.597" v="589" actId="14100"/>
          <ac:spMkLst>
            <pc:docMk/>
            <pc:sldMk cId="3747954151" sldId="2076136212"/>
            <ac:spMk id="26" creationId="{7AB14698-C111-E862-4B03-3CEA5E264033}"/>
          </ac:spMkLst>
        </pc:spChg>
        <pc:spChg chg="mod">
          <ac:chgData name="Iacovino, Sergio" userId="3398d792-7830-49f5-aa88-60fa93dd7d9e" providerId="ADAL" clId="{F16504F9-1C92-4EEE-AEF9-3FBF6CA2B890}" dt="2026-04-17T14:31:37.705" v="586" actId="1076"/>
          <ac:spMkLst>
            <pc:docMk/>
            <pc:sldMk cId="3747954151" sldId="2076136212"/>
            <ac:spMk id="28" creationId="{72A9259A-DC95-7929-2407-42F74D35B297}"/>
          </ac:spMkLst>
        </pc:spChg>
        <pc:spChg chg="mod">
          <ac:chgData name="Iacovino, Sergio" userId="3398d792-7830-49f5-aa88-60fa93dd7d9e" providerId="ADAL" clId="{F16504F9-1C92-4EEE-AEF9-3FBF6CA2B890}" dt="2026-04-17T14:30:55.361" v="581" actId="1076"/>
          <ac:spMkLst>
            <pc:docMk/>
            <pc:sldMk cId="3747954151" sldId="2076136212"/>
            <ac:spMk id="29" creationId="{1B6E0D27-DFC9-0BED-62DE-B980A526E12C}"/>
          </ac:spMkLst>
        </pc:spChg>
        <pc:spChg chg="mod">
          <ac:chgData name="Iacovino, Sergio" userId="3398d792-7830-49f5-aa88-60fa93dd7d9e" providerId="ADAL" clId="{F16504F9-1C92-4EEE-AEF9-3FBF6CA2B890}" dt="2026-04-17T14:31:22.366" v="584" actId="1076"/>
          <ac:spMkLst>
            <pc:docMk/>
            <pc:sldMk cId="3747954151" sldId="2076136212"/>
            <ac:spMk id="35" creationId="{CAE6442A-7F7A-7520-E012-744876DD2E5B}"/>
          </ac:spMkLst>
        </pc:spChg>
        <pc:spChg chg="mod">
          <ac:chgData name="Iacovino, Sergio" userId="3398d792-7830-49f5-aa88-60fa93dd7d9e" providerId="ADAL" clId="{F16504F9-1C92-4EEE-AEF9-3FBF6CA2B890}" dt="2026-04-17T14:30:31.483" v="578" actId="1076"/>
          <ac:spMkLst>
            <pc:docMk/>
            <pc:sldMk cId="3747954151" sldId="2076136212"/>
            <ac:spMk id="37" creationId="{E2E6DC0A-D16B-3A77-6077-F57069BD7EDC}"/>
          </ac:spMkLst>
        </pc:spChg>
        <pc:spChg chg="mod">
          <ac:chgData name="Iacovino, Sergio" userId="3398d792-7830-49f5-aa88-60fa93dd7d9e" providerId="ADAL" clId="{F16504F9-1C92-4EEE-AEF9-3FBF6CA2B890}" dt="2026-04-17T14:34:01.148" v="621" actId="20577"/>
          <ac:spMkLst>
            <pc:docMk/>
            <pc:sldMk cId="3747954151" sldId="2076136212"/>
            <ac:spMk id="47" creationId="{88916E2A-4E45-86B5-A986-94589B9AFC66}"/>
          </ac:spMkLst>
        </pc:spChg>
        <pc:spChg chg="mod">
          <ac:chgData name="Iacovino, Sergio" userId="3398d792-7830-49f5-aa88-60fa93dd7d9e" providerId="ADAL" clId="{F16504F9-1C92-4EEE-AEF9-3FBF6CA2B890}" dt="2026-04-17T14:31:09.221" v="583" actId="1076"/>
          <ac:spMkLst>
            <pc:docMk/>
            <pc:sldMk cId="3747954151" sldId="2076136212"/>
            <ac:spMk id="48" creationId="{CE6DAE4F-8226-621D-1573-393F25103FEA}"/>
          </ac:spMkLst>
        </pc:spChg>
        <pc:spChg chg="mod">
          <ac:chgData name="Iacovino, Sergio" userId="3398d792-7830-49f5-aa88-60fa93dd7d9e" providerId="ADAL" clId="{F16504F9-1C92-4EEE-AEF9-3FBF6CA2B890}" dt="2026-04-17T14:31:31.783" v="585" actId="1076"/>
          <ac:spMkLst>
            <pc:docMk/>
            <pc:sldMk cId="3747954151" sldId="2076136212"/>
            <ac:spMk id="49" creationId="{67B10EEE-BF1A-4587-0DE7-065C396FC396}"/>
          </ac:spMkLst>
        </pc:spChg>
        <pc:spChg chg="add del mod">
          <ac:chgData name="Iacovino, Sergio" userId="3398d792-7830-49f5-aa88-60fa93dd7d9e" providerId="ADAL" clId="{F16504F9-1C92-4EEE-AEF9-3FBF6CA2B890}" dt="2026-04-17T14:30:44.830" v="580" actId="1076"/>
          <ac:spMkLst>
            <pc:docMk/>
            <pc:sldMk cId="3747954151" sldId="2076136212"/>
            <ac:spMk id="50" creationId="{F5B1C679-DFF5-C42C-3C67-B3D6B74019FF}"/>
          </ac:spMkLst>
        </pc:spChg>
        <pc:spChg chg="mod">
          <ac:chgData name="Iacovino, Sergio" userId="3398d792-7830-49f5-aa88-60fa93dd7d9e" providerId="ADAL" clId="{F16504F9-1C92-4EEE-AEF9-3FBF6CA2B890}" dt="2026-04-17T14:28:00.385" v="560" actId="14100"/>
          <ac:spMkLst>
            <pc:docMk/>
            <pc:sldMk cId="3747954151" sldId="2076136212"/>
            <ac:spMk id="51" creationId="{72302F36-E7BC-42A3-0A43-CDD2E2AB577E}"/>
          </ac:spMkLst>
        </pc:spChg>
      </pc:sldChg>
      <pc:sldChg chg="modSp mod">
        <pc:chgData name="Iacovino, Sergio" userId="3398d792-7830-49f5-aa88-60fa93dd7d9e" providerId="ADAL" clId="{F16504F9-1C92-4EEE-AEF9-3FBF6CA2B890}" dt="2026-04-17T14:33:40.113" v="620" actId="20577"/>
        <pc:sldMkLst>
          <pc:docMk/>
          <pc:sldMk cId="3487537606" sldId="2076136215"/>
        </pc:sldMkLst>
        <pc:spChg chg="mod">
          <ac:chgData name="Iacovino, Sergio" userId="3398d792-7830-49f5-aa88-60fa93dd7d9e" providerId="ADAL" clId="{F16504F9-1C92-4EEE-AEF9-3FBF6CA2B890}" dt="2026-04-17T14:33:40.113" v="620" actId="20577"/>
          <ac:spMkLst>
            <pc:docMk/>
            <pc:sldMk cId="3487537606" sldId="2076136215"/>
            <ac:spMk id="3" creationId="{FBD5EC0B-4D54-E441-7F31-D4C98525F636}"/>
          </ac:spMkLst>
        </pc:spChg>
        <pc:spChg chg="mod">
          <ac:chgData name="Iacovino, Sergio" userId="3398d792-7830-49f5-aa88-60fa93dd7d9e" providerId="ADAL" clId="{F16504F9-1C92-4EEE-AEF9-3FBF6CA2B890}" dt="2026-04-17T14:18:12.477" v="522" actId="1076"/>
          <ac:spMkLst>
            <pc:docMk/>
            <pc:sldMk cId="3487537606" sldId="2076136215"/>
            <ac:spMk id="11" creationId="{0E58DF97-0E0E-C3A8-6E0E-C6ED1FC42713}"/>
          </ac:spMkLst>
        </pc:spChg>
        <pc:spChg chg="mod">
          <ac:chgData name="Iacovino, Sergio" userId="3398d792-7830-49f5-aa88-60fa93dd7d9e" providerId="ADAL" clId="{F16504F9-1C92-4EEE-AEF9-3FBF6CA2B890}" dt="2026-04-17T14:14:07.170" v="491" actId="14100"/>
          <ac:spMkLst>
            <pc:docMk/>
            <pc:sldMk cId="3487537606" sldId="2076136215"/>
            <ac:spMk id="12" creationId="{C99CBEA1-1572-AE45-9D04-FA330F835AD4}"/>
          </ac:spMkLst>
        </pc:spChg>
        <pc:spChg chg="mod">
          <ac:chgData name="Iacovino, Sergio" userId="3398d792-7830-49f5-aa88-60fa93dd7d9e" providerId="ADAL" clId="{F16504F9-1C92-4EEE-AEF9-3FBF6CA2B890}" dt="2026-04-17T14:18:49.319" v="530" actId="14100"/>
          <ac:spMkLst>
            <pc:docMk/>
            <pc:sldMk cId="3487537606" sldId="2076136215"/>
            <ac:spMk id="23" creationId="{CB125A6B-6104-78D8-2910-B3EC4F868DBE}"/>
          </ac:spMkLst>
        </pc:spChg>
        <pc:spChg chg="mod">
          <ac:chgData name="Iacovino, Sergio" userId="3398d792-7830-49f5-aa88-60fa93dd7d9e" providerId="ADAL" clId="{F16504F9-1C92-4EEE-AEF9-3FBF6CA2B890}" dt="2026-04-17T14:18:43.362" v="529" actId="14100"/>
          <ac:spMkLst>
            <pc:docMk/>
            <pc:sldMk cId="3487537606" sldId="2076136215"/>
            <ac:spMk id="26" creationId="{7AB14698-C111-E862-4B03-3CEA5E264033}"/>
          </ac:spMkLst>
        </pc:spChg>
        <pc:spChg chg="mod">
          <ac:chgData name="Iacovino, Sergio" userId="3398d792-7830-49f5-aa88-60fa93dd7d9e" providerId="ADAL" clId="{F16504F9-1C92-4EEE-AEF9-3FBF6CA2B890}" dt="2026-04-17T14:17:13.719" v="506" actId="1076"/>
          <ac:spMkLst>
            <pc:docMk/>
            <pc:sldMk cId="3487537606" sldId="2076136215"/>
            <ac:spMk id="29" creationId="{1B6E0D27-DFC9-0BED-62DE-B980A526E12C}"/>
          </ac:spMkLst>
        </pc:spChg>
        <pc:spChg chg="mod">
          <ac:chgData name="Iacovino, Sergio" userId="3398d792-7830-49f5-aa88-60fa93dd7d9e" providerId="ADAL" clId="{F16504F9-1C92-4EEE-AEF9-3FBF6CA2B890}" dt="2026-04-17T14:14:53.422" v="498" actId="1076"/>
          <ac:spMkLst>
            <pc:docMk/>
            <pc:sldMk cId="3487537606" sldId="2076136215"/>
            <ac:spMk id="37" creationId="{E2E6DC0A-D16B-3A77-6077-F57069BD7EDC}"/>
          </ac:spMkLst>
        </pc:spChg>
        <pc:spChg chg="mod">
          <ac:chgData name="Iacovino, Sergio" userId="3398d792-7830-49f5-aa88-60fa93dd7d9e" providerId="ADAL" clId="{F16504F9-1C92-4EEE-AEF9-3FBF6CA2B890}" dt="2026-04-17T14:26:12.014" v="540" actId="20577"/>
          <ac:spMkLst>
            <pc:docMk/>
            <pc:sldMk cId="3487537606" sldId="2076136215"/>
            <ac:spMk id="47" creationId="{88916E2A-4E45-86B5-A986-94589B9AFC66}"/>
          </ac:spMkLst>
        </pc:spChg>
        <pc:spChg chg="mod">
          <ac:chgData name="Iacovino, Sergio" userId="3398d792-7830-49f5-aa88-60fa93dd7d9e" providerId="ADAL" clId="{F16504F9-1C92-4EEE-AEF9-3FBF6CA2B890}" dt="2026-04-17T14:17:26.551" v="508" actId="1076"/>
          <ac:spMkLst>
            <pc:docMk/>
            <pc:sldMk cId="3487537606" sldId="2076136215"/>
            <ac:spMk id="50" creationId="{F5B1C679-DFF5-C42C-3C67-B3D6B74019FF}"/>
          </ac:spMkLst>
        </pc:spChg>
        <pc:spChg chg="mod">
          <ac:chgData name="Iacovino, Sergio" userId="3398d792-7830-49f5-aa88-60fa93dd7d9e" providerId="ADAL" clId="{F16504F9-1C92-4EEE-AEF9-3FBF6CA2B890}" dt="2026-04-17T14:13:57.275" v="490" actId="14100"/>
          <ac:spMkLst>
            <pc:docMk/>
            <pc:sldMk cId="3487537606" sldId="2076136215"/>
            <ac:spMk id="51" creationId="{72302F36-E7BC-42A3-0A43-CDD2E2AB577E}"/>
          </ac:spMkLst>
        </pc:spChg>
        <pc:spChg chg="mod">
          <ac:chgData name="Iacovino, Sergio" userId="3398d792-7830-49f5-aa88-60fa93dd7d9e" providerId="ADAL" clId="{F16504F9-1C92-4EEE-AEF9-3FBF6CA2B890}" dt="2026-04-17T14:05:48.520" v="304" actId="20577"/>
          <ac:spMkLst>
            <pc:docMk/>
            <pc:sldMk cId="3487537606" sldId="2076136215"/>
            <ac:spMk id="53" creationId="{30377A8A-69CD-5F83-DA2E-98B9A486EC39}"/>
          </ac:spMkLst>
        </pc:spChg>
        <pc:spChg chg="mod">
          <ac:chgData name="Iacovino, Sergio" userId="3398d792-7830-49f5-aa88-60fa93dd7d9e" providerId="ADAL" clId="{F16504F9-1C92-4EEE-AEF9-3FBF6CA2B890}" dt="2026-04-17T14:25:39.625" v="536" actId="20577"/>
          <ac:spMkLst>
            <pc:docMk/>
            <pc:sldMk cId="3487537606" sldId="2076136215"/>
            <ac:spMk id="67" creationId="{C6A51E4F-7155-0013-A033-1BFC0B3D9F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Arial" panose="020B0604020202020204" pitchFamily="34" charset="0"/>
              </a:rPr>
              <a:t>6/23/2026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D39D084F-DC83-4EB0-8CED-52E9AA3ECA1C}" type="datetimeFigureOut">
              <a:rPr lang="en-US" smtClean="0"/>
              <a:pPr/>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AC157E0A-F321-48DC-AF94-681D4DCF344D}" type="slidenum">
              <a:rPr lang="en-US" smtClean="0"/>
              <a:pPr/>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2</a:t>
            </a:fld>
            <a:endParaRPr lang="en-US"/>
          </a:p>
        </p:txBody>
      </p:sp>
    </p:spTree>
    <p:extLst>
      <p:ext uri="{BB962C8B-B14F-4D97-AF65-F5344CB8AC3E}">
        <p14:creationId xmlns:p14="http://schemas.microsoft.com/office/powerpoint/2010/main" val="1211928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err="1"/>
              <a:t>Presentation</a:t>
            </a:r>
            <a:r>
              <a:rPr lang="de-DE"/>
              <a:t> Title</a:t>
            </a:r>
            <a:endParaRPr lang="en-GB"/>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spTree>
    <p:extLst>
      <p:ext uri="{BB962C8B-B14F-4D97-AF65-F5344CB8AC3E}">
        <p14:creationId xmlns:p14="http://schemas.microsoft.com/office/powerpoint/2010/main" val="27639330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2" name="Rectangle 12">
            <a:extLst>
              <a:ext uri="{FF2B5EF4-FFF2-40B4-BE49-F238E27FC236}">
                <a16:creationId xmlns:a16="http://schemas.microsoft.com/office/drawing/2014/main" id="{47D7F098-D91A-436B-8577-8921654BC31E}"/>
              </a:ext>
            </a:extLst>
          </p:cNvPr>
          <p:cNvSpPr>
            <a:spLocks noChangeArrowheads="1"/>
          </p:cNvSpPr>
          <p:nvPr userDrawn="1"/>
        </p:nvSpPr>
        <p:spPr bwMode="auto">
          <a:xfrm>
            <a:off x="82490" y="5530106"/>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LANGUAGES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333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mplate_Español">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s-CO"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hasCustomPrompt="1"/>
          </p:nvPr>
        </p:nvSpPr>
        <p:spPr>
          <a:xfrm>
            <a:off x="642938" y="88223"/>
            <a:ext cx="1336675" cy="1673225"/>
          </a:xfrm>
        </p:spPr>
        <p:txBody>
          <a:bodyPr/>
          <a:lstStyle>
            <a:lvl1pPr>
              <a:defRPr/>
            </a:lvl1pPr>
          </a:lstStyle>
          <a:p>
            <a:r>
              <a:rPr lang="es-CO" noProof="0"/>
              <a:t>Clic para adjuntar la imagen</a:t>
            </a:r>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s-CO"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45244" y="2132513"/>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ÁREAS DE CONOCIMIENTO</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EXPERIENCIA SELECCIONADA</a:t>
            </a:r>
            <a:endParaRPr kumimoji="0" lang="es-CO"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1954381" cy="276999"/>
          </a:xfrm>
          <a:prstGeom prst="rect">
            <a:avLst/>
          </a:prstGeom>
        </p:spPr>
        <p:txBody>
          <a:bodyPr wrap="none">
            <a:spAutoFit/>
          </a:bodyPr>
          <a:lstStyle/>
          <a:p>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PERFIL PROFESIONAL </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237237" y="2237951"/>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079482" y="2237953"/>
            <a:ext cx="0"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311323" y="2265418"/>
            <a:ext cx="1"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Nombre Apellido</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Rol</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userDrawn="1">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s-CO" noProof="0"/>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userDrawn="1">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s-CO" noProof="0"/>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s-CO" noProof="0"/>
              <a:t>Click to edit Master text styles</a:t>
            </a:r>
          </a:p>
          <a:p>
            <a:pPr lvl="1"/>
            <a:r>
              <a:rPr lang="es-CO" noProof="0"/>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CO" noProof="0"/>
              <a:t>Major </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11912"/>
          </a:xfrm>
          <a:prstGeom prst="rect">
            <a:avLst/>
          </a:prstGeom>
          <a:noFill/>
          <a:ln w="25400" algn="ctr">
            <a:noFill/>
            <a:miter lim="800000"/>
            <a:headEnd/>
            <a:tailEnd/>
          </a:ln>
        </p:spPr>
        <p:txBody>
          <a:bodyPr wrap="square" lIns="179888" tIns="0" rIns="26983" bIns="26983" anchor="t" anchorCtr="0">
            <a:no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CO" sz="1200" b="1" i="0" u="none" strike="noStrike" kern="1200" cap="none" spc="0" normalizeH="0" baseline="0" noProof="0">
                <a:ln>
                  <a:noFill/>
                </a:ln>
                <a:solidFill>
                  <a:srgbClr val="000000"/>
                </a:solidFill>
                <a:effectLst/>
                <a:uLnTx/>
                <a:uFillTx/>
                <a:latin typeface="Graphik Super" panose="020B0B03030202060203" pitchFamily="34" charset="0"/>
                <a:ea typeface="+mn-ea"/>
                <a:cs typeface="+mn-cs"/>
              </a:rPr>
              <a:t>FUNCIONAL</a:t>
            </a:r>
          </a:p>
        </p:txBody>
      </p:sp>
      <p:sp>
        <p:nvSpPr>
          <p:cNvPr id="26" name="Text Placeholder 8">
            <a:extLst>
              <a:ext uri="{FF2B5EF4-FFF2-40B4-BE49-F238E27FC236}">
                <a16:creationId xmlns:a16="http://schemas.microsoft.com/office/drawing/2014/main" id="{7DCDD220-FD2A-412B-830F-C6A5F46C86D4}"/>
              </a:ext>
            </a:extLst>
          </p:cNvPr>
          <p:cNvSpPr>
            <a:spLocks noGrp="1"/>
          </p:cNvSpPr>
          <p:nvPr userDrawn="1">
            <p:ph type="body" sz="quarter" idx="20"/>
          </p:nvPr>
        </p:nvSpPr>
        <p:spPr>
          <a:xfrm>
            <a:off x="3255677" y="4900148"/>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27" name="Rectangle 12">
            <a:extLst>
              <a:ext uri="{FF2B5EF4-FFF2-40B4-BE49-F238E27FC236}">
                <a16:creationId xmlns:a16="http://schemas.microsoft.com/office/drawing/2014/main" id="{5A637F3C-BD10-4E01-B648-8CE5AFBAFDDE}"/>
              </a:ext>
            </a:extLst>
          </p:cNvPr>
          <p:cNvSpPr>
            <a:spLocks noChangeArrowheads="1"/>
          </p:cNvSpPr>
          <p:nvPr userDrawn="1"/>
        </p:nvSpPr>
        <p:spPr bwMode="auto">
          <a:xfrm>
            <a:off x="3066510" y="455376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INDUSTRIA</a:t>
            </a:r>
          </a:p>
        </p:txBody>
      </p:sp>
    </p:spTree>
    <p:extLst>
      <p:ext uri="{BB962C8B-B14F-4D97-AF65-F5344CB8AC3E}">
        <p14:creationId xmlns:p14="http://schemas.microsoft.com/office/powerpoint/2010/main" val="2381926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146427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28962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8455340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20519741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1073411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Palatino Linotype" panose="02040502050505030304" pitchFamily="18" charset="0"/>
                <a:ea typeface="+mn-ea"/>
                <a:cs typeface="+mn-cs"/>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endParaRPr lang="en-US"/>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7328801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92332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8560511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328484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508658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42920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Arial"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40293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4873425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203875388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2167650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8899053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7774224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5518544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364201866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19534074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61293922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315318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Palatino Linotype" panose="02040502050505030304" pitchFamily="18" charset="0"/>
              </a:defRPr>
            </a:lvl1pPr>
            <a:lvl2pPr marL="0" indent="0">
              <a:buNone/>
              <a:defRPr sz="1800"/>
            </a:lvl2pPr>
            <a:lvl3pPr marL="228600">
              <a:buFont typeface="Arial" panose="020B0604020202020204" pitchFamily="34" charset="0"/>
              <a:buChar char="•"/>
              <a:defRPr sz="1800"/>
            </a:lvl3pPr>
            <a:lvl4pPr marL="457200">
              <a:buFont typeface="Arial" panose="020B0604020202020204" pitchFamily="34" charset="0"/>
              <a:buChar char="–"/>
              <a:defRPr sz="1600"/>
            </a:lvl4pPr>
            <a:lvl5pPr marL="685800">
              <a:buFont typeface="Arial" panose="020B0604020202020204" pitchFamily="34" charset="0"/>
              <a:buChar char="•"/>
              <a:defRPr sz="1600"/>
            </a:lvl5pPr>
          </a:lstStyle>
          <a:p>
            <a:pPr lvl="0"/>
            <a:r>
              <a:rPr lang="en-GB"/>
              <a:t>Place agenda summary here in Palatino Linotype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15163083"/>
      </p:ext>
    </p:extLst>
  </p:cSld>
  <p:clrMapOvr>
    <a:masterClrMapping/>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Arial"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89129826"/>
      </p:ext>
    </p:extLst>
  </p:cSld>
  <p:clrMapOvr>
    <a:masterClrMapping/>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0803976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86405932"/>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11088843"/>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80506533"/>
      </p:ext>
    </p:extLst>
  </p:cSld>
  <p:clrMapOvr>
    <a:masterClrMapping/>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06133301"/>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3873400"/>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9697586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92064258"/>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43615838"/>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Arial" panose="020B0604020202020204" pitchFamily="34" charset="0"/>
              <a:buNone/>
              <a:defRPr sz="2100" b="0" i="0">
                <a:solidFill>
                  <a:schemeClr val="accent2"/>
                </a:solidFill>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22710604"/>
      </p:ext>
    </p:extLst>
  </p:cSld>
  <p:clrMapOvr>
    <a:masterClrMapping/>
  </p:clrMapOvr>
  <p:hf hdr="0" dt="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517238911"/>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5966332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321965441"/>
      </p:ext>
    </p:extLst>
  </p:cSld>
  <p:clrMapOvr>
    <a:masterClrMapping/>
  </p:clrMapOvr>
  <p:hf hd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596896995"/>
      </p:ext>
    </p:extLst>
  </p:cSld>
  <p:clrMapOvr>
    <a:masterClrMapping/>
  </p:clrMapOvr>
  <p:hf hd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Palatino Linotype" panose="02040502050505030304" pitchFamily="18" charset="0"/>
              </a:defRPr>
            </a:lvl1pPr>
            <a:lvl2pPr marL="228600" indent="-228600">
              <a:buFont typeface="Arial" panose="020B0604020202020204" pitchFamily="34" charset="0"/>
              <a:buChar char="•"/>
              <a:defRPr sz="1800">
                <a:solidFill>
                  <a:schemeClr val="tx1"/>
                </a:solidFill>
              </a:defRPr>
            </a:lvl2pPr>
            <a:lvl3pPr marL="457200">
              <a:buFont typeface="Arial" panose="020B0503030202060203" pitchFamily="34" charset="0"/>
              <a:buChar char="–"/>
              <a:defRPr sz="1800">
                <a:solidFill>
                  <a:schemeClr val="tx1"/>
                </a:solidFill>
              </a:defRPr>
            </a:lvl3pPr>
            <a:lvl4pPr marL="685800">
              <a:buFont typeface="Arial" panose="020B0604020202020204" pitchFamily="34" charset="0"/>
              <a:buChar char="•"/>
              <a:defRPr sz="1600">
                <a:solidFill>
                  <a:schemeClr val="tx1"/>
                </a:solidFill>
              </a:defRPr>
            </a:lvl4pPr>
            <a:lvl5pPr marL="914400">
              <a:buFont typeface="Arial" panose="020B0503030202060203" pitchFamily="34" charset="0"/>
              <a:buChar char="–"/>
              <a:defRPr sz="1600">
                <a:solidFill>
                  <a:schemeClr val="tx1"/>
                </a:solidFill>
              </a:defRPr>
            </a:lvl5pPr>
          </a:lstStyle>
          <a:p>
            <a:pPr lvl="0"/>
            <a:r>
              <a:rPr lang="en-GB"/>
              <a:t>Place subtitle here in Palatino Linotype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1649440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397695045"/>
      </p:ext>
    </p:extLst>
  </p:cSld>
  <p:clrMapOvr>
    <a:masterClrMapping/>
  </p:clrMapOvr>
  <p:hf hdr="0" dt="0"/>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01116094"/>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7684659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03742854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7483309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3071643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979415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5558837"/>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20815285"/>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97021285"/>
      </p:ext>
    </p:extLst>
  </p:cSld>
  <p:clrMapOvr>
    <a:masterClrMapping/>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Arial" pitchFamily="34" charset="0"/>
              <a:buNone/>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Arial" pitchFamily="34" charset="0"/>
              <a:buChar char="‒"/>
              <a:tabLst/>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Arial" pitchFamily="34" charset="0"/>
              <a:buNone/>
            </a:pPr>
            <a:r>
              <a:rPr lang="en-US"/>
              <a:t>CATEGORY</a:t>
            </a:r>
            <a:endParaRPr lang="en-AU"/>
          </a:p>
        </p:txBody>
      </p:sp>
    </p:spTree>
    <p:extLst>
      <p:ext uri="{BB962C8B-B14F-4D97-AF65-F5344CB8AC3E}">
        <p14:creationId xmlns:p14="http://schemas.microsoft.com/office/powerpoint/2010/main" val="22781135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38023754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2" name="Rectangle 12">
            <a:extLst>
              <a:ext uri="{FF2B5EF4-FFF2-40B4-BE49-F238E27FC236}">
                <a16:creationId xmlns:a16="http://schemas.microsoft.com/office/drawing/2014/main" id="{47D7F098-D91A-436B-8577-8921654BC31E}"/>
              </a:ext>
            </a:extLst>
          </p:cNvPr>
          <p:cNvSpPr>
            <a:spLocks noChangeArrowheads="1"/>
          </p:cNvSpPr>
          <p:nvPr userDrawn="1"/>
        </p:nvSpPr>
        <p:spPr bwMode="auto">
          <a:xfrm>
            <a:off x="82490" y="5530106"/>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LANGUAGES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5892963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4244745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8720328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4541846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691317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345755860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54896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5546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810786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800323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03654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912928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123763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96052405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870316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0249907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665329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3212488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14448510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0841855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7271404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5500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404119716"/>
      </p:ext>
    </p:extLst>
  </p:cSld>
  <p:clrMapOvr>
    <a:masterClrMapping/>
  </p:clrMapOvr>
  <p:hf hd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64211242"/>
      </p:ext>
    </p:extLst>
  </p:cSld>
  <p:clrMapOvr>
    <a:masterClrMapping/>
  </p:clrMapOvr>
  <p:hf hdr="0" dt="0"/>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311980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66567586"/>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4262284"/>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361676"/>
      </p:ext>
    </p:extLst>
  </p:cSld>
  <p:clrMapOvr>
    <a:masterClrMapping/>
  </p:clrMapOvr>
  <p:hf hdr="0" dt="0"/>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51992660"/>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67121675"/>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5988826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46418169"/>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27911435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104174956"/>
      </p:ext>
    </p:extLst>
  </p:cSld>
  <p:clrMapOvr>
    <a:masterClrMapping/>
  </p:clrMapOvr>
  <p:hf hdr="0" dt="0"/>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742082486"/>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4268285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986248163"/>
      </p:ext>
    </p:extLst>
  </p:cSld>
  <p:clrMapOvr>
    <a:masterClrMapping/>
  </p:clrMapOvr>
  <p:hf hdr="0" dt="0"/>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52754577"/>
      </p:ext>
    </p:extLst>
  </p:cSld>
  <p:clrMapOvr>
    <a:masterClrMapping/>
  </p:clrMapOvr>
  <p:hf hdr="0" dt="0"/>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22181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6830909"/>
      </p:ext>
    </p:extLst>
  </p:cSld>
  <p:clrMapOvr>
    <a:masterClrMapping/>
  </p:clrMapOvr>
  <p:hf hdr="0" dt="0"/>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0129126"/>
      </p:ext>
    </p:extLst>
  </p:cSld>
  <p:clrMapOvr>
    <a:masterClrMapping/>
  </p:clrMapOvr>
  <p:hf hdr="0" dt="0"/>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85619530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55665969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7581872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745870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465480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60283677"/>
      </p:ext>
    </p:extLst>
  </p:cSld>
  <p:clrMapOvr>
    <a:masterClrMapping/>
  </p:clrMapOvr>
  <p:hf hdr="0" dt="0"/>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17237876"/>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57652441"/>
      </p:ext>
    </p:extLst>
  </p:cSld>
  <p:clrMapOvr>
    <a:masterClrMapping/>
  </p:clrMapOvr>
  <p:hf hdr="0" dt="0"/>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6480693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9" Type="http://schemas.openxmlformats.org/officeDocument/2006/relationships/slideLayout" Target="../slideLayouts/slideLayout43.xml"/><Relationship Id="rId21" Type="http://schemas.openxmlformats.org/officeDocument/2006/relationships/slideLayout" Target="../slideLayouts/slideLayout25.xml"/><Relationship Id="rId34" Type="http://schemas.openxmlformats.org/officeDocument/2006/relationships/slideLayout" Target="../slideLayouts/slideLayout38.xml"/><Relationship Id="rId42" Type="http://schemas.openxmlformats.org/officeDocument/2006/relationships/slideLayout" Target="../slideLayouts/slideLayout46.xml"/><Relationship Id="rId47" Type="http://schemas.openxmlformats.org/officeDocument/2006/relationships/slideLayout" Target="../slideLayouts/slideLayout51.xml"/><Relationship Id="rId50" Type="http://schemas.openxmlformats.org/officeDocument/2006/relationships/slideLayout" Target="../slideLayouts/slideLayout54.xml"/><Relationship Id="rId55" Type="http://schemas.openxmlformats.org/officeDocument/2006/relationships/oleObject" Target="../embeddings/oleObject1.bin"/><Relationship Id="rId7" Type="http://schemas.openxmlformats.org/officeDocument/2006/relationships/slideLayout" Target="../slideLayouts/slideLayout1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9" Type="http://schemas.openxmlformats.org/officeDocument/2006/relationships/slideLayout" Target="../slideLayouts/slideLayout33.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slideLayout" Target="../slideLayouts/slideLayout36.xml"/><Relationship Id="rId37" Type="http://schemas.openxmlformats.org/officeDocument/2006/relationships/slideLayout" Target="../slideLayouts/slideLayout41.xml"/><Relationship Id="rId40" Type="http://schemas.openxmlformats.org/officeDocument/2006/relationships/slideLayout" Target="../slideLayouts/slideLayout44.xml"/><Relationship Id="rId45" Type="http://schemas.openxmlformats.org/officeDocument/2006/relationships/slideLayout" Target="../slideLayouts/slideLayout49.xml"/><Relationship Id="rId53" Type="http://schemas.openxmlformats.org/officeDocument/2006/relationships/tags" Target="../tags/tag4.xml"/><Relationship Id="rId5" Type="http://schemas.openxmlformats.org/officeDocument/2006/relationships/slideLayout" Target="../slideLayouts/slideLayout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slideLayout" Target="../slideLayouts/slideLayout35.xml"/><Relationship Id="rId44" Type="http://schemas.openxmlformats.org/officeDocument/2006/relationships/slideLayout" Target="../slideLayouts/slideLayout48.xml"/><Relationship Id="rId52"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slideLayout" Target="../slideLayouts/slideLayout34.xml"/><Relationship Id="rId35" Type="http://schemas.openxmlformats.org/officeDocument/2006/relationships/slideLayout" Target="../slideLayouts/slideLayout39.xml"/><Relationship Id="rId43" Type="http://schemas.openxmlformats.org/officeDocument/2006/relationships/slideLayout" Target="../slideLayouts/slideLayout47.xml"/><Relationship Id="rId48" Type="http://schemas.openxmlformats.org/officeDocument/2006/relationships/slideLayout" Target="../slideLayouts/slideLayout52.xml"/><Relationship Id="rId56" Type="http://schemas.openxmlformats.org/officeDocument/2006/relationships/image" Target="../media/image1.emf"/><Relationship Id="rId8" Type="http://schemas.openxmlformats.org/officeDocument/2006/relationships/slideLayout" Target="../slideLayouts/slideLayout12.xml"/><Relationship Id="rId51" Type="http://schemas.openxmlformats.org/officeDocument/2006/relationships/slideLayout" Target="../slideLayouts/slideLayout55.xml"/><Relationship Id="rId3" Type="http://schemas.openxmlformats.org/officeDocument/2006/relationships/slideLayout" Target="../slideLayouts/slideLayout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33" Type="http://schemas.openxmlformats.org/officeDocument/2006/relationships/slideLayout" Target="../slideLayouts/slideLayout37.xml"/><Relationship Id="rId38" Type="http://schemas.openxmlformats.org/officeDocument/2006/relationships/slideLayout" Target="../slideLayouts/slideLayout42.xml"/><Relationship Id="rId46" Type="http://schemas.openxmlformats.org/officeDocument/2006/relationships/slideLayout" Target="../slideLayouts/slideLayout50.xml"/><Relationship Id="rId20" Type="http://schemas.openxmlformats.org/officeDocument/2006/relationships/slideLayout" Target="../slideLayouts/slideLayout24.xml"/><Relationship Id="rId41" Type="http://schemas.openxmlformats.org/officeDocument/2006/relationships/slideLayout" Target="../slideLayouts/slideLayout45.xml"/><Relationship Id="rId54" Type="http://schemas.openxmlformats.org/officeDocument/2006/relationships/tags" Target="../tags/tag5.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36" Type="http://schemas.openxmlformats.org/officeDocument/2006/relationships/slideLayout" Target="../slideLayouts/slideLayout40.xml"/><Relationship Id="rId4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9" Type="http://schemas.openxmlformats.org/officeDocument/2006/relationships/slideLayout" Target="../slideLayouts/slideLayout94.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42" Type="http://schemas.openxmlformats.org/officeDocument/2006/relationships/slideLayout" Target="../slideLayouts/slideLayout97.xml"/><Relationship Id="rId47" Type="http://schemas.openxmlformats.org/officeDocument/2006/relationships/slideLayout" Target="../slideLayouts/slideLayout102.xml"/><Relationship Id="rId50" Type="http://schemas.openxmlformats.org/officeDocument/2006/relationships/theme" Target="../theme/theme3.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9" Type="http://schemas.openxmlformats.org/officeDocument/2006/relationships/slideLayout" Target="../slideLayouts/slideLayout84.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slideLayout" Target="../slideLayouts/slideLayout92.xml"/><Relationship Id="rId40" Type="http://schemas.openxmlformats.org/officeDocument/2006/relationships/slideLayout" Target="../slideLayouts/slideLayout95.xml"/><Relationship Id="rId45" Type="http://schemas.openxmlformats.org/officeDocument/2006/relationships/slideLayout" Target="../slideLayouts/slideLayout100.xml"/><Relationship Id="rId53" Type="http://schemas.openxmlformats.org/officeDocument/2006/relationships/oleObject" Target="../embeddings/oleObject1.bin"/><Relationship Id="rId5" Type="http://schemas.openxmlformats.org/officeDocument/2006/relationships/slideLayout" Target="../slideLayouts/slideLayout60.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4" Type="http://schemas.openxmlformats.org/officeDocument/2006/relationships/slideLayout" Target="../slideLayouts/slideLayout99.xml"/><Relationship Id="rId52" Type="http://schemas.openxmlformats.org/officeDocument/2006/relationships/tags" Target="../tags/tag7.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slideLayout" Target="../slideLayouts/slideLayout90.xml"/><Relationship Id="rId43" Type="http://schemas.openxmlformats.org/officeDocument/2006/relationships/slideLayout" Target="../slideLayouts/slideLayout98.xml"/><Relationship Id="rId48" Type="http://schemas.openxmlformats.org/officeDocument/2006/relationships/slideLayout" Target="../slideLayouts/slideLayout103.xml"/><Relationship Id="rId8" Type="http://schemas.openxmlformats.org/officeDocument/2006/relationships/slideLayout" Target="../slideLayouts/slideLayout63.xml"/><Relationship Id="rId51" Type="http://schemas.openxmlformats.org/officeDocument/2006/relationships/tags" Target="../tags/tag6.xml"/><Relationship Id="rId3" Type="http://schemas.openxmlformats.org/officeDocument/2006/relationships/slideLayout" Target="../slideLayouts/slideLayout58.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38" Type="http://schemas.openxmlformats.org/officeDocument/2006/relationships/slideLayout" Target="../slideLayouts/slideLayout93.xml"/><Relationship Id="rId46" Type="http://schemas.openxmlformats.org/officeDocument/2006/relationships/slideLayout" Target="../slideLayouts/slideLayout101.xml"/><Relationship Id="rId20" Type="http://schemas.openxmlformats.org/officeDocument/2006/relationships/slideLayout" Target="../slideLayouts/slideLayout75.xml"/><Relationship Id="rId41" Type="http://schemas.openxmlformats.org/officeDocument/2006/relationships/slideLayout" Target="../slideLayouts/slideLayout96.xml"/><Relationship Id="rId54" Type="http://schemas.openxmlformats.org/officeDocument/2006/relationships/image" Target="../media/image1.emf"/><Relationship Id="rId1" Type="http://schemas.openxmlformats.org/officeDocument/2006/relationships/slideLayout" Target="../slideLayouts/slideLayout56.xml"/><Relationship Id="rId6" Type="http://schemas.openxmlformats.org/officeDocument/2006/relationships/slideLayout" Target="../slideLayouts/slideLayout61.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slideLayout" Target="../slideLayouts/slideLayout91.xml"/><Relationship Id="rId49"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90F368C-0662-4B05-B5E4-7B52C6EBA962}"/>
              </a:ext>
            </a:extLst>
          </p:cNvPr>
          <p:cNvGraphicFramePr>
            <a:graphicFrameLocks noChangeAspect="1"/>
          </p:cNvGraphicFramePr>
          <p:nvPr userDrawn="1">
            <p:custDataLst>
              <p:tags r:id="rId6"/>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32" imgH="530" progId="TCLayout.ActiveDocument.1">
                  <p:embed/>
                </p:oleObj>
              </mc:Choice>
              <mc:Fallback>
                <p:oleObj name="think-cell Slide" r:id="rId8" imgW="532" imgH="530" progId="TCLayout.ActiveDocument.1">
                  <p:embed/>
                  <p:pic>
                    <p:nvPicPr>
                      <p:cNvPr id="5" name="Object 4" hidden="1">
                        <a:extLst>
                          <a:ext uri="{FF2B5EF4-FFF2-40B4-BE49-F238E27FC236}">
                            <a16:creationId xmlns:a16="http://schemas.microsoft.com/office/drawing/2014/main" id="{490F368C-0662-4B05-B5E4-7B52C6EBA96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949DF7F-5FAC-4247-9933-EE9462252CF9}"/>
              </a:ext>
            </a:extLst>
          </p:cNvPr>
          <p:cNvSpPr/>
          <p:nvPr userDrawn="1">
            <p:custDataLst>
              <p:tags r:id="rId7"/>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
        <p:nvSpPr>
          <p:cNvPr id="2" name="Title Placeholder 1">
            <a:extLst>
              <a:ext uri="{FF2B5EF4-FFF2-40B4-BE49-F238E27FC236}">
                <a16:creationId xmlns:a16="http://schemas.microsoft.com/office/drawing/2014/main" id="{A86D60B7-D06D-4830-BD69-35B1465FCFC2}"/>
              </a:ext>
            </a:extLst>
          </p:cNvPr>
          <p:cNvSpPr>
            <a:spLocks noGrp="1"/>
          </p:cNvSpPr>
          <p:nvPr>
            <p:ph type="title"/>
          </p:nvPr>
        </p:nvSpPr>
        <p:spPr>
          <a:xfrm>
            <a:off x="383458" y="365126"/>
            <a:ext cx="11425084" cy="824578"/>
          </a:xfrm>
          <a:prstGeom prst="rect">
            <a:avLst/>
          </a:prstGeom>
        </p:spPr>
        <p:txBody>
          <a:bodyPr vert="horz" lIns="0" tIns="0" rIns="0" bIns="0" rtlCol="0" anchor="b">
            <a:noAutofit/>
          </a:bodyPr>
          <a:lstStyle/>
          <a:p>
            <a:r>
              <a:rPr lang="es-ES" err="1"/>
              <a:t>Click</a:t>
            </a:r>
            <a:r>
              <a:rPr lang="es-ES"/>
              <a:t> </a:t>
            </a:r>
            <a:r>
              <a:rPr lang="es-ES" err="1"/>
              <a:t>to</a:t>
            </a:r>
            <a:r>
              <a:rPr lang="es-ES"/>
              <a:t> </a:t>
            </a:r>
            <a:r>
              <a:rPr lang="es-ES" err="1"/>
              <a:t>edit</a:t>
            </a:r>
            <a:r>
              <a:rPr lang="es-ES"/>
              <a:t> Master </a:t>
            </a:r>
            <a:r>
              <a:rPr lang="es-ES" err="1"/>
              <a:t>title</a:t>
            </a:r>
            <a:r>
              <a:rPr lang="es-ES"/>
              <a:t> </a:t>
            </a:r>
            <a:r>
              <a:rPr lang="es-ES" err="1"/>
              <a:t>style</a:t>
            </a:r>
            <a:endParaRPr lang="es-ES"/>
          </a:p>
        </p:txBody>
      </p:sp>
      <p:sp>
        <p:nvSpPr>
          <p:cNvPr id="3" name="Text Placeholder 2">
            <a:extLst>
              <a:ext uri="{FF2B5EF4-FFF2-40B4-BE49-F238E27FC236}">
                <a16:creationId xmlns:a16="http://schemas.microsoft.com/office/drawing/2014/main" id="{530DF177-00B3-4AFF-B6D4-A595D3A7C716}"/>
              </a:ext>
            </a:extLst>
          </p:cNvPr>
          <p:cNvSpPr>
            <a:spLocks noGrp="1"/>
          </p:cNvSpPr>
          <p:nvPr>
            <p:ph type="body" idx="1"/>
          </p:nvPr>
        </p:nvSpPr>
        <p:spPr>
          <a:xfrm>
            <a:off x="383458" y="1273629"/>
            <a:ext cx="11425084" cy="4903334"/>
          </a:xfrm>
          <a:prstGeom prst="rect">
            <a:avLst/>
          </a:prstGeom>
        </p:spPr>
        <p:txBody>
          <a:bodyPr vert="horz" lIns="0" tIns="0" rIns="0" bIns="0" rtlCol="0">
            <a:noAutofit/>
          </a:bodyPr>
          <a:lstStyle/>
          <a:p>
            <a:pPr lvl="0"/>
            <a:r>
              <a:rPr lang="es-ES" err="1"/>
              <a:t>Click</a:t>
            </a:r>
            <a:r>
              <a:rPr lang="es-ES"/>
              <a:t> </a:t>
            </a:r>
            <a:r>
              <a:rPr lang="es-ES" err="1"/>
              <a:t>to</a:t>
            </a:r>
            <a:r>
              <a:rPr lang="es-ES"/>
              <a:t> </a:t>
            </a:r>
            <a:r>
              <a:rPr lang="es-ES" err="1"/>
              <a:t>edit</a:t>
            </a:r>
            <a:r>
              <a:rPr lang="es-ES"/>
              <a:t> Master </a:t>
            </a:r>
            <a:r>
              <a:rPr lang="es-ES" err="1"/>
              <a:t>text</a:t>
            </a:r>
            <a:r>
              <a:rPr lang="es-ES"/>
              <a:t> </a:t>
            </a:r>
            <a:r>
              <a:rPr lang="es-ES" err="1"/>
              <a:t>styles</a:t>
            </a:r>
            <a:endParaRPr lang="es-ES"/>
          </a:p>
          <a:p>
            <a:pPr lvl="1"/>
            <a:r>
              <a:rPr lang="es-ES" err="1"/>
              <a:t>Second</a:t>
            </a:r>
            <a:r>
              <a:rPr lang="es-ES"/>
              <a:t> </a:t>
            </a:r>
            <a:r>
              <a:rPr lang="es-ES" err="1"/>
              <a:t>level</a:t>
            </a:r>
            <a:endParaRPr lang="es-ES"/>
          </a:p>
          <a:p>
            <a:pPr lvl="2"/>
            <a:r>
              <a:rPr lang="es-ES" err="1"/>
              <a:t>Third</a:t>
            </a:r>
            <a:r>
              <a:rPr lang="es-ES"/>
              <a:t> </a:t>
            </a:r>
            <a:r>
              <a:rPr lang="es-ES" err="1"/>
              <a:t>level</a:t>
            </a:r>
            <a:endParaRPr lang="es-ES"/>
          </a:p>
          <a:p>
            <a:pPr lvl="3"/>
            <a:r>
              <a:rPr lang="es-ES" err="1"/>
              <a:t>Fourth</a:t>
            </a:r>
            <a:r>
              <a:rPr lang="es-ES"/>
              <a:t> </a:t>
            </a:r>
            <a:r>
              <a:rPr lang="es-ES" err="1"/>
              <a:t>level</a:t>
            </a:r>
            <a:endParaRPr lang="es-ES"/>
          </a:p>
          <a:p>
            <a:pPr lvl="4"/>
            <a:r>
              <a:rPr lang="es-ES" err="1"/>
              <a:t>Fifth</a:t>
            </a:r>
            <a:r>
              <a:rPr lang="es-ES"/>
              <a:t> </a:t>
            </a:r>
            <a:r>
              <a:rPr lang="es-ES" err="1"/>
              <a:t>level</a:t>
            </a:r>
            <a:endParaRPr lang="es-ES"/>
          </a:p>
        </p:txBody>
      </p:sp>
      <p:sp>
        <p:nvSpPr>
          <p:cNvPr id="18" name="Footer Placeholder 2">
            <a:extLst>
              <a:ext uri="{FF2B5EF4-FFF2-40B4-BE49-F238E27FC236}">
                <a16:creationId xmlns:a16="http://schemas.microsoft.com/office/drawing/2014/main" id="{83EB6817-997F-4BFD-89D6-B40A72240A65}"/>
              </a:ext>
            </a:extLst>
          </p:cNvPr>
          <p:cNvSpPr>
            <a:spLocks noGrp="1"/>
          </p:cNvSpPr>
          <p:nvPr>
            <p:ph type="ftr" sz="quarter" idx="3"/>
          </p:nvPr>
        </p:nvSpPr>
        <p:spPr>
          <a:xfrm>
            <a:off x="7214419" y="6492875"/>
            <a:ext cx="4114800" cy="228600"/>
          </a:xfrm>
          <a:prstGeom prst="rect">
            <a:avLst/>
          </a:prstGeom>
        </p:spPr>
        <p:txBody>
          <a:bodyPr anchor="b" anchorCtr="0"/>
          <a:lstStyle>
            <a:lvl1pPr algn="r">
              <a:defRPr sz="700">
                <a:latin typeface="Graphik" panose="020B0503030202060203" pitchFamily="34" charset="0"/>
              </a:defRPr>
            </a:lvl1pPr>
          </a:lstStyle>
          <a:p>
            <a:r>
              <a:rPr lang="es-ES"/>
              <a:t>Copyright © 2020 Accenture. </a:t>
            </a:r>
            <a:r>
              <a:rPr lang="es-ES" err="1"/>
              <a:t>All</a:t>
            </a:r>
            <a:r>
              <a:rPr lang="es-ES"/>
              <a:t> </a:t>
            </a:r>
            <a:r>
              <a:rPr lang="es-ES" err="1"/>
              <a:t>rights</a:t>
            </a:r>
            <a:r>
              <a:rPr lang="es-ES"/>
              <a:t> </a:t>
            </a:r>
            <a:r>
              <a:rPr lang="es-ES" err="1"/>
              <a:t>reserved</a:t>
            </a:r>
            <a:r>
              <a:rPr lang="es-ES"/>
              <a:t>.</a:t>
            </a:r>
          </a:p>
        </p:txBody>
      </p:sp>
      <p:sp>
        <p:nvSpPr>
          <p:cNvPr id="19" name="Slide Number Placeholder 3">
            <a:extLst>
              <a:ext uri="{FF2B5EF4-FFF2-40B4-BE49-F238E27FC236}">
                <a16:creationId xmlns:a16="http://schemas.microsoft.com/office/drawing/2014/main" id="{9D47C7C1-747A-488B-90A2-DB416575D67B}"/>
              </a:ext>
            </a:extLst>
          </p:cNvPr>
          <p:cNvSpPr>
            <a:spLocks noGrp="1"/>
          </p:cNvSpPr>
          <p:nvPr>
            <p:ph type="sldNum" sz="quarter" idx="4"/>
          </p:nvPr>
        </p:nvSpPr>
        <p:spPr>
          <a:xfrm>
            <a:off x="11329219" y="6492875"/>
            <a:ext cx="479323" cy="228600"/>
          </a:xfrm>
          <a:prstGeom prst="rect">
            <a:avLst/>
          </a:prstGeom>
        </p:spPr>
        <p:txBody>
          <a:bodyPr anchor="b" anchorCtr="0"/>
          <a:lstStyle>
            <a:lvl1pPr algn="r">
              <a:defRPr sz="700">
                <a:latin typeface="Graphik" panose="020B0503030202060203" pitchFamily="34" charset="0"/>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1206866293"/>
      </p:ext>
    </p:extLst>
  </p:cSld>
  <p:clrMap bg1="lt1" tx1="dk1" bg2="lt2" tx2="dk2" accent1="accent1" accent2="accent2" accent3="accent3" accent4="accent4" accent5="accent5" accent6="accent6" hlink="hlink" folHlink="folHlink"/>
  <p:sldLayoutIdLst>
    <p:sldLayoutId id="2147483736" r:id="rId1"/>
    <p:sldLayoutId id="2147483756" r:id="rId2"/>
    <p:sldLayoutId id="2147483757" r:id="rId3"/>
    <p:sldLayoutId id="2147483759" r:id="rId4"/>
  </p:sldLayoutIdLst>
  <p:hf hdr="0" dt="0"/>
  <p:txStyles>
    <p:titleStyle>
      <a:lvl1pPr algn="l" defTabSz="914400" rtl="0" eaLnBrk="1" latinLnBrk="0" hangingPunct="1">
        <a:lnSpc>
          <a:spcPct val="70000"/>
        </a:lnSpc>
        <a:spcBef>
          <a:spcPct val="0"/>
        </a:spcBef>
        <a:buNone/>
        <a:defRPr sz="2800" b="1" kern="1200" cap="all" spc="-150" baseline="0">
          <a:solidFill>
            <a:schemeClr val="tx1"/>
          </a:solidFill>
          <a:latin typeface="Graphik" panose="020B0503030202060203" pitchFamily="34" charset="77"/>
          <a:ea typeface="+mj-ea"/>
          <a:cs typeface="+mj-cs"/>
        </a:defRPr>
      </a:lvl1pPr>
    </p:titleStyle>
    <p:bodyStyle>
      <a:lvl1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600" kern="1200">
          <a:solidFill>
            <a:schemeClr val="tx1"/>
          </a:solidFill>
          <a:latin typeface="Graphik" panose="020B0503030202060203" pitchFamily="34" charset="77"/>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E4DDAE6C-DBD6-9171-7CEF-37612C1A40C9}"/>
              </a:ext>
            </a:extLst>
          </p:cNvPr>
          <p:cNvGraphicFramePr>
            <a:graphicFrameLocks noChangeAspect="1"/>
          </p:cNvGraphicFramePr>
          <p:nvPr userDrawn="1">
            <p:custDataLst>
              <p:tags r:id="rId53"/>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532" imgH="530" progId="TCLayout.ActiveDocument.1">
                  <p:embed/>
                </p:oleObj>
              </mc:Choice>
              <mc:Fallback>
                <p:oleObj name="think-cell Slide" r:id="rId55" imgW="532" imgH="530" progId="TCLayout.ActiveDocument.1">
                  <p:embed/>
                  <p:pic>
                    <p:nvPicPr>
                      <p:cNvPr id="5" name="Object 4" hidden="1">
                        <a:extLst>
                          <a:ext uri="{FF2B5EF4-FFF2-40B4-BE49-F238E27FC236}">
                            <a16:creationId xmlns:a16="http://schemas.microsoft.com/office/drawing/2014/main" id="{E4DDAE6C-DBD6-9171-7CEF-37612C1A40C9}"/>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6918C99E-8041-E18D-FDC3-3EAD90D1708D}"/>
              </a:ext>
            </a:extLst>
          </p:cNvPr>
          <p:cNvSpPr/>
          <p:nvPr userDrawn="1">
            <p:custDataLst>
              <p:tags r:id="rId54"/>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664714135"/>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796" r:id="rId36"/>
    <p:sldLayoutId id="2147483797"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79298545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6.xml"/><Relationship Id="rId5" Type="http://schemas.openxmlformats.org/officeDocument/2006/relationships/image" Target="../media/image16.png"/><Relationship Id="rId4" Type="http://schemas.openxmlformats.org/officeDocument/2006/relationships/image" Target="../media/image15.jpe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96.xml"/><Relationship Id="rId5" Type="http://schemas.openxmlformats.org/officeDocument/2006/relationships/image" Target="../media/image16.pn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a:solidFill>
                  <a:schemeClr val="accent3"/>
                </a:solidFill>
                <a:latin typeface="Graphik"/>
              </a:rPr>
              <a:t>Sergio Iacovino</a:t>
            </a:r>
            <a:endParaRPr lang="en-US" sz="3200" b="1">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84464" y="864509"/>
            <a:ext cx="4712989" cy="1405505"/>
          </a:xfrm>
          <a:prstGeom prst="rect">
            <a:avLst/>
          </a:prstGeom>
        </p:spPr>
        <p:txBody>
          <a:bodyPr vert="horz" lIns="0" tIns="0" rIns="0" bIns="0" rtlCol="0" anchor="t">
            <a:normAutofit lnSpcReduction="10000"/>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n-US" dirty="0">
                <a:solidFill>
                  <a:schemeClr val="accent3"/>
                </a:solidFill>
                <a:latin typeface="Graphik Black"/>
              </a:rPr>
              <a:t>AI LLM Technology Architecture Manager</a:t>
            </a:r>
          </a:p>
          <a:p>
            <a:pPr marL="0" indent="0">
              <a:buNone/>
            </a:pPr>
            <a:r>
              <a:rPr lang="es-AR" sz="1200" dirty="0" err="1"/>
              <a:t>Technology</a:t>
            </a:r>
            <a:r>
              <a:rPr lang="es-AR" sz="1200" dirty="0"/>
              <a:t> IA</a:t>
            </a:r>
          </a:p>
          <a:p>
            <a:pPr marL="0" indent="0">
              <a:buNone/>
            </a:pPr>
            <a:r>
              <a:rPr lang="en-US" sz="1200" b="1" dirty="0">
                <a:latin typeface="Graphik"/>
              </a:rPr>
              <a:t>rafael.s.Iacovino@accenture.com</a:t>
            </a:r>
          </a:p>
          <a:p>
            <a:pPr marL="0" indent="0">
              <a:buNone/>
            </a:pPr>
            <a:r>
              <a:rPr lang="en-US" sz="1200" dirty="0">
                <a:latin typeface="Graphik"/>
              </a:rPr>
              <a:t>Buenos Aires, Argentina</a:t>
            </a:r>
            <a:endParaRPr lang="en-US" sz="1200" dirty="0"/>
          </a:p>
          <a:p>
            <a:endParaRPr lang="en-US" sz="900" b="1" dirty="0"/>
          </a:p>
          <a:p>
            <a:endParaRPr lang="en-US" sz="1200" dirty="0"/>
          </a:p>
          <a:p>
            <a:endParaRPr lang="en-US" dirty="0"/>
          </a:p>
        </p:txBody>
      </p:sp>
      <p:pic>
        <p:nvPicPr>
          <p:cNvPr id="8" name="Picture 7">
            <a:extLst>
              <a:ext uri="{FF2B5EF4-FFF2-40B4-BE49-F238E27FC236}">
                <a16:creationId xmlns:a16="http://schemas.microsoft.com/office/drawing/2014/main" id="{1E946E00-966C-504F-8587-9DD04432E800}"/>
              </a:ext>
            </a:extLst>
          </p:cNvPr>
          <p:cNvPicPr>
            <a:picLocks noChangeAspect="1"/>
          </p:cNvPicPr>
          <p:nvPr/>
        </p:nvPicPr>
        <p:blipFill>
          <a:blip r:embed="rId4"/>
          <a:srcRect/>
          <a:stretch/>
        </p:blipFill>
        <p:spPr>
          <a:xfrm rot="10800000">
            <a:off x="100869" y="839393"/>
            <a:ext cx="1671719" cy="1253789"/>
          </a:xfrm>
          <a:prstGeom prst="ellipse">
            <a:avLst/>
          </a:prstGeom>
          <a:ln>
            <a:noFill/>
          </a:ln>
          <a:effectLst>
            <a:softEdge rad="112500"/>
          </a:effectLst>
        </p:spPr>
      </p:pic>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100869" y="5725780"/>
            <a:ext cx="3252480" cy="485636"/>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268946"/>
            <a:ext cx="3246987" cy="3997838"/>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HARD/SOFT SKILLS &amp; TOOLS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00869" y="2268945"/>
            <a:ext cx="3252479" cy="3986145"/>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298637" y="2277674"/>
            <a:ext cx="2955490" cy="2012059"/>
            <a:chOff x="622594" y="2310823"/>
            <a:chExt cx="2955490" cy="2012059"/>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90306" y="2310823"/>
              <a:ext cx="2887778" cy="28492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endParaRPr lang="en-US" sz="1200" b="1" dirty="0">
                <a:solidFill>
                  <a:schemeClr val="accent1"/>
                </a:solidFill>
                <a:latin typeface="+mj-lt"/>
              </a:endParaRPr>
            </a:p>
          </p:txBody>
        </p:sp>
        <p:sp>
          <p:nvSpPr>
            <p:cNvPr id="29" name="Text Placeholder 4">
              <a:extLst>
                <a:ext uri="{FF2B5EF4-FFF2-40B4-BE49-F238E27FC236}">
                  <a16:creationId xmlns:a16="http://schemas.microsoft.com/office/drawing/2014/main" id="{1B6E0D27-DFC9-0BED-62DE-B980A526E12C}"/>
                </a:ext>
              </a:extLst>
            </p:cNvPr>
            <p:cNvSpPr txBox="1">
              <a:spLocks/>
            </p:cNvSpPr>
            <p:nvPr/>
          </p:nvSpPr>
          <p:spPr>
            <a:xfrm>
              <a:off x="622594" y="4108961"/>
              <a:ext cx="2887778" cy="2139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SPECIALIZATIONS</a:t>
              </a:r>
              <a:endParaRPr lang="en-US" sz="1200" b="1" dirty="0">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58777" y="3457982"/>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34820" y="5435321"/>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LANGUAGES</a:t>
            </a:r>
            <a:endParaRPr lang="en-US" sz="1200" b="1" dirty="0">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AREA OF EXPERTISE</a:t>
            </a:r>
            <a:endParaRPr lang="en-US" sz="1200" b="1">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79756" y="5301889"/>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INDUSTRY</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2668543"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AR" b="0" dirty="0" err="1">
                <a:solidFill>
                  <a:schemeClr val="tx1"/>
                </a:solidFill>
              </a:rPr>
              <a:t>Snowflake</a:t>
            </a:r>
            <a:endParaRPr lang="es-AR" b="0" dirty="0">
              <a:solidFill>
                <a:schemeClr val="tx1"/>
              </a:solidFill>
            </a:endParaRPr>
          </a:p>
          <a:p>
            <a:r>
              <a:rPr lang="es-AR" b="0" dirty="0">
                <a:solidFill>
                  <a:schemeClr val="tx1"/>
                </a:solidFill>
              </a:rPr>
              <a:t>Big </a:t>
            </a:r>
            <a:r>
              <a:rPr lang="es-AR" b="0" dirty="0" err="1">
                <a:solidFill>
                  <a:schemeClr val="tx1"/>
                </a:solidFill>
              </a:rPr>
              <a:t>Query</a:t>
            </a:r>
            <a:endParaRPr lang="es-AR" b="0" dirty="0">
              <a:solidFill>
                <a:schemeClr val="tx1"/>
              </a:solidFill>
            </a:endParaRPr>
          </a:p>
          <a:p>
            <a:r>
              <a:rPr lang="es-AR" b="0" dirty="0">
                <a:solidFill>
                  <a:schemeClr val="tx1"/>
                </a:solidFill>
              </a:rPr>
              <a:t>Oracle </a:t>
            </a:r>
            <a:r>
              <a:rPr lang="es-AR" b="0" dirty="0" err="1">
                <a:solidFill>
                  <a:schemeClr val="tx1"/>
                </a:solidFill>
              </a:rPr>
              <a:t>Analytics</a:t>
            </a:r>
            <a:r>
              <a:rPr lang="es-AR" b="0" dirty="0">
                <a:solidFill>
                  <a:schemeClr val="tx1"/>
                </a:solidFill>
              </a:rPr>
              <a:t> Cloud</a:t>
            </a:r>
          </a:p>
          <a:p>
            <a:r>
              <a:rPr lang="es-AR" b="0" dirty="0">
                <a:solidFill>
                  <a:schemeClr val="tx1"/>
                </a:solidFill>
              </a:rPr>
              <a:t>Oracle DB</a:t>
            </a:r>
          </a:p>
          <a:p>
            <a:r>
              <a:rPr lang="es-AR" b="0" dirty="0">
                <a:solidFill>
                  <a:schemeClr val="tx1"/>
                </a:solidFill>
              </a:rPr>
              <a:t>Microsoft SQL </a:t>
            </a:r>
          </a:p>
          <a:p>
            <a:r>
              <a:rPr lang="es-AR" b="0" dirty="0">
                <a:solidFill>
                  <a:schemeClr val="tx1"/>
                </a:solidFill>
              </a:rPr>
              <a:t>Teradata</a:t>
            </a:r>
          </a:p>
          <a:p>
            <a:r>
              <a:rPr lang="es-AR" b="0" dirty="0">
                <a:solidFill>
                  <a:schemeClr val="tx1"/>
                </a:solidFill>
              </a:rPr>
              <a:t>Linux</a:t>
            </a:r>
          </a:p>
          <a:p>
            <a:r>
              <a:rPr lang="es-AR" b="0" dirty="0">
                <a:solidFill>
                  <a:schemeClr val="tx1"/>
                </a:solidFill>
              </a:rPr>
              <a:t>Python</a:t>
            </a:r>
          </a:p>
          <a:p>
            <a:r>
              <a:rPr lang="es-AR" b="0" dirty="0" err="1">
                <a:solidFill>
                  <a:schemeClr val="tx1"/>
                </a:solidFill>
              </a:rPr>
              <a:t>DataStage</a:t>
            </a:r>
            <a:endParaRPr lang="es-AR" b="0" dirty="0">
              <a:solidFill>
                <a:schemeClr val="tx1"/>
              </a:solidFill>
            </a:endParaRPr>
          </a:p>
          <a:p>
            <a:r>
              <a:rPr lang="es-AR" b="0" dirty="0" err="1">
                <a:solidFill>
                  <a:schemeClr val="tx1"/>
                </a:solidFill>
              </a:rPr>
              <a:t>MicroStrategy</a:t>
            </a:r>
            <a:endParaRPr lang="es-AR" b="0" dirty="0">
              <a:solidFill>
                <a:schemeClr val="tx1"/>
              </a:solidFill>
            </a:endParaRPr>
          </a:p>
          <a:p>
            <a:r>
              <a:rPr lang="es-AR" b="0" dirty="0">
                <a:solidFill>
                  <a:schemeClr val="tx1"/>
                </a:solidFill>
              </a:rPr>
              <a:t>Data Flow</a:t>
            </a:r>
          </a:p>
          <a:p>
            <a:r>
              <a:rPr lang="es-AR" b="0" dirty="0">
                <a:solidFill>
                  <a:schemeClr val="tx1"/>
                </a:solidFill>
              </a:rPr>
              <a:t>RAID </a:t>
            </a:r>
            <a:r>
              <a:rPr lang="es-AR" b="0" dirty="0" err="1">
                <a:solidFill>
                  <a:schemeClr val="tx1"/>
                </a:solidFill>
              </a:rPr>
              <a:t>Mobileum</a:t>
            </a:r>
            <a:endParaRPr lang="es-AR" b="0" dirty="0">
              <a:solidFill>
                <a:schemeClr val="tx1"/>
              </a:solidFill>
            </a:endParaRPr>
          </a:p>
          <a:p>
            <a:r>
              <a:rPr lang="es-AR" b="0" dirty="0" err="1">
                <a:solidFill>
                  <a:schemeClr val="tx1"/>
                </a:solidFill>
              </a:rPr>
              <a:t>Cerberus</a:t>
            </a:r>
            <a:endParaRPr lang="es-AR" b="0" dirty="0">
              <a:solidFill>
                <a:schemeClr val="tx1"/>
              </a:solidFill>
            </a:endParaRPr>
          </a:p>
          <a:p>
            <a:r>
              <a:rPr lang="es-AR" b="0" dirty="0">
                <a:solidFill>
                  <a:schemeClr val="tx1"/>
                </a:solidFill>
              </a:rPr>
              <a:t>N8N</a:t>
            </a:r>
          </a:p>
          <a:p>
            <a:r>
              <a:rPr lang="es-AR" b="0" dirty="0">
                <a:solidFill>
                  <a:schemeClr val="tx1"/>
                </a:solidFill>
              </a:rPr>
              <a:t>Claude</a:t>
            </a:r>
          </a:p>
          <a:p>
            <a:endParaRPr lang="es-AR" b="0" dirty="0">
              <a:solidFill>
                <a:schemeClr val="tx1"/>
              </a:solidFill>
            </a:endParaRPr>
          </a:p>
          <a:p>
            <a:endParaRPr lang="en-US" dirty="0">
              <a:solidFill>
                <a:srgbClr val="000000"/>
              </a:solidFill>
            </a:endParaRPr>
          </a:p>
          <a:p>
            <a:endParaRPr lang="en-US" dirty="0"/>
          </a:p>
          <a:p>
            <a:endParaRPr lang="en-US" dirty="0"/>
          </a:p>
          <a:p>
            <a:endParaRPr lang="en-US" dirty="0"/>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34086" y="3688589"/>
            <a:ext cx="2952329" cy="440227"/>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dirty="0">
                <a:solidFill>
                  <a:schemeClr val="tx1"/>
                </a:solidFill>
              </a:rPr>
              <a:t>I studied Systems Engineering at the National        Technological University.</a:t>
            </a:r>
            <a:endParaRPr lang="es-ES" sz="1050" dirty="0">
              <a:solidFill>
                <a:schemeClr val="tx1"/>
              </a:solidFill>
            </a:endParaRPr>
          </a:p>
          <a:p>
            <a:pPr marL="171450" indent="-171450">
              <a:buChar char="•"/>
            </a:pPr>
            <a:endParaRPr lang="en-US" sz="1000" dirty="0"/>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170462" y="2523296"/>
            <a:ext cx="3014072" cy="914025"/>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s-ES" sz="1050" dirty="0">
                <a:solidFill>
                  <a:schemeClr val="tx1"/>
                </a:solidFill>
              </a:rPr>
              <a:t>Sergio Iacovino is Manager of the Accenture Technology Consulting (ATC) group, based in Buenos Aires. He has belonged to the firm since 2007, has professional experience in the Telecommunications and Financial industries.</a:t>
            </a:r>
            <a:endParaRPr lang="en-US" sz="1000" dirty="0">
              <a:solidFill>
                <a:srgbClr val="595959"/>
              </a:solidFill>
              <a:latin typeface="Graphik"/>
            </a:endParaRPr>
          </a:p>
          <a:p>
            <a:pPr marL="0" indent="0">
              <a:buNone/>
            </a:pPr>
            <a:endParaRPr lang="en-US" sz="1000" dirty="0"/>
          </a:p>
        </p:txBody>
      </p:sp>
      <p:sp>
        <p:nvSpPr>
          <p:cNvPr id="50" name="Text Placeholder 13">
            <a:extLst>
              <a:ext uri="{FF2B5EF4-FFF2-40B4-BE49-F238E27FC236}">
                <a16:creationId xmlns:a16="http://schemas.microsoft.com/office/drawing/2014/main" id="{F5B1C679-DFF5-C42C-3C67-B3D6B74019FF}"/>
              </a:ext>
            </a:extLst>
          </p:cNvPr>
          <p:cNvSpPr txBox="1">
            <a:spLocks/>
          </p:cNvSpPr>
          <p:nvPr/>
        </p:nvSpPr>
        <p:spPr>
          <a:xfrm>
            <a:off x="202406" y="4351974"/>
            <a:ext cx="3080240" cy="1063367"/>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rtl="0" fontAlgn="base">
              <a:buFont typeface="Arial" panose="020B0604020202020204" pitchFamily="34" charset="0"/>
              <a:buChar char="•"/>
            </a:pPr>
            <a:r>
              <a:rPr lang="en-US" sz="1000" b="0" i="0" u="none" strike="noStrike" dirty="0">
                <a:solidFill>
                  <a:srgbClr val="000000"/>
                </a:solidFill>
                <a:effectLst/>
                <a:latin typeface="Graphik"/>
              </a:rPr>
              <a:t>AZ-900 MS Azure Fundamentals (in progress)</a:t>
            </a:r>
          </a:p>
          <a:p>
            <a:pPr fontAlgn="base">
              <a:lnSpc>
                <a:spcPct val="100000"/>
              </a:lnSpc>
              <a:spcAft>
                <a:spcPts val="0"/>
              </a:spcAft>
            </a:pPr>
            <a:r>
              <a:rPr lang="en-US" sz="1000" dirty="0">
                <a:solidFill>
                  <a:srgbClr val="000000"/>
                </a:solidFill>
                <a:latin typeface="Graphik"/>
              </a:rPr>
              <a:t>GCP Fundamentals</a:t>
            </a:r>
          </a:p>
          <a:p>
            <a:pPr fontAlgn="base">
              <a:spcAft>
                <a:spcPts val="0"/>
              </a:spcAft>
            </a:pPr>
            <a:r>
              <a:rPr lang="en-US" sz="1000" dirty="0">
                <a:solidFill>
                  <a:srgbClr val="000000"/>
                </a:solidFill>
                <a:latin typeface="Graphik"/>
              </a:rPr>
              <a:t>AI </a:t>
            </a:r>
            <a:r>
              <a:rPr lang="en-US" sz="1000" dirty="0" err="1">
                <a:solidFill>
                  <a:srgbClr val="000000"/>
                </a:solidFill>
                <a:latin typeface="Graphik"/>
              </a:rPr>
              <a:t>Governace</a:t>
            </a:r>
            <a:r>
              <a:rPr lang="en-US" sz="1000" dirty="0">
                <a:solidFill>
                  <a:srgbClr val="000000"/>
                </a:solidFill>
                <a:latin typeface="Graphik"/>
              </a:rPr>
              <a:t>: </a:t>
            </a:r>
            <a:r>
              <a:rPr lang="en-US" sz="1000" dirty="0" err="1">
                <a:solidFill>
                  <a:srgbClr val="000000"/>
                </a:solidFill>
                <a:latin typeface="Graphik"/>
              </a:rPr>
              <a:t>Estrategia</a:t>
            </a:r>
            <a:r>
              <a:rPr lang="en-US" sz="1000" dirty="0">
                <a:solidFill>
                  <a:srgbClr val="000000"/>
                </a:solidFill>
                <a:latin typeface="Graphik"/>
              </a:rPr>
              <a:t>, Etica y </a:t>
            </a:r>
            <a:r>
              <a:rPr lang="en-US" sz="1000" dirty="0" err="1">
                <a:solidFill>
                  <a:srgbClr val="000000"/>
                </a:solidFill>
                <a:latin typeface="Graphik"/>
              </a:rPr>
              <a:t>Gobierno</a:t>
            </a:r>
            <a:r>
              <a:rPr lang="en-US" sz="1000" dirty="0">
                <a:solidFill>
                  <a:srgbClr val="000000"/>
                </a:solidFill>
                <a:latin typeface="Graphik"/>
              </a:rPr>
              <a:t> de IA</a:t>
            </a:r>
          </a:p>
          <a:p>
            <a:pPr fontAlgn="base">
              <a:spcAft>
                <a:spcPts val="0"/>
              </a:spcAft>
            </a:pPr>
            <a:r>
              <a:rPr lang="en-US" sz="1000" dirty="0">
                <a:solidFill>
                  <a:srgbClr val="000000"/>
                </a:solidFill>
                <a:latin typeface="Graphik"/>
              </a:rPr>
              <a:t>AI Fluency Framework &amp; Foundation de </a:t>
            </a:r>
          </a:p>
          <a:p>
            <a:pPr fontAlgn="base">
              <a:spcAft>
                <a:spcPts val="0"/>
              </a:spcAft>
            </a:pPr>
            <a:r>
              <a:rPr lang="en-US" sz="1000" dirty="0">
                <a:solidFill>
                  <a:srgbClr val="000000"/>
                </a:solidFill>
                <a:latin typeface="Graphik"/>
              </a:rPr>
              <a:t>Anthropic</a:t>
            </a:r>
            <a:endParaRPr lang="en-US" sz="1000" dirty="0">
              <a:solidFill>
                <a:srgbClr val="000000"/>
              </a:solidFill>
            </a:endParaRPr>
          </a:p>
          <a:p>
            <a:pPr algn="l" rtl="0" fontAlgn="base">
              <a:buFont typeface="Arial" panose="020B0604020202020204" pitchFamily="34" charset="0"/>
              <a:buChar char="•"/>
            </a:pPr>
            <a:endParaRPr lang="en-US" sz="1000" b="0" i="0" u="none" strike="noStrike" dirty="0">
              <a:solidFill>
                <a:srgbClr val="000000"/>
              </a:solidFill>
              <a:effectLst/>
              <a:latin typeface="Graphik" panose="020B0503030202060203" pitchFamily="34" charset="0"/>
            </a:endParaRPr>
          </a:p>
          <a:p>
            <a:pPr algn="l" rtl="0" fontAlgn="base">
              <a:buFont typeface="Arial" panose="020B0604020202020204" pitchFamily="34" charset="0"/>
              <a:buChar char="•"/>
            </a:pPr>
            <a:endParaRPr lang="en-US" sz="1000" b="0" i="0" u="none" strike="noStrike" dirty="0">
              <a:solidFill>
                <a:srgbClr val="000000"/>
              </a:solidFill>
              <a:effectLst/>
              <a:latin typeface="Graphik" panose="020B0503030202060203" pitchFamily="34" charset="0"/>
            </a:endParaRPr>
          </a:p>
          <a:p>
            <a:pPr marL="0" indent="0" algn="l" rtl="0" fontAlgn="base">
              <a:buNone/>
            </a:pPr>
            <a:endParaRPr lang="en-US" sz="1000" dirty="0">
              <a:solidFill>
                <a:srgbClr val="000000"/>
              </a:solidFill>
            </a:endParaRPr>
          </a:p>
          <a:p>
            <a:endParaRPr lang="es-AR" sz="1000" dirty="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49438" y="5901542"/>
            <a:ext cx="2702016" cy="32985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Spanish Native</a:t>
            </a:r>
          </a:p>
          <a:p>
            <a:r>
              <a:rPr lang="en-US" dirty="0"/>
              <a:t>English</a:t>
            </a:r>
          </a:p>
          <a:p>
            <a:endParaRPr lang="es-AR" dirty="0"/>
          </a:p>
        </p:txBody>
      </p:sp>
      <p:sp>
        <p:nvSpPr>
          <p:cNvPr id="52" name="Text Placeholder 13">
            <a:extLst>
              <a:ext uri="{FF2B5EF4-FFF2-40B4-BE49-F238E27FC236}">
                <a16:creationId xmlns:a16="http://schemas.microsoft.com/office/drawing/2014/main" id="{35A5E06F-27C7-2207-0875-01BABFD0C887}"/>
              </a:ext>
            </a:extLst>
          </p:cNvPr>
          <p:cNvSpPr txBox="1">
            <a:spLocks/>
          </p:cNvSpPr>
          <p:nvPr/>
        </p:nvSpPr>
        <p:spPr>
          <a:xfrm>
            <a:off x="4919202" y="5535372"/>
            <a:ext cx="1440137"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a:p>
          <a:p>
            <a:endParaRPr lang="es-AR"/>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597166" y="5523679"/>
            <a:ext cx="1440137"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solidFill>
                  <a:schemeClr val="tx1"/>
                </a:solidFill>
              </a:rPr>
              <a:t>Telecommunications</a:t>
            </a:r>
          </a:p>
          <a:p>
            <a:r>
              <a:rPr lang="es-ES">
                <a:solidFill>
                  <a:schemeClr val="tx1"/>
                </a:solidFill>
              </a:rPr>
              <a:t>Finance</a:t>
            </a:r>
          </a:p>
          <a:p>
            <a:endParaRPr lang="es-A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a:solidFill>
                  <a:schemeClr val="bg1"/>
                </a:solidFill>
                <a:latin typeface="+mn-lt"/>
                <a:ea typeface="+mn-ea"/>
                <a:cs typeface="+mn-cs"/>
              </a:rPr>
              <a:t>Copyright © 2022 Accenture. </a:t>
            </a:r>
            <a:r>
              <a:rPr lang="es-ES" kern="1200" err="1">
                <a:solidFill>
                  <a:schemeClr val="bg1"/>
                </a:solidFill>
                <a:latin typeface="+mn-lt"/>
                <a:ea typeface="+mn-ea"/>
                <a:cs typeface="+mn-cs"/>
              </a:rPr>
              <a:t>All</a:t>
            </a:r>
            <a:r>
              <a:rPr lang="es-ES" kern="1200">
                <a:solidFill>
                  <a:schemeClr val="bg1"/>
                </a:solidFill>
                <a:latin typeface="+mn-lt"/>
                <a:ea typeface="+mn-ea"/>
                <a:cs typeface="+mn-cs"/>
              </a:rPr>
              <a:t> </a:t>
            </a:r>
            <a:r>
              <a:rPr lang="es-ES" kern="1200" err="1">
                <a:solidFill>
                  <a:schemeClr val="bg1"/>
                </a:solidFill>
                <a:latin typeface="+mn-lt"/>
                <a:ea typeface="+mn-ea"/>
                <a:cs typeface="+mn-cs"/>
              </a:rPr>
              <a:t>rights</a:t>
            </a:r>
            <a:r>
              <a:rPr lang="es-ES" kern="1200">
                <a:solidFill>
                  <a:schemeClr val="bg1"/>
                </a:solidFill>
                <a:latin typeface="+mn-lt"/>
                <a:ea typeface="+mn-ea"/>
                <a:cs typeface="+mn-cs"/>
              </a:rPr>
              <a:t> </a:t>
            </a:r>
            <a:r>
              <a:rPr lang="es-ES" kern="1200" err="1">
                <a:solidFill>
                  <a:schemeClr val="bg1"/>
                </a:solidFill>
                <a:latin typeface="+mn-lt"/>
                <a:ea typeface="+mn-ea"/>
                <a:cs typeface="+mn-cs"/>
              </a:rPr>
              <a:t>reserved</a:t>
            </a:r>
            <a:r>
              <a:rPr lang="es-ES" kern="120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a:solidFill>
                  <a:schemeClr val="bg1"/>
                </a:solidFill>
                <a:ea typeface="+mj-lt"/>
                <a:cs typeface="+mj-lt"/>
              </a:rPr>
              <a:t>Accenture Technology Data &amp; AI</a:t>
            </a:r>
            <a:endParaRPr lang="en-US"/>
          </a:p>
        </p:txBody>
      </p:sp>
      <p:sp>
        <p:nvSpPr>
          <p:cNvPr id="10" name="Text Placeholder 11">
            <a:extLst>
              <a:ext uri="{FF2B5EF4-FFF2-40B4-BE49-F238E27FC236}">
                <a16:creationId xmlns:a16="http://schemas.microsoft.com/office/drawing/2014/main" id="{71135C8A-7227-CEE1-EE37-44A1CF8EE4F1}"/>
              </a:ext>
            </a:extLst>
          </p:cNvPr>
          <p:cNvSpPr txBox="1">
            <a:spLocks/>
          </p:cNvSpPr>
          <p:nvPr/>
        </p:nvSpPr>
        <p:spPr>
          <a:xfrm>
            <a:off x="6907843" y="733213"/>
            <a:ext cx="5081751" cy="5298619"/>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spcBef>
                <a:spcPts val="100"/>
              </a:spcBef>
              <a:spcAft>
                <a:spcPts val="300"/>
              </a:spcAft>
            </a:pPr>
            <a:r>
              <a:rPr lang="en-US" sz="1000" dirty="0">
                <a:solidFill>
                  <a:srgbClr val="000000"/>
                </a:solidFill>
              </a:rPr>
              <a:t>MELI (05 2022 –Today)</a:t>
            </a:r>
            <a:r>
              <a:rPr lang="en-US" sz="1000" b="0" dirty="0">
                <a:solidFill>
                  <a:srgbClr val="000000"/>
                </a:solidFill>
              </a:rPr>
              <a:t>​</a:t>
            </a:r>
          </a:p>
          <a:p>
            <a:pPr marL="285750" indent="-285750">
              <a:spcAft>
                <a:spcPts val="300"/>
              </a:spcAft>
              <a:buFont typeface="Arial,Sans-Serif"/>
              <a:buChar char="•"/>
            </a:pPr>
            <a:r>
              <a:rPr lang="en-US" sz="1000" b="0" dirty="0">
                <a:solidFill>
                  <a:srgbClr val="A100FF"/>
                </a:solidFill>
                <a:cs typeface="Calibri"/>
              </a:rPr>
              <a:t>Generating up-to-date functional and technical documentation using AI tools such as VSC and Claude Code. </a:t>
            </a:r>
          </a:p>
          <a:p>
            <a:pPr marL="285750" indent="-285750">
              <a:spcAft>
                <a:spcPts val="300"/>
              </a:spcAft>
              <a:buFont typeface="Arial,Sans-Serif"/>
              <a:buChar char="•"/>
            </a:pPr>
            <a:r>
              <a:rPr lang="en-US" sz="1000" b="0" dirty="0">
                <a:solidFill>
                  <a:srgbClr val="A100FF"/>
                </a:solidFill>
                <a:cs typeface="Calibri"/>
              </a:rPr>
              <a:t>Leading the migration project of RAID controls from </a:t>
            </a:r>
            <a:r>
              <a:rPr lang="en-US" sz="1000" b="0" dirty="0" err="1">
                <a:solidFill>
                  <a:srgbClr val="A100FF"/>
                </a:solidFill>
                <a:cs typeface="Calibri"/>
              </a:rPr>
              <a:t>Mobileum</a:t>
            </a:r>
            <a:r>
              <a:rPr lang="en-US" sz="1000" b="0" dirty="0">
                <a:solidFill>
                  <a:srgbClr val="A100FF"/>
                </a:solidFill>
                <a:cs typeface="Calibri"/>
              </a:rPr>
              <a:t> to Cerberus for Business Control. </a:t>
            </a:r>
            <a:r>
              <a:rPr lang="en-US" sz="1000" b="0" dirty="0" err="1">
                <a:solidFill>
                  <a:srgbClr val="A100FF"/>
                </a:solidFill>
                <a:cs typeface="Calibri"/>
              </a:rPr>
              <a:t>BigQuery</a:t>
            </a:r>
            <a:r>
              <a:rPr lang="en-US" sz="1000" b="0" dirty="0">
                <a:solidFill>
                  <a:srgbClr val="A100FF"/>
                </a:solidFill>
                <a:cs typeface="Calibri"/>
              </a:rPr>
              <a:t>/Data Flow/</a:t>
            </a:r>
            <a:r>
              <a:rPr lang="en-US" sz="1000" b="0" dirty="0" err="1">
                <a:solidFill>
                  <a:srgbClr val="A100FF"/>
                </a:solidFill>
                <a:cs typeface="Calibri"/>
              </a:rPr>
              <a:t>DataMesh</a:t>
            </a:r>
            <a:r>
              <a:rPr lang="en-US" sz="1000" b="0" dirty="0">
                <a:solidFill>
                  <a:srgbClr val="A100FF"/>
                </a:solidFill>
                <a:cs typeface="Calibri"/>
              </a:rPr>
              <a:t>/</a:t>
            </a:r>
            <a:r>
              <a:rPr lang="en-US" sz="1000" b="0" dirty="0" err="1">
                <a:solidFill>
                  <a:srgbClr val="A100FF"/>
                </a:solidFill>
                <a:cs typeface="Calibri"/>
              </a:rPr>
              <a:t>Mobileum</a:t>
            </a:r>
            <a:r>
              <a:rPr lang="en-US" sz="1000" b="0" dirty="0">
                <a:solidFill>
                  <a:srgbClr val="A100FF"/>
                </a:solidFill>
                <a:cs typeface="Calibri"/>
              </a:rPr>
              <a:t> RAID/Cerberus</a:t>
            </a:r>
          </a:p>
          <a:p>
            <a:pPr marL="285750" indent="-285750">
              <a:spcAft>
                <a:spcPts val="300"/>
              </a:spcAft>
              <a:buFont typeface="Arial,Sans-Serif"/>
              <a:buChar char="•"/>
            </a:pPr>
            <a:r>
              <a:rPr lang="en-US" sz="1000" b="0" dirty="0">
                <a:solidFill>
                  <a:srgbClr val="A100FF"/>
                </a:solidFill>
                <a:cs typeface="Calibri"/>
              </a:rPr>
              <a:t>Manage RAID </a:t>
            </a:r>
            <a:r>
              <a:rPr lang="en-US" sz="1000" b="0" dirty="0" err="1">
                <a:solidFill>
                  <a:srgbClr val="A100FF"/>
                </a:solidFill>
                <a:cs typeface="Calibri"/>
              </a:rPr>
              <a:t>Mobileum</a:t>
            </a:r>
            <a:r>
              <a:rPr lang="en-US" sz="1000" b="0" dirty="0">
                <a:solidFill>
                  <a:srgbClr val="A100FF"/>
                </a:solidFill>
                <a:cs typeface="Calibri"/>
              </a:rPr>
              <a:t> Factory and Cerberus for Business Control area. Big Query/Data Flow/</a:t>
            </a:r>
            <a:r>
              <a:rPr lang="en-US" sz="1000" b="0" dirty="0" err="1">
                <a:solidFill>
                  <a:srgbClr val="A100FF"/>
                </a:solidFill>
                <a:cs typeface="Calibri"/>
              </a:rPr>
              <a:t>DataMesh</a:t>
            </a:r>
            <a:r>
              <a:rPr lang="en-US" sz="1000" b="0" dirty="0">
                <a:solidFill>
                  <a:srgbClr val="A100FF"/>
                </a:solidFill>
                <a:cs typeface="Calibri"/>
              </a:rPr>
              <a:t>/Raid </a:t>
            </a:r>
            <a:r>
              <a:rPr lang="en-US" sz="1000" b="0" dirty="0" err="1">
                <a:solidFill>
                  <a:srgbClr val="A100FF"/>
                </a:solidFill>
                <a:cs typeface="Calibri"/>
              </a:rPr>
              <a:t>Mobileum</a:t>
            </a:r>
            <a:r>
              <a:rPr lang="en-US" sz="1000" b="0" dirty="0">
                <a:solidFill>
                  <a:srgbClr val="A100FF"/>
                </a:solidFill>
                <a:cs typeface="Calibri"/>
              </a:rPr>
              <a:t>/Cerberus</a:t>
            </a:r>
            <a:endParaRPr lang="en-US" sz="1000" b="0" dirty="0">
              <a:solidFill>
                <a:srgbClr val="000000"/>
              </a:solidFill>
              <a:cs typeface="Calibri"/>
            </a:endParaRPr>
          </a:p>
          <a:p>
            <a:pPr marL="285750" indent="-285750">
              <a:spcAft>
                <a:spcPts val="300"/>
              </a:spcAft>
              <a:buFont typeface="Arial" panose="020B0604020202020204" pitchFamily="34" charset="0"/>
              <a:buChar char="•"/>
            </a:pPr>
            <a:r>
              <a:rPr lang="en-US" sz="1000" b="0" dirty="0">
                <a:cs typeface="Calibri"/>
              </a:rPr>
              <a:t>Build process controls for Business Control area. Big Query/Data Flow/</a:t>
            </a:r>
            <a:r>
              <a:rPr lang="en-US" sz="1000" b="0" dirty="0" err="1">
                <a:cs typeface="Calibri"/>
              </a:rPr>
              <a:t>Tableu</a:t>
            </a:r>
            <a:endParaRPr lang="en-US" sz="1000" b="0" dirty="0">
              <a:cs typeface="Calibri"/>
            </a:endParaRPr>
          </a:p>
          <a:p>
            <a:pPr marL="285750" indent="-285750">
              <a:spcAft>
                <a:spcPts val="300"/>
              </a:spcAft>
              <a:buFont typeface="Arial" panose="020B0604020202020204" pitchFamily="34" charset="0"/>
              <a:buChar char="•"/>
            </a:pPr>
            <a:r>
              <a:rPr lang="en-US" sz="1000" b="0" dirty="0">
                <a:cs typeface="Calibri"/>
              </a:rPr>
              <a:t>Build process controls for Business Control area. Big Query/Data Flow/Raid </a:t>
            </a:r>
            <a:r>
              <a:rPr lang="en-US" sz="1000" b="0" dirty="0" err="1">
                <a:cs typeface="Calibri"/>
              </a:rPr>
              <a:t>Mobileum</a:t>
            </a:r>
            <a:endParaRPr lang="en-US" sz="1000" b="0" dirty="0">
              <a:cs typeface="Calibri"/>
            </a:endParaRPr>
          </a:p>
          <a:p>
            <a:pPr>
              <a:spcAft>
                <a:spcPts val="300"/>
              </a:spcAft>
            </a:pPr>
            <a:r>
              <a:rPr lang="en-US" sz="1000" dirty="0">
                <a:solidFill>
                  <a:srgbClr val="000000"/>
                </a:solidFill>
              </a:rPr>
              <a:t>IFF (03 2021 – 04 2022)</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a:cs typeface="Calibri" panose="020F0502020204030204" pitchFamily="34" charset="0"/>
              </a:rPr>
              <a:t>Development data ingestion process from SAP, SQL and Amazon S3 platforms to Snowflake. Talend/Snowflake</a:t>
            </a:r>
          </a:p>
          <a:p>
            <a:pPr algn="just">
              <a:spcBef>
                <a:spcPts val="100"/>
              </a:spcBef>
              <a:spcAft>
                <a:spcPts val="300"/>
              </a:spcAft>
            </a:pPr>
            <a:r>
              <a:rPr lang="en-US" sz="1000" dirty="0">
                <a:solidFill>
                  <a:srgbClr val="000000"/>
                </a:solidFill>
              </a:rPr>
              <a:t>COE (06 2020 – 12 2020)</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a:cs typeface="Calibri" panose="020F0502020204030204" pitchFamily="34" charset="0"/>
              </a:rPr>
              <a:t>Migration of Tableau applications to Oracle Analytics Cloud platform. OAC platform.</a:t>
            </a:r>
            <a:endParaRPr lang="en-US" sz="1000" b="0" dirty="0"/>
          </a:p>
          <a:p>
            <a:pPr algn="just">
              <a:spcBef>
                <a:spcPts val="100"/>
              </a:spcBef>
              <a:spcAft>
                <a:spcPts val="300"/>
              </a:spcAft>
            </a:pPr>
            <a:r>
              <a:rPr lang="es-ES" sz="1000" dirty="0">
                <a:solidFill>
                  <a:schemeClr val="tx1"/>
                </a:solidFill>
              </a:rPr>
              <a:t>J2OC DIRECTV</a:t>
            </a:r>
            <a:r>
              <a:rPr lang="en-US" sz="1000" dirty="0">
                <a:solidFill>
                  <a:srgbClr val="000000"/>
                </a:solidFill>
              </a:rPr>
              <a:t> (2019 – 06 2020)</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a:cs typeface="Calibri" panose="020F0502020204030204" pitchFamily="34" charset="0"/>
              </a:rPr>
              <a:t>Migration from Teradata on premise platform to Exadata (Oracle cloud). More than 55 TB. Teradata/Exadata/Data Stage.</a:t>
            </a:r>
            <a:endParaRPr lang="en-US" sz="1000" b="0" dirty="0"/>
          </a:p>
          <a:p>
            <a:pPr algn="just">
              <a:spcBef>
                <a:spcPts val="100"/>
              </a:spcBef>
              <a:spcAft>
                <a:spcPts val="300"/>
              </a:spcAft>
            </a:pPr>
            <a:r>
              <a:rPr lang="es-ES" sz="1000" dirty="0">
                <a:solidFill>
                  <a:schemeClr val="tx1"/>
                </a:solidFill>
              </a:rPr>
              <a:t>CIO – Client Team </a:t>
            </a:r>
            <a:r>
              <a:rPr lang="en-US" sz="1000" dirty="0">
                <a:solidFill>
                  <a:schemeClr val="tx1"/>
                </a:solidFill>
              </a:rPr>
              <a:t>Centricity Analytics Operation</a:t>
            </a:r>
            <a:r>
              <a:rPr lang="en-US" sz="1000" dirty="0">
                <a:solidFill>
                  <a:srgbClr val="000000"/>
                </a:solidFill>
              </a:rPr>
              <a:t> (2016 – 2019)</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a:cs typeface="Calibri" panose="020F0502020204030204" pitchFamily="34" charset="0"/>
              </a:rPr>
              <a:t>Operations maintenance and development of Salesforce Dashboards. Salesforce tool/SQL</a:t>
            </a:r>
          </a:p>
          <a:p>
            <a:pPr algn="just">
              <a:spcBef>
                <a:spcPts val="100"/>
              </a:spcBef>
              <a:spcAft>
                <a:spcPts val="300"/>
              </a:spcAft>
            </a:pPr>
            <a:r>
              <a:rPr lang="es-ES" sz="1000" dirty="0">
                <a:solidFill>
                  <a:schemeClr val="tx1"/>
                </a:solidFill>
              </a:rPr>
              <a:t>CIO - </a:t>
            </a:r>
            <a:r>
              <a:rPr lang="en-US" sz="1000" dirty="0">
                <a:solidFill>
                  <a:schemeClr val="tx1"/>
                </a:solidFill>
              </a:rPr>
              <a:t>Enterprise CRM</a:t>
            </a:r>
            <a:r>
              <a:rPr lang="en-US" sz="1000" dirty="0">
                <a:solidFill>
                  <a:srgbClr val="000000"/>
                </a:solidFill>
              </a:rPr>
              <a:t> (2015 – 2016)</a:t>
            </a:r>
            <a:r>
              <a:rPr lang="en-US" sz="1000" b="0" dirty="0">
                <a:solidFill>
                  <a:srgbClr val="000000"/>
                </a:solidFill>
              </a:rPr>
              <a:t>​</a:t>
            </a:r>
          </a:p>
          <a:p>
            <a:pPr marL="285750" indent="-285750">
              <a:spcAft>
                <a:spcPts val="300"/>
              </a:spcAft>
              <a:buFont typeface="Arial" panose="020B0604020202020204" pitchFamily="34" charset="0"/>
              <a:buChar char="•"/>
            </a:pPr>
            <a:r>
              <a:rPr lang="es-ES" sz="1000" b="0" dirty="0" err="1">
                <a:cs typeface="Calibri" panose="020F0502020204030204" pitchFamily="34" charset="0"/>
              </a:rPr>
              <a:t>Migration</a:t>
            </a:r>
            <a:r>
              <a:rPr lang="es-ES" sz="1000" b="0" dirty="0">
                <a:cs typeface="Calibri" panose="020F0502020204030204" pitchFamily="34" charset="0"/>
              </a:rPr>
              <a:t> from BizInquiry apps </a:t>
            </a:r>
            <a:r>
              <a:rPr lang="es-ES" sz="1000" b="0" dirty="0" err="1">
                <a:cs typeface="Calibri" panose="020F0502020204030204" pitchFamily="34" charset="0"/>
              </a:rPr>
              <a:t>to</a:t>
            </a:r>
            <a:r>
              <a:rPr lang="es-ES" sz="1000" b="0" dirty="0">
                <a:cs typeface="Calibri" panose="020F0502020204030204" pitchFamily="34" charset="0"/>
              </a:rPr>
              <a:t> ServiceNow. Management/PMO.</a:t>
            </a:r>
          </a:p>
          <a:p>
            <a:pPr algn="just">
              <a:spcBef>
                <a:spcPts val="100"/>
              </a:spcBef>
              <a:spcAft>
                <a:spcPts val="300"/>
              </a:spcAft>
            </a:pPr>
            <a:r>
              <a:rPr lang="es-ES" sz="1000" dirty="0">
                <a:solidFill>
                  <a:schemeClr val="tx1"/>
                </a:solidFill>
              </a:rPr>
              <a:t>CIO - </a:t>
            </a:r>
            <a:r>
              <a:rPr lang="en-US" sz="1000" dirty="0">
                <a:solidFill>
                  <a:schemeClr val="tx1"/>
                </a:solidFill>
              </a:rPr>
              <a:t>LAD LATAM</a:t>
            </a:r>
            <a:r>
              <a:rPr lang="en-US" sz="1000" dirty="0">
                <a:solidFill>
                  <a:srgbClr val="000000"/>
                </a:solidFill>
              </a:rPr>
              <a:t> (2008 – 2015)</a:t>
            </a:r>
            <a:r>
              <a:rPr lang="en-US" sz="1000" b="0" dirty="0">
                <a:solidFill>
                  <a:srgbClr val="000000"/>
                </a:solidFill>
              </a:rPr>
              <a:t>​</a:t>
            </a:r>
          </a:p>
          <a:p>
            <a:pPr marL="285750" indent="-285750">
              <a:spcAft>
                <a:spcPts val="300"/>
              </a:spcAft>
              <a:buFont typeface="Arial" panose="020B0604020202020204" pitchFamily="34" charset="0"/>
              <a:buChar char="•"/>
            </a:pPr>
            <a:r>
              <a:rPr lang="es-ES" sz="1000" b="0" dirty="0" err="1">
                <a:cs typeface="Calibri" panose="020F0502020204030204" pitchFamily="34" charset="0"/>
              </a:rPr>
              <a:t>Managing</a:t>
            </a:r>
            <a:r>
              <a:rPr lang="es-ES" sz="1000" b="0" dirty="0">
                <a:cs typeface="Calibri" panose="020F0502020204030204" pitchFamily="34" charset="0"/>
              </a:rPr>
              <a:t> </a:t>
            </a:r>
            <a:r>
              <a:rPr lang="es-ES" sz="1000" b="0" dirty="0" err="1">
                <a:cs typeface="Calibri" panose="020F0502020204030204" pitchFamily="34" charset="0"/>
              </a:rPr>
              <a:t>of</a:t>
            </a:r>
            <a:r>
              <a:rPr lang="es-ES" sz="1000" b="0" dirty="0">
                <a:cs typeface="Calibri" panose="020F0502020204030204" pitchFamily="34" charset="0"/>
              </a:rPr>
              <a:t> CIO </a:t>
            </a:r>
            <a:r>
              <a:rPr lang="es-ES" sz="1000" b="0" dirty="0" err="1">
                <a:cs typeface="Calibri" panose="020F0502020204030204" pitchFamily="34" charset="0"/>
              </a:rPr>
              <a:t>applications</a:t>
            </a:r>
            <a:r>
              <a:rPr lang="es-ES" sz="1000" b="0" dirty="0">
                <a:cs typeface="Calibri" panose="020F0502020204030204" pitchFamily="34" charset="0"/>
              </a:rPr>
              <a:t> </a:t>
            </a:r>
            <a:r>
              <a:rPr lang="es-ES" sz="1000" b="0" dirty="0" err="1">
                <a:cs typeface="Calibri" panose="020F0502020204030204" pitchFamily="34" charset="0"/>
              </a:rPr>
              <a:t>for</a:t>
            </a:r>
            <a:r>
              <a:rPr lang="es-ES" sz="1000" b="0" dirty="0">
                <a:cs typeface="Calibri" panose="020F0502020204030204" pitchFamily="34" charset="0"/>
              </a:rPr>
              <a:t> LATAM. </a:t>
            </a:r>
            <a:r>
              <a:rPr lang="es-AR" sz="1000" b="0" dirty="0">
                <a:cs typeface="Calibri" panose="020F0502020204030204" pitchFamily="34" charset="0"/>
              </a:rPr>
              <a:t>POC </a:t>
            </a:r>
            <a:r>
              <a:rPr lang="es-AR" sz="1000" b="0" dirty="0" err="1">
                <a:cs typeface="Calibri" panose="020F0502020204030204" pitchFamily="34" charset="0"/>
              </a:rPr>
              <a:t>of</a:t>
            </a:r>
            <a:r>
              <a:rPr lang="es-AR" sz="1000" b="0" dirty="0">
                <a:cs typeface="Calibri" panose="020F0502020204030204" pitchFamily="34" charset="0"/>
              </a:rPr>
              <a:t> </a:t>
            </a:r>
            <a:r>
              <a:rPr lang="es-AR" sz="1000" b="0" dirty="0" err="1">
                <a:cs typeface="Calibri" panose="020F0502020204030204" pitchFamily="34" charset="0"/>
              </a:rPr>
              <a:t>internal</a:t>
            </a:r>
            <a:r>
              <a:rPr lang="es-AR" sz="1000" b="0" dirty="0">
                <a:cs typeface="Calibri" panose="020F0502020204030204" pitchFamily="34" charset="0"/>
              </a:rPr>
              <a:t> </a:t>
            </a:r>
            <a:r>
              <a:rPr lang="es-AR" sz="1000" b="0" dirty="0" err="1">
                <a:cs typeface="Calibri" panose="020F0502020204030204" pitchFamily="34" charset="0"/>
              </a:rPr>
              <a:t>client</a:t>
            </a:r>
            <a:r>
              <a:rPr lang="es-AR" sz="1000" b="0" dirty="0">
                <a:cs typeface="Calibri" panose="020F0502020204030204" pitchFamily="34" charset="0"/>
              </a:rPr>
              <a:t> and </a:t>
            </a:r>
            <a:r>
              <a:rPr lang="es-AR" sz="1000" b="0" dirty="0" err="1">
                <a:cs typeface="Calibri" panose="020F0502020204030204" pitchFamily="34" charset="0"/>
              </a:rPr>
              <a:t>coordination</a:t>
            </a:r>
            <a:r>
              <a:rPr lang="es-AR" sz="1000" b="0" dirty="0">
                <a:cs typeface="Calibri" panose="020F0502020204030204" pitchFamily="34" charset="0"/>
              </a:rPr>
              <a:t> </a:t>
            </a:r>
            <a:r>
              <a:rPr lang="es-AR" sz="1000" b="0" dirty="0" err="1">
                <a:cs typeface="Calibri" panose="020F0502020204030204" pitchFamily="34" charset="0"/>
              </a:rPr>
              <a:t>of</a:t>
            </a:r>
            <a:r>
              <a:rPr lang="es-AR" sz="1000" b="0" dirty="0">
                <a:cs typeface="Calibri" panose="020F0502020204030204" pitchFamily="34" charset="0"/>
              </a:rPr>
              <a:t> funcional and </a:t>
            </a:r>
            <a:r>
              <a:rPr lang="es-AR" sz="1000" b="0" dirty="0" err="1">
                <a:cs typeface="Calibri" panose="020F0502020204030204" pitchFamily="34" charset="0"/>
              </a:rPr>
              <a:t>development</a:t>
            </a:r>
            <a:r>
              <a:rPr lang="es-AR" sz="1000" b="0" dirty="0">
                <a:cs typeface="Calibri" panose="020F0502020204030204" pitchFamily="34" charset="0"/>
              </a:rPr>
              <a:t> </a:t>
            </a:r>
            <a:r>
              <a:rPr lang="es-AR" sz="1000" b="0" dirty="0" err="1">
                <a:cs typeface="Calibri" panose="020F0502020204030204" pitchFamily="34" charset="0"/>
              </a:rPr>
              <a:t>team</a:t>
            </a:r>
            <a:r>
              <a:rPr lang="es-AR" sz="1000" b="0" dirty="0">
                <a:cs typeface="Calibri" panose="020F0502020204030204" pitchFamily="34" charset="0"/>
              </a:rPr>
              <a:t>. </a:t>
            </a:r>
            <a:endParaRPr lang="en-US" sz="1000" b="0" dirty="0">
              <a:cs typeface="Calibri" panose="020F0502020204030204" pitchFamily="34" charset="0"/>
            </a:endParaRPr>
          </a:p>
          <a:p>
            <a:pPr algn="just">
              <a:spcBef>
                <a:spcPts val="100"/>
              </a:spcBef>
              <a:spcAft>
                <a:spcPts val="300"/>
              </a:spcAft>
            </a:pPr>
            <a:r>
              <a:rPr lang="es-ES" sz="1000" dirty="0">
                <a:solidFill>
                  <a:schemeClr val="tx1"/>
                </a:solidFill>
              </a:rPr>
              <a:t>Banesco Net</a:t>
            </a:r>
            <a:r>
              <a:rPr lang="en-US" sz="1000" dirty="0">
                <a:solidFill>
                  <a:srgbClr val="000000"/>
                </a:solidFill>
              </a:rPr>
              <a:t> (09 2006 – 2008)</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a:cs typeface="Calibri" panose="020F0502020204030204" pitchFamily="34" charset="0"/>
              </a:rPr>
              <a:t>Reengineering of the home banking of </a:t>
            </a:r>
            <a:r>
              <a:rPr lang="en-US" sz="1000" b="0" dirty="0" err="1">
                <a:cs typeface="Calibri" panose="020F0502020204030204" pitchFamily="34" charset="0"/>
              </a:rPr>
              <a:t>Banesco</a:t>
            </a:r>
            <a:r>
              <a:rPr lang="en-US" sz="1000" b="0" dirty="0">
                <a:cs typeface="Calibri" panose="020F0502020204030204" pitchFamily="34" charset="0"/>
              </a:rPr>
              <a:t>, Venezuelan bank in .NET and SQL. Managing and coordination of tasks and development team. The project was certificated in </a:t>
            </a:r>
            <a:r>
              <a:rPr lang="en-US" sz="1000" b="0" dirty="0" err="1">
                <a:cs typeface="Calibri" panose="020F0502020204030204" pitchFamily="34" charset="0"/>
              </a:rPr>
              <a:t>CMMi</a:t>
            </a:r>
            <a:r>
              <a:rPr lang="en-US" sz="1000" b="0" dirty="0">
                <a:cs typeface="Calibri" panose="020F0502020204030204" pitchFamily="34" charset="0"/>
              </a:rPr>
              <a:t> 3 level.</a:t>
            </a:r>
          </a:p>
          <a:p>
            <a:pPr>
              <a:spcAft>
                <a:spcPts val="300"/>
              </a:spcAft>
            </a:pPr>
            <a:r>
              <a:rPr lang="en-US" sz="1000" b="0" dirty="0">
                <a:latin typeface="+mn-lt"/>
              </a:rPr>
              <a:t> </a:t>
            </a:r>
          </a:p>
          <a:p>
            <a:pPr>
              <a:spcAft>
                <a:spcPts val="300"/>
              </a:spcAft>
            </a:pPr>
            <a:endParaRPr lang="en-US" sz="1000" b="0" dirty="0">
              <a:latin typeface="+mn-lt"/>
            </a:endParaRPr>
          </a:p>
          <a:p>
            <a:pPr>
              <a:spcAft>
                <a:spcPts val="300"/>
              </a:spcAft>
            </a:pPr>
            <a:endParaRPr lang="en-US" sz="1000" b="0" dirty="0">
              <a:latin typeface="+mn-lt"/>
            </a:endParaRPr>
          </a:p>
          <a:p>
            <a:pPr marL="171450" indent="-171450">
              <a:spcAft>
                <a:spcPts val="300"/>
              </a:spcAft>
              <a:buFont typeface="Arial,Sans-Serif"/>
              <a:buChar char="•"/>
            </a:pPr>
            <a:endParaRPr lang="en-US" sz="1000" dirty="0">
              <a:latin typeface="+mn-lt"/>
            </a:endParaRPr>
          </a:p>
        </p:txBody>
      </p:sp>
      <p:pic>
        <p:nvPicPr>
          <p:cNvPr id="4" name="Picture 3">
            <a:extLst>
              <a:ext uri="{FF2B5EF4-FFF2-40B4-BE49-F238E27FC236}">
                <a16:creationId xmlns:a16="http://schemas.microsoft.com/office/drawing/2014/main" id="{B7C8A3CB-589C-95FE-E128-5CC05E00506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51781" y="1480605"/>
            <a:ext cx="641350" cy="641350"/>
          </a:xfrm>
          <a:prstGeom prst="rect">
            <a:avLst/>
          </a:prstGeom>
          <a:noFill/>
          <a:ln>
            <a:noFill/>
          </a:ln>
        </p:spPr>
      </p:pic>
    </p:spTree>
    <p:extLst>
      <p:ext uri="{BB962C8B-B14F-4D97-AF65-F5344CB8AC3E}">
        <p14:creationId xmlns:p14="http://schemas.microsoft.com/office/powerpoint/2010/main" val="3747954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a:solidFill>
                  <a:schemeClr val="accent3"/>
                </a:solidFill>
              </a:rPr>
              <a:t>Sergio Iacovino</a:t>
            </a:r>
            <a:endParaRPr lang="en-US" sz="3200" b="1">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883306"/>
            <a:ext cx="4712989" cy="1457500"/>
          </a:xfrm>
          <a:prstGeom prst="rect">
            <a:avLst/>
          </a:prstGeom>
        </p:spPr>
        <p:txBody>
          <a:bodyPr vert="horz" lIns="0" tIns="0" rIns="0" bIns="0" rtlCol="0" anchor="t">
            <a:normAutofit lnSpcReduction="10000"/>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n-US" dirty="0">
                <a:solidFill>
                  <a:schemeClr val="accent3"/>
                </a:solidFill>
                <a:latin typeface="Graphik Black"/>
              </a:rPr>
              <a:t>AI LLM Technology Architecture Manager</a:t>
            </a:r>
          </a:p>
          <a:p>
            <a:pPr marL="0" indent="0">
              <a:buNone/>
            </a:pPr>
            <a:r>
              <a:rPr lang="es-AR" sz="1400" dirty="0" err="1"/>
              <a:t>Technology</a:t>
            </a:r>
            <a:r>
              <a:rPr lang="es-AR" sz="1400" dirty="0"/>
              <a:t> IA</a:t>
            </a:r>
          </a:p>
          <a:p>
            <a:pPr marL="0" indent="0">
              <a:buNone/>
            </a:pPr>
            <a:r>
              <a:rPr lang="en-US" sz="1200" b="1" dirty="0"/>
              <a:t>rafael.s.Iacovino@accenture.com</a:t>
            </a:r>
            <a:endParaRPr lang="en-US" sz="1200" b="1" dirty="0">
              <a:latin typeface="Graphik"/>
            </a:endParaRPr>
          </a:p>
          <a:p>
            <a:pPr marL="0" indent="0">
              <a:buNone/>
            </a:pPr>
            <a:r>
              <a:rPr lang="en-US" sz="1200" dirty="0"/>
              <a:t>Buenos Aires, Argentina</a:t>
            </a:r>
          </a:p>
          <a:p>
            <a:endParaRPr lang="en-US" sz="900" b="1" dirty="0"/>
          </a:p>
          <a:p>
            <a:endParaRPr lang="en-US" sz="1200" dirty="0"/>
          </a:p>
          <a:p>
            <a:endParaRPr lang="en-US" dirty="0"/>
          </a:p>
        </p:txBody>
      </p:sp>
      <p:pic>
        <p:nvPicPr>
          <p:cNvPr id="8" name="Picture 7">
            <a:extLst>
              <a:ext uri="{FF2B5EF4-FFF2-40B4-BE49-F238E27FC236}">
                <a16:creationId xmlns:a16="http://schemas.microsoft.com/office/drawing/2014/main" id="{1E946E00-966C-504F-8587-9DD04432E800}"/>
              </a:ext>
            </a:extLst>
          </p:cNvPr>
          <p:cNvPicPr>
            <a:picLocks noChangeAspect="1"/>
          </p:cNvPicPr>
          <p:nvPr/>
        </p:nvPicPr>
        <p:blipFill>
          <a:blip r:embed="rId4"/>
          <a:srcRect/>
          <a:stretch/>
        </p:blipFill>
        <p:spPr>
          <a:xfrm rot="10800000">
            <a:off x="100869" y="839395"/>
            <a:ext cx="1671718" cy="1253788"/>
          </a:xfrm>
          <a:prstGeom prst="ellipse">
            <a:avLst/>
          </a:prstGeom>
          <a:ln>
            <a:noFill/>
          </a:ln>
          <a:effectLst>
            <a:softEdge rad="112500"/>
          </a:effectLst>
        </p:spPr>
      </p:pic>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38505" y="208333"/>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dirty="0">
                <a:solidFill>
                  <a:schemeClr val="accent2"/>
                </a:solidFill>
                <a:latin typeface="+mj-lt"/>
              </a:rPr>
              <a:t>EXPERIENCIA </a:t>
            </a:r>
            <a:endParaRPr lang="en-US" sz="1600" b="1" dirty="0">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100869" y="5667604"/>
            <a:ext cx="3252480" cy="543811"/>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205522"/>
            <a:ext cx="3246987" cy="400029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870124" cy="21827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HABILIDADES Y HERRAMIENTAS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19850" y="2202277"/>
            <a:ext cx="3252479" cy="4003535"/>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328699" y="2429619"/>
            <a:ext cx="2903835" cy="2033744"/>
            <a:chOff x="652656" y="2462768"/>
            <a:chExt cx="2903835" cy="2033744"/>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52656" y="2462768"/>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PERFIL PROFESIONAL</a:t>
              </a:r>
              <a:endParaRPr lang="en-US" sz="1200" b="1" dirty="0">
                <a:solidFill>
                  <a:schemeClr val="accent1"/>
                </a:solidFill>
                <a:latin typeface="+mj-lt"/>
              </a:endParaRPr>
            </a:p>
          </p:txBody>
        </p:sp>
        <p:sp>
          <p:nvSpPr>
            <p:cNvPr id="29" name="Text Placeholder 4">
              <a:extLst>
                <a:ext uri="{FF2B5EF4-FFF2-40B4-BE49-F238E27FC236}">
                  <a16:creationId xmlns:a16="http://schemas.microsoft.com/office/drawing/2014/main" id="{1B6E0D27-DFC9-0BED-62DE-B980A526E12C}"/>
                </a:ext>
              </a:extLst>
            </p:cNvPr>
            <p:cNvSpPr txBox="1">
              <a:spLocks/>
            </p:cNvSpPr>
            <p:nvPr/>
          </p:nvSpPr>
          <p:spPr>
            <a:xfrm>
              <a:off x="652656" y="4282591"/>
              <a:ext cx="2887778" cy="2139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ESPECIALIZACIONES</a:t>
              </a:r>
              <a:endParaRPr lang="en-US" sz="1200" b="1" dirty="0">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68713" y="3611504"/>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EDUCACION</a:t>
              </a:r>
              <a:endParaRPr lang="en-US" sz="1200" b="1">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10237" y="5443704"/>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IDIOMAS</a:t>
            </a:r>
            <a:endParaRPr lang="en-US" sz="1200" b="1" dirty="0">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AREAS DE EXPERIENCIA</a:t>
            </a:r>
            <a:endParaRPr lang="en-US" sz="1200" b="1">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79756" y="5301889"/>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INDUSTRIA</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2668543" cy="3331192"/>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AR" b="0" dirty="0" err="1">
                <a:solidFill>
                  <a:schemeClr val="tx1"/>
                </a:solidFill>
              </a:rPr>
              <a:t>Snowflake</a:t>
            </a:r>
            <a:endParaRPr lang="es-AR" b="0" dirty="0">
              <a:solidFill>
                <a:schemeClr val="tx1"/>
              </a:solidFill>
            </a:endParaRPr>
          </a:p>
          <a:p>
            <a:r>
              <a:rPr lang="es-AR" b="0" dirty="0">
                <a:solidFill>
                  <a:schemeClr val="tx1"/>
                </a:solidFill>
              </a:rPr>
              <a:t>Big </a:t>
            </a:r>
            <a:r>
              <a:rPr lang="es-AR" b="0" dirty="0" err="1">
                <a:solidFill>
                  <a:schemeClr val="tx1"/>
                </a:solidFill>
              </a:rPr>
              <a:t>Query</a:t>
            </a:r>
            <a:endParaRPr lang="es-AR" b="0" dirty="0">
              <a:solidFill>
                <a:schemeClr val="tx1"/>
              </a:solidFill>
            </a:endParaRPr>
          </a:p>
          <a:p>
            <a:r>
              <a:rPr lang="es-AR" b="0" dirty="0">
                <a:solidFill>
                  <a:schemeClr val="tx1"/>
                </a:solidFill>
              </a:rPr>
              <a:t>Oracle </a:t>
            </a:r>
            <a:r>
              <a:rPr lang="es-AR" b="0" dirty="0" err="1">
                <a:solidFill>
                  <a:schemeClr val="tx1"/>
                </a:solidFill>
              </a:rPr>
              <a:t>Analytics</a:t>
            </a:r>
            <a:r>
              <a:rPr lang="es-AR" b="0" dirty="0">
                <a:solidFill>
                  <a:schemeClr val="tx1"/>
                </a:solidFill>
              </a:rPr>
              <a:t> Cloud</a:t>
            </a:r>
          </a:p>
          <a:p>
            <a:r>
              <a:rPr lang="es-AR" b="0" dirty="0">
                <a:solidFill>
                  <a:schemeClr val="tx1"/>
                </a:solidFill>
              </a:rPr>
              <a:t>Oracle DB</a:t>
            </a:r>
          </a:p>
          <a:p>
            <a:r>
              <a:rPr lang="es-AR" b="0" dirty="0">
                <a:solidFill>
                  <a:schemeClr val="tx1"/>
                </a:solidFill>
              </a:rPr>
              <a:t>Microsoft SQL </a:t>
            </a:r>
          </a:p>
          <a:p>
            <a:r>
              <a:rPr lang="es-AR" b="0" dirty="0">
                <a:solidFill>
                  <a:schemeClr val="tx1"/>
                </a:solidFill>
              </a:rPr>
              <a:t>Teradata</a:t>
            </a:r>
          </a:p>
          <a:p>
            <a:r>
              <a:rPr lang="es-AR" b="0" dirty="0">
                <a:solidFill>
                  <a:schemeClr val="tx1"/>
                </a:solidFill>
              </a:rPr>
              <a:t>Linux</a:t>
            </a:r>
          </a:p>
          <a:p>
            <a:r>
              <a:rPr lang="es-AR" b="0" dirty="0">
                <a:solidFill>
                  <a:schemeClr val="tx1"/>
                </a:solidFill>
              </a:rPr>
              <a:t>Python</a:t>
            </a:r>
          </a:p>
          <a:p>
            <a:r>
              <a:rPr lang="es-AR" b="0" dirty="0" err="1">
                <a:solidFill>
                  <a:schemeClr val="tx1"/>
                </a:solidFill>
              </a:rPr>
              <a:t>DataStage</a:t>
            </a:r>
            <a:endParaRPr lang="es-AR" b="0" dirty="0">
              <a:solidFill>
                <a:schemeClr val="tx1"/>
              </a:solidFill>
            </a:endParaRPr>
          </a:p>
          <a:p>
            <a:r>
              <a:rPr lang="es-AR" b="0" dirty="0" err="1">
                <a:solidFill>
                  <a:schemeClr val="tx1"/>
                </a:solidFill>
              </a:rPr>
              <a:t>MicroStrategy</a:t>
            </a:r>
            <a:endParaRPr lang="es-AR" b="0" dirty="0">
              <a:solidFill>
                <a:schemeClr val="tx1"/>
              </a:solidFill>
            </a:endParaRPr>
          </a:p>
          <a:p>
            <a:r>
              <a:rPr lang="es-AR" b="0" dirty="0">
                <a:solidFill>
                  <a:schemeClr val="tx1"/>
                </a:solidFill>
              </a:rPr>
              <a:t>Data Flow</a:t>
            </a:r>
          </a:p>
          <a:p>
            <a:r>
              <a:rPr lang="es-AR" b="0" dirty="0">
                <a:solidFill>
                  <a:schemeClr val="tx1"/>
                </a:solidFill>
              </a:rPr>
              <a:t>RAID </a:t>
            </a:r>
            <a:r>
              <a:rPr lang="es-AR" b="0" dirty="0" err="1">
                <a:solidFill>
                  <a:schemeClr val="tx1"/>
                </a:solidFill>
              </a:rPr>
              <a:t>Mobileum</a:t>
            </a:r>
            <a:endParaRPr lang="es-AR" b="0" dirty="0">
              <a:solidFill>
                <a:schemeClr val="tx1"/>
              </a:solidFill>
            </a:endParaRPr>
          </a:p>
          <a:p>
            <a:r>
              <a:rPr lang="es-AR" b="0" dirty="0" err="1">
                <a:solidFill>
                  <a:schemeClr val="tx1"/>
                </a:solidFill>
              </a:rPr>
              <a:t>Cerberus</a:t>
            </a:r>
            <a:endParaRPr lang="es-AR" b="0" dirty="0">
              <a:solidFill>
                <a:schemeClr val="tx1"/>
              </a:solidFill>
            </a:endParaRPr>
          </a:p>
          <a:p>
            <a:r>
              <a:rPr lang="es-AR" b="0" dirty="0">
                <a:solidFill>
                  <a:schemeClr val="tx1"/>
                </a:solidFill>
              </a:rPr>
              <a:t>N8N</a:t>
            </a:r>
          </a:p>
          <a:p>
            <a:r>
              <a:rPr lang="es-AR" b="0" dirty="0">
                <a:solidFill>
                  <a:schemeClr val="tx1"/>
                </a:solidFill>
              </a:rPr>
              <a:t>Claude</a:t>
            </a:r>
          </a:p>
          <a:p>
            <a:endParaRPr lang="en-US" dirty="0">
              <a:solidFill>
                <a:schemeClr val="tx1"/>
              </a:solidFill>
            </a:endParaRPr>
          </a:p>
          <a:p>
            <a:endParaRPr lang="en-US" dirty="0"/>
          </a:p>
          <a:p>
            <a:endParaRPr lang="en-US" dirty="0"/>
          </a:p>
          <a:p>
            <a:endParaRPr lang="en-US" dirty="0"/>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49438" y="3861758"/>
            <a:ext cx="3106657" cy="620940"/>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err="1"/>
              <a:t>Estudié</a:t>
            </a:r>
            <a:r>
              <a:rPr lang="en-US" sz="1000" dirty="0"/>
              <a:t> la Carrera de Ingeniería </a:t>
            </a:r>
            <a:r>
              <a:rPr lang="en-US" sz="1000" dirty="0" err="1"/>
              <a:t>en</a:t>
            </a:r>
            <a:r>
              <a:rPr lang="en-US" sz="1000" dirty="0"/>
              <a:t> Sistemas de </a:t>
            </a:r>
            <a:r>
              <a:rPr lang="en-US" sz="1000" dirty="0" err="1"/>
              <a:t>Información</a:t>
            </a:r>
            <a:r>
              <a:rPr lang="en-US" sz="1000" dirty="0"/>
              <a:t> </a:t>
            </a:r>
            <a:r>
              <a:rPr lang="en-US" sz="1000" dirty="0" err="1"/>
              <a:t>en</a:t>
            </a:r>
            <a:r>
              <a:rPr lang="en-US" sz="1000" dirty="0"/>
              <a:t> la UTN.</a:t>
            </a:r>
            <a:endParaRPr lang="es-AR" dirty="0">
              <a:latin typeface="Graphik"/>
            </a:endParaRPr>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02405" y="2709462"/>
            <a:ext cx="2702016" cy="300954"/>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tLang="es-ES" sz="1000" dirty="0"/>
              <a:t>Sergio Iacovino es Gerente del grupo Accenture </a:t>
            </a:r>
            <a:r>
              <a:rPr lang="es-ES" altLang="es-ES" sz="1000" dirty="0" err="1"/>
              <a:t>Technology</a:t>
            </a:r>
            <a:r>
              <a:rPr lang="es-ES" altLang="es-ES" sz="1000" dirty="0"/>
              <a:t> </a:t>
            </a:r>
            <a:r>
              <a:rPr lang="es-ES" altLang="es-ES" sz="1000" dirty="0" err="1"/>
              <a:t>Consulting</a:t>
            </a:r>
            <a:r>
              <a:rPr lang="es-ES" altLang="es-ES" sz="1000" dirty="0"/>
              <a:t> (ATC), con sede en Buenos Aires. Pertenece a la firma desde el año 2007, cuenta con experiencia profesional en las industrias de Telecomunicaciones y Financiera.</a:t>
            </a:r>
            <a:r>
              <a:rPr lang="en-US" altLang="es-ES" sz="1000" dirty="0"/>
              <a:t> </a:t>
            </a:r>
            <a:endParaRPr lang="en-US" sz="1000" dirty="0">
              <a:solidFill>
                <a:srgbClr val="595959"/>
              </a:solidFill>
              <a:latin typeface="Graphik"/>
            </a:endParaRPr>
          </a:p>
          <a:p>
            <a:pPr marL="171450" indent="-171450">
              <a:buChar char="•"/>
            </a:pPr>
            <a:endParaRPr lang="en-US" sz="1000" dirty="0"/>
          </a:p>
          <a:p>
            <a:endParaRPr lang="es-AR" sz="1000" dirty="0">
              <a:latin typeface="Graphik"/>
            </a:endParaRPr>
          </a:p>
        </p:txBody>
      </p:sp>
      <p:sp>
        <p:nvSpPr>
          <p:cNvPr id="50" name="Text Placeholder 13">
            <a:extLst>
              <a:ext uri="{FF2B5EF4-FFF2-40B4-BE49-F238E27FC236}">
                <a16:creationId xmlns:a16="http://schemas.microsoft.com/office/drawing/2014/main" id="{F5B1C679-DFF5-C42C-3C67-B3D6B74019FF}"/>
              </a:ext>
            </a:extLst>
          </p:cNvPr>
          <p:cNvSpPr txBox="1">
            <a:spLocks/>
          </p:cNvSpPr>
          <p:nvPr/>
        </p:nvSpPr>
        <p:spPr>
          <a:xfrm>
            <a:off x="232749" y="4488788"/>
            <a:ext cx="2983096" cy="608273"/>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spcAft>
                <a:spcPts val="0"/>
              </a:spcAft>
            </a:pPr>
            <a:r>
              <a:rPr lang="en-US" sz="1000" dirty="0">
                <a:solidFill>
                  <a:srgbClr val="000000"/>
                </a:solidFill>
                <a:latin typeface="Graphik"/>
              </a:rPr>
              <a:t>AZ-900 MS Azure Fundamentals</a:t>
            </a:r>
            <a:br>
              <a:rPr lang="en-US" sz="1000" dirty="0">
                <a:solidFill>
                  <a:srgbClr val="000000"/>
                </a:solidFill>
                <a:latin typeface="Graphik"/>
              </a:rPr>
            </a:br>
            <a:r>
              <a:rPr lang="en-US" sz="1000" dirty="0">
                <a:solidFill>
                  <a:srgbClr val="000000"/>
                </a:solidFill>
                <a:latin typeface="Graphik"/>
              </a:rPr>
              <a:t>GCP Fundamentals</a:t>
            </a:r>
          </a:p>
          <a:p>
            <a:pPr fontAlgn="base">
              <a:spcAft>
                <a:spcPts val="0"/>
              </a:spcAft>
            </a:pPr>
            <a:r>
              <a:rPr lang="en-US" sz="1000" dirty="0">
                <a:solidFill>
                  <a:srgbClr val="000000"/>
                </a:solidFill>
                <a:latin typeface="Graphik"/>
              </a:rPr>
              <a:t>AI </a:t>
            </a:r>
            <a:r>
              <a:rPr lang="en-US" sz="1000" dirty="0" err="1">
                <a:solidFill>
                  <a:srgbClr val="000000"/>
                </a:solidFill>
                <a:latin typeface="Graphik"/>
              </a:rPr>
              <a:t>Governace</a:t>
            </a:r>
            <a:r>
              <a:rPr lang="en-US" sz="1000" dirty="0">
                <a:solidFill>
                  <a:srgbClr val="000000"/>
                </a:solidFill>
                <a:latin typeface="Graphik"/>
              </a:rPr>
              <a:t>: </a:t>
            </a:r>
            <a:r>
              <a:rPr lang="en-US" sz="1000" dirty="0" err="1">
                <a:solidFill>
                  <a:srgbClr val="000000"/>
                </a:solidFill>
                <a:latin typeface="Graphik"/>
              </a:rPr>
              <a:t>Estrategia</a:t>
            </a:r>
            <a:r>
              <a:rPr lang="en-US" sz="1000" dirty="0">
                <a:solidFill>
                  <a:srgbClr val="000000"/>
                </a:solidFill>
                <a:latin typeface="Graphik"/>
              </a:rPr>
              <a:t>, Etica y </a:t>
            </a:r>
            <a:r>
              <a:rPr lang="en-US" sz="1000" dirty="0" err="1">
                <a:solidFill>
                  <a:srgbClr val="000000"/>
                </a:solidFill>
                <a:latin typeface="Graphik"/>
              </a:rPr>
              <a:t>Gobierno</a:t>
            </a:r>
            <a:r>
              <a:rPr lang="en-US" sz="1000" dirty="0">
                <a:solidFill>
                  <a:srgbClr val="000000"/>
                </a:solidFill>
                <a:latin typeface="Graphik"/>
              </a:rPr>
              <a:t> de IA</a:t>
            </a:r>
          </a:p>
          <a:p>
            <a:pPr fontAlgn="base">
              <a:spcAft>
                <a:spcPts val="0"/>
              </a:spcAft>
            </a:pPr>
            <a:r>
              <a:rPr lang="en-US" sz="1000" dirty="0">
                <a:solidFill>
                  <a:srgbClr val="000000"/>
                </a:solidFill>
                <a:latin typeface="Graphik"/>
              </a:rPr>
              <a:t>AI Fluency Framework &amp; Foundation de </a:t>
            </a:r>
          </a:p>
          <a:p>
            <a:pPr fontAlgn="base">
              <a:spcAft>
                <a:spcPts val="0"/>
              </a:spcAft>
            </a:pPr>
            <a:r>
              <a:rPr lang="en-US" sz="1000" dirty="0">
                <a:solidFill>
                  <a:srgbClr val="000000"/>
                </a:solidFill>
                <a:latin typeface="Graphik"/>
              </a:rPr>
              <a:t>Anthropic</a:t>
            </a:r>
            <a:endParaRPr lang="en-US" sz="1000" dirty="0">
              <a:solidFill>
                <a:srgbClr val="000000"/>
              </a:solidFill>
            </a:endParaRPr>
          </a:p>
          <a:p>
            <a:pPr algn="l" rtl="0" fontAlgn="base">
              <a:buFont typeface="Arial" panose="020B0604020202020204" pitchFamily="34" charset="0"/>
              <a:buChar char="•"/>
            </a:pPr>
            <a:endParaRPr lang="en-US" sz="1000" b="0" i="0" u="none" strike="noStrike" dirty="0">
              <a:solidFill>
                <a:srgbClr val="000000"/>
              </a:solidFill>
              <a:effectLst/>
              <a:latin typeface="Graphik" panose="020B0503030202060203" pitchFamily="34" charset="0"/>
            </a:endParaRPr>
          </a:p>
          <a:p>
            <a:pPr marL="0" indent="0" algn="l" rtl="0" fontAlgn="base">
              <a:buNone/>
            </a:pPr>
            <a:endParaRPr lang="en-US" sz="1000" dirty="0">
              <a:solidFill>
                <a:srgbClr val="000000"/>
              </a:solidFill>
            </a:endParaRPr>
          </a:p>
          <a:p>
            <a:endParaRPr lang="es-AR" sz="1000" dirty="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49438" y="5745595"/>
            <a:ext cx="2702016" cy="485801"/>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Español </a:t>
            </a:r>
            <a:r>
              <a:rPr lang="en-US" dirty="0" err="1"/>
              <a:t>nativo</a:t>
            </a:r>
            <a:endParaRPr lang="en-US" dirty="0"/>
          </a:p>
          <a:p>
            <a:r>
              <a:rPr lang="en-US" dirty="0"/>
              <a:t>Ingles</a:t>
            </a:r>
            <a:endParaRPr lang="es-AR" dirty="0"/>
          </a:p>
        </p:txBody>
      </p:sp>
      <p:sp>
        <p:nvSpPr>
          <p:cNvPr id="52" name="Text Placeholder 13">
            <a:extLst>
              <a:ext uri="{FF2B5EF4-FFF2-40B4-BE49-F238E27FC236}">
                <a16:creationId xmlns:a16="http://schemas.microsoft.com/office/drawing/2014/main" id="{35A5E06F-27C7-2207-0875-01BABFD0C887}"/>
              </a:ext>
            </a:extLst>
          </p:cNvPr>
          <p:cNvSpPr txBox="1">
            <a:spLocks/>
          </p:cNvSpPr>
          <p:nvPr/>
        </p:nvSpPr>
        <p:spPr>
          <a:xfrm>
            <a:off x="4919202" y="5535372"/>
            <a:ext cx="1440137"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a:p>
          <a:p>
            <a:endParaRPr lang="es-AR"/>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597166" y="5523679"/>
            <a:ext cx="1440137"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Telecomunicaciones</a:t>
            </a:r>
          </a:p>
          <a:p>
            <a:r>
              <a:rPr lang="es-ES" dirty="0"/>
              <a:t>Finanzas</a:t>
            </a:r>
          </a:p>
          <a:p>
            <a:r>
              <a:rPr lang="es-ES" dirty="0"/>
              <a:t>Banca</a:t>
            </a:r>
          </a:p>
          <a:p>
            <a:endParaRPr lang="es-AR" dirty="0"/>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17542" y="505326"/>
            <a:ext cx="5081751" cy="5395391"/>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spcBef>
                <a:spcPts val="100"/>
              </a:spcBef>
              <a:spcAft>
                <a:spcPts val="300"/>
              </a:spcAft>
            </a:pPr>
            <a:r>
              <a:rPr lang="en-US" sz="1000" dirty="0">
                <a:solidFill>
                  <a:srgbClr val="000000"/>
                </a:solidFill>
              </a:rPr>
              <a:t>MELI (05 2022 – Hoy)</a:t>
            </a:r>
          </a:p>
          <a:p>
            <a:pPr marL="285750" indent="-285750">
              <a:spcAft>
                <a:spcPts val="300"/>
              </a:spcAft>
              <a:buFont typeface="Arial,Sans-Serif"/>
              <a:buChar char="•"/>
            </a:pPr>
            <a:r>
              <a:rPr lang="en-US" sz="1000" b="0" dirty="0">
                <a:solidFill>
                  <a:srgbClr val="A100FF"/>
                </a:solidFill>
              </a:rPr>
              <a:t>Generación de </a:t>
            </a:r>
            <a:r>
              <a:rPr lang="en-US" sz="1000" b="0" dirty="0" err="1">
                <a:solidFill>
                  <a:srgbClr val="A100FF"/>
                </a:solidFill>
              </a:rPr>
              <a:t>documentación</a:t>
            </a:r>
            <a:r>
              <a:rPr lang="en-US" sz="1000" b="0" dirty="0">
                <a:solidFill>
                  <a:srgbClr val="A100FF"/>
                </a:solidFill>
              </a:rPr>
              <a:t> </a:t>
            </a:r>
            <a:r>
              <a:rPr lang="en-US" sz="1000" b="0" dirty="0" err="1">
                <a:solidFill>
                  <a:srgbClr val="A100FF"/>
                </a:solidFill>
              </a:rPr>
              <a:t>actualizada</a:t>
            </a:r>
            <a:r>
              <a:rPr lang="en-US" sz="1000" b="0" dirty="0">
                <a:solidFill>
                  <a:srgbClr val="A100FF"/>
                </a:solidFill>
              </a:rPr>
              <a:t>, </a:t>
            </a:r>
            <a:r>
              <a:rPr lang="en-US" sz="1000" b="0" dirty="0" err="1">
                <a:solidFill>
                  <a:srgbClr val="A100FF"/>
                </a:solidFill>
              </a:rPr>
              <a:t>Funcional</a:t>
            </a:r>
            <a:r>
              <a:rPr lang="en-US" sz="1000" b="0" dirty="0">
                <a:solidFill>
                  <a:srgbClr val="A100FF"/>
                </a:solidFill>
              </a:rPr>
              <a:t> y Técnica con </a:t>
            </a:r>
            <a:r>
              <a:rPr lang="en-US" sz="1000" b="0" dirty="0" err="1">
                <a:solidFill>
                  <a:srgbClr val="A100FF"/>
                </a:solidFill>
              </a:rPr>
              <a:t>utilización</a:t>
            </a:r>
            <a:r>
              <a:rPr lang="en-US" sz="1000" b="0" dirty="0">
                <a:solidFill>
                  <a:srgbClr val="A100FF"/>
                </a:solidFill>
              </a:rPr>
              <a:t> de </a:t>
            </a:r>
            <a:r>
              <a:rPr lang="en-US" sz="1000" b="0" dirty="0" err="1">
                <a:solidFill>
                  <a:srgbClr val="A100FF"/>
                </a:solidFill>
              </a:rPr>
              <a:t>herramientas</a:t>
            </a:r>
            <a:r>
              <a:rPr lang="en-US" sz="1000" b="0" dirty="0">
                <a:solidFill>
                  <a:srgbClr val="A100FF"/>
                </a:solidFill>
              </a:rPr>
              <a:t> de IA </a:t>
            </a:r>
            <a:r>
              <a:rPr lang="en-US" sz="1000" b="0" dirty="0" err="1">
                <a:solidFill>
                  <a:srgbClr val="A100FF"/>
                </a:solidFill>
              </a:rPr>
              <a:t>como</a:t>
            </a:r>
            <a:r>
              <a:rPr lang="en-US" sz="1000" b="0" dirty="0">
                <a:solidFill>
                  <a:srgbClr val="A100FF"/>
                </a:solidFill>
              </a:rPr>
              <a:t> VSC y Claude Code.</a:t>
            </a:r>
          </a:p>
          <a:p>
            <a:pPr marL="285750" indent="-285750">
              <a:spcAft>
                <a:spcPts val="300"/>
              </a:spcAft>
              <a:buFont typeface="Arial,Sans-Serif"/>
              <a:buChar char="•"/>
            </a:pPr>
            <a:r>
              <a:rPr lang="en-US" sz="1000" b="0" dirty="0" err="1">
                <a:solidFill>
                  <a:srgbClr val="A100FF"/>
                </a:solidFill>
              </a:rPr>
              <a:t>Liderar</a:t>
            </a:r>
            <a:r>
              <a:rPr lang="en-US" sz="1000" b="0" dirty="0">
                <a:solidFill>
                  <a:srgbClr val="A100FF"/>
                </a:solidFill>
              </a:rPr>
              <a:t> </a:t>
            </a:r>
            <a:r>
              <a:rPr lang="en-US" sz="1000" b="0" dirty="0" err="1">
                <a:solidFill>
                  <a:srgbClr val="A100FF"/>
                </a:solidFill>
              </a:rPr>
              <a:t>el</a:t>
            </a:r>
            <a:r>
              <a:rPr lang="en-US" sz="1000" b="0" dirty="0">
                <a:solidFill>
                  <a:srgbClr val="A100FF"/>
                </a:solidFill>
              </a:rPr>
              <a:t> Proyecto de </a:t>
            </a:r>
            <a:r>
              <a:rPr lang="en-US" sz="1000" b="0" dirty="0" err="1">
                <a:solidFill>
                  <a:srgbClr val="A100FF"/>
                </a:solidFill>
              </a:rPr>
              <a:t>Migración</a:t>
            </a:r>
            <a:r>
              <a:rPr lang="en-US" sz="1000" b="0" dirty="0">
                <a:solidFill>
                  <a:srgbClr val="A100FF"/>
                </a:solidFill>
              </a:rPr>
              <a:t> de </a:t>
            </a:r>
            <a:r>
              <a:rPr lang="en-US" sz="1000" b="0" dirty="0" err="1">
                <a:solidFill>
                  <a:srgbClr val="A100FF"/>
                </a:solidFill>
              </a:rPr>
              <a:t>controles</a:t>
            </a:r>
            <a:r>
              <a:rPr lang="en-US" sz="1000" b="0" dirty="0">
                <a:solidFill>
                  <a:srgbClr val="A100FF"/>
                </a:solidFill>
              </a:rPr>
              <a:t> de RAID </a:t>
            </a:r>
            <a:r>
              <a:rPr lang="en-US" sz="1000" b="0" dirty="0" err="1">
                <a:solidFill>
                  <a:srgbClr val="A100FF"/>
                </a:solidFill>
              </a:rPr>
              <a:t>Mobileum</a:t>
            </a:r>
            <a:r>
              <a:rPr lang="en-US" sz="1000" b="0" dirty="0">
                <a:solidFill>
                  <a:srgbClr val="A100FF"/>
                </a:solidFill>
              </a:rPr>
              <a:t> a Cerberus para Business Control. Big Query/Data Flow/</a:t>
            </a:r>
            <a:r>
              <a:rPr lang="en-US" sz="1000" b="0" dirty="0" err="1">
                <a:solidFill>
                  <a:srgbClr val="A100FF"/>
                </a:solidFill>
              </a:rPr>
              <a:t>DataMesh</a:t>
            </a:r>
            <a:r>
              <a:rPr lang="en-US" sz="1000" b="0" dirty="0">
                <a:solidFill>
                  <a:srgbClr val="A100FF"/>
                </a:solidFill>
              </a:rPr>
              <a:t>/Raid </a:t>
            </a:r>
            <a:r>
              <a:rPr lang="en-US" sz="1000" b="0" dirty="0" err="1">
                <a:solidFill>
                  <a:srgbClr val="A100FF"/>
                </a:solidFill>
              </a:rPr>
              <a:t>Mobileum</a:t>
            </a:r>
            <a:r>
              <a:rPr lang="en-US" sz="1000" b="0" dirty="0">
                <a:solidFill>
                  <a:srgbClr val="A100FF"/>
                </a:solidFill>
              </a:rPr>
              <a:t>/Cerberus</a:t>
            </a:r>
          </a:p>
          <a:p>
            <a:pPr marL="285750" indent="-285750">
              <a:spcAft>
                <a:spcPts val="300"/>
              </a:spcAft>
              <a:buFont typeface="Arial,Sans-Serif"/>
              <a:buChar char="•"/>
            </a:pPr>
            <a:r>
              <a:rPr lang="en-US" sz="1000" b="0" dirty="0" err="1">
                <a:solidFill>
                  <a:srgbClr val="A100FF"/>
                </a:solidFill>
              </a:rPr>
              <a:t>Gerenciar</a:t>
            </a:r>
            <a:r>
              <a:rPr lang="en-US" sz="1000" b="0" dirty="0">
                <a:solidFill>
                  <a:srgbClr val="A100FF"/>
                </a:solidFill>
              </a:rPr>
              <a:t> la Factory de RAID </a:t>
            </a:r>
            <a:r>
              <a:rPr lang="en-US" sz="1000" b="0" dirty="0" err="1">
                <a:solidFill>
                  <a:srgbClr val="A100FF"/>
                </a:solidFill>
              </a:rPr>
              <a:t>Mobileum</a:t>
            </a:r>
            <a:r>
              <a:rPr lang="en-US" sz="1000" b="0" dirty="0">
                <a:solidFill>
                  <a:srgbClr val="A100FF"/>
                </a:solidFill>
              </a:rPr>
              <a:t> y Cerberus para Business Control. Big Query/Data Flow/</a:t>
            </a:r>
            <a:r>
              <a:rPr lang="en-US" sz="1000" b="0" dirty="0" err="1">
                <a:solidFill>
                  <a:srgbClr val="A100FF"/>
                </a:solidFill>
              </a:rPr>
              <a:t>DataMesh</a:t>
            </a:r>
            <a:r>
              <a:rPr lang="en-US" sz="1000" b="0" dirty="0">
                <a:solidFill>
                  <a:srgbClr val="A100FF"/>
                </a:solidFill>
              </a:rPr>
              <a:t>/Raid </a:t>
            </a:r>
            <a:r>
              <a:rPr lang="en-US" sz="1000" b="0" dirty="0" err="1">
                <a:solidFill>
                  <a:srgbClr val="A100FF"/>
                </a:solidFill>
              </a:rPr>
              <a:t>Mobileum</a:t>
            </a:r>
            <a:r>
              <a:rPr lang="en-US" sz="1000" b="0" dirty="0">
                <a:solidFill>
                  <a:srgbClr val="A100FF"/>
                </a:solidFill>
              </a:rPr>
              <a:t>/Cerberus</a:t>
            </a:r>
            <a:endParaRPr lang="en-US" sz="1000" dirty="0">
              <a:cs typeface="Calibri"/>
            </a:endParaRPr>
          </a:p>
          <a:p>
            <a:pPr marL="285750" indent="-285750">
              <a:spcAft>
                <a:spcPts val="300"/>
              </a:spcAft>
              <a:buFont typeface="Arial" panose="020B0604020202020204" pitchFamily="34" charset="0"/>
              <a:buChar char="•"/>
            </a:pPr>
            <a:r>
              <a:rPr lang="en-US" sz="1000" b="0" dirty="0" err="1">
                <a:cs typeface="Calibri"/>
              </a:rPr>
              <a:t>Construir</a:t>
            </a:r>
            <a:r>
              <a:rPr lang="en-US" sz="1000" b="0" dirty="0">
                <a:cs typeface="Calibri"/>
              </a:rPr>
              <a:t> </a:t>
            </a:r>
            <a:r>
              <a:rPr lang="en-US" sz="1000" b="0" dirty="0" err="1">
                <a:cs typeface="Calibri"/>
              </a:rPr>
              <a:t>procesos</a:t>
            </a:r>
            <a:r>
              <a:rPr lang="en-US" sz="1000" b="0" dirty="0">
                <a:cs typeface="Calibri"/>
              </a:rPr>
              <a:t> de control para Business Control. Big Query/Data Flow/</a:t>
            </a:r>
            <a:r>
              <a:rPr lang="en-US" sz="1000" b="0" dirty="0" err="1">
                <a:cs typeface="Calibri"/>
              </a:rPr>
              <a:t>Tableu</a:t>
            </a:r>
            <a:endParaRPr lang="en-US" dirty="0"/>
          </a:p>
          <a:p>
            <a:pPr marL="285750" indent="-285750">
              <a:spcAft>
                <a:spcPts val="300"/>
              </a:spcAft>
              <a:buFont typeface="Arial" panose="020B0604020202020204" pitchFamily="34" charset="0"/>
              <a:buChar char="•"/>
            </a:pPr>
            <a:r>
              <a:rPr lang="en-US" sz="1000" b="0" dirty="0" err="1">
                <a:cs typeface="Calibri"/>
              </a:rPr>
              <a:t>Construir</a:t>
            </a:r>
            <a:r>
              <a:rPr lang="en-US" sz="1000" b="0" dirty="0">
                <a:cs typeface="Calibri"/>
              </a:rPr>
              <a:t> </a:t>
            </a:r>
            <a:r>
              <a:rPr lang="en-US" sz="1000" b="0" dirty="0" err="1">
                <a:cs typeface="Calibri"/>
              </a:rPr>
              <a:t>procesos</a:t>
            </a:r>
            <a:r>
              <a:rPr lang="en-US" sz="1000" b="0" dirty="0">
                <a:cs typeface="Calibri"/>
              </a:rPr>
              <a:t> de control para Business Control. Big Query/Data Flow/Raid </a:t>
            </a:r>
            <a:r>
              <a:rPr lang="en-US" sz="1000" b="0" dirty="0" err="1">
                <a:cs typeface="Calibri"/>
              </a:rPr>
              <a:t>Mobileum</a:t>
            </a:r>
            <a:endParaRPr lang="en-US" sz="1000" b="0" dirty="0">
              <a:cs typeface="Calibri"/>
            </a:endParaRPr>
          </a:p>
          <a:p>
            <a:pPr>
              <a:spcAft>
                <a:spcPts val="300"/>
              </a:spcAft>
            </a:pPr>
            <a:r>
              <a:rPr lang="en-US" sz="1000" dirty="0">
                <a:solidFill>
                  <a:srgbClr val="000000"/>
                </a:solidFill>
              </a:rPr>
              <a:t>IFF (03 2021 – 04 2022)</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err="1">
                <a:cs typeface="Calibri" panose="020F0502020204030204" pitchFamily="34" charset="0"/>
              </a:rPr>
              <a:t>Desarrollar</a:t>
            </a:r>
            <a:r>
              <a:rPr lang="en-US" sz="1000" b="0" dirty="0">
                <a:cs typeface="Calibri" panose="020F0502020204030204" pitchFamily="34" charset="0"/>
              </a:rPr>
              <a:t> un </a:t>
            </a:r>
            <a:r>
              <a:rPr lang="en-US" sz="1000" b="0" dirty="0" err="1">
                <a:cs typeface="Calibri" panose="020F0502020204030204" pitchFamily="34" charset="0"/>
              </a:rPr>
              <a:t>proceso</a:t>
            </a:r>
            <a:r>
              <a:rPr lang="en-US" sz="1000" b="0" dirty="0">
                <a:cs typeface="Calibri" panose="020F0502020204030204" pitchFamily="34" charset="0"/>
              </a:rPr>
              <a:t> de ingesta de </a:t>
            </a:r>
            <a:r>
              <a:rPr lang="en-US" sz="1000" b="0" dirty="0" err="1">
                <a:cs typeface="Calibri" panose="020F0502020204030204" pitchFamily="34" charset="0"/>
              </a:rPr>
              <a:t>datos</a:t>
            </a:r>
            <a:r>
              <a:rPr lang="en-US" sz="1000" b="0" dirty="0">
                <a:cs typeface="Calibri" panose="020F0502020204030204" pitchFamily="34" charset="0"/>
              </a:rPr>
              <a:t> </a:t>
            </a:r>
            <a:r>
              <a:rPr lang="en-US" sz="1000" b="0" dirty="0" err="1">
                <a:cs typeface="Calibri" panose="020F0502020204030204" pitchFamily="34" charset="0"/>
              </a:rPr>
              <a:t>desde</a:t>
            </a:r>
            <a:r>
              <a:rPr lang="en-US" sz="1000" b="0" dirty="0">
                <a:cs typeface="Calibri" panose="020F0502020204030204" pitchFamily="34" charset="0"/>
              </a:rPr>
              <a:t> </a:t>
            </a:r>
            <a:r>
              <a:rPr lang="en-US" sz="1000" b="0" dirty="0" err="1">
                <a:cs typeface="Calibri" panose="020F0502020204030204" pitchFamily="34" charset="0"/>
              </a:rPr>
              <a:t>plataformas</a:t>
            </a:r>
            <a:r>
              <a:rPr lang="en-US" sz="1000" b="0" dirty="0">
                <a:cs typeface="Calibri" panose="020F0502020204030204" pitchFamily="34" charset="0"/>
              </a:rPr>
              <a:t> SAP, SQL and Amazon S3 a Snowflake. Talend/Snowflake</a:t>
            </a:r>
          </a:p>
          <a:p>
            <a:pPr algn="just">
              <a:spcBef>
                <a:spcPts val="100"/>
              </a:spcBef>
              <a:spcAft>
                <a:spcPts val="300"/>
              </a:spcAft>
            </a:pPr>
            <a:r>
              <a:rPr lang="en-US" sz="1000" dirty="0">
                <a:solidFill>
                  <a:srgbClr val="000000"/>
                </a:solidFill>
              </a:rPr>
              <a:t>COE (06 2020 – 12 2020)</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err="1">
                <a:cs typeface="Calibri"/>
              </a:rPr>
              <a:t>Migración</a:t>
            </a:r>
            <a:r>
              <a:rPr lang="en-US" sz="1000" b="0" dirty="0">
                <a:cs typeface="Calibri"/>
              </a:rPr>
              <a:t> de </a:t>
            </a:r>
            <a:r>
              <a:rPr lang="en-US" sz="1000" b="0" dirty="0" err="1">
                <a:cs typeface="Calibri"/>
              </a:rPr>
              <a:t>aplicaciones</a:t>
            </a:r>
            <a:r>
              <a:rPr lang="en-US" sz="1000" b="0" dirty="0">
                <a:cs typeface="Calibri"/>
              </a:rPr>
              <a:t> Tableau a Oracle Analytics Cloud platform. OAC platform.</a:t>
            </a:r>
          </a:p>
          <a:p>
            <a:pPr algn="just">
              <a:spcBef>
                <a:spcPts val="100"/>
              </a:spcBef>
              <a:spcAft>
                <a:spcPts val="300"/>
              </a:spcAft>
            </a:pPr>
            <a:r>
              <a:rPr lang="es-ES" sz="1000" dirty="0">
                <a:solidFill>
                  <a:schemeClr val="tx1"/>
                </a:solidFill>
              </a:rPr>
              <a:t>J2OC DIRECTV</a:t>
            </a:r>
            <a:r>
              <a:rPr lang="en-US" sz="1000" dirty="0">
                <a:solidFill>
                  <a:srgbClr val="000000"/>
                </a:solidFill>
              </a:rPr>
              <a:t> (2019 – 06 2020)</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err="1">
                <a:cs typeface="Calibri" panose="020F0502020204030204" pitchFamily="34" charset="0"/>
              </a:rPr>
              <a:t>Migración</a:t>
            </a:r>
            <a:r>
              <a:rPr lang="en-US" sz="1000" b="0" dirty="0">
                <a:cs typeface="Calibri" panose="020F0502020204030204" pitchFamily="34" charset="0"/>
              </a:rPr>
              <a:t> de Teradata on premise a Exadata (Oracle cloud). Más de 55 TB. Teradata/Exadata/Data Stage.</a:t>
            </a:r>
            <a:endParaRPr lang="en-US" sz="1000" b="0" dirty="0"/>
          </a:p>
          <a:p>
            <a:pPr algn="just">
              <a:spcBef>
                <a:spcPts val="100"/>
              </a:spcBef>
              <a:spcAft>
                <a:spcPts val="300"/>
              </a:spcAft>
            </a:pPr>
            <a:r>
              <a:rPr lang="es-ES" sz="1000" dirty="0">
                <a:solidFill>
                  <a:schemeClr val="tx1"/>
                </a:solidFill>
              </a:rPr>
              <a:t>CIO – Client Team </a:t>
            </a:r>
            <a:r>
              <a:rPr lang="en-US" sz="1000" dirty="0">
                <a:solidFill>
                  <a:schemeClr val="tx1"/>
                </a:solidFill>
              </a:rPr>
              <a:t>Centricity Analytics Operation</a:t>
            </a:r>
            <a:r>
              <a:rPr lang="en-US" sz="1000" dirty="0">
                <a:solidFill>
                  <a:srgbClr val="000000"/>
                </a:solidFill>
              </a:rPr>
              <a:t> (2016 – 2019)</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err="1">
                <a:cs typeface="Calibri" panose="020F0502020204030204" pitchFamily="34" charset="0"/>
              </a:rPr>
              <a:t>Mantenimiento</a:t>
            </a:r>
            <a:r>
              <a:rPr lang="en-US" sz="1000" b="0" dirty="0">
                <a:cs typeface="Calibri" panose="020F0502020204030204" pitchFamily="34" charset="0"/>
              </a:rPr>
              <a:t> y Desarrollo de Dashboards </a:t>
            </a:r>
            <a:r>
              <a:rPr lang="en-US" sz="1000" b="0" dirty="0" err="1">
                <a:cs typeface="Calibri" panose="020F0502020204030204" pitchFamily="34" charset="0"/>
              </a:rPr>
              <a:t>realizados</a:t>
            </a:r>
            <a:r>
              <a:rPr lang="en-US" sz="1000" b="0" dirty="0">
                <a:cs typeface="Calibri" panose="020F0502020204030204" pitchFamily="34" charset="0"/>
              </a:rPr>
              <a:t> </a:t>
            </a:r>
            <a:r>
              <a:rPr lang="en-US" sz="1000" b="0" dirty="0" err="1">
                <a:cs typeface="Calibri" panose="020F0502020204030204" pitchFamily="34" charset="0"/>
              </a:rPr>
              <a:t>en</a:t>
            </a:r>
            <a:r>
              <a:rPr lang="en-US" sz="1000" b="0" dirty="0">
                <a:cs typeface="Calibri" panose="020F0502020204030204" pitchFamily="34" charset="0"/>
              </a:rPr>
              <a:t> Salesforce y </a:t>
            </a:r>
            <a:r>
              <a:rPr lang="en-US" sz="1000" b="0" dirty="0" err="1">
                <a:cs typeface="Calibri" panose="020F0502020204030204" pitchFamily="34" charset="0"/>
              </a:rPr>
              <a:t>todos</a:t>
            </a:r>
            <a:r>
              <a:rPr lang="en-US" sz="1000" b="0" dirty="0">
                <a:cs typeface="Calibri" panose="020F0502020204030204" pitchFamily="34" charset="0"/>
              </a:rPr>
              <a:t> </a:t>
            </a:r>
            <a:r>
              <a:rPr lang="en-US" sz="1000" b="0" dirty="0" err="1">
                <a:cs typeface="Calibri" panose="020F0502020204030204" pitchFamily="34" charset="0"/>
              </a:rPr>
              <a:t>los</a:t>
            </a:r>
            <a:r>
              <a:rPr lang="en-US" sz="1000" b="0" dirty="0">
                <a:cs typeface="Calibri" panose="020F0502020204030204" pitchFamily="34" charset="0"/>
              </a:rPr>
              <a:t> </a:t>
            </a:r>
            <a:r>
              <a:rPr lang="en-US" sz="1000" b="0" dirty="0" err="1">
                <a:cs typeface="Calibri" panose="020F0502020204030204" pitchFamily="34" charset="0"/>
              </a:rPr>
              <a:t>proceseso</a:t>
            </a:r>
            <a:r>
              <a:rPr lang="en-US" sz="1000" b="0" dirty="0">
                <a:cs typeface="Calibri" panose="020F0502020204030204" pitchFamily="34" charset="0"/>
              </a:rPr>
              <a:t> </a:t>
            </a:r>
            <a:r>
              <a:rPr lang="en-US" sz="1000" b="0" dirty="0" err="1">
                <a:cs typeface="Calibri" panose="020F0502020204030204" pitchFamily="34" charset="0"/>
              </a:rPr>
              <a:t>involucrados</a:t>
            </a:r>
            <a:r>
              <a:rPr lang="en-US" sz="1000" b="0" dirty="0">
                <a:cs typeface="Calibri" panose="020F0502020204030204" pitchFamily="34" charset="0"/>
              </a:rPr>
              <a:t> </a:t>
            </a:r>
            <a:r>
              <a:rPr lang="en-US" sz="1000" b="0" dirty="0" err="1">
                <a:cs typeface="Calibri" panose="020F0502020204030204" pitchFamily="34" charset="0"/>
              </a:rPr>
              <a:t>en</a:t>
            </a:r>
            <a:r>
              <a:rPr lang="en-US" sz="1000" b="0" dirty="0">
                <a:cs typeface="Calibri" panose="020F0502020204030204" pitchFamily="34" charset="0"/>
              </a:rPr>
              <a:t> </a:t>
            </a:r>
            <a:r>
              <a:rPr lang="en-US" sz="1000" b="0" dirty="0" err="1">
                <a:cs typeface="Calibri" panose="020F0502020204030204" pitchFamily="34" charset="0"/>
              </a:rPr>
              <a:t>los</a:t>
            </a:r>
            <a:r>
              <a:rPr lang="en-US" sz="1000" b="0" dirty="0">
                <a:cs typeface="Calibri" panose="020F0502020204030204" pitchFamily="34" charset="0"/>
              </a:rPr>
              <a:t> </a:t>
            </a:r>
            <a:r>
              <a:rPr lang="en-US" sz="1000" b="0" dirty="0" err="1">
                <a:cs typeface="Calibri" panose="020F0502020204030204" pitchFamily="34" charset="0"/>
              </a:rPr>
              <a:t>mismos</a:t>
            </a:r>
            <a:r>
              <a:rPr lang="en-US" sz="1000" b="0" dirty="0">
                <a:cs typeface="Calibri" panose="020F0502020204030204" pitchFamily="34" charset="0"/>
              </a:rPr>
              <a:t>. Salesforce tool/SQL</a:t>
            </a:r>
          </a:p>
          <a:p>
            <a:pPr algn="just">
              <a:spcBef>
                <a:spcPts val="100"/>
              </a:spcBef>
              <a:spcAft>
                <a:spcPts val="300"/>
              </a:spcAft>
            </a:pPr>
            <a:r>
              <a:rPr lang="es-ES" sz="1000" dirty="0">
                <a:solidFill>
                  <a:schemeClr val="tx1"/>
                </a:solidFill>
              </a:rPr>
              <a:t>CIO - </a:t>
            </a:r>
            <a:r>
              <a:rPr lang="en-US" sz="1000" dirty="0">
                <a:solidFill>
                  <a:schemeClr val="tx1"/>
                </a:solidFill>
              </a:rPr>
              <a:t>Enterprise CRM</a:t>
            </a:r>
            <a:r>
              <a:rPr lang="en-US" sz="1000" dirty="0">
                <a:solidFill>
                  <a:srgbClr val="000000"/>
                </a:solidFill>
              </a:rPr>
              <a:t> (2015 – 2016)</a:t>
            </a:r>
            <a:r>
              <a:rPr lang="en-US" sz="1000" b="0" dirty="0">
                <a:solidFill>
                  <a:srgbClr val="000000"/>
                </a:solidFill>
              </a:rPr>
              <a:t>​</a:t>
            </a:r>
          </a:p>
          <a:p>
            <a:pPr marL="285750" indent="-285750">
              <a:spcAft>
                <a:spcPts val="300"/>
              </a:spcAft>
              <a:buFont typeface="Arial" panose="020B0604020202020204" pitchFamily="34" charset="0"/>
              <a:buChar char="•"/>
            </a:pPr>
            <a:r>
              <a:rPr lang="es-ES" sz="1000" b="0" dirty="0">
                <a:cs typeface="Calibri" panose="020F0502020204030204" pitchFamily="34" charset="0"/>
              </a:rPr>
              <a:t>Migración de aplicaciones BizInquiry a ServiceNow. Gerenciamiento/PMO.</a:t>
            </a:r>
          </a:p>
          <a:p>
            <a:pPr algn="just">
              <a:spcBef>
                <a:spcPts val="100"/>
              </a:spcBef>
              <a:spcAft>
                <a:spcPts val="300"/>
              </a:spcAft>
            </a:pPr>
            <a:r>
              <a:rPr lang="es-ES" sz="1000" dirty="0">
                <a:solidFill>
                  <a:schemeClr val="tx1"/>
                </a:solidFill>
              </a:rPr>
              <a:t>CIO - </a:t>
            </a:r>
            <a:r>
              <a:rPr lang="en-US" sz="1000" dirty="0">
                <a:solidFill>
                  <a:schemeClr val="tx1"/>
                </a:solidFill>
              </a:rPr>
              <a:t>LAD LATAM</a:t>
            </a:r>
            <a:r>
              <a:rPr lang="en-US" sz="1000" dirty="0">
                <a:solidFill>
                  <a:srgbClr val="000000"/>
                </a:solidFill>
              </a:rPr>
              <a:t> (2008 – 2015)</a:t>
            </a:r>
            <a:r>
              <a:rPr lang="en-US" sz="1000" b="0" dirty="0">
                <a:solidFill>
                  <a:srgbClr val="000000"/>
                </a:solidFill>
              </a:rPr>
              <a:t>​</a:t>
            </a:r>
          </a:p>
          <a:p>
            <a:pPr marL="285750" indent="-285750">
              <a:spcAft>
                <a:spcPts val="300"/>
              </a:spcAft>
              <a:buFont typeface="Arial" panose="020B0604020202020204" pitchFamily="34" charset="0"/>
              <a:buChar char="•"/>
            </a:pPr>
            <a:r>
              <a:rPr lang="es-ES" sz="1000" b="0" dirty="0">
                <a:cs typeface="Calibri" panose="020F0502020204030204" pitchFamily="34" charset="0"/>
              </a:rPr>
              <a:t>Gerenciamiento de aplicaciones de CIO para LATAM. Punto de contacto con el cliente interno </a:t>
            </a:r>
            <a:r>
              <a:rPr lang="es-AR" sz="1000" b="0" dirty="0">
                <a:cs typeface="Calibri" panose="020F0502020204030204" pitchFamily="34" charset="0"/>
              </a:rPr>
              <a:t>y coordinación de los equipos funcionales y de desarrollo. </a:t>
            </a:r>
            <a:endParaRPr lang="en-US" sz="1000" b="0" dirty="0">
              <a:cs typeface="Calibri" panose="020F0502020204030204" pitchFamily="34" charset="0"/>
            </a:endParaRPr>
          </a:p>
          <a:p>
            <a:pPr algn="just">
              <a:spcBef>
                <a:spcPts val="100"/>
              </a:spcBef>
              <a:spcAft>
                <a:spcPts val="300"/>
              </a:spcAft>
            </a:pPr>
            <a:r>
              <a:rPr lang="es-ES" sz="1000" dirty="0">
                <a:solidFill>
                  <a:schemeClr val="tx1"/>
                </a:solidFill>
              </a:rPr>
              <a:t>Banesco Net</a:t>
            </a:r>
            <a:r>
              <a:rPr lang="en-US" sz="1000" dirty="0">
                <a:solidFill>
                  <a:srgbClr val="000000"/>
                </a:solidFill>
              </a:rPr>
              <a:t> (09 2006 – 2008)</a:t>
            </a:r>
            <a:r>
              <a:rPr lang="en-US" sz="1000" b="0" dirty="0">
                <a:solidFill>
                  <a:srgbClr val="000000"/>
                </a:solidFill>
              </a:rPr>
              <a:t>​</a:t>
            </a:r>
          </a:p>
          <a:p>
            <a:pPr marL="285750" indent="-285750">
              <a:spcAft>
                <a:spcPts val="300"/>
              </a:spcAft>
              <a:buFont typeface="Arial" panose="020B0604020202020204" pitchFamily="34" charset="0"/>
              <a:buChar char="•"/>
            </a:pPr>
            <a:r>
              <a:rPr lang="en-US" sz="1000" b="0" dirty="0" err="1">
                <a:cs typeface="Calibri" panose="020F0502020204030204" pitchFamily="34" charset="0"/>
              </a:rPr>
              <a:t>Reingemiería</a:t>
            </a:r>
            <a:r>
              <a:rPr lang="en-US" sz="1000" b="0" dirty="0">
                <a:cs typeface="Calibri" panose="020F0502020204030204" pitchFamily="34" charset="0"/>
              </a:rPr>
              <a:t> del home banking the </a:t>
            </a:r>
            <a:r>
              <a:rPr lang="en-US" sz="1000" b="0" dirty="0" err="1">
                <a:cs typeface="Calibri" panose="020F0502020204030204" pitchFamily="34" charset="0"/>
              </a:rPr>
              <a:t>Banesco</a:t>
            </a:r>
            <a:r>
              <a:rPr lang="en-US" sz="1000" b="0" dirty="0">
                <a:cs typeface="Calibri" panose="020F0502020204030204" pitchFamily="34" charset="0"/>
              </a:rPr>
              <a:t>, banco de Venezuela, </a:t>
            </a:r>
            <a:r>
              <a:rPr lang="en-US" sz="1000" b="0" dirty="0" err="1">
                <a:cs typeface="Calibri" panose="020F0502020204030204" pitchFamily="34" charset="0"/>
              </a:rPr>
              <a:t>en</a:t>
            </a:r>
            <a:r>
              <a:rPr lang="en-US" sz="1000" b="0" dirty="0">
                <a:cs typeface="Calibri" panose="020F0502020204030204" pitchFamily="34" charset="0"/>
              </a:rPr>
              <a:t>  .NET y SQL.  </a:t>
            </a:r>
            <a:r>
              <a:rPr lang="en-US" sz="1000" b="0" dirty="0" err="1">
                <a:cs typeface="Calibri" panose="020F0502020204030204" pitchFamily="34" charset="0"/>
              </a:rPr>
              <a:t>Gerenciamiento</a:t>
            </a:r>
            <a:r>
              <a:rPr lang="en-US" sz="1000" b="0" dirty="0">
                <a:cs typeface="Calibri" panose="020F0502020204030204" pitchFamily="34" charset="0"/>
              </a:rPr>
              <a:t> y </a:t>
            </a:r>
            <a:r>
              <a:rPr lang="en-US" sz="1000" b="0" dirty="0" err="1">
                <a:cs typeface="Calibri" panose="020F0502020204030204" pitchFamily="34" charset="0"/>
              </a:rPr>
              <a:t>coordinación</a:t>
            </a:r>
            <a:r>
              <a:rPr lang="en-US" sz="1000" b="0" dirty="0">
                <a:cs typeface="Calibri" panose="020F0502020204030204" pitchFamily="34" charset="0"/>
              </a:rPr>
              <a:t> de </a:t>
            </a:r>
            <a:r>
              <a:rPr lang="en-US" sz="1000" b="0" dirty="0" err="1">
                <a:cs typeface="Calibri" panose="020F0502020204030204" pitchFamily="34" charset="0"/>
              </a:rPr>
              <a:t>tareas</a:t>
            </a:r>
            <a:r>
              <a:rPr lang="en-US" sz="1000" b="0" dirty="0">
                <a:cs typeface="Calibri" panose="020F0502020204030204" pitchFamily="34" charset="0"/>
              </a:rPr>
              <a:t> y del </a:t>
            </a:r>
            <a:r>
              <a:rPr lang="en-US" sz="1000" b="0" dirty="0" err="1">
                <a:cs typeface="Calibri" panose="020F0502020204030204" pitchFamily="34" charset="0"/>
              </a:rPr>
              <a:t>equipo</a:t>
            </a:r>
            <a:r>
              <a:rPr lang="en-US" sz="1000" b="0" dirty="0">
                <a:cs typeface="Calibri" panose="020F0502020204030204" pitchFamily="34" charset="0"/>
              </a:rPr>
              <a:t> de Desarrollo. El Proyecto </a:t>
            </a:r>
            <a:r>
              <a:rPr lang="en-US" sz="1000" b="0" dirty="0" err="1">
                <a:cs typeface="Calibri" panose="020F0502020204030204" pitchFamily="34" charset="0"/>
              </a:rPr>
              <a:t>fue</a:t>
            </a:r>
            <a:r>
              <a:rPr lang="en-US" sz="1000" b="0" dirty="0">
                <a:cs typeface="Calibri" panose="020F0502020204030204" pitchFamily="34" charset="0"/>
              </a:rPr>
              <a:t> </a:t>
            </a:r>
            <a:r>
              <a:rPr lang="en-US" sz="1000" b="0" dirty="0" err="1">
                <a:cs typeface="Calibri" panose="020F0502020204030204" pitchFamily="34" charset="0"/>
              </a:rPr>
              <a:t>certificado</a:t>
            </a:r>
            <a:r>
              <a:rPr lang="en-US" sz="1000" b="0" dirty="0">
                <a:cs typeface="Calibri" panose="020F0502020204030204" pitchFamily="34" charset="0"/>
              </a:rPr>
              <a:t> bajo las </a:t>
            </a:r>
            <a:r>
              <a:rPr lang="en-US" sz="1000" b="0" dirty="0" err="1">
                <a:cs typeface="Calibri" panose="020F0502020204030204" pitchFamily="34" charset="0"/>
              </a:rPr>
              <a:t>normas</a:t>
            </a:r>
            <a:r>
              <a:rPr lang="en-US" sz="1000" b="0" dirty="0">
                <a:cs typeface="Calibri" panose="020F0502020204030204" pitchFamily="34" charset="0"/>
              </a:rPr>
              <a:t> de </a:t>
            </a:r>
            <a:r>
              <a:rPr lang="en-US" sz="1000" b="0" dirty="0" err="1">
                <a:cs typeface="Calibri" panose="020F0502020204030204" pitchFamily="34" charset="0"/>
              </a:rPr>
              <a:t>calidad</a:t>
            </a:r>
            <a:r>
              <a:rPr lang="en-US" sz="1000" b="0" dirty="0">
                <a:cs typeface="Calibri" panose="020F0502020204030204" pitchFamily="34" charset="0"/>
              </a:rPr>
              <a:t> </a:t>
            </a:r>
            <a:r>
              <a:rPr lang="en-US" sz="1000" b="0" dirty="0" err="1">
                <a:cs typeface="Calibri" panose="020F0502020204030204" pitchFamily="34" charset="0"/>
              </a:rPr>
              <a:t>CMMi</a:t>
            </a:r>
            <a:r>
              <a:rPr lang="en-US" sz="1000" b="0" dirty="0">
                <a:cs typeface="Calibri" panose="020F0502020204030204" pitchFamily="34" charset="0"/>
              </a:rPr>
              <a:t> 3.</a:t>
            </a:r>
          </a:p>
          <a:p>
            <a:pPr>
              <a:spcAft>
                <a:spcPts val="300"/>
              </a:spcAft>
            </a:pPr>
            <a:r>
              <a:rPr lang="en-US" sz="1000" b="0" dirty="0"/>
              <a:t> </a:t>
            </a:r>
          </a:p>
          <a:p>
            <a:pPr>
              <a:spcAft>
                <a:spcPts val="300"/>
              </a:spcAft>
            </a:pPr>
            <a:endParaRPr lang="en-US" sz="1000" b="0" dirty="0">
              <a:latin typeface="+mn-lt"/>
            </a:endParaRPr>
          </a:p>
          <a:p>
            <a:pPr>
              <a:spcAft>
                <a:spcPts val="300"/>
              </a:spcAft>
            </a:pPr>
            <a:endParaRPr lang="en-US" sz="1000" b="0" dirty="0">
              <a:latin typeface="+mn-lt"/>
            </a:endParaRPr>
          </a:p>
          <a:p>
            <a:pPr>
              <a:spcAft>
                <a:spcPts val="300"/>
              </a:spcAft>
            </a:pPr>
            <a:endParaRPr lang="en-US" sz="1000" b="0" dirty="0">
              <a:latin typeface="+mn-lt"/>
            </a:endParaRPr>
          </a:p>
          <a:p>
            <a:pPr marL="171450" indent="-171450">
              <a:spcAft>
                <a:spcPts val="300"/>
              </a:spcAft>
              <a:buFont typeface="Arial,Sans-Serif"/>
              <a:buChar char="•"/>
            </a:pPr>
            <a:endParaRPr lang="en-US" sz="1000" dirty="0">
              <a:latin typeface="+mn-lt"/>
            </a:endParaRP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2022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a:solidFill>
                  <a:schemeClr val="bg1"/>
                </a:solidFill>
                <a:ea typeface="+mj-lt"/>
                <a:cs typeface="+mj-lt"/>
              </a:rPr>
              <a:t>Accenture Technology Data &amp; AI</a:t>
            </a:r>
            <a:endParaRPr lang="en-US"/>
          </a:p>
        </p:txBody>
      </p:sp>
      <p:pic>
        <p:nvPicPr>
          <p:cNvPr id="4" name="Picture 3">
            <a:extLst>
              <a:ext uri="{FF2B5EF4-FFF2-40B4-BE49-F238E27FC236}">
                <a16:creationId xmlns:a16="http://schemas.microsoft.com/office/drawing/2014/main" id="{8DCB2C32-C331-F8E2-763E-352C3D8BBDA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2252" y="1370018"/>
            <a:ext cx="641350" cy="641350"/>
          </a:xfrm>
          <a:prstGeom prst="rect">
            <a:avLst/>
          </a:prstGeom>
          <a:noFill/>
          <a:ln>
            <a:noFill/>
          </a:ln>
        </p:spPr>
      </p:pic>
    </p:spTree>
    <p:extLst>
      <p:ext uri="{BB962C8B-B14F-4D97-AF65-F5344CB8AC3E}">
        <p14:creationId xmlns:p14="http://schemas.microsoft.com/office/powerpoint/2010/main" val="34875376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6_Office Theme">
  <a:themeElements>
    <a:clrScheme name="VISA">
      <a:dk1>
        <a:sysClr val="windowText" lastClr="000000"/>
      </a:dk1>
      <a:lt1>
        <a:sysClr val="window" lastClr="FFFFFF"/>
      </a:lt1>
      <a:dk2>
        <a:srgbClr val="F0F0F0"/>
      </a:dk2>
      <a:lt2>
        <a:srgbClr val="ADADAD"/>
      </a:lt2>
      <a:accent1>
        <a:srgbClr val="1A1F71"/>
      </a:accent1>
      <a:accent2>
        <a:srgbClr val="F7B600"/>
      </a:accent2>
      <a:accent3>
        <a:srgbClr val="5C5C5C"/>
      </a:accent3>
      <a:accent4>
        <a:srgbClr val="003EA9"/>
      </a:accent4>
      <a:accent5>
        <a:srgbClr val="EF8400"/>
      </a:accent5>
      <a:accent6>
        <a:srgbClr val="FFD700"/>
      </a:accent6>
      <a:hlink>
        <a:srgbClr val="1A1F71"/>
      </a:hlink>
      <a:folHlink>
        <a:srgbClr val="ADADAD"/>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75000"/>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25400" cap="sq">
          <a:solidFill>
            <a:schemeClr val="bg2">
              <a:lumMod val="9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CENtur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_Fonts_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CENture" id="{CC97BB4A-B5B4-4409-B17B-7852844FDFFA}" vid="{0BB4CAA1-AE1F-4AF8-B344-62FB55F0150B}"/>
    </a:ext>
  </a:extLst>
</a:theme>
</file>

<file path=ppt/theme/theme3.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953E4F1-EED6-4251-8956-041C290CBDF2}">
  <ds:schemaRefs>
    <ds:schemaRef ds:uri="http://schemas.microsoft.com/sharepoint/v3/contenttype/forms"/>
  </ds:schemaRefs>
</ds:datastoreItem>
</file>

<file path=customXml/itemProps2.xml><?xml version="1.0" encoding="utf-8"?>
<ds:datastoreItem xmlns:ds="http://schemas.openxmlformats.org/officeDocument/2006/customXml" ds:itemID="{FF27109C-1A41-4032-A373-87A253FE9CE8}"/>
</file>

<file path=customXml/itemProps3.xml><?xml version="1.0" encoding="utf-8"?>
<ds:datastoreItem xmlns:ds="http://schemas.openxmlformats.org/officeDocument/2006/customXml" ds:itemID="{247B172E-CD09-404A-9D73-CF6EC1E50CB2}">
  <ds:schemaRefs>
    <ds:schemaRef ds:uri="http://purl.org/dc/dcmitype/"/>
    <ds:schemaRef ds:uri="http://purl.org/dc/elements/1.1/"/>
    <ds:schemaRef ds:uri="http://schemas.microsoft.com/office/2006/documentManagement/types"/>
    <ds:schemaRef ds:uri="http://www.w3.org/XML/1998/namespace"/>
    <ds:schemaRef ds:uri="http://schemas.microsoft.com/office/2006/metadata/properties"/>
    <ds:schemaRef ds:uri="http://purl.org/dc/terms/"/>
    <ds:schemaRef ds:uri="http://schemas.microsoft.com/office/infopath/2007/PartnerControls"/>
    <ds:schemaRef ds:uri="http://schemas.openxmlformats.org/package/2006/metadata/core-properties"/>
    <ds:schemaRef ds:uri="79726371-cff8-4f4e-9632-62e183fd1868"/>
  </ds:schemaRefs>
</ds:datastoreItem>
</file>

<file path=docMetadata/LabelInfo.xml><?xml version="1.0" encoding="utf-8"?>
<clbl:labelList xmlns:clbl="http://schemas.microsoft.com/office/2020/mipLabelMetadata">
  <clbl:label id="{1bc0f418-96a4-4caf-9d7c-ccc5ec7f9d91}"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otalTime>6</TotalTime>
  <Words>949</Words>
  <Application>Microsoft Office PowerPoint</Application>
  <PresentationFormat>Widescreen</PresentationFormat>
  <Paragraphs>139</Paragraphs>
  <Slides>2</Slides>
  <Notes>2</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2</vt:i4>
      </vt:variant>
    </vt:vector>
  </HeadingPairs>
  <TitlesOfParts>
    <vt:vector size="15" baseType="lpstr">
      <vt:lpstr>Arial</vt:lpstr>
      <vt:lpstr>Arial Black</vt:lpstr>
      <vt:lpstr>Arial,Sans-Serif</vt:lpstr>
      <vt:lpstr>Calibri</vt:lpstr>
      <vt:lpstr>Graphik</vt:lpstr>
      <vt:lpstr>Graphik Black</vt:lpstr>
      <vt:lpstr>Graphik Super</vt:lpstr>
      <vt:lpstr>GT Sectra Fine Rg</vt:lpstr>
      <vt:lpstr>Palatino Linotype</vt:lpstr>
      <vt:lpstr>6_Office Theme</vt:lpstr>
      <vt:lpstr>ThemeACCENture</vt:lpstr>
      <vt:lpstr>ThemeACN2</vt:lpstr>
      <vt:lpstr>think-cell Slide</vt:lpstr>
      <vt:lpstr>PowerPoint Presentation</vt:lpstr>
      <vt:lpstr>PowerPoint Presentation</vt:lpstr>
    </vt:vector>
  </TitlesOfParts>
  <Company>Accenture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Consulting Proposal CoE</dc:title>
  <dc:creator>rosana.gonzalez@accenture.com</dc:creator>
  <cp:keywords>Products CV Template</cp:keywords>
  <cp:lastModifiedBy>Iacovino, Sergio</cp:lastModifiedBy>
  <cp:revision>2</cp:revision>
  <dcterms:modified xsi:type="dcterms:W3CDTF">2026-06-23T14:51:47Z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Order">
    <vt:r8>390400</vt:r8>
  </property>
  <property fmtid="{D5CDD505-2E9C-101B-9397-08002B2CF9AE}" pid="4" name="xd_ProgID">
    <vt:lpwstr/>
  </property>
  <property fmtid="{D5CDD505-2E9C-101B-9397-08002B2CF9AE}" pid="5" name="_CopySource">
    <vt:lpwstr>https://ts.accenture.com/sites/PRODUCTS_ASG/dcde/Mentoring/PRD Onboarding Deck/ASG_PRD Onboarding Session_2018_01_January_final.pptx</vt:lpwstr>
  </property>
  <property fmtid="{D5CDD505-2E9C-101B-9397-08002B2CF9AE}" pid="6" name="TemplateUrl">
    <vt:lpwstr/>
  </property>
  <property fmtid="{D5CDD505-2E9C-101B-9397-08002B2CF9AE}" pid="7" name="MSIP_Label_1bc0f418-96a4-4caf-9d7c-ccc5ec7f9d91_Enabled">
    <vt:lpwstr>true</vt:lpwstr>
  </property>
  <property fmtid="{D5CDD505-2E9C-101B-9397-08002B2CF9AE}" pid="8" name="MSIP_Label_1bc0f418-96a4-4caf-9d7c-ccc5ec7f9d91_SetDate">
    <vt:lpwstr>2020-04-30T23:14:57Z</vt:lpwstr>
  </property>
  <property fmtid="{D5CDD505-2E9C-101B-9397-08002B2CF9AE}" pid="9" name="MSIP_Label_1bc0f418-96a4-4caf-9d7c-ccc5ec7f9d91_Method">
    <vt:lpwstr>Privileged</vt:lpwstr>
  </property>
  <property fmtid="{D5CDD505-2E9C-101B-9397-08002B2CF9AE}" pid="10" name="MSIP_Label_1bc0f418-96a4-4caf-9d7c-ccc5ec7f9d91_Name">
    <vt:lpwstr>1bc0f418-96a4-4caf-9d7c-ccc5ec7f9d91</vt:lpwstr>
  </property>
  <property fmtid="{D5CDD505-2E9C-101B-9397-08002B2CF9AE}" pid="11" name="MSIP_Label_1bc0f418-96a4-4caf-9d7c-ccc5ec7f9d91_SiteId">
    <vt:lpwstr>e0793d39-0939-496d-b129-198edd916feb</vt:lpwstr>
  </property>
  <property fmtid="{D5CDD505-2E9C-101B-9397-08002B2CF9AE}" pid="12" name="MSIP_Label_1bc0f418-96a4-4caf-9d7c-ccc5ec7f9d91_ActionId">
    <vt:lpwstr>6258137a-c4ad-4877-b5d3-000067d54560</vt:lpwstr>
  </property>
  <property fmtid="{D5CDD505-2E9C-101B-9397-08002B2CF9AE}" pid="13" name="MSIP_Label_1bc0f418-96a4-4caf-9d7c-ccc5ec7f9d91_ContentBits">
    <vt:lpwstr>0</vt:lpwstr>
  </property>
  <property fmtid="{D5CDD505-2E9C-101B-9397-08002B2CF9AE}" pid="14" name="MediaServiceImageTags">
    <vt:lpwstr/>
  </property>
  <property fmtid="{D5CDD505-2E9C-101B-9397-08002B2CF9AE}" pid="15" name="ComplianceAssetId">
    <vt:lpwstr/>
  </property>
  <property fmtid="{D5CDD505-2E9C-101B-9397-08002B2CF9AE}" pid="16" name="_ExtendedDescription">
    <vt:lpwstr/>
  </property>
  <property fmtid="{D5CDD505-2E9C-101B-9397-08002B2CF9AE}" pid="17" name="TriggerFlowInfo">
    <vt:lpwstr/>
  </property>
  <property fmtid="{D5CDD505-2E9C-101B-9397-08002B2CF9AE}" pid="18" name="xd_Signature">
    <vt:bool>false</vt:bool>
  </property>
</Properties>
</file>