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07613619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04" autoAdjust="0"/>
  </p:normalViewPr>
  <p:slideViewPr>
    <p:cSldViewPr snapToGrid="0">
      <p:cViewPr>
        <p:scale>
          <a:sx n="80" d="100"/>
          <a:sy n="80" d="100"/>
        </p:scale>
        <p:origin x="136" y="-412"/>
      </p:cViewPr>
      <p:guideLst/>
    </p:cSldViewPr>
  </p:slideViewPr>
  <p:outlineViewPr>
    <p:cViewPr>
      <p:scale>
        <a:sx n="33" d="100"/>
        <a:sy n="33" d="100"/>
      </p:scale>
      <p:origin x="0" y="-17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128002-1C7C-4805-AA79-F5BD12FD9090}"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7E001B-BA27-4907-BA25-24FBB29DE486}" type="slidenum">
              <a:rPr lang="en-US" smtClean="0"/>
              <a:t>‹#›</a:t>
            </a:fld>
            <a:endParaRPr lang="en-US"/>
          </a:p>
        </p:txBody>
      </p:sp>
    </p:spTree>
    <p:extLst>
      <p:ext uri="{BB962C8B-B14F-4D97-AF65-F5344CB8AC3E}">
        <p14:creationId xmlns:p14="http://schemas.microsoft.com/office/powerpoint/2010/main" val="376204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7E001B-BA27-4907-BA25-24FBB29DE486}" type="slidenum">
              <a:rPr lang="en-US" smtClean="0"/>
              <a:t>1</a:t>
            </a:fld>
            <a:endParaRPr lang="en-US"/>
          </a:p>
        </p:txBody>
      </p:sp>
    </p:spTree>
    <p:extLst>
      <p:ext uri="{BB962C8B-B14F-4D97-AF65-F5344CB8AC3E}">
        <p14:creationId xmlns:p14="http://schemas.microsoft.com/office/powerpoint/2010/main" val="508172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3/3/2026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dirty="0"/>
              <a:t>Josmary Salazar</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85000" lnSpcReduction="20000"/>
          </a:bodyPr>
          <a:lstStyle/>
          <a:p>
            <a:r>
              <a:rPr lang="es-AR" dirty="0"/>
              <a:t>Data Eng, </a:t>
            </a:r>
            <a:r>
              <a:rPr lang="es-AR" dirty="0" err="1"/>
              <a:t>Mgmt</a:t>
            </a:r>
            <a:r>
              <a:rPr lang="es-AR" dirty="0"/>
              <a:t> &amp; </a:t>
            </a:r>
            <a:r>
              <a:rPr lang="es-AR" dirty="0" err="1"/>
              <a:t>Governance</a:t>
            </a:r>
            <a:r>
              <a:rPr lang="es-AR" dirty="0"/>
              <a:t> </a:t>
            </a:r>
            <a:r>
              <a:rPr lang="es-AR" dirty="0" err="1"/>
              <a:t>Specialist</a:t>
            </a:r>
            <a:endParaRPr lang="es-AR"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dirty="0"/>
              <a:t>j.salazar.perez@accenture.com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Buenos Aires,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a:normAutofit fontScale="92500" lnSpcReduction="20000"/>
          </a:bodyPr>
          <a:lstStyle/>
          <a:p>
            <a:pPr marL="0" lvl="0" indent="0" algn="just">
              <a:lnSpc>
                <a:spcPct val="100000"/>
              </a:lnSpc>
              <a:spcBef>
                <a:spcPts val="300"/>
              </a:spcBef>
              <a:buClr>
                <a:srgbClr val="549E39"/>
              </a:buClr>
              <a:buNone/>
              <a:defRPr/>
            </a:pPr>
            <a:r>
              <a:rPr lang="en-US" dirty="0">
                <a:solidFill>
                  <a:prstClr val="black"/>
                </a:solidFill>
              </a:rPr>
              <a:t>Data Engineering and Data Governance Specialist with over nine years of experience in backend development, ETL process design, system integrations, and end‑to‑end support in Microsoft and Azure environments. Experienced in resolving complex technical issues, automating workflows, and optimizing solutions within development teams.</a:t>
            </a:r>
          </a:p>
          <a:p>
            <a:pPr marL="0" lvl="0" indent="0" algn="just">
              <a:lnSpc>
                <a:spcPct val="100000"/>
              </a:lnSpc>
              <a:spcBef>
                <a:spcPts val="300"/>
              </a:spcBef>
              <a:buClr>
                <a:srgbClr val="549E39"/>
              </a:buClr>
              <a:buNone/>
              <a:defRPr/>
            </a:pPr>
            <a:r>
              <a:rPr lang="en-US" dirty="0">
                <a:solidFill>
                  <a:prstClr val="black"/>
                </a:solidFill>
              </a:rPr>
              <a:t>Currently undergoing a formal re‑skilling process focused on Generative AI and Agentic AI, gaining knowledge in agent architectures, reasoning workflows, RAG, knowledge‑graph approaches, and advanced techniques to integrate AI into software processes. My goal is to combine a strong foundation in data engineering with new AI capabilities to contribute to scalable, efficient, and business‑aligned solutions.</a:t>
            </a:r>
            <a:endParaRPr lang="en-US" dirty="0"/>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042392" y="2670176"/>
            <a:ext cx="2253359" cy="1208098"/>
          </a:xfrm>
        </p:spPr>
        <p:txBody>
          <a:bodyPr>
            <a:noAutofit/>
          </a:bodyPr>
          <a:lstStyle/>
          <a:p>
            <a:pPr marL="170781" lvl="0" indent="-170781">
              <a:lnSpc>
                <a:spcPct val="100000"/>
              </a:lnSpc>
              <a:spcBef>
                <a:spcPts val="200"/>
              </a:spcBef>
              <a:tabLst>
                <a:tab pos="133270" algn="l"/>
              </a:tabLst>
              <a:defRPr/>
            </a:pPr>
            <a:r>
              <a:rPr lang="en-US" altLang="en-US" sz="900" dirty="0">
                <a:solidFill>
                  <a:prstClr val="black"/>
                </a:solidFill>
                <a:latin typeface="Calibri" panose="020F0502020204030204"/>
                <a:cs typeface="Arial"/>
              </a:rPr>
              <a:t>ETL, .NET/C#, SQL, MongoDB, CI/CD, Git, automation, Power BI (Beginner).</a:t>
            </a:r>
          </a:p>
          <a:p>
            <a:pPr marL="170781" lvl="0" indent="-170781">
              <a:lnSpc>
                <a:spcPct val="100000"/>
              </a:lnSpc>
              <a:spcBef>
                <a:spcPts val="200"/>
              </a:spcBef>
              <a:tabLst>
                <a:tab pos="133270" algn="l"/>
              </a:tabLst>
              <a:defRPr/>
            </a:pPr>
            <a:r>
              <a:rPr lang="en-US" altLang="en-US" sz="900" dirty="0">
                <a:solidFill>
                  <a:prstClr val="black"/>
                </a:solidFill>
                <a:latin typeface="Calibri" panose="020F0502020204030204"/>
                <a:cs typeface="Arial"/>
              </a:rPr>
              <a:t>Azure AI Foundry, CI/CD, Git and DevOps practices.</a:t>
            </a:r>
          </a:p>
          <a:p>
            <a:pPr marL="170781" lvl="0" indent="-170781">
              <a:lnSpc>
                <a:spcPct val="100000"/>
              </a:lnSpc>
              <a:spcBef>
                <a:spcPts val="200"/>
              </a:spcBef>
              <a:tabLst>
                <a:tab pos="133270" algn="l"/>
              </a:tabLst>
              <a:defRPr/>
            </a:pPr>
            <a:r>
              <a:rPr lang="en-US" altLang="en-US" sz="900" dirty="0">
                <a:solidFill>
                  <a:prstClr val="black"/>
                </a:solidFill>
                <a:latin typeface="Calibri" panose="020F0502020204030204"/>
                <a:cs typeface="Arial"/>
              </a:rPr>
              <a:t>Documentation and cross‑team coordination.</a:t>
            </a:r>
          </a:p>
          <a:p>
            <a:pPr marL="170781" indent="-170781">
              <a:lnSpc>
                <a:spcPct val="100000"/>
              </a:lnSpc>
              <a:spcBef>
                <a:spcPts val="200"/>
              </a:spcBef>
              <a:tabLst>
                <a:tab pos="133270" algn="l"/>
              </a:tabLst>
              <a:defRPr/>
            </a:pPr>
            <a:r>
              <a:rPr lang="en-US" altLang="en-US" sz="900" dirty="0">
                <a:solidFill>
                  <a:prstClr val="black"/>
                </a:solidFill>
                <a:latin typeface="Calibri" panose="020F0502020204030204"/>
                <a:cs typeface="Arial"/>
              </a:rPr>
              <a:t>Foundations in Generative AI, RAG, reasoning workflows and agent‑based architectures</a:t>
            </a: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329947" y="2369988"/>
            <a:ext cx="6811694" cy="4448257"/>
          </a:xfrm>
        </p:spPr>
        <p:txBody>
          <a:bodyPr>
            <a:noAutofit/>
          </a:bodyPr>
          <a:lstStyle/>
          <a:p>
            <a:pPr marL="0" lvl="0" indent="0" defTabSz="912813">
              <a:lnSpc>
                <a:spcPct val="100000"/>
              </a:lnSpc>
              <a:spcBef>
                <a:spcPts val="0"/>
              </a:spcBef>
              <a:buNone/>
              <a:tabLst>
                <a:tab pos="917575" algn="l"/>
              </a:tabLst>
              <a:defRPr/>
            </a:pPr>
            <a:r>
              <a:rPr lang="en-US" sz="1000" dirty="0">
                <a:solidFill>
                  <a:prstClr val="black"/>
                </a:solidFill>
              </a:rPr>
              <a:t>DEVIN AI Proof of Concept</a:t>
            </a:r>
          </a:p>
          <a:p>
            <a:pPr defTabSz="912813">
              <a:lnSpc>
                <a:spcPct val="100000"/>
              </a:lnSpc>
              <a:spcBef>
                <a:spcPts val="0"/>
              </a:spcBef>
              <a:tabLst>
                <a:tab pos="917575" algn="l"/>
              </a:tabLst>
              <a:defRPr/>
            </a:pPr>
            <a:r>
              <a:rPr lang="en-US" sz="1000" b="0" dirty="0">
                <a:solidFill>
                  <a:prstClr val="black"/>
                </a:solidFill>
              </a:rPr>
              <a:t>Planned and structured the activities and milestones of the DEVIN POC.</a:t>
            </a:r>
          </a:p>
          <a:p>
            <a:pPr defTabSz="912813">
              <a:lnSpc>
                <a:spcPct val="100000"/>
              </a:lnSpc>
              <a:spcBef>
                <a:spcPts val="0"/>
              </a:spcBef>
              <a:tabLst>
                <a:tab pos="917575" algn="l"/>
              </a:tabLst>
              <a:defRPr/>
            </a:pPr>
            <a:r>
              <a:rPr lang="en-US" sz="1000" b="0" dirty="0">
                <a:solidFill>
                  <a:prstClr val="black"/>
                </a:solidFill>
              </a:rPr>
              <a:t>Provided support to participants during meetings and through offline assistance.</a:t>
            </a:r>
          </a:p>
          <a:p>
            <a:pPr defTabSz="912813">
              <a:lnSpc>
                <a:spcPct val="100000"/>
              </a:lnSpc>
              <a:spcBef>
                <a:spcPts val="0"/>
              </a:spcBef>
              <a:tabLst>
                <a:tab pos="917575" algn="l"/>
              </a:tabLst>
              <a:defRPr/>
            </a:pPr>
            <a:r>
              <a:rPr lang="en-US" sz="1000" b="0" dirty="0">
                <a:solidFill>
                  <a:prstClr val="black"/>
                </a:solidFill>
              </a:rPr>
              <a:t>Executed DEVIN runs with and without participants to complete assigned use cases.</a:t>
            </a:r>
          </a:p>
          <a:p>
            <a:pPr defTabSz="912813">
              <a:lnSpc>
                <a:spcPct val="100000"/>
              </a:lnSpc>
              <a:spcBef>
                <a:spcPts val="0"/>
              </a:spcBef>
              <a:tabLst>
                <a:tab pos="917575" algn="l"/>
              </a:tabLst>
              <a:defRPr/>
            </a:pPr>
            <a:r>
              <a:rPr lang="en-US" sz="1000" b="0" dirty="0">
                <a:solidFill>
                  <a:prstClr val="black"/>
                </a:solidFill>
              </a:rPr>
              <a:t>Processed and analyzed POC results to identify performance, gaps, and improvement opportunities.</a:t>
            </a:r>
          </a:p>
          <a:p>
            <a:pPr defTabSz="912813">
              <a:lnSpc>
                <a:spcPct val="100000"/>
              </a:lnSpc>
              <a:spcBef>
                <a:spcPts val="0"/>
              </a:spcBef>
              <a:tabLst>
                <a:tab pos="917575" algn="l"/>
              </a:tabLst>
              <a:defRPr/>
            </a:pPr>
            <a:r>
              <a:rPr lang="en-US" sz="1000" b="0" dirty="0">
                <a:solidFill>
                  <a:prstClr val="black"/>
                </a:solidFill>
              </a:rPr>
              <a:t>Prepared presentations summarizing outcomes and proposing next steps for DEVIN adoption within the business.</a:t>
            </a:r>
            <a:br>
              <a:rPr lang="en-US" sz="1000" b="0" dirty="0">
                <a:solidFill>
                  <a:prstClr val="black"/>
                </a:solidFill>
              </a:rPr>
            </a:br>
            <a:endParaRPr lang="es-AR" sz="1000" dirty="0">
              <a:solidFill>
                <a:prstClr val="black"/>
              </a:solidFill>
            </a:endParaRPr>
          </a:p>
          <a:p>
            <a:pPr marL="0" lvl="0" indent="0" defTabSz="912813">
              <a:lnSpc>
                <a:spcPct val="100000"/>
              </a:lnSpc>
              <a:spcBef>
                <a:spcPts val="0"/>
              </a:spcBef>
              <a:buNone/>
              <a:tabLst>
                <a:tab pos="917575" algn="l"/>
              </a:tabLst>
              <a:defRPr/>
            </a:pPr>
            <a:r>
              <a:rPr lang="en-US" sz="1000" dirty="0">
                <a:solidFill>
                  <a:prstClr val="black"/>
                </a:solidFill>
              </a:rPr>
              <a:t>Computational Governance(2025 – 2025)</a:t>
            </a:r>
          </a:p>
          <a:p>
            <a:pPr defTabSz="912813">
              <a:lnSpc>
                <a:spcPct val="100000"/>
              </a:lnSpc>
              <a:spcBef>
                <a:spcPts val="0"/>
              </a:spcBef>
              <a:tabLst>
                <a:tab pos="917575" algn="l"/>
              </a:tabLst>
              <a:defRPr/>
            </a:pPr>
            <a:r>
              <a:rPr lang="en-US" sz="1000" b="0" dirty="0">
                <a:solidFill>
                  <a:prstClr val="black"/>
                </a:solidFill>
              </a:rPr>
              <a:t>Development of AI ethics and governance policies.</a:t>
            </a:r>
          </a:p>
          <a:p>
            <a:pPr defTabSz="912813">
              <a:lnSpc>
                <a:spcPct val="100000"/>
              </a:lnSpc>
              <a:spcBef>
                <a:spcPts val="0"/>
              </a:spcBef>
              <a:tabLst>
                <a:tab pos="917575" algn="l"/>
              </a:tabLst>
              <a:defRPr/>
            </a:pPr>
            <a:r>
              <a:rPr lang="en-US" sz="1000" b="0" dirty="0">
                <a:solidFill>
                  <a:prstClr val="black"/>
                </a:solidFill>
              </a:rPr>
              <a:t>Definition of guidelines for the responsible use of data and models.</a:t>
            </a:r>
          </a:p>
          <a:p>
            <a:pPr defTabSz="912813">
              <a:lnSpc>
                <a:spcPct val="100000"/>
              </a:lnSpc>
              <a:spcBef>
                <a:spcPts val="0"/>
              </a:spcBef>
              <a:tabLst>
                <a:tab pos="917575" algn="l"/>
              </a:tabLst>
              <a:defRPr/>
            </a:pPr>
            <a:r>
              <a:rPr lang="en-US" sz="1000" b="0" dirty="0">
                <a:solidFill>
                  <a:prstClr val="black"/>
                </a:solidFill>
              </a:rPr>
              <a:t>Identification and evaluation of potential automations using existing tools.</a:t>
            </a:r>
          </a:p>
          <a:p>
            <a:pPr marL="0" indent="0" defTabSz="912813">
              <a:lnSpc>
                <a:spcPct val="100000"/>
              </a:lnSpc>
              <a:spcBef>
                <a:spcPts val="0"/>
              </a:spcBef>
              <a:buNone/>
              <a:tabLst>
                <a:tab pos="917575" algn="l"/>
              </a:tabLst>
              <a:defRPr/>
            </a:pPr>
            <a:endParaRPr lang="en-US" sz="1000" b="0" dirty="0">
              <a:solidFill>
                <a:prstClr val="black"/>
              </a:solidFill>
            </a:endParaRPr>
          </a:p>
          <a:p>
            <a:pPr marL="0" lvl="0" indent="0" defTabSz="912813">
              <a:lnSpc>
                <a:spcPct val="100000"/>
              </a:lnSpc>
              <a:spcBef>
                <a:spcPts val="0"/>
              </a:spcBef>
              <a:buNone/>
              <a:tabLst>
                <a:tab pos="917575" algn="l"/>
              </a:tabLst>
              <a:defRPr/>
            </a:pPr>
            <a:r>
              <a:rPr lang="en-US" sz="1000" dirty="0">
                <a:solidFill>
                  <a:prstClr val="black"/>
                </a:solidFill>
              </a:rPr>
              <a:t>Logistic Planning Optimization (2019 – 2024)</a:t>
            </a:r>
          </a:p>
          <a:p>
            <a:pPr defTabSz="912813">
              <a:lnSpc>
                <a:spcPct val="100000"/>
              </a:lnSpc>
              <a:spcBef>
                <a:spcPts val="0"/>
              </a:spcBef>
              <a:tabLst>
                <a:tab pos="917575" algn="l"/>
              </a:tabLst>
              <a:defRPr/>
            </a:pPr>
            <a:r>
              <a:rPr lang="en-US" sz="1000" b="0" dirty="0">
                <a:solidFill>
                  <a:prstClr val="black"/>
                </a:solidFill>
              </a:rPr>
              <a:t>Worked across multiple phases of the project, progressing from software development to broader responsibilities in planning, analysis, and technical decision‑making.</a:t>
            </a:r>
          </a:p>
          <a:p>
            <a:pPr lvl="1" defTabSz="912813">
              <a:lnSpc>
                <a:spcPct val="100000"/>
              </a:lnSpc>
              <a:spcBef>
                <a:spcPts val="0"/>
              </a:spcBef>
              <a:tabLst>
                <a:tab pos="917575" algn="l"/>
              </a:tabLst>
              <a:defRPr/>
            </a:pPr>
            <a:r>
              <a:rPr lang="en-US" sz="1000" dirty="0">
                <a:solidFill>
                  <a:prstClr val="black"/>
                </a:solidFill>
              </a:rPr>
              <a:t>Developed new modules and refactored, improved, and fixed existing components using .NET Framework, C#, JavaScript, Vue.js, and GAPP framework.</a:t>
            </a:r>
          </a:p>
          <a:p>
            <a:pPr lvl="1" defTabSz="912813">
              <a:lnSpc>
                <a:spcPct val="100000"/>
              </a:lnSpc>
              <a:spcBef>
                <a:spcPts val="0"/>
              </a:spcBef>
              <a:tabLst>
                <a:tab pos="917575" algn="l"/>
              </a:tabLst>
              <a:defRPr/>
            </a:pPr>
            <a:r>
              <a:rPr lang="en-US" sz="1000" dirty="0">
                <a:solidFill>
                  <a:prstClr val="black"/>
                </a:solidFill>
              </a:rPr>
              <a:t>Built integrations for data exchange using C# web APIs.</a:t>
            </a:r>
          </a:p>
          <a:p>
            <a:pPr lvl="1" defTabSz="912813">
              <a:lnSpc>
                <a:spcPct val="100000"/>
              </a:lnSpc>
              <a:spcBef>
                <a:spcPts val="0"/>
              </a:spcBef>
              <a:tabLst>
                <a:tab pos="917575" algn="l"/>
              </a:tabLst>
              <a:defRPr/>
            </a:pPr>
            <a:r>
              <a:rPr lang="en-US" sz="1000" dirty="0">
                <a:solidFill>
                  <a:prstClr val="black"/>
                </a:solidFill>
              </a:rPr>
              <a:t>Estimated and analyzed requirements for new functionalities and upcoming development phases.</a:t>
            </a:r>
          </a:p>
          <a:p>
            <a:pPr lvl="1" defTabSz="912813">
              <a:lnSpc>
                <a:spcPct val="100000"/>
              </a:lnSpc>
              <a:spcBef>
                <a:spcPts val="0"/>
              </a:spcBef>
              <a:tabLst>
                <a:tab pos="917575" algn="l"/>
              </a:tabLst>
              <a:defRPr/>
            </a:pPr>
            <a:r>
              <a:rPr lang="en-US" sz="1000" dirty="0">
                <a:solidFill>
                  <a:prstClr val="black"/>
                </a:solidFill>
              </a:rPr>
              <a:t>Planned and estimated sprints using Microsoft Project, supporting the coordination of different development stages.</a:t>
            </a:r>
          </a:p>
          <a:p>
            <a:pPr lvl="1" defTabSz="912813">
              <a:lnSpc>
                <a:spcPct val="100000"/>
              </a:lnSpc>
              <a:spcBef>
                <a:spcPts val="0"/>
              </a:spcBef>
              <a:tabLst>
                <a:tab pos="917575" algn="l"/>
              </a:tabLst>
              <a:defRPr/>
            </a:pPr>
            <a:r>
              <a:rPr lang="en-US" sz="1000" dirty="0">
                <a:solidFill>
                  <a:prstClr val="black"/>
                </a:solidFill>
              </a:rPr>
              <a:t>Attended client meetings to gather requirements for new modules and integrations.</a:t>
            </a:r>
          </a:p>
          <a:p>
            <a:pPr lvl="1" defTabSz="912813">
              <a:lnSpc>
                <a:spcPct val="100000"/>
              </a:lnSpc>
              <a:spcBef>
                <a:spcPts val="0"/>
              </a:spcBef>
              <a:tabLst>
                <a:tab pos="917575" algn="l"/>
              </a:tabLst>
              <a:defRPr/>
            </a:pPr>
            <a:r>
              <a:rPr lang="en-US" sz="1000" dirty="0">
                <a:solidFill>
                  <a:prstClr val="black"/>
                </a:solidFill>
              </a:rPr>
              <a:t>Analyzed complex production issues, identified application errors, and proposed solutions.</a:t>
            </a:r>
          </a:p>
          <a:p>
            <a:pPr lvl="1" defTabSz="912813">
              <a:lnSpc>
                <a:spcPct val="100000"/>
              </a:lnSpc>
              <a:spcBef>
                <a:spcPts val="0"/>
              </a:spcBef>
              <a:tabLst>
                <a:tab pos="917575" algn="l"/>
              </a:tabLst>
              <a:defRPr/>
            </a:pPr>
            <a:r>
              <a:rPr lang="en-US" sz="1000" dirty="0">
                <a:solidFill>
                  <a:prstClr val="black"/>
                </a:solidFill>
              </a:rPr>
              <a:t>Evaluated and recommended Azure technologies (</a:t>
            </a:r>
            <a:r>
              <a:rPr lang="en-US" sz="1000" dirty="0" err="1">
                <a:solidFill>
                  <a:prstClr val="black"/>
                </a:solidFill>
              </a:rPr>
              <a:t>WebJobs</a:t>
            </a:r>
            <a:r>
              <a:rPr lang="en-US" sz="1000" dirty="0">
                <a:solidFill>
                  <a:prstClr val="black"/>
                </a:solidFill>
              </a:rPr>
              <a:t>, Azure Functions, APIs) for specific needs.</a:t>
            </a:r>
          </a:p>
          <a:p>
            <a:pPr lvl="1" defTabSz="912813">
              <a:lnSpc>
                <a:spcPct val="100000"/>
              </a:lnSpc>
              <a:spcBef>
                <a:spcPts val="0"/>
              </a:spcBef>
              <a:tabLst>
                <a:tab pos="917575" algn="l"/>
              </a:tabLst>
              <a:defRPr/>
            </a:pPr>
            <a:r>
              <a:rPr lang="en-US" sz="1000" dirty="0">
                <a:solidFill>
                  <a:prstClr val="black"/>
                </a:solidFill>
              </a:rPr>
              <a:t>Monitored development team tasks, provided support to ensure completion, and performed deployments and configurations through Azure DevOps.</a:t>
            </a:r>
          </a:p>
          <a:p>
            <a:pPr marL="0" indent="0" defTabSz="912813">
              <a:lnSpc>
                <a:spcPct val="100000"/>
              </a:lnSpc>
              <a:spcBef>
                <a:spcPts val="0"/>
              </a:spcBef>
              <a:buNone/>
              <a:tabLst>
                <a:tab pos="917575" algn="l"/>
              </a:tabLst>
              <a:defRPr/>
            </a:pPr>
            <a:r>
              <a:rPr lang="en-US" sz="1000" dirty="0">
                <a:solidFill>
                  <a:prstClr val="black"/>
                </a:solidFill>
              </a:rPr>
              <a:t>(outside Accenture)​</a:t>
            </a:r>
          </a:p>
          <a:p>
            <a:pPr defTabSz="912813">
              <a:lnSpc>
                <a:spcPct val="100000"/>
              </a:lnSpc>
              <a:spcBef>
                <a:spcPts val="0"/>
              </a:spcBef>
              <a:tabLst>
                <a:tab pos="917575" algn="l"/>
              </a:tabLst>
              <a:defRPr/>
            </a:pPr>
            <a:r>
              <a:rPr lang="en-US" sz="1000" b="0" dirty="0">
                <a:solidFill>
                  <a:prstClr val="black"/>
                </a:solidFill>
              </a:rPr>
              <a:t>Senior Software Developer .NET (2019)</a:t>
            </a:r>
          </a:p>
          <a:p>
            <a:pPr defTabSz="912813">
              <a:lnSpc>
                <a:spcPct val="100000"/>
              </a:lnSpc>
              <a:spcBef>
                <a:spcPts val="0"/>
              </a:spcBef>
              <a:tabLst>
                <a:tab pos="917575" algn="l"/>
              </a:tabLst>
              <a:defRPr/>
            </a:pPr>
            <a:r>
              <a:rPr lang="en-US" sz="1000" b="0" dirty="0">
                <a:solidFill>
                  <a:prstClr val="black"/>
                </a:solidFill>
              </a:rPr>
              <a:t>Software Developer .NET (2015-2019)</a:t>
            </a: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p:txBody>
          <a:bodyPr/>
          <a:lstStyle/>
          <a:p>
            <a:pPr marL="0" indent="0">
              <a:buNone/>
            </a:pPr>
            <a:r>
              <a:rPr lang="it-IT" dirty="0">
                <a:latin typeface="Graphik"/>
              </a:rPr>
              <a:t>Data &amp; AI &gt; Data Eng, Mgmt &amp; Governance</a:t>
            </a:r>
          </a:p>
        </p:txBody>
      </p:sp>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dirty="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dirty="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042391" y="4231796"/>
            <a:ext cx="2253359"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Inventory</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Oil &amp; Gas</a:t>
            </a: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10586" y="5245785"/>
            <a:ext cx="2342612"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CERTIFICATIONS</a:t>
            </a:r>
            <a:endParaRPr lang="en-US" sz="1100" b="1" dirty="0">
              <a:solidFill>
                <a:srgbClr val="7030A0"/>
              </a:solidFill>
              <a:latin typeface="Graphik" panose="020B0503030202060203" pitchFamily="34" charset="0"/>
            </a:endParaRPr>
          </a:p>
        </p:txBody>
      </p:sp>
      <p:pic>
        <p:nvPicPr>
          <p:cNvPr id="22" name="Picture Placeholder 21">
            <a:extLst>
              <a:ext uri="{FF2B5EF4-FFF2-40B4-BE49-F238E27FC236}">
                <a16:creationId xmlns:a16="http://schemas.microsoft.com/office/drawing/2014/main" id="{78A27724-D53C-844C-1817-B671288E63FD}"/>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3001" r="3001"/>
          <a:stretch>
            <a:fillRect/>
          </a:stretch>
        </p:blipFill>
        <p:spPr/>
      </p:pic>
    </p:spTree>
    <p:extLst>
      <p:ext uri="{BB962C8B-B14F-4D97-AF65-F5344CB8AC3E}">
        <p14:creationId xmlns:p14="http://schemas.microsoft.com/office/powerpoint/2010/main" val="52123961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b3e803809cee597fc3b47f0bb07c2c3c">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31b344b0215af432afecb1c8ed6d0c85"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6E1B6B8-E1F3-4977-BBE9-973CB44695F3}"/>
</file>

<file path=customXml/itemProps2.xml><?xml version="1.0" encoding="utf-8"?>
<ds:datastoreItem xmlns:ds="http://schemas.openxmlformats.org/officeDocument/2006/customXml" ds:itemID="{AF30178D-67DE-4C47-8A46-9BEB608A90C5}"/>
</file>

<file path=customXml/itemProps3.xml><?xml version="1.0" encoding="utf-8"?>
<ds:datastoreItem xmlns:ds="http://schemas.openxmlformats.org/officeDocument/2006/customXml" ds:itemID="{70E8A8B9-1AFE-4D10-A30F-BC701558A23C}"/>
</file>

<file path=docProps/app.xml><?xml version="1.0" encoding="utf-8"?>
<Properties xmlns="http://schemas.openxmlformats.org/officeDocument/2006/extended-properties" xmlns:vt="http://schemas.openxmlformats.org/officeDocument/2006/docPropsVTypes">
  <TotalTime>5873</TotalTime>
  <Words>513</Words>
  <Application>Microsoft Office PowerPoint</Application>
  <PresentationFormat>Widescreen</PresentationFormat>
  <Paragraphs>41</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Calibri</vt:lpstr>
      <vt:lpstr>Calibri Light</vt:lpstr>
      <vt:lpstr>Graphik</vt:lpstr>
      <vt:lpstr>Graphik Black</vt:lpstr>
      <vt:lpstr>Graphik Super</vt:lpstr>
      <vt:lpstr>1_Office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Ana;j.salazar.perez@accenture.com</dc:creator>
  <cp:lastModifiedBy>Salazar, Josmary</cp:lastModifiedBy>
  <cp:revision>11</cp:revision>
  <dcterms:created xsi:type="dcterms:W3CDTF">2022-03-18T18:13:59Z</dcterms:created>
  <dcterms:modified xsi:type="dcterms:W3CDTF">2026-03-03T17:12:25Z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ies>
</file>