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0" r:id="rId4"/>
    <p:sldMasterId id="2147483760" r:id="rId5"/>
    <p:sldMasterId id="2147483812" r:id="rId6"/>
  </p:sldMasterIdLst>
  <p:notesMasterIdLst>
    <p:notesMasterId r:id="rId8"/>
  </p:notesMasterIdLst>
  <p:handoutMasterIdLst>
    <p:handoutMasterId r:id="rId9"/>
  </p:handoutMasterIdLst>
  <p:sldIdLst>
    <p:sldId id="2076136212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3772" userDrawn="1">
          <p15:clr>
            <a:srgbClr val="A4A3A4"/>
          </p15:clr>
        </p15:guide>
        <p15:guide id="6" pos="3931" userDrawn="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5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dermann, Uta" initials="SU" lastIdx="8" clrIdx="0">
    <p:extLst>
      <p:ext uri="{19B8F6BF-5375-455C-9EA6-DF929625EA0E}">
        <p15:presenceInfo xmlns:p15="http://schemas.microsoft.com/office/powerpoint/2012/main" userId="S-1-5-21-329068152-1454471165-1417001333-4183212" providerId="AD"/>
      </p:ext>
    </p:extLst>
  </p:cmAuthor>
  <p:cmAuthor id="2" name="Habel, Till" initials="HT" lastIdx="5" clrIdx="1">
    <p:extLst>
      <p:ext uri="{19B8F6BF-5375-455C-9EA6-DF929625EA0E}">
        <p15:presenceInfo xmlns:p15="http://schemas.microsoft.com/office/powerpoint/2012/main" userId="S-1-5-21-329068152-1454471165-1417001333-7653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0FF"/>
    <a:srgbClr val="969696"/>
    <a:srgbClr val="5A5A5A"/>
    <a:srgbClr val="002266"/>
    <a:srgbClr val="FFB500"/>
    <a:srgbClr val="FFFFFF"/>
    <a:srgbClr val="000000"/>
    <a:srgbClr val="C9F3FF"/>
    <a:srgbClr val="F2F2F2"/>
    <a:srgbClr val="008CB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0"/>
      </p:cViewPr>
      <p:guideLst>
        <p:guide pos="3840"/>
        <p:guide pos="3772"/>
        <p:guide pos="3931"/>
        <p:guide orient="horz" pos="2160"/>
        <p:guide pos="5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Arial" panose="020B0604020202020204" pitchFamily="34" charset="0"/>
              </a:rPr>
              <a:t>6/27/2023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D39D084F-DC83-4EB0-8CED-52E9AA3ECA1C}" type="datetimeFigureOut">
              <a:rPr lang="en-US" smtClean="0"/>
              <a:pPr/>
              <a:t>6/27/2023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33544-EAA4-455F-8C8C-F9FC7D06B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98" y="1744826"/>
            <a:ext cx="6435081" cy="17145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6000" cap="all" baseline="0">
                <a:latin typeface="+mj-lt"/>
              </a:defRPr>
            </a:lvl1pPr>
          </a:lstStyle>
          <a:p>
            <a:pPr lvl="0"/>
            <a:r>
              <a:rPr lang="de-DE" err="1"/>
              <a:t>Presentation</a:t>
            </a:r>
            <a:r>
              <a:rPr lang="de-DE"/>
              <a:t> Title</a:t>
            </a:r>
            <a:endParaRPr lang="en-GB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C774CE-8A51-462C-A6DA-3353B65B8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98" y="3486875"/>
            <a:ext cx="6435081" cy="5078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70000"/>
              </a:lnSpc>
              <a:defRPr sz="3000" cap="all" baseline="0">
                <a:solidFill>
                  <a:schemeClr val="tx1"/>
                </a:solidFill>
                <a:latin typeface="+mj-lt"/>
              </a:defRPr>
            </a:lvl1pPr>
            <a:lvl2pPr>
              <a:defRPr sz="3000">
                <a:latin typeface="Graphik Black" panose="020B0A03030202060203" pitchFamily="34" charset="0"/>
              </a:defRPr>
            </a:lvl2pPr>
            <a:lvl3pPr>
              <a:defRPr sz="3000">
                <a:latin typeface="Graphik Black" panose="020B0A03030202060203" pitchFamily="34" charset="0"/>
              </a:defRPr>
            </a:lvl3pPr>
            <a:lvl4pPr>
              <a:defRPr sz="3000">
                <a:latin typeface="Graphik Black" panose="020B0A03030202060203" pitchFamily="34" charset="0"/>
              </a:defRPr>
            </a:lvl4pPr>
            <a:lvl5pPr>
              <a:defRPr sz="3000">
                <a:latin typeface="Graphik Black" panose="020B0A03030202060203" pitchFamily="34" charset="0"/>
              </a:defRPr>
            </a:lvl5pPr>
          </a:lstStyle>
          <a:p>
            <a:pPr lvl="0"/>
            <a:r>
              <a:rPr lang="en-US"/>
              <a:t>Subtitle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933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_Españ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3791" y="-46505"/>
            <a:ext cx="12184418" cy="1939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938" y="88223"/>
            <a:ext cx="1336675" cy="1673225"/>
          </a:xfrm>
        </p:spPr>
        <p:txBody>
          <a:bodyPr/>
          <a:lstStyle>
            <a:lvl1pPr>
              <a:defRPr/>
            </a:lvl1pPr>
          </a:lstStyle>
          <a:p>
            <a:r>
              <a:rPr lang="es-CO" noProof="0"/>
              <a:t>Clic para adjuntar la imagen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384558" y="6517088"/>
            <a:ext cx="5711445" cy="20624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2020 Accenture. All rights reserved.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EE8CA5D-8B85-43BD-926A-533776C7D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312" y="649074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kumimoji="0" lang="en-US" sz="1000" b="0" i="0" u="none" strike="noStrike" kern="1200" cap="none" spc="0" normalizeH="0" baseline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394130" y="-3677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5244" y="2132513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ÁREAS DE CONOCIMIENTO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944" y="2132513"/>
            <a:ext cx="5408559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EXPERIENCIA SELECCIONADA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248824" y="2132513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PERFIL PROFESIONAL 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237237" y="2237951"/>
            <a:ext cx="0" cy="331927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3C22190-B227-49DD-8F11-48D76E075E94}"/>
              </a:ext>
            </a:extLst>
          </p:cNvPr>
          <p:cNvCxnSpPr>
            <a:cxnSpLocks/>
          </p:cNvCxnSpPr>
          <p:nvPr userDrawn="1"/>
        </p:nvCxnSpPr>
        <p:spPr>
          <a:xfrm>
            <a:off x="3079482" y="2237953"/>
            <a:ext cx="0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EE7479-6552-4B10-8999-F9FFF684DA70}"/>
              </a:ext>
            </a:extLst>
          </p:cNvPr>
          <p:cNvCxnSpPr>
            <a:cxnSpLocks/>
          </p:cNvCxnSpPr>
          <p:nvPr userDrawn="1"/>
        </p:nvCxnSpPr>
        <p:spPr>
          <a:xfrm flipH="1">
            <a:off x="5311323" y="2265418"/>
            <a:ext cx="1" cy="406800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369005" y="59040"/>
            <a:ext cx="654153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Nombre Apellido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369005" y="504446"/>
            <a:ext cx="6541532" cy="317045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Rol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69005" y="1202219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369005" y="1517216"/>
            <a:ext cx="6541532" cy="310896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s-CO" noProof="0"/>
              <a:t>Home location: City, Country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78606-7DF7-4ECE-BFD6-9805E216A984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211" y="2421646"/>
            <a:ext cx="2586918" cy="298330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24ABDA-AF82-4D3F-B9B8-924763598D47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3231099" y="2739487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s-CO" noProof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5427750" y="2437520"/>
            <a:ext cx="6524747" cy="3916033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CO" noProof="0"/>
              <a:t>Click to edit Master text styles</a:t>
            </a:r>
          </a:p>
          <a:p>
            <a:pPr lvl="1"/>
            <a:r>
              <a:rPr lang="es-CO" noProof="0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2369005" y="887223"/>
            <a:ext cx="6541532" cy="310896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CO" noProof="0"/>
              <a:t>Major </a:t>
            </a:r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2421103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 anchorCtr="0">
            <a:no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FUNCIONAL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DCDD220-FD2A-412B-830F-C6A5F46C86D4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3255677" y="4900148"/>
            <a:ext cx="2012108" cy="1132124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 sz="1200">
                <a:latin typeface="Graphik" panose="020B050303020206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A637F3C-BD10-4E01-B648-8CE5AFBAFD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66510" y="455376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INDUSTRIA</a:t>
            </a:r>
          </a:p>
        </p:txBody>
      </p:sp>
    </p:spTree>
    <p:extLst>
      <p:ext uri="{BB962C8B-B14F-4D97-AF65-F5344CB8AC3E}">
        <p14:creationId xmlns:p14="http://schemas.microsoft.com/office/powerpoint/2010/main" val="238192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4642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96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84553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05197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41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3288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33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Palatino Linotype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5605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284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86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42920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29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8734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53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676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8990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7742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5185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18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340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939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Palatino Linotype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531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Arial" panose="020B0604020202020204" pitchFamily="34" charset="0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agenda summary here in Palatino Linotype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16308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91298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8039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64059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0888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0506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613330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8734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9758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206425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36158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27106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3891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3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65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lvl="0"/>
            <a:r>
              <a:rPr lang="en-GB"/>
              <a:t>Place subtitle here in Palatino Linotype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689699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subtitle here in Palatino Linotype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494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769504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160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465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03742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483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0716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941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55883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/>
              <a:t>Place subtitle here in Palatino Linotype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815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021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Arial" pitchFamily="34" charset="0"/>
              <a:buChar char="‒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113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background pattern&#10;&#10;Description automatically generated">
            <a:extLst>
              <a:ext uri="{FF2B5EF4-FFF2-40B4-BE49-F238E27FC236}">
                <a16:creationId xmlns:a16="http://schemas.microsoft.com/office/drawing/2014/main" id="{79E0B481-9E2B-407E-9ADA-E67AAEFC2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4184" y="1253518"/>
            <a:ext cx="4165600" cy="4572000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2DD3BE25-2391-4F9A-B346-0A143EB60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2216" y="556663"/>
            <a:ext cx="1686444" cy="4457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0007D88-2012-4019-9DA3-C6BF5D140B74}"/>
              </a:ext>
            </a:extLst>
          </p:cNvPr>
          <p:cNvSpPr/>
          <p:nvPr userDrawn="1"/>
        </p:nvSpPr>
        <p:spPr>
          <a:xfrm>
            <a:off x="7873034" y="6074817"/>
            <a:ext cx="3816750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sz="2000" b="0" i="0">
                <a:latin typeface="Graphik" panose="020B0503030202060203" pitchFamily="34" charset="77"/>
              </a:rPr>
              <a:t>Accenture Applied Intelligence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E8FC5-AA00-4A5A-99FA-F9A41C0D094A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23754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mplate_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BE22B4-94C9-441A-996E-23DF1FFB52FB}"/>
              </a:ext>
            </a:extLst>
          </p:cNvPr>
          <p:cNvSpPr/>
          <p:nvPr userDrawn="1"/>
        </p:nvSpPr>
        <p:spPr>
          <a:xfrm>
            <a:off x="1" y="-1"/>
            <a:ext cx="6392222" cy="20594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CC0BF-8C69-48FA-9821-905B5B8FAE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3617" y="626110"/>
            <a:ext cx="1442719" cy="1335411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B8AF3E59-7034-4140-8A44-78141E815021}"/>
              </a:ext>
            </a:extLst>
          </p:cNvPr>
          <p:cNvSpPr txBox="1">
            <a:spLocks/>
          </p:cNvSpPr>
          <p:nvPr userDrawn="1"/>
        </p:nvSpPr>
        <p:spPr>
          <a:xfrm>
            <a:off x="145063" y="6589084"/>
            <a:ext cx="3164896" cy="21191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Copyright © 2022 Accenture. All rights reserved.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D66BAD1-5A09-4097-906B-2A706FC0E50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569965" y="-2228"/>
            <a:ext cx="1946341" cy="1673225"/>
          </a:xfrm>
          <a:custGeom>
            <a:avLst/>
            <a:gdLst>
              <a:gd name="connsiteX0" fmla="*/ 0 w 2211700"/>
              <a:gd name="connsiteY0" fmla="*/ 0 h 1901348"/>
              <a:gd name="connsiteX1" fmla="*/ 960881 w 2211700"/>
              <a:gd name="connsiteY1" fmla="*/ 0 h 1901348"/>
              <a:gd name="connsiteX2" fmla="*/ 2211700 w 2211700"/>
              <a:gd name="connsiteY2" fmla="*/ 506353 h 1901348"/>
              <a:gd name="connsiteX3" fmla="*/ 2211700 w 2211700"/>
              <a:gd name="connsiteY3" fmla="*/ 1006015 h 1901348"/>
              <a:gd name="connsiteX4" fmla="*/ 0 w 2211700"/>
              <a:gd name="connsiteY4" fmla="*/ 1901348 h 1901348"/>
              <a:gd name="connsiteX5" fmla="*/ 0 w 2211700"/>
              <a:gd name="connsiteY5" fmla="*/ 1401686 h 1901348"/>
              <a:gd name="connsiteX6" fmla="*/ 1595366 w 2211700"/>
              <a:gd name="connsiteY6" fmla="*/ 754915 h 1901348"/>
              <a:gd name="connsiteX7" fmla="*/ 0 w 2211700"/>
              <a:gd name="connsiteY7" fmla="*/ 110681 h 1901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11700" h="1901348">
                <a:moveTo>
                  <a:pt x="0" y="0"/>
                </a:moveTo>
                <a:lnTo>
                  <a:pt x="960881" y="0"/>
                </a:lnTo>
                <a:lnTo>
                  <a:pt x="2211700" y="506353"/>
                </a:lnTo>
                <a:lnTo>
                  <a:pt x="2211700" y="1006015"/>
                </a:lnTo>
                <a:lnTo>
                  <a:pt x="0" y="1901348"/>
                </a:lnTo>
                <a:lnTo>
                  <a:pt x="0" y="1401686"/>
                </a:lnTo>
                <a:lnTo>
                  <a:pt x="1595366" y="754915"/>
                </a:lnTo>
                <a:lnTo>
                  <a:pt x="0" y="110681"/>
                </a:lnTo>
                <a:close/>
              </a:path>
            </a:pathLst>
          </a:custGeom>
          <a:solidFill>
            <a:srgbClr val="CC99FF"/>
          </a:solidFill>
          <a:ln>
            <a:noFill/>
          </a:ln>
        </p:spPr>
        <p:txBody>
          <a:bodyPr vert="horz" wrap="square" lIns="91383" tIns="45691" rIns="91383" bIns="45691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38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1418F404-19B5-4B57-A040-19AD40173B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98529" y="2018682"/>
            <a:ext cx="2679306" cy="33150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AREAS OF EXPERTISE</a:t>
            </a:r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13DDC02B-51EE-44E0-BEDD-AE88AE5888A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392222" y="10184"/>
            <a:ext cx="2364246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SELECTED EXPERIENCE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91B2A9-4B3C-4A70-9C20-306568572CF4}"/>
              </a:ext>
            </a:extLst>
          </p:cNvPr>
          <p:cNvSpPr/>
          <p:nvPr userDrawn="1"/>
        </p:nvSpPr>
        <p:spPr>
          <a:xfrm>
            <a:off x="165383" y="2059463"/>
            <a:ext cx="26677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200" b="1" i="0" u="none" strike="noStrike" kern="1200" cap="none" spc="0" normalizeH="0" baseline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PROFESSIONAL BACKGROUND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A9885D-A32A-4F6C-952D-566AFC7BC7BC}"/>
              </a:ext>
            </a:extLst>
          </p:cNvPr>
          <p:cNvCxnSpPr>
            <a:cxnSpLocks/>
          </p:cNvCxnSpPr>
          <p:nvPr userDrawn="1"/>
        </p:nvCxnSpPr>
        <p:spPr>
          <a:xfrm>
            <a:off x="122196" y="2132513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F3D691ED-AD26-4C5B-A0B8-F0E39B64E481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8187" y="57004"/>
            <a:ext cx="6392222" cy="471774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030A0"/>
                </a:solidFill>
                <a:latin typeface="Graphik" panose="020B0503030202060203" pitchFamily="34" charset="0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Name Last Name</a:t>
            </a:r>
          </a:p>
        </p:txBody>
      </p:sp>
      <p:sp>
        <p:nvSpPr>
          <p:cNvPr id="46" name="Text Placeholder 31">
            <a:extLst>
              <a:ext uri="{FF2B5EF4-FFF2-40B4-BE49-F238E27FC236}">
                <a16:creationId xmlns:a16="http://schemas.microsoft.com/office/drawing/2014/main" id="{0DC117CF-F328-48B8-9236-47C84E0A3FA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952042" y="557359"/>
            <a:ext cx="4589689" cy="365871"/>
          </a:xfrm>
        </p:spPr>
        <p:txBody>
          <a:bodyPr>
            <a:normAutofit/>
          </a:bodyPr>
          <a:lstStyle>
            <a:lvl1pPr marL="0" indent="0">
              <a:buNone/>
              <a:defRPr kumimoji="0" lang="en-US" sz="24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47" name="Text Placeholder 31">
            <a:extLst>
              <a:ext uri="{FF2B5EF4-FFF2-40B4-BE49-F238E27FC236}">
                <a16:creationId xmlns:a16="http://schemas.microsoft.com/office/drawing/2014/main" id="{FC7E85F2-52A4-4511-88B0-F2C73442A444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68147" y="1327893"/>
            <a:ext cx="4573583" cy="277493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Email address</a:t>
            </a:r>
          </a:p>
        </p:txBody>
      </p:sp>
      <p:sp>
        <p:nvSpPr>
          <p:cNvPr id="48" name="Text Placeholder 31">
            <a:extLst>
              <a:ext uri="{FF2B5EF4-FFF2-40B4-BE49-F238E27FC236}">
                <a16:creationId xmlns:a16="http://schemas.microsoft.com/office/drawing/2014/main" id="{FC8802FF-03E3-4495-BE0C-83F054507732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52042" y="1654042"/>
            <a:ext cx="4573583" cy="307480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  <a:lvl2pPr marL="457200" indent="0">
              <a:buNone/>
              <a:defRPr kumimoji="0" lang="en-US" sz="2799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defRPr>
            </a:lvl2pPr>
            <a:lvl3pPr marL="914400" indent="0">
              <a:buNone/>
              <a:defRPr>
                <a:latin typeface="Graphik" panose="020B0503030202060203" pitchFamily="34" charset="0"/>
              </a:defRPr>
            </a:lvl3pPr>
            <a:lvl4pPr marL="1371600" indent="0">
              <a:buNone/>
              <a:defRPr>
                <a:latin typeface="Graphik" panose="020B0503030202060203" pitchFamily="34" charset="0"/>
              </a:defRPr>
            </a:lvl4pPr>
            <a:lvl5pPr marL="1828800" indent="0">
              <a:buNone/>
              <a:defRPr>
                <a:latin typeface="Graphik" panose="020B0503030202060203" pitchFamily="34" charset="0"/>
              </a:defRPr>
            </a:lvl5pPr>
          </a:lstStyle>
          <a:p>
            <a:pPr lvl="0"/>
            <a:r>
              <a:rPr lang="en-US"/>
              <a:t>Home location: City, Country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D6F9E4-2287-45A1-9D25-09DDA8C090D7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565375" y="406400"/>
            <a:ext cx="5504429" cy="6050539"/>
          </a:xfrm>
        </p:spPr>
        <p:txBody>
          <a:bodyPr/>
          <a:lstStyle>
            <a:lvl1pPr>
              <a:defRPr sz="12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908FC9C2-4A4A-4293-B184-158C9D2DD04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952041" y="974294"/>
            <a:ext cx="4589689" cy="302535"/>
          </a:xfrm>
        </p:spPr>
        <p:txBody>
          <a:bodyPr anchor="ctr"/>
          <a:lstStyle>
            <a:lvl1pPr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Major</a:t>
            </a:r>
            <a:r>
              <a:rPr lang="es-ES"/>
              <a:t> </a:t>
            </a:r>
            <a:endParaRPr lang="en-US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DF81F04B-AB69-4A8B-A7F9-39A43C1B7A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4586627"/>
            <a:ext cx="2176694" cy="211912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SPECIALIZATIONS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C494296-126C-42D3-943D-AC2F5E54E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5530107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INDUSTRY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7924A8-2A02-43C8-85AF-AC1F770B25F9}"/>
              </a:ext>
            </a:extLst>
          </p:cNvPr>
          <p:cNvCxnSpPr>
            <a:cxnSpLocks/>
          </p:cNvCxnSpPr>
          <p:nvPr userDrawn="1"/>
        </p:nvCxnSpPr>
        <p:spPr>
          <a:xfrm>
            <a:off x="3047449" y="2138280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DAE5B2F-A695-4635-BE85-22746FB8F6C3}"/>
              </a:ext>
            </a:extLst>
          </p:cNvPr>
          <p:cNvCxnSpPr>
            <a:cxnSpLocks/>
          </p:cNvCxnSpPr>
          <p:nvPr userDrawn="1"/>
        </p:nvCxnSpPr>
        <p:spPr>
          <a:xfrm>
            <a:off x="6359445" y="2129629"/>
            <a:ext cx="13251" cy="435822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2">
            <a:extLst>
              <a:ext uri="{FF2B5EF4-FFF2-40B4-BE49-F238E27FC236}">
                <a16:creationId xmlns:a16="http://schemas.microsoft.com/office/drawing/2014/main" id="{E06497E9-679F-430D-9081-1240D8516F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09620" y="2321774"/>
            <a:ext cx="3238780" cy="266415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0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HARD/SOFT SKILLS &amp; TOOLS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47D7F098-D91A-436B-8577-8921654BC3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5530106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LANGUAGES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F31576D1-FEDB-405C-8BC0-6F0C36D9A6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490" y="3429729"/>
            <a:ext cx="2176694" cy="293661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888" tIns="26983" rIns="26983" bIns="26983" anchor="t">
            <a:spAutoFit/>
          </a:bodyPr>
          <a:lstStyle/>
          <a:p>
            <a:pPr marL="146021" marR="0" lvl="0" indent="-146021" algn="l" defTabSz="913851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 Super" panose="020B0B03030202060203" pitchFamily="34" charset="0"/>
                <a:ea typeface="+mn-ea"/>
                <a:cs typeface="+mn-cs"/>
              </a:rPr>
              <a:t>EDUCATION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raphik Super" panose="020B0B03030202060203" pitchFamily="34" charset="0"/>
              <a:ea typeface="+mn-ea"/>
              <a:cs typeface="+mn-cs"/>
            </a:endParaRP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5DBFF989-E3B8-4558-88C8-758F498BE4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670863" y="5963920"/>
            <a:ext cx="979538" cy="83707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963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7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7203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184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31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57558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8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554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8107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2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3654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92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2376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4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7031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2499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6532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2124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51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8418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714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550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411971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21124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1198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5675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26228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3616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9926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12167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988826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41816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1143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1749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24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28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24816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7545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18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309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01291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195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556659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5818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870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6548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02836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723787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65244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806938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4.xml"/><Relationship Id="rId55" Type="http://schemas.openxmlformats.org/officeDocument/2006/relationships/oleObject" Target="../embeddings/oleObject1.bin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3" Type="http://schemas.openxmlformats.org/officeDocument/2006/relationships/tags" Target="../tags/tag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56" Type="http://schemas.openxmlformats.org/officeDocument/2006/relationships/image" Target="../media/image1.emf"/><Relationship Id="rId8" Type="http://schemas.openxmlformats.org/officeDocument/2006/relationships/slideLayout" Target="../slideLayouts/slideLayout12.xml"/><Relationship Id="rId51" Type="http://schemas.openxmlformats.org/officeDocument/2006/relationships/slideLayout" Target="../slideLayouts/slideLayout55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54" Type="http://schemas.openxmlformats.org/officeDocument/2006/relationships/tags" Target="../tags/tag5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47" Type="http://schemas.openxmlformats.org/officeDocument/2006/relationships/slideLayout" Target="../slideLayouts/slideLayout102.xml"/><Relationship Id="rId50" Type="http://schemas.openxmlformats.org/officeDocument/2006/relationships/theme" Target="../theme/theme3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9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45" Type="http://schemas.openxmlformats.org/officeDocument/2006/relationships/slideLayout" Target="../slideLayouts/slideLayout100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4" Type="http://schemas.openxmlformats.org/officeDocument/2006/relationships/slideLayout" Target="../slideLayouts/slideLayout99.xml"/><Relationship Id="rId52" Type="http://schemas.openxmlformats.org/officeDocument/2006/relationships/tags" Target="../tags/tag7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48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63.xml"/><Relationship Id="rId51" Type="http://schemas.openxmlformats.org/officeDocument/2006/relationships/tags" Target="../tags/tag6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Relationship Id="rId4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75.xml"/><Relationship Id="rId41" Type="http://schemas.openxmlformats.org/officeDocument/2006/relationships/slideLayout" Target="../slideLayouts/slideLayout96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4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90F368C-0662-4B05-B5E4-7B52C6EBA9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32" imgH="530" progId="TCLayout.ActiveDocument.1">
                  <p:embed/>
                </p:oleObj>
              </mc:Choice>
              <mc:Fallback>
                <p:oleObj name="think-cell Slide" r:id="rId8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90F368C-0662-4B05-B5E4-7B52C6EBA9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8949DF7F-5FAC-4247-9933-EE9462252CF9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D60B7-D06D-4830-BD69-35B1465F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65126"/>
            <a:ext cx="11425084" cy="82457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title</a:t>
            </a:r>
            <a:r>
              <a:rPr lang="es-ES"/>
              <a:t> </a:t>
            </a:r>
            <a:r>
              <a:rPr lang="es-ES" err="1"/>
              <a:t>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DF177-00B3-4AFF-B6D4-A595D3A7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458" y="1273629"/>
            <a:ext cx="11425084" cy="490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edit</a:t>
            </a:r>
            <a:r>
              <a:rPr lang="es-ES"/>
              <a:t> Master </a:t>
            </a:r>
            <a:r>
              <a:rPr lang="es-ES" err="1"/>
              <a:t>text</a:t>
            </a:r>
            <a:r>
              <a:rPr lang="es-ES"/>
              <a:t> </a:t>
            </a:r>
            <a:r>
              <a:rPr lang="es-ES" err="1"/>
              <a:t>styles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3EB6817-997F-4BFD-89D6-B40A72240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14419" y="6492875"/>
            <a:ext cx="4114800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r>
              <a:rPr lang="es-ES"/>
              <a:t>Copyright © 2020 Accenture. </a:t>
            </a:r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rights</a:t>
            </a:r>
            <a:r>
              <a:rPr lang="es-ES"/>
              <a:t> </a:t>
            </a:r>
            <a:r>
              <a:rPr lang="es-ES" err="1"/>
              <a:t>reserved</a:t>
            </a:r>
            <a:r>
              <a:rPr lang="es-ES"/>
              <a:t>.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D47C7C1-747A-488B-90A2-DB416575D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219" y="6492875"/>
            <a:ext cx="479323" cy="228600"/>
          </a:xfrm>
          <a:prstGeom prst="rect">
            <a:avLst/>
          </a:prstGeom>
        </p:spPr>
        <p:txBody>
          <a:bodyPr anchor="b" anchorCtr="0"/>
          <a:lstStyle>
            <a:lvl1pPr algn="r">
              <a:defRPr sz="700">
                <a:latin typeface="Graphik" panose="020B0503030202060203" pitchFamily="34" charset="0"/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86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56" r:id="rId2"/>
    <p:sldLayoutId id="2147483757" r:id="rId3"/>
    <p:sldLayoutId id="2147483759" r:id="rId4"/>
  </p:sldLayoutIdLst>
  <p:hf hdr="0" dt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2800" b="1" kern="1200" cap="all" spc="-150" baseline="0">
          <a:solidFill>
            <a:schemeClr val="tx1"/>
          </a:solidFill>
          <a:latin typeface="Graphik" panose="020B0503030202060203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8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raphik" panose="020B0503030202060203" pitchFamily="34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lang="en-US" sz="1800" kern="1200" dirty="0" smtClean="0">
          <a:solidFill>
            <a:schemeClr val="accent1"/>
          </a:solidFill>
          <a:latin typeface="Graphik" panose="020B0503030202060203" pitchFamily="34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80000"/>
        </a:lnSpc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1600" b="1" kern="1200" cap="all" baseline="0">
          <a:solidFill>
            <a:schemeClr val="accent2"/>
          </a:solidFill>
          <a:latin typeface="Graphik" panose="020B0503030202060203" pitchFamily="34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b="1" kern="1200">
          <a:solidFill>
            <a:schemeClr val="accent4"/>
          </a:solidFill>
          <a:latin typeface="Graphik" panose="020B0503030202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4DDAE6C-DBD6-9171-7CEF-37612C1A40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5" imgW="532" imgH="530" progId="TCLayout.ActiveDocument.1">
                  <p:embed/>
                </p:oleObj>
              </mc:Choice>
              <mc:Fallback>
                <p:oleObj name="think-cell Slide" r:id="rId55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4DDAE6C-DBD6-9171-7CEF-37612C1A40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6918C99E-8041-E18D-FDC3-3EAD90D1708D}"/>
              </a:ext>
            </a:extLst>
          </p:cNvPr>
          <p:cNvSpPr/>
          <p:nvPr userDrawn="1">
            <p:custDataLst>
              <p:tags r:id="rId5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1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8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  <p:sldLayoutId id="2147483842" r:id="rId30"/>
    <p:sldLayoutId id="2147483843" r:id="rId31"/>
    <p:sldLayoutId id="2147483844" r:id="rId32"/>
    <p:sldLayoutId id="2147483845" r:id="rId33"/>
    <p:sldLayoutId id="2147483846" r:id="rId34"/>
    <p:sldLayoutId id="2147483847" r:id="rId35"/>
    <p:sldLayoutId id="2147483848" r:id="rId36"/>
    <p:sldLayoutId id="2147483849" r:id="rId37"/>
    <p:sldLayoutId id="2147483850" r:id="rId38"/>
    <p:sldLayoutId id="2147483851" r:id="rId39"/>
    <p:sldLayoutId id="2147483852" r:id="rId40"/>
    <p:sldLayoutId id="2147483853" r:id="rId41"/>
    <p:sldLayoutId id="2147483854" r:id="rId42"/>
    <p:sldLayoutId id="2147483855" r:id="rId43"/>
    <p:sldLayoutId id="2147483856" r:id="rId44"/>
    <p:sldLayoutId id="2147483857" r:id="rId45"/>
    <p:sldLayoutId id="2147483858" r:id="rId46"/>
    <p:sldLayoutId id="2147483859" r:id="rId47"/>
    <p:sldLayoutId id="2147483860" r:id="rId48"/>
    <p:sldLayoutId id="2147483861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6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hyperlink" Target="mailto:daria.obukhova@accentur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Daria Obukhova</a:t>
            </a: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  <a:latin typeface="Graphik Black"/>
              </a:rPr>
              <a:t>Data Engineering Associate</a:t>
            </a:r>
          </a:p>
          <a:p>
            <a:pPr marL="0" indent="0">
              <a:buNone/>
            </a:pPr>
            <a:r>
              <a:rPr lang="en-US" sz="1100" b="0" i="0" dirty="0">
                <a:solidFill>
                  <a:srgbClr val="545454"/>
                </a:solidFill>
                <a:effectLst/>
                <a:latin typeface="Graphik-Light"/>
              </a:rPr>
              <a:t>Modern Data Platform</a:t>
            </a:r>
          </a:p>
          <a:p>
            <a:pPr marL="0" indent="0">
              <a:buNone/>
            </a:pPr>
            <a:r>
              <a:rPr lang="en-US" sz="1200" b="1" dirty="0">
                <a:latin typeface="Graphik"/>
                <a:hlinkClick r:id="rId4"/>
              </a:rPr>
              <a:t>daria.obukhova@accenture.com</a:t>
            </a:r>
            <a:endParaRPr lang="en-US" sz="1200" b="1" dirty="0">
              <a:latin typeface="Graphik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Rosario, Argentina</a:t>
            </a:r>
            <a:endParaRPr lang="en-US" sz="1200" dirty="0"/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90076" y="171448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240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00869" y="2349360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903835" cy="2136594"/>
            <a:chOff x="652656" y="2462768"/>
            <a:chExt cx="2903835" cy="2136594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29" name="Text Placeholder 4">
              <a:extLst>
                <a:ext uri="{FF2B5EF4-FFF2-40B4-BE49-F238E27FC236}">
                  <a16:creationId xmlns:a16="http://schemas.microsoft.com/office/drawing/2014/main" id="{1B6E0D27-DFC9-0BED-62DE-B980A526E12C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4385441"/>
              <a:ext cx="2887778" cy="213921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>
                  <a:solidFill>
                    <a:schemeClr val="accent1"/>
                  </a:solidFill>
                  <a:latin typeface="+mj-lt"/>
                </a:rPr>
                <a:t>SPECIALIZATIONS</a:t>
              </a:r>
              <a:endParaRPr lang="en-US" sz="1200" b="1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68713" y="343793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66854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Programming: </a:t>
            </a:r>
            <a:r>
              <a:rPr lang="en-US" b="0" dirty="0">
                <a:solidFill>
                  <a:srgbClr val="000000"/>
                </a:solidFill>
              </a:rPr>
              <a:t>Python, R</a:t>
            </a:r>
          </a:p>
          <a:p>
            <a:r>
              <a:rPr lang="en-US" dirty="0"/>
              <a:t>DB: </a:t>
            </a:r>
            <a:r>
              <a:rPr lang="en-US" b="0" dirty="0">
                <a:solidFill>
                  <a:srgbClr val="000000"/>
                </a:solidFill>
              </a:rPr>
              <a:t>SQL Server, MySQL</a:t>
            </a:r>
          </a:p>
          <a:p>
            <a:r>
              <a:rPr lang="en-US" dirty="0"/>
              <a:t>Cloud: </a:t>
            </a:r>
            <a:r>
              <a:rPr lang="en-US" b="0" dirty="0">
                <a:solidFill>
                  <a:srgbClr val="000000"/>
                </a:solidFill>
              </a:rPr>
              <a:t>GCP</a:t>
            </a:r>
          </a:p>
          <a:p>
            <a:r>
              <a:rPr lang="en-US" dirty="0"/>
              <a:t>Visualization: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Graphik" panose="020B0503030202060203" pitchFamily="34" charset="0"/>
              </a:rPr>
              <a:t> Power BI</a:t>
            </a:r>
          </a:p>
          <a:p>
            <a:r>
              <a:rPr lang="en-US" dirty="0"/>
              <a:t>LLM: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Graphik" panose="020B0503030202060203" pitchFamily="34" charset="0"/>
              </a:rPr>
              <a:t>LangChain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Graphik" panose="020B0503030202060203" pitchFamily="34" charset="0"/>
              </a:rPr>
              <a:t>,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Graphik" panose="020B0503030202060203" pitchFamily="34" charset="0"/>
              </a:rPr>
              <a:t>OpenAI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Graphik" panose="020B0503030202060203" pitchFamily="34" charset="0"/>
              </a:rPr>
              <a:t> models</a:t>
            </a:r>
          </a:p>
          <a:p>
            <a:r>
              <a:rPr lang="en-US" dirty="0"/>
              <a:t>DS: </a:t>
            </a:r>
            <a:r>
              <a:rPr lang="en-US" b="0" dirty="0">
                <a:solidFill>
                  <a:srgbClr val="000000"/>
                </a:solidFill>
                <a:latin typeface="Graphik" panose="020B0503030202060203" pitchFamily="34" charset="0"/>
              </a:rPr>
              <a:t>scikit-learn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226052" y="3674488"/>
            <a:ext cx="3228164" cy="6209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+mn-lt"/>
              </a:rPr>
              <a:t>Bachelor of Computer Science (National University of Rosario)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Master in International Management (</a:t>
            </a:r>
            <a:r>
              <a:rPr lang="en-US" sz="1000" i="0" dirty="0">
                <a:effectLst/>
                <a:latin typeface="+mn-lt"/>
              </a:rPr>
              <a:t>Russian Foreign Trade Academy)</a:t>
            </a:r>
          </a:p>
          <a:p>
            <a:pPr marL="0" indent="0">
              <a:buNone/>
            </a:pPr>
            <a:endParaRPr lang="en-US" sz="1000" i="0" dirty="0">
              <a:effectLst/>
              <a:latin typeface="+mn-lt"/>
            </a:endParaRPr>
          </a:p>
          <a:p>
            <a:pPr marL="0" indent="0">
              <a:buNone/>
            </a:pPr>
            <a:endParaRPr lang="en-US" sz="1000" i="0" dirty="0">
              <a:effectLst/>
              <a:latin typeface="+mn-lt"/>
            </a:endParaRPr>
          </a:p>
          <a:p>
            <a:endParaRPr lang="en-US" sz="1000" dirty="0">
              <a:latin typeface="+mn-lt"/>
            </a:endParaRPr>
          </a:p>
          <a:p>
            <a:endParaRPr lang="en-US" sz="1000" i="0" dirty="0">
              <a:effectLst/>
              <a:latin typeface="+mn-lt"/>
            </a:endParaRPr>
          </a:p>
          <a:p>
            <a:endParaRPr lang="en-US" sz="1000" i="0" dirty="0">
              <a:effectLst/>
              <a:latin typeface="+mn-lt"/>
            </a:endParaRPr>
          </a:p>
          <a:p>
            <a:endParaRPr lang="en-US" sz="1200" i="0" dirty="0">
              <a:effectLst/>
              <a:latin typeface="-apple-system"/>
            </a:endParaRPr>
          </a:p>
          <a:p>
            <a:endParaRPr lang="en-US" sz="1200" i="0" dirty="0">
              <a:effectLst/>
              <a:latin typeface="-apple-system"/>
            </a:endParaRPr>
          </a:p>
          <a:p>
            <a:pPr marL="171450" indent="-171450">
              <a:buChar char="•"/>
            </a:pPr>
            <a:endParaRPr lang="en-US" sz="1000" dirty="0"/>
          </a:p>
          <a:p>
            <a:endParaRPr lang="es-AR" dirty="0">
              <a:latin typeface="Graphik"/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02404" y="2709462"/>
            <a:ext cx="2824863" cy="2857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Graphik"/>
              </a:rPr>
              <a:t>4 years of experience as Business Analyst</a:t>
            </a:r>
          </a:p>
          <a:p>
            <a:r>
              <a:rPr lang="en-US" sz="1000" dirty="0">
                <a:latin typeface="Graphik"/>
              </a:rPr>
              <a:t>Academic experience in Data Science projects (Ex: Churn prediction, Text classification, Bank loan default prediction) </a:t>
            </a:r>
            <a:endParaRPr lang="en-US" sz="1000" dirty="0"/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5B1C679-DFF5-C42C-3C67-B3D6B74019FF}"/>
              </a:ext>
            </a:extLst>
          </p:cNvPr>
          <p:cNvSpPr txBox="1">
            <a:spLocks/>
          </p:cNvSpPr>
          <p:nvPr/>
        </p:nvSpPr>
        <p:spPr>
          <a:xfrm>
            <a:off x="249438" y="4663512"/>
            <a:ext cx="2308705" cy="2875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Graphik"/>
              </a:rPr>
              <a:t>Data Science Bootcamp (Yandex Practicum)</a:t>
            </a:r>
            <a:endParaRPr lang="en-US" sz="1000" b="0" i="0" u="none" strike="noStrike" dirty="0">
              <a:solidFill>
                <a:srgbClr val="000000"/>
              </a:solidFill>
              <a:effectLst/>
              <a:latin typeface="Graphik" panose="020B0503030202060203" pitchFamily="34" charset="0"/>
            </a:endParaRPr>
          </a:p>
          <a:p>
            <a:pPr marL="0" indent="0" algn="l" rtl="0" fontAlgn="base">
              <a:buNone/>
            </a:pPr>
            <a:endParaRPr lang="en-US" sz="1000" dirty="0">
              <a:solidFill>
                <a:srgbClr val="000000"/>
              </a:solidFill>
            </a:endParaRPr>
          </a:p>
          <a:p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55400"/>
            <a:ext cx="3028866" cy="526545"/>
          </a:xfrm>
          <a:prstGeom prst="rect">
            <a:avLst/>
          </a:prstGeom>
        </p:spPr>
        <p:txBody>
          <a:bodyPr vert="horz" lIns="0" tIns="0" rIns="0" bIns="0" numCol="2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Russian (Native)</a:t>
            </a:r>
          </a:p>
          <a:p>
            <a:r>
              <a:rPr lang="en-US" dirty="0"/>
              <a:t>Spanish (Advanced)</a:t>
            </a:r>
          </a:p>
          <a:p>
            <a:r>
              <a:rPr lang="en-US" dirty="0"/>
              <a:t>English (Advanced)</a:t>
            </a:r>
          </a:p>
          <a:p>
            <a:r>
              <a:rPr lang="en-US" dirty="0"/>
              <a:t>German (Intermediate)</a:t>
            </a:r>
          </a:p>
          <a:p>
            <a:endParaRPr lang="es-AR" dirty="0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5A5E06F-27C7-2207-0875-01BABFD0C887}"/>
              </a:ext>
            </a:extLst>
          </p:cNvPr>
          <p:cNvSpPr txBox="1">
            <a:spLocks/>
          </p:cNvSpPr>
          <p:nvPr/>
        </p:nvSpPr>
        <p:spPr>
          <a:xfrm>
            <a:off x="4919202" y="5535372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1440137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Automotive </a:t>
            </a:r>
          </a:p>
          <a:p>
            <a:r>
              <a:rPr lang="en-US" dirty="0"/>
              <a:t>Localization</a:t>
            </a:r>
          </a:p>
          <a:p>
            <a:r>
              <a:rPr lang="en-US" dirty="0"/>
              <a:t>E-commerce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07843" y="733213"/>
            <a:ext cx="5081751" cy="52986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– Data  Scientist (May 2023 – Present)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Conducted research on the latest Language Model tools and techniques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Developed a proof of concept for an internal asset by implementing selected LLM techniques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Accenture – Data Engineer (Jul 2022 – May 2023)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Migrated databases and ETL processes to GCP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Implemented data modeling for Power BI reports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Developed Python script to connect to external APIs and retrieve data for integration into the ETL processes</a:t>
            </a: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  <a:cs typeface="Calibri" panose="020F0502020204030204" pitchFamily="34" charset="0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Volkswagen – Business Analyst (Sep 2011 – Sep 2015)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Coordinated service quality projects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Analyzed turnover of parts and accessories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Conducted in-depth analysis of dealer business performance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Provided support for ad-hoc analytical studies, including data collection, analysis, and report generation</a:t>
            </a: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>
              <a:spcAft>
                <a:spcPts val="300"/>
              </a:spcAft>
            </a:pPr>
            <a:endParaRPr lang="en-US" sz="1000" b="0" dirty="0">
              <a:latin typeface="+mn-lt"/>
            </a:endParaRPr>
          </a:p>
          <a:p>
            <a:pPr marL="171450" indent="-171450">
              <a:spcAft>
                <a:spcPts val="300"/>
              </a:spcAft>
              <a:buFont typeface="Arial,Sans-Serif"/>
              <a:buChar char="•"/>
            </a:pPr>
            <a:endParaRPr lang="en-US" sz="1000" dirty="0">
              <a:latin typeface="+mn-lt"/>
            </a:endParaRP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2022 Accenture.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>
                <a:solidFill>
                  <a:schemeClr val="bg1"/>
                </a:solidFill>
              </a:rPr>
              <a:t>Accenture Applied Intelligence</a:t>
            </a:r>
          </a:p>
        </p:txBody>
      </p:sp>
      <p:pic>
        <p:nvPicPr>
          <p:cNvPr id="14" name="Picture 13" descr="A person smiling for the camera&#10;&#10;Description automatically generated with low confidence">
            <a:extLst>
              <a:ext uri="{FF2B5EF4-FFF2-40B4-BE49-F238E27FC236}">
                <a16:creationId xmlns:a16="http://schemas.microsoft.com/office/drawing/2014/main" id="{5C1B8C90-681E-97B6-2BD0-6E0830FAD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64" y="740387"/>
            <a:ext cx="1573765" cy="1573765"/>
          </a:xfrm>
          <a:prstGeom prst="flowChartConnector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609B5234-2D50-F635-C424-A9AB63337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6904" y="1306533"/>
            <a:ext cx="943830" cy="94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Dividers SectionNumber SlideNumber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6_Office Theme">
  <a:themeElements>
    <a:clrScheme name="VISA">
      <a:dk1>
        <a:sysClr val="windowText" lastClr="000000"/>
      </a:dk1>
      <a:lt1>
        <a:sysClr val="window" lastClr="FFFFFF"/>
      </a:lt1>
      <a:dk2>
        <a:srgbClr val="F0F0F0"/>
      </a:dk2>
      <a:lt2>
        <a:srgbClr val="ADADAD"/>
      </a:lt2>
      <a:accent1>
        <a:srgbClr val="1A1F71"/>
      </a:accent1>
      <a:accent2>
        <a:srgbClr val="F7B600"/>
      </a:accent2>
      <a:accent3>
        <a:srgbClr val="5C5C5C"/>
      </a:accent3>
      <a:accent4>
        <a:srgbClr val="003EA9"/>
      </a:accent4>
      <a:accent5>
        <a:srgbClr val="EF8400"/>
      </a:accent5>
      <a:accent6>
        <a:srgbClr val="FFD700"/>
      </a:accent6>
      <a:hlink>
        <a:srgbClr val="1A1F71"/>
      </a:hlink>
      <a:folHlink>
        <a:srgbClr val="ADADAD"/>
      </a:folHlink>
    </a:clrScheme>
    <a:fontScheme name="Custom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 cap="sq">
          <a:solidFill>
            <a:schemeClr val="bg2">
              <a:lumMod val="9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CENtur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CENture" id="{CC97BB4A-B5B4-4409-B17B-7852844FDFFA}" vid="{0BB4CAA1-AE1F-4AF8-B344-62FB55F0150B}"/>
    </a:ext>
  </a:extLst>
</a:theme>
</file>

<file path=ppt/theme/theme3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adda6-93f2-443e-b0ef-40d6e1dc8c9d" xsi:nil="true"/>
    <lcf76f155ced4ddcb4097134ff3c332f xmlns="9e5dff9b-ec84-400a-8d4d-02e9695663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953E4F1-EED6-4251-8956-041C290CB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7FC12A-4E4F-4132-8AEA-126CBB2F48E3}"/>
</file>

<file path=customXml/itemProps3.xml><?xml version="1.0" encoding="utf-8"?>
<ds:datastoreItem xmlns:ds="http://schemas.openxmlformats.org/officeDocument/2006/customXml" ds:itemID="{247B172E-CD09-404A-9D73-CF6EC1E50CB2}">
  <ds:schemaRefs>
    <ds:schemaRef ds:uri="http://schemas.microsoft.com/office/infopath/2007/PartnerControls"/>
    <ds:schemaRef ds:uri="3f7fa16c-f0a7-4e93-83e5-916308b974b7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118bdf6a-17d6-42f2-bf93-b799822b66d5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1bc0f418-96a4-4caf-9d7c-ccc5ec7f9d91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271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5" baseType="lpstr">
      <vt:lpstr>-apple-system</vt:lpstr>
      <vt:lpstr>Arial</vt:lpstr>
      <vt:lpstr>Arial Black</vt:lpstr>
      <vt:lpstr>Arial,Sans-Serif</vt:lpstr>
      <vt:lpstr>Graphik</vt:lpstr>
      <vt:lpstr>Graphik Black</vt:lpstr>
      <vt:lpstr>Graphik Super</vt:lpstr>
      <vt:lpstr>Graphik-Light</vt:lpstr>
      <vt:lpstr>GT Sectra Fine Rg</vt:lpstr>
      <vt:lpstr>Palatino Linotype</vt:lpstr>
      <vt:lpstr>6_Office Theme</vt:lpstr>
      <vt:lpstr>ThemeACCENture</vt:lpstr>
      <vt:lpstr>ThemeACN2</vt:lpstr>
      <vt:lpstr>think-cell Slide</vt:lpstr>
      <vt:lpstr>PowerPoint Presentation</vt:lpstr>
    </vt:vector>
  </TitlesOfParts>
  <Company>Accenture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Proposal CoE</dc:title>
  <dc:creator>rosana.gonzalez@accenture.com</dc:creator>
  <cp:keywords>Products CV Template</cp:keywords>
  <cp:lastModifiedBy>Obukhova, Daria</cp:lastModifiedBy>
  <cp:revision>18</cp:revision>
  <dcterms:modified xsi:type="dcterms:W3CDTF">2023-06-27T17:24:59Z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Order">
    <vt:r8>390400</vt:r8>
  </property>
  <property fmtid="{D5CDD505-2E9C-101B-9397-08002B2CF9AE}" pid="4" name="xd_ProgID">
    <vt:lpwstr/>
  </property>
  <property fmtid="{D5CDD505-2E9C-101B-9397-08002B2CF9AE}" pid="5" name="_CopySource">
    <vt:lpwstr>https://ts.accenture.com/sites/PRODUCTS_ASG/dcde/Mentoring/PRD Onboarding Deck/ASG_PRD Onboarding Session_2018_01_January_final.pptx</vt:lpwstr>
  </property>
  <property fmtid="{D5CDD505-2E9C-101B-9397-08002B2CF9AE}" pid="6" name="TemplateUrl">
    <vt:lpwstr/>
  </property>
  <property fmtid="{D5CDD505-2E9C-101B-9397-08002B2CF9AE}" pid="7" name="MSIP_Label_1bc0f418-96a4-4caf-9d7c-ccc5ec7f9d91_Enabled">
    <vt:lpwstr>true</vt:lpwstr>
  </property>
  <property fmtid="{D5CDD505-2E9C-101B-9397-08002B2CF9AE}" pid="8" name="MSIP_Label_1bc0f418-96a4-4caf-9d7c-ccc5ec7f9d91_SetDate">
    <vt:lpwstr>2020-04-30T23:14:57Z</vt:lpwstr>
  </property>
  <property fmtid="{D5CDD505-2E9C-101B-9397-08002B2CF9AE}" pid="9" name="MSIP_Label_1bc0f418-96a4-4caf-9d7c-ccc5ec7f9d91_Method">
    <vt:lpwstr>Privileged</vt:lpwstr>
  </property>
  <property fmtid="{D5CDD505-2E9C-101B-9397-08002B2CF9AE}" pid="10" name="MSIP_Label_1bc0f418-96a4-4caf-9d7c-ccc5ec7f9d91_Name">
    <vt:lpwstr>1bc0f418-96a4-4caf-9d7c-ccc5ec7f9d91</vt:lpwstr>
  </property>
  <property fmtid="{D5CDD505-2E9C-101B-9397-08002B2CF9AE}" pid="11" name="MSIP_Label_1bc0f418-96a4-4caf-9d7c-ccc5ec7f9d91_SiteId">
    <vt:lpwstr>e0793d39-0939-496d-b129-198edd916feb</vt:lpwstr>
  </property>
  <property fmtid="{D5CDD505-2E9C-101B-9397-08002B2CF9AE}" pid="12" name="MSIP_Label_1bc0f418-96a4-4caf-9d7c-ccc5ec7f9d91_ActionId">
    <vt:lpwstr>6258137a-c4ad-4877-b5d3-000067d54560</vt:lpwstr>
  </property>
  <property fmtid="{D5CDD505-2E9C-101B-9397-08002B2CF9AE}" pid="13" name="MSIP_Label_1bc0f418-96a4-4caf-9d7c-ccc5ec7f9d91_ContentBits">
    <vt:lpwstr>0</vt:lpwstr>
  </property>
  <property fmtid="{D5CDD505-2E9C-101B-9397-08002B2CF9AE}" pid="14" name="MediaServiceImageTags">
    <vt:lpwstr/>
  </property>
</Properties>
</file>