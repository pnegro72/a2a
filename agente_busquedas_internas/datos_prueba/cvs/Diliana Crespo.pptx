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7"/>
  </p:notesMasterIdLst>
  <p:sldIdLst>
    <p:sldId id="20761362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87" d="100"/>
          <a:sy n="87" d="100"/>
        </p:scale>
        <p:origin x="-184" y="-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espo, Diliana C." userId="ee6b3d38-162d-411a-becf-833f47a8401f" providerId="ADAL" clId="{D6316E9E-90E2-40B9-8D28-CA8D64339453}"/>
    <pc:docChg chg="undo redo custSel modSld">
      <pc:chgData name="Crespo, Diliana C." userId="ee6b3d38-162d-411a-becf-833f47a8401f" providerId="ADAL" clId="{D6316E9E-90E2-40B9-8D28-CA8D64339453}" dt="2023-10-09T18:54:03.720" v="27" actId="20577"/>
      <pc:docMkLst>
        <pc:docMk/>
      </pc:docMkLst>
      <pc:sldChg chg="modSp mod">
        <pc:chgData name="Crespo, Diliana C." userId="ee6b3d38-162d-411a-becf-833f47a8401f" providerId="ADAL" clId="{D6316E9E-90E2-40B9-8D28-CA8D64339453}" dt="2023-10-09T18:54:03.720" v="27" actId="20577"/>
        <pc:sldMkLst>
          <pc:docMk/>
          <pc:sldMk cId="3747954151" sldId="2076136212"/>
        </pc:sldMkLst>
        <pc:spChg chg="mod">
          <ac:chgData name="Crespo, Diliana C." userId="ee6b3d38-162d-411a-becf-833f47a8401f" providerId="ADAL" clId="{D6316E9E-90E2-40B9-8D28-CA8D64339453}" dt="2023-10-09T18:54:03.720" v="27" actId="20577"/>
          <ac:spMkLst>
            <pc:docMk/>
            <pc:sldMk cId="3747954151" sldId="2076136212"/>
            <ac:spMk id="47" creationId="{88916E2A-4E45-86B5-A986-94589B9AFC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4766-C1B0-42EE-A8CC-394BA0D3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FF0D8-F3F4-4176-AB73-C23367EED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C5C6-F18A-4FE4-B5A6-8992F879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C83F-DCCD-4AF2-8260-AFD253D6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2342-E448-43DB-B506-CCA2BEB1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AAA1-EC0A-46E6-9332-DEDE592E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01CB-1A68-431F-9C90-D6C3E85A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C8A4-426B-4BBC-9D55-8C9B2E6F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AD0D-EB31-418C-89B3-04F05D0B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8A09-9162-4136-B707-9654AEB9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6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D170-D99D-4B74-9BF3-0D9EC0E8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96A0-89BC-4BF4-B1FB-29F4D6A32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8725-D08D-4BD6-861D-CF980D1F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BB76-3E78-4B5F-9A37-CF56AFE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C09EE-43E9-4EAE-AF8D-1E6092B8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1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1123-A841-46D8-813F-A90E5545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972E-06C5-42C2-B976-BC019B301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26D72-BD5B-428F-A34F-4DE2525C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07D4F-4B9E-4393-AE40-6CA92511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068A1-8045-4ADA-906F-844627D7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D8E0-3EA2-4BB5-8F90-1F37180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E95-24BD-44AE-8EBE-CF734146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CFAE-BA6E-4C1D-98CF-DB46B22F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63BE9-4440-4527-BEAC-B5E31B838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C0A57-A703-4786-8811-7215CD056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C5770-250D-444A-92A8-40B995B3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95BDE-59C6-4961-8DC3-3AC2ACB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9A259-0BB7-45D1-8FBC-504BF9F3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A92B-AC98-4DB3-921F-303CF8D9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3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D4E4-2D9B-4BCA-A995-8D4AEB67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F9369-0845-4C9C-91E4-41CFC4D2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83F7B-3964-439D-8BFA-4F4DB9FA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5A799-A788-4AA5-AD62-97373732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ED551-C51B-4D3D-86C6-C7585CB3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A5D5F-8D15-4922-A810-71C05295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1D0C6-BE75-4CCF-92AC-76ED5C77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ED27-5B71-4953-96DB-B2F0F73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C44-D1E4-47B0-A0AE-EDAAE9DFC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DE38D-F56B-4865-B48E-DF1CE5CE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F5D0-0224-4ACA-B172-23A0BDCC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9C3F-71D2-4DE3-B369-EC03DE62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87772-C12A-4786-AFBB-526AEFA0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0087-A8AD-4E19-8A44-71A37B61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1789A-46D2-460F-87B8-22625C826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19932-7071-452D-91FF-2C3008DD5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F40E-8FC4-4C79-9B32-B2AA72B4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362E7-2704-475B-8C26-570762BE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89CB-F0C9-43E5-A742-F260581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02E-C910-4C8A-B05B-72F6B795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7636B-D181-4162-9FBC-CF172B62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F142-3B8B-43FA-86F4-F8680586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97561-6084-4FD5-87A2-8F186AA0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715C-A5DE-415D-B205-27BEDF72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AA1E0-70D7-40D8-B667-3BDAAFAE0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1D6A9-2CB9-466C-A5C9-EBA1F37D1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BCBC-878D-4F2F-9A09-B09E4A08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FE3E5-28BC-4564-9051-C92E4FCD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334E-5062-4EF9-909D-07BA937D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59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63B39-D0EC-4F45-AA3D-D0B39B9B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61E0-1F00-4058-9465-8DFE3CCBC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3CB0-1328-4CFC-811B-6316DE07C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3A1A-E8E9-4F1D-A0E4-983A98264649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EC30C-8EF3-4E47-8B26-4FAA64C1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1EA07-B266-4D79-A329-C70E2F16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Diliana Crespo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 Black"/>
              </a:rPr>
              <a:t>Data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 Engineering </a:t>
            </a:r>
            <a:r>
              <a:rPr lang="en-US" dirty="0">
                <a:solidFill>
                  <a:srgbClr val="460073"/>
                </a:solidFill>
                <a:latin typeface="Graphik Black"/>
              </a:rPr>
              <a:t>Specialist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 Blac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</a:t>
            </a: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/</a:t>
            </a:r>
            <a:r>
              <a:rPr lang="es-AR" sz="1200" dirty="0"/>
              <a:t> Data &amp;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Diliana.c.crespo@accenture.com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50" y="764813"/>
            <a:ext cx="1518138" cy="15181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18167" y="2343724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0108" cy="2203045"/>
            <a:chOff x="652656" y="2462768"/>
            <a:chExt cx="2900108" cy="2203045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4986" y="4327151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84418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</a:t>
            </a:r>
            <a:r>
              <a:rPr lang="en-US" b="0">
                <a:solidFill>
                  <a:srgbClr val="000000"/>
                </a:solidFill>
                <a:latin typeface="Graphik"/>
              </a:rPr>
              <a:t>.Visual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Basic for Applications (</a:t>
            </a:r>
            <a:r>
              <a:rPr lang="en-US" b="0">
                <a:solidFill>
                  <a:srgbClr val="000000"/>
                </a:solidFill>
                <a:latin typeface="Graphik"/>
              </a:rPr>
              <a:t>VBA) /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SQLServer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RPA: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Automation Anywhere/Automation Anywhere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IQBot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/UiPath/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UIPath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Insights/Blue Prism/Microsoft Power Platform Fundamentals/Microsoft Azure Fundamentals.</a:t>
            </a:r>
          </a:p>
          <a:p>
            <a:pPr>
              <a:buClr>
                <a:srgbClr val="A100FF"/>
              </a:buClr>
              <a:defRPr/>
            </a:pPr>
            <a:r>
              <a:rPr lang="en-US" dirty="0">
                <a:solidFill>
                  <a:srgbClr val="000000"/>
                </a:solidFill>
                <a:latin typeface="Graphik"/>
              </a:rPr>
              <a:t>AI: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Celonis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Process Mining MVPs/IBM 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DataCap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/</a:t>
            </a:r>
            <a:r>
              <a:rPr lang="en-US" b="0" dirty="0" err="1">
                <a:solidFill>
                  <a:srgbClr val="000000"/>
                </a:solidFill>
                <a:latin typeface="Graphik"/>
              </a:rPr>
              <a:t>GenAI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.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Others: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Researching, Faculty for Accenture Technology/Corporate Citizenship Volunteer for IT programs/Management and Planning/Accenture BPM global group member/Mental Health Ally.</a:t>
            </a:r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157562" y="4550034"/>
            <a:ext cx="3106657" cy="9044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prstClr val="black"/>
                </a:solidFill>
              </a:rPr>
              <a:t>Bachelor Degree  in Electrical and Electronic Engineer (Universidad </a:t>
            </a:r>
            <a:r>
              <a:rPr lang="en-US" sz="1000" dirty="0" err="1">
                <a:solidFill>
                  <a:prstClr val="black"/>
                </a:solidFill>
              </a:rPr>
              <a:t>Yacambu</a:t>
            </a:r>
            <a:r>
              <a:rPr lang="en-US" sz="1000" dirty="0">
                <a:solidFill>
                  <a:prstClr val="black"/>
                </a:solidFill>
              </a:rPr>
              <a:t>, Venezuela)</a:t>
            </a:r>
          </a:p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dirty="0" err="1">
                <a:solidFill>
                  <a:prstClr val="black"/>
                </a:solidFill>
              </a:rPr>
              <a:t>UIPath</a:t>
            </a:r>
            <a:r>
              <a:rPr lang="en-US" sz="1000" dirty="0">
                <a:solidFill>
                  <a:prstClr val="black"/>
                </a:solidFill>
              </a:rPr>
              <a:t> RPA Advanced Certified Developer</a:t>
            </a: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313683" y="2678553"/>
            <a:ext cx="2950536" cy="1530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00" dirty="0">
                <a:solidFill>
                  <a:prstClr val="black"/>
                </a:solidFill>
              </a:rPr>
              <a:t>15 years of experience in delivery services within electrical systems and telecommunications, +5 years working in Accenture Advanced Tech Center Argentina, as a Data Engineering Team Lead, providing automation solutions for clients in different industries. With a vision engaged with Innovation and Sustainability, i lead the exploring of new technologies: Process Mining, Data Analytics, new RPA and cognitive tools, Generative AI application for Automation</a:t>
            </a:r>
            <a:endParaRPr lang="en-US" sz="1000" dirty="0"/>
          </a:p>
          <a:p>
            <a:pPr marL="171450" indent="-171450">
              <a:buChar char="•"/>
            </a:pPr>
            <a:endParaRPr lang="en-US" sz="1000" dirty="0"/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(C1)</a:t>
            </a:r>
          </a:p>
          <a:p>
            <a:r>
              <a:rPr lang="en-US" dirty="0"/>
              <a:t>Spanish (Native)</a:t>
            </a:r>
          </a:p>
          <a:p>
            <a:r>
              <a:rPr lang="en-US" dirty="0"/>
              <a:t>French (Basic)</a:t>
            </a:r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3044481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 Oil &amp; Gas – Finance - Supply Chain</a:t>
            </a:r>
          </a:p>
          <a:p>
            <a:r>
              <a:rPr lang="en-US" dirty="0"/>
              <a:t>Accountability –  IT Services</a:t>
            </a:r>
          </a:p>
          <a:p>
            <a:r>
              <a:rPr lang="en-US" dirty="0"/>
              <a:t>Pharmaceutical – Life Science 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39206" y="592360"/>
            <a:ext cx="5081751" cy="57965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INTELLIGENT AUTOMATION COE @ PHARMACEUTICAL INDUSTRY, USA-UK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Application Maintenance Team Lead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UIPath</a:t>
            </a: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 / Blue Prism RPA digital workforce and Analytics platforms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Lead </a:t>
            </a:r>
            <a:r>
              <a:rPr lang="en-US" sz="1000" b="0" dirty="0" err="1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UIPath</a:t>
            </a: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 Innovation team (Analytics, Task Mining)</a:t>
            </a:r>
            <a:endParaRPr lang="en-US" sz="1000" dirty="0">
              <a:solidFill>
                <a:schemeClr val="accent6">
                  <a:lumMod val="50000"/>
                </a:schemeClr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INTELLIGENT AUTOMATION COE @ PHARMACEUTICAL INDUSTRY, USA-UK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Blue Prism / UiPath Senior QA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 err="1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UIPath</a:t>
            </a:r>
            <a:r>
              <a:rPr lang="en-US" sz="1000" b="0" dirty="0">
                <a:solidFill>
                  <a:schemeClr val="accent6">
                    <a:lumMod val="50000"/>
                  </a:schemeClr>
                </a:solidFill>
                <a:latin typeface="+mn-lt"/>
                <a:cs typeface="Calibri" panose="020F0502020204030204" pitchFamily="34" charset="0"/>
              </a:rPr>
              <a:t> / Blue Prism RPA digital workforce maintenance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Lead of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UIPath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Insight exploration team for performance analytics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BUSINESS TRANSFORMATION OPS @ OIL &amp; GAS COMPANY, USA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QA &amp; Client Lead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Business Process discovery and feasibility analysis. Business Case building.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Quality Assurance over ROM implementation.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RPA Development Best Practices Auditor – Automation Anywhere Migration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BUSINESS TRANSFORMATION OPS @ OIL &amp; GAS COMPANY, USA – AIRLINES COMPANY, LATAM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RPA Senior Developer &amp; Solution Designer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Automation Anywhere SME for technical support across B.T.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latam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contracts.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Automation Anywhere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IQBot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Cognitive tool implementation for Semi-structured data extraction automations.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ROBOTICS LATAM @ OIL &amp; GAS COMPANY, USA.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RPA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SSr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Bot development and deployment for finance and accounting processes.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Faculty and organizer for internal training programs (Automation Anywhere v11, Automation Anywhere v360 migration,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IQBot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, APIs)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Build Proof of Concepts repository for new solutions &amp; Mainframe automation</a:t>
            </a:r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ARGENTINA @ ADVANCED TECH CENTER &amp; RPA Solution Factory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RPA Developer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Bot development and deployment for resource management and commercial PMO processes.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Faculty for Accenture RPA </a:t>
            </a:r>
            <a:r>
              <a:rPr lang="en-US" sz="1000" b="0" dirty="0" err="1">
                <a:latin typeface="+mn-lt"/>
                <a:cs typeface="Calibri" panose="020F0502020204030204" pitchFamily="34" charset="0"/>
              </a:rPr>
              <a:t>TechnoloShe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 academy and internal trainings.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000" b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2023 Accenture.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90656-A5DC-0DDA-8E1B-CD1C0B8EC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969" y="1652847"/>
            <a:ext cx="457895" cy="516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7A6EE1-714C-639C-5E7D-8692FA1A0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2423" y="1639128"/>
            <a:ext cx="532655" cy="516350"/>
          </a:xfrm>
          <a:prstGeom prst="rect">
            <a:avLst/>
          </a:prstGeom>
        </p:spPr>
      </p:pic>
      <p:pic>
        <p:nvPicPr>
          <p:cNvPr id="10" name="Picture 9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6C57AE48-CBC7-CD76-61A8-A2B974BECA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90" y="792677"/>
            <a:ext cx="1736619" cy="147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B4E15A-85DF-4CB5-9FEA-2570B484A721}"/>
</file>

<file path=customXml/itemProps2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512</Words>
  <Application>Microsoft Office PowerPoint</Application>
  <PresentationFormat>Widescreen</PresentationFormat>
  <Paragraphs>56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Graphik</vt:lpstr>
      <vt:lpstr>Graphik Black</vt:lpstr>
      <vt:lpstr>GT Sectra Fine Rg</vt:lpstr>
      <vt:lpstr>Office Theme</vt:lpstr>
      <vt:lpstr>ThemeACN2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Comerci, Sandro</dc:creator>
  <cp:lastModifiedBy>Crespo, Diliana C.</cp:lastModifiedBy>
  <cp:revision>19</cp:revision>
  <dcterms:created xsi:type="dcterms:W3CDTF">2022-12-16T18:40:20Z</dcterms:created>
  <dcterms:modified xsi:type="dcterms:W3CDTF">2023-10-09T18:54:13Z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