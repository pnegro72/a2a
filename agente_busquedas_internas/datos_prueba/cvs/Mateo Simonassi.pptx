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539E8-8CB8-4B3E-8093-57631D3EBC01}"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815889-69A7-4484-9325-7D793A628D0D}" type="slidenum">
              <a:rPr lang="en-US" smtClean="0"/>
              <a:t>‹#›</a:t>
            </a:fld>
            <a:endParaRPr lang="en-US"/>
          </a:p>
        </p:txBody>
      </p:sp>
    </p:spTree>
    <p:extLst>
      <p:ext uri="{BB962C8B-B14F-4D97-AF65-F5344CB8AC3E}">
        <p14:creationId xmlns:p14="http://schemas.microsoft.com/office/powerpoint/2010/main" val="3434230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815889-69A7-4484-9325-7D793A628D0D}" type="slidenum">
              <a:rPr lang="en-US" smtClean="0"/>
              <a:t>1</a:t>
            </a:fld>
            <a:endParaRPr lang="en-US"/>
          </a:p>
        </p:txBody>
      </p:sp>
    </p:spTree>
    <p:extLst>
      <p:ext uri="{BB962C8B-B14F-4D97-AF65-F5344CB8AC3E}">
        <p14:creationId xmlns:p14="http://schemas.microsoft.com/office/powerpoint/2010/main" val="1617683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A7288-035D-3934-9C74-55D4912CA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1CF9A-99F8-6BC6-7A06-FA8B1EA6B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BC56B-5AB2-E4D0-85CC-6E15A077DE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0077B4-605D-87AF-78EC-9C1F640824F3}"/>
              </a:ext>
            </a:extLst>
          </p:cNvPr>
          <p:cNvSpPr>
            <a:spLocks noGrp="1"/>
          </p:cNvSpPr>
          <p:nvPr>
            <p:ph type="sldNum" sz="quarter" idx="5"/>
          </p:nvPr>
        </p:nvSpPr>
        <p:spPr/>
        <p:txBody>
          <a:bodyPr/>
          <a:lstStyle/>
          <a:p>
            <a:fld id="{89815889-69A7-4484-9325-7D793A628D0D}" type="slidenum">
              <a:rPr lang="en-US" smtClean="0"/>
              <a:t>2</a:t>
            </a:fld>
            <a:endParaRPr lang="en-US"/>
          </a:p>
        </p:txBody>
      </p:sp>
    </p:spTree>
    <p:extLst>
      <p:ext uri="{BB962C8B-B14F-4D97-AF65-F5344CB8AC3E}">
        <p14:creationId xmlns:p14="http://schemas.microsoft.com/office/powerpoint/2010/main" val="5414988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3/4/2026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dirty="0"/>
              <a:t>Mateo Simonassi</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85000" lnSpcReduction="20000"/>
          </a:bodyPr>
          <a:lstStyle/>
          <a:p>
            <a:r>
              <a:rPr lang="de-DE" dirty="0"/>
              <a:t>AI LLM Technology Arch Sr Analyst</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a:xfrm>
            <a:off x="2369005" y="1142563"/>
            <a:ext cx="6541532" cy="310896"/>
          </a:xfrm>
        </p:spPr>
        <p:txBody>
          <a:bodyPr/>
          <a:lstStyle/>
          <a:p>
            <a:r>
              <a:rPr lang="en-US" dirty="0"/>
              <a:t>Mateo.simonassi@accenture.com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Almirante Brown, Buenos Aires,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a:normAutofit fontScale="92500" lnSpcReduction="10000"/>
          </a:bodyPr>
          <a:lstStyle/>
          <a:p>
            <a:pPr marL="0" indent="0">
              <a:buNone/>
            </a:pPr>
            <a:r>
              <a:rPr lang="en-US" dirty="0"/>
              <a:t>Data professional with a B.Sc. in Data Science from Universidad Nacional Guillermo Brown, with experience in data analytics, SQL-based systems, and AI-driven process automation across enterprise environments.</a:t>
            </a:r>
          </a:p>
          <a:p>
            <a:pPr marL="0" indent="0">
              <a:buNone/>
            </a:pPr>
            <a:r>
              <a:rPr lang="en-US" dirty="0"/>
              <a:t>Currently working as AI LLM Technology Architecture Senior Analyst at Accenture, participating in the AI Academy program, focused on developing expertise in large language models, generative AI architectures, and enterprise AI solutions.</a:t>
            </a:r>
          </a:p>
          <a:p>
            <a:pPr marL="0" indent="0">
              <a:buNone/>
            </a:pPr>
            <a:r>
              <a:rPr lang="en-US" dirty="0"/>
              <a:t>Previously worked as Young Professional in Data, AI &amp; Automation at Gire S.A., contributing to initiatives focused on financial data system optimization, process automation (RPA), and generative AI solutions aimed at improving operational efficiency.</a:t>
            </a:r>
          </a:p>
          <a:p>
            <a:pPr marL="0" indent="0">
              <a:buNone/>
            </a:pPr>
            <a:endParaRPr lang="en-US" dirty="0"/>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24" y="2760392"/>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Gen AI</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Machine Learning </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Data Science</a:t>
            </a:r>
            <a:endParaRPr lang="en-US"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altLang="en-US" sz="900" dirty="0">
                <a:solidFill>
                  <a:prstClr val="black"/>
                </a:solidFill>
                <a:latin typeface="Calibri"/>
                <a:ea typeface="Calibri" panose="020F0502020204030204"/>
                <a:cs typeface="Arial"/>
              </a:rPr>
              <a:t>Python, R</a:t>
            </a:r>
          </a:p>
          <a:p>
            <a:pPr marL="170180" indent="-170180">
              <a:lnSpc>
                <a:spcPct val="100000"/>
              </a:lnSpc>
              <a:spcBef>
                <a:spcPts val="450"/>
              </a:spcBef>
              <a:tabLst>
                <a:tab pos="133270" algn="l"/>
              </a:tabLst>
              <a:defRPr/>
            </a:pPr>
            <a:r>
              <a:rPr lang="en-US" altLang="en-US" sz="900" dirty="0">
                <a:solidFill>
                  <a:prstClr val="black"/>
                </a:solidFill>
                <a:latin typeface="Calibri" panose="020F0502020204030204"/>
                <a:ea typeface="Calibri" panose="020F0502020204030204"/>
                <a:cs typeface="Arial"/>
              </a:rPr>
              <a:t>Power BI, Tableau</a:t>
            </a:r>
          </a:p>
          <a:p>
            <a:pPr marL="170180" indent="-170180">
              <a:lnSpc>
                <a:spcPct val="100000"/>
              </a:lnSpc>
              <a:spcBef>
                <a:spcPts val="450"/>
              </a:spcBef>
              <a:tabLst>
                <a:tab pos="133270" algn="l"/>
              </a:tabLst>
              <a:defRPr/>
            </a:pPr>
            <a:r>
              <a:rPr lang="en-US" altLang="en-US" sz="900" dirty="0">
                <a:solidFill>
                  <a:prstClr val="black"/>
                </a:solidFill>
                <a:latin typeface="Calibri" panose="020F0502020204030204"/>
                <a:ea typeface="Calibri" panose="020F0502020204030204"/>
                <a:cs typeface="Arial"/>
              </a:rPr>
              <a:t>SQL</a:t>
            </a: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a:noAutofit/>
          </a:bodyPr>
          <a:lstStyle/>
          <a:p>
            <a:pPr marL="0" indent="0">
              <a:buNone/>
            </a:pPr>
            <a:r>
              <a:rPr lang="en-US" sz="1000" dirty="0"/>
              <a:t>Accenture — AI Academy | LLM Technology Architecture Sr Analyst</a:t>
            </a:r>
            <a:br>
              <a:rPr lang="en-US" sz="1000" dirty="0"/>
            </a:br>
            <a:r>
              <a:rPr lang="en-US" sz="1000" i="1" dirty="0"/>
              <a:t>2026 – Present</a:t>
            </a:r>
            <a:endParaRPr lang="en-US" sz="1000" dirty="0"/>
          </a:p>
          <a:p>
            <a:r>
              <a:rPr lang="en-US" sz="1000" b="0" dirty="0"/>
              <a:t>Participating in Accenture’s AI Academy program, focused on large language models, generative AI systems, and enterprise AI architecture.</a:t>
            </a:r>
          </a:p>
          <a:p>
            <a:pPr marL="0" indent="0">
              <a:buNone/>
            </a:pPr>
            <a:r>
              <a:rPr lang="en-US" sz="1000" dirty="0"/>
              <a:t>Gire S.A. — Young Professional | Data, AI &amp; Automation</a:t>
            </a:r>
            <a:br>
              <a:rPr lang="en-US" sz="1000" dirty="0"/>
            </a:br>
            <a:r>
              <a:rPr lang="en-US" sz="1000" i="1" dirty="0"/>
              <a:t>2025 – 2026</a:t>
            </a:r>
          </a:p>
          <a:p>
            <a:r>
              <a:rPr lang="en-US" sz="1000" b="0" dirty="0"/>
              <a:t>Worked on financial data system optimization, process automation (RPA), and generative AI initiatives within the technology and operations environment.</a:t>
            </a:r>
          </a:p>
          <a:p>
            <a:pPr marL="0" indent="0">
              <a:buNone/>
            </a:pPr>
            <a:br>
              <a:rPr lang="en-US" sz="1000" b="0" dirty="0"/>
            </a:br>
            <a:r>
              <a:rPr lang="en-US" sz="1000" dirty="0" err="1"/>
              <a:t>Simetrik</a:t>
            </a:r>
            <a:r>
              <a:rPr lang="en-US" sz="1000" dirty="0"/>
              <a:t> — SQL Data Analyst &amp; Support</a:t>
            </a:r>
            <a:br>
              <a:rPr lang="en-US" sz="1000" dirty="0"/>
            </a:br>
            <a:r>
              <a:rPr lang="en-US" sz="1000" i="1" dirty="0"/>
              <a:t>2023 – 2025</a:t>
            </a:r>
          </a:p>
          <a:p>
            <a:r>
              <a:rPr lang="en-US" sz="1000" b="0" dirty="0"/>
              <a:t>Provided technical support and data analysis for data reconciliation systems, troubleshooting issues related to data processing pipelines and database operations.</a:t>
            </a:r>
          </a:p>
          <a:p>
            <a:pPr marL="0" indent="0">
              <a:buNone/>
            </a:pPr>
            <a:br>
              <a:rPr lang="en-US" sz="1000" dirty="0"/>
            </a:br>
            <a:r>
              <a:rPr lang="en-US" sz="1000" dirty="0"/>
              <a:t>Grupo Calipso (Visma) — SQL Developer</a:t>
            </a:r>
            <a:br>
              <a:rPr lang="en-US" sz="1000" dirty="0"/>
            </a:br>
            <a:r>
              <a:rPr lang="en-US" sz="1000" i="1" dirty="0"/>
              <a:t>2021 – 2023</a:t>
            </a:r>
          </a:p>
          <a:p>
            <a:r>
              <a:rPr lang="en-US" sz="1000" b="0" dirty="0"/>
              <a:t>Worked with ERP systems and SQL environments, supporting database operations and assisting in server migration processes.</a:t>
            </a: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a:xfrm>
            <a:off x="2369005" y="845953"/>
            <a:ext cx="6541532" cy="310896"/>
          </a:xfrm>
        </p:spPr>
        <p:txBody>
          <a:bodyPr/>
          <a:lstStyle/>
          <a:p>
            <a:pPr marL="0" indent="0">
              <a:buNone/>
            </a:pPr>
            <a:r>
              <a:rPr lang="es-AR" dirty="0"/>
              <a:t>Technology / Data &amp; AI</a:t>
            </a:r>
            <a:endParaRPr lang="en-US" dirty="0"/>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22221" y="4131083"/>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sz="900" dirty="0">
                <a:latin typeface="+mn-lt"/>
              </a:rPr>
              <a:t>Financial Services &amp; Fintech</a:t>
            </a:r>
          </a:p>
          <a:p>
            <a:pPr marL="170781" indent="-170781">
              <a:lnSpc>
                <a:spcPct val="100000"/>
              </a:lnSpc>
              <a:spcBef>
                <a:spcPts val="450"/>
              </a:spcBef>
              <a:tabLst>
                <a:tab pos="133270" algn="l"/>
              </a:tabLst>
              <a:defRPr/>
            </a:pPr>
            <a:r>
              <a:rPr lang="en-US" sz="900" dirty="0">
                <a:latin typeface="+mn-lt"/>
              </a:rPr>
              <a:t>Enterprise Software</a:t>
            </a:r>
          </a:p>
          <a:p>
            <a:pPr marL="170781" indent="-170781">
              <a:lnSpc>
                <a:spcPct val="100000"/>
              </a:lnSpc>
              <a:spcBef>
                <a:spcPts val="450"/>
              </a:spcBef>
              <a:tabLst>
                <a:tab pos="133270" algn="l"/>
              </a:tabLst>
              <a:defRPr/>
            </a:pPr>
            <a:r>
              <a:rPr lang="en-US" sz="900" dirty="0">
                <a:latin typeface="+mn-lt"/>
              </a:rPr>
              <a:t>Technology Consulting &amp; AI Solutions</a:t>
            </a:r>
          </a:p>
          <a:p>
            <a:pPr marL="170781" indent="-170781">
              <a:lnSpc>
                <a:spcPct val="100000"/>
              </a:lnSpc>
              <a:spcBef>
                <a:spcPts val="450"/>
              </a:spcBef>
              <a:tabLst>
                <a:tab pos="133270" algn="l"/>
              </a:tabLst>
              <a:defRPr/>
            </a:pPr>
            <a:r>
              <a:rPr lang="en-US" sz="900" dirty="0">
                <a:latin typeface="+mn-lt"/>
              </a:rPr>
              <a:t>AI &amp; Data Solutions</a:t>
            </a:r>
            <a:endParaRPr lang="en-US" altLang="en-US" sz="900" dirty="0">
              <a:solidFill>
                <a:prstClr val="black"/>
              </a:solidFill>
              <a:latin typeface="+mn-lt"/>
              <a:cs typeface="Arial"/>
            </a:endParaRP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10586" y="5245785"/>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41211" y="5603433"/>
            <a:ext cx="2781010" cy="707886"/>
          </a:xfrm>
          <a:prstGeom prst="rect">
            <a:avLst/>
          </a:prstGeom>
          <a:noFill/>
        </p:spPr>
        <p:txBody>
          <a:bodyPr wrap="square" rtlCol="0">
            <a:spAutoFit/>
          </a:bodyPr>
          <a:lstStyle/>
          <a:p>
            <a:r>
              <a:rPr lang="es-AR" sz="1000" dirty="0">
                <a:solidFill>
                  <a:prstClr val="black"/>
                </a:solidFill>
              </a:rPr>
              <a:t>AWS – Machine </a:t>
            </a:r>
            <a:r>
              <a:rPr lang="es-AR" sz="1000" dirty="0" err="1">
                <a:solidFill>
                  <a:prstClr val="black"/>
                </a:solidFill>
              </a:rPr>
              <a:t>Learning</a:t>
            </a:r>
            <a:r>
              <a:rPr lang="es-AR" sz="1000" dirty="0">
                <a:solidFill>
                  <a:prstClr val="black"/>
                </a:solidFill>
              </a:rPr>
              <a:t>, </a:t>
            </a:r>
            <a:r>
              <a:rPr lang="es-AR" sz="1000" dirty="0" err="1">
                <a:solidFill>
                  <a:prstClr val="black"/>
                </a:solidFill>
              </a:rPr>
              <a:t>Learning</a:t>
            </a:r>
            <a:r>
              <a:rPr lang="es-AR" sz="1000" dirty="0">
                <a:solidFill>
                  <a:prstClr val="black"/>
                </a:solidFill>
              </a:rPr>
              <a:t> Plan</a:t>
            </a:r>
          </a:p>
          <a:p>
            <a:r>
              <a:rPr lang="es-AR" sz="1000" dirty="0">
                <a:solidFill>
                  <a:prstClr val="black"/>
                </a:solidFill>
              </a:rPr>
              <a:t>IBM - Data Workshop (</a:t>
            </a:r>
            <a:r>
              <a:rPr lang="es-AR" sz="1000" dirty="0" err="1">
                <a:solidFill>
                  <a:prstClr val="black"/>
                </a:solidFill>
              </a:rPr>
              <a:t>Level</a:t>
            </a:r>
            <a:r>
              <a:rPr lang="es-AR" sz="1000" dirty="0">
                <a:solidFill>
                  <a:prstClr val="black"/>
                </a:solidFill>
              </a:rPr>
              <a:t> 1)</a:t>
            </a:r>
          </a:p>
          <a:p>
            <a:r>
              <a:rPr lang="es-AR" sz="1000" dirty="0">
                <a:solidFill>
                  <a:prstClr val="black"/>
                </a:solidFill>
              </a:rPr>
              <a:t>IBM – AI workshop (</a:t>
            </a:r>
            <a:r>
              <a:rPr lang="es-AR" sz="1000" dirty="0" err="1">
                <a:solidFill>
                  <a:prstClr val="black"/>
                </a:solidFill>
              </a:rPr>
              <a:t>Level</a:t>
            </a:r>
            <a:r>
              <a:rPr lang="es-AR" sz="1000" dirty="0">
                <a:solidFill>
                  <a:prstClr val="black"/>
                </a:solidFill>
              </a:rPr>
              <a:t> 2)</a:t>
            </a:r>
          </a:p>
          <a:p>
            <a:r>
              <a:rPr lang="es-AR" sz="1000" dirty="0">
                <a:solidFill>
                  <a:prstClr val="black"/>
                </a:solidFill>
              </a:rPr>
              <a:t>LinkedIn – </a:t>
            </a:r>
            <a:r>
              <a:rPr lang="es-AR" sz="1000" dirty="0" err="1">
                <a:solidFill>
                  <a:prstClr val="black"/>
                </a:solidFill>
              </a:rPr>
              <a:t>Tableau</a:t>
            </a:r>
            <a:r>
              <a:rPr lang="es-AR" sz="1000" dirty="0">
                <a:solidFill>
                  <a:prstClr val="black"/>
                </a:solidFill>
              </a:rPr>
              <a:t> esencial</a:t>
            </a:r>
            <a:endParaRPr lang="en-US" sz="1000" dirty="0">
              <a:solidFill>
                <a:prstClr val="black"/>
              </a:solidFill>
            </a:endParaRPr>
          </a:p>
        </p:txBody>
      </p:sp>
      <p:pic>
        <p:nvPicPr>
          <p:cNvPr id="20" name="Picture Placeholder 19" descr="A person in a white shirt&#10;&#10;AI-generated content may be incorrect.">
            <a:extLst>
              <a:ext uri="{FF2B5EF4-FFF2-40B4-BE49-F238E27FC236}">
                <a16:creationId xmlns:a16="http://schemas.microsoft.com/office/drawing/2014/main" id="{3732FE17-ED05-0A60-9CEB-A1F4D0869B4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6529" r="6529"/>
          <a:stretch>
            <a:fillRect/>
          </a:stretch>
        </p:blipFill>
        <p:spPr>
          <a:xfrm>
            <a:off x="642938" y="88224"/>
            <a:ext cx="1336675" cy="1424892"/>
          </a:xfrm>
        </p:spPr>
      </p:pic>
      <p:sp>
        <p:nvSpPr>
          <p:cNvPr id="21" name="TextBox 20">
            <a:extLst>
              <a:ext uri="{FF2B5EF4-FFF2-40B4-BE49-F238E27FC236}">
                <a16:creationId xmlns:a16="http://schemas.microsoft.com/office/drawing/2014/main" id="{E7608C8D-17DB-1E69-BE4D-2A8E8EA4D93B}"/>
              </a:ext>
            </a:extLst>
          </p:cNvPr>
          <p:cNvSpPr txBox="1"/>
          <p:nvPr/>
        </p:nvSpPr>
        <p:spPr>
          <a:xfrm>
            <a:off x="3176124" y="5532195"/>
            <a:ext cx="1545336" cy="877163"/>
          </a:xfrm>
          <a:prstGeom prst="rect">
            <a:avLst/>
          </a:prstGeom>
          <a:noFill/>
        </p:spPr>
        <p:txBody>
          <a:bodyPr wrap="square" rtlCol="0">
            <a:spAutoFit/>
          </a:bodyPr>
          <a:lstStyle/>
          <a:p>
            <a:r>
              <a:rPr lang="en-US" sz="1100" b="1" dirty="0">
                <a:latin typeface="Graphik Super" panose="020B0B03030202060203" pitchFamily="34" charset="0"/>
              </a:rPr>
              <a:t>LANGUAGES</a:t>
            </a:r>
          </a:p>
          <a:p>
            <a:pPr marL="171450" indent="-171450">
              <a:buFont typeface="Arial" panose="020B0604020202020204" pitchFamily="34" charset="0"/>
              <a:buChar char="•"/>
            </a:pPr>
            <a:r>
              <a:rPr lang="en-US" sz="1100" dirty="0"/>
              <a:t>Spanish (Native)</a:t>
            </a:r>
          </a:p>
          <a:p>
            <a:pPr marL="171450" indent="-171450">
              <a:buFont typeface="Arial" panose="020B0604020202020204" pitchFamily="34" charset="0"/>
              <a:buChar char="•"/>
            </a:pPr>
            <a:r>
              <a:rPr lang="en-US" sz="1100" dirty="0"/>
              <a:t>English (B2)</a:t>
            </a:r>
            <a:endParaRPr lang="en-US" sz="1100" dirty="0">
              <a:solidFill>
                <a:prstClr val="black"/>
              </a:solidFill>
            </a:endParaRPr>
          </a:p>
          <a:p>
            <a:endParaRPr lang="en-US" b="1" dirty="0"/>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05B9-9AA3-1C1B-25AA-87390D87F9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69E942-AA03-88EE-9307-5B53AEEF2CA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1509DA6E-107E-78CC-A11D-167BB6B7577F}"/>
              </a:ext>
            </a:extLst>
          </p:cNvPr>
          <p:cNvSpPr>
            <a:spLocks noGrp="1"/>
          </p:cNvSpPr>
          <p:nvPr>
            <p:ph type="body" sz="quarter" idx="11"/>
          </p:nvPr>
        </p:nvSpPr>
        <p:spPr/>
        <p:txBody>
          <a:bodyPr>
            <a:normAutofit fontScale="92500" lnSpcReduction="20000"/>
          </a:bodyPr>
          <a:lstStyle/>
          <a:p>
            <a:r>
              <a:rPr lang="en-US" dirty="0"/>
              <a:t>Mateo Simonassi</a:t>
            </a:r>
          </a:p>
        </p:txBody>
      </p:sp>
      <p:sp>
        <p:nvSpPr>
          <p:cNvPr id="6" name="Text Placeholder 5">
            <a:extLst>
              <a:ext uri="{FF2B5EF4-FFF2-40B4-BE49-F238E27FC236}">
                <a16:creationId xmlns:a16="http://schemas.microsoft.com/office/drawing/2014/main" id="{241B9D9A-6CB7-36BB-42B4-A2B519E05960}"/>
              </a:ext>
            </a:extLst>
          </p:cNvPr>
          <p:cNvSpPr>
            <a:spLocks noGrp="1"/>
          </p:cNvSpPr>
          <p:nvPr>
            <p:ph type="body" sz="quarter" idx="12"/>
          </p:nvPr>
        </p:nvSpPr>
        <p:spPr/>
        <p:txBody>
          <a:bodyPr>
            <a:normAutofit fontScale="85000" lnSpcReduction="20000"/>
          </a:bodyPr>
          <a:lstStyle/>
          <a:p>
            <a:r>
              <a:rPr lang="de-DE" dirty="0"/>
              <a:t>AI LLM Technology Arch Sr Analyst</a:t>
            </a:r>
            <a:endParaRPr lang="en-US" dirty="0"/>
          </a:p>
        </p:txBody>
      </p:sp>
      <p:sp>
        <p:nvSpPr>
          <p:cNvPr id="7" name="Text Placeholder 6">
            <a:extLst>
              <a:ext uri="{FF2B5EF4-FFF2-40B4-BE49-F238E27FC236}">
                <a16:creationId xmlns:a16="http://schemas.microsoft.com/office/drawing/2014/main" id="{8E94B217-42F5-5D37-7DBE-882FC8D9025C}"/>
              </a:ext>
            </a:extLst>
          </p:cNvPr>
          <p:cNvSpPr>
            <a:spLocks noGrp="1"/>
          </p:cNvSpPr>
          <p:nvPr>
            <p:ph type="body" sz="quarter" idx="13"/>
          </p:nvPr>
        </p:nvSpPr>
        <p:spPr>
          <a:xfrm>
            <a:off x="2369005" y="1169353"/>
            <a:ext cx="6541532" cy="310896"/>
          </a:xfrm>
        </p:spPr>
        <p:txBody>
          <a:bodyPr/>
          <a:lstStyle/>
          <a:p>
            <a:r>
              <a:rPr lang="en-US" dirty="0"/>
              <a:t>Mateo.simonassi@accenture.com</a:t>
            </a:r>
          </a:p>
        </p:txBody>
      </p:sp>
      <p:sp>
        <p:nvSpPr>
          <p:cNvPr id="8" name="Text Placeholder 7">
            <a:extLst>
              <a:ext uri="{FF2B5EF4-FFF2-40B4-BE49-F238E27FC236}">
                <a16:creationId xmlns:a16="http://schemas.microsoft.com/office/drawing/2014/main" id="{F9D5473C-A412-F044-7E89-03BDFC5C295E}"/>
              </a:ext>
            </a:extLst>
          </p:cNvPr>
          <p:cNvSpPr>
            <a:spLocks noGrp="1"/>
          </p:cNvSpPr>
          <p:nvPr>
            <p:ph type="body" sz="quarter" idx="14"/>
          </p:nvPr>
        </p:nvSpPr>
        <p:spPr/>
        <p:txBody>
          <a:bodyPr/>
          <a:lstStyle/>
          <a:p>
            <a:r>
              <a:rPr lang="en-US" dirty="0"/>
              <a:t>Almirante Brown, Buenos Aires, Argentina</a:t>
            </a:r>
          </a:p>
        </p:txBody>
      </p:sp>
      <p:sp>
        <p:nvSpPr>
          <p:cNvPr id="10" name="Text Placeholder 9">
            <a:extLst>
              <a:ext uri="{FF2B5EF4-FFF2-40B4-BE49-F238E27FC236}">
                <a16:creationId xmlns:a16="http://schemas.microsoft.com/office/drawing/2014/main" id="{CCFECDC5-2ED9-9D91-32A9-4FFA4FA2B3B1}"/>
              </a:ext>
            </a:extLst>
          </p:cNvPr>
          <p:cNvSpPr>
            <a:spLocks noGrp="1"/>
          </p:cNvSpPr>
          <p:nvPr>
            <p:ph type="body" sz="quarter" idx="16"/>
          </p:nvPr>
        </p:nvSpPr>
        <p:spPr>
          <a:xfrm>
            <a:off x="341211" y="2421647"/>
            <a:ext cx="2650385" cy="2919138"/>
          </a:xfrm>
        </p:spPr>
        <p:txBody>
          <a:bodyPr>
            <a:normAutofit fontScale="62500" lnSpcReduction="20000"/>
          </a:bodyPr>
          <a:lstStyle/>
          <a:p>
            <a:pPr marL="0" indent="0">
              <a:buNone/>
            </a:pPr>
            <a:r>
              <a:rPr lang="es-ES" sz="1800" dirty="0"/>
              <a:t>Profesional de datos con Licenciatura en Ciencia de Datos (Universidad Nacional Guillermo Brown) y experiencia en analítica de datos, sistemas basados en SQL y automatización de procesos con IA en entornos empresariales.</a:t>
            </a:r>
          </a:p>
          <a:p>
            <a:pPr marL="0" indent="0">
              <a:buNone/>
            </a:pPr>
            <a:r>
              <a:rPr lang="es-ES" sz="1800" dirty="0"/>
              <a:t>Actualmente me desempeño como Analista Sr de Arquitectura Tecnológica de IA y LLM en Accenture, participando en el programa AI </a:t>
            </a:r>
            <a:r>
              <a:rPr lang="es-ES" sz="1800" dirty="0" err="1"/>
              <a:t>Academy</a:t>
            </a:r>
            <a:r>
              <a:rPr lang="es-ES" sz="1800" dirty="0"/>
              <a:t>, enfocado en modelos de lenguaje de gran escala, sistemas de IA generativa y arquitectura de soluciones de IA empresariales.</a:t>
            </a:r>
          </a:p>
          <a:p>
            <a:pPr marL="0" indent="0">
              <a:buNone/>
            </a:pPr>
            <a:r>
              <a:rPr lang="es-ES" sz="1800" dirty="0"/>
              <a:t>Previamente trabajé en Gire S.A. en iniciativas de optimización de sistemas de datos financieros, automatización de procesos y aplicaciones de IA generativa.</a:t>
            </a:r>
          </a:p>
          <a:p>
            <a:pPr marL="0" indent="0">
              <a:buNone/>
            </a:pPr>
            <a:r>
              <a:rPr lang="es-ES" sz="1800" dirty="0"/>
              <a:t>Idiomas: Español (Nativo) · Inglés (B2)</a:t>
            </a:r>
          </a:p>
          <a:p>
            <a:pPr marL="0" indent="0">
              <a:buNone/>
            </a:pPr>
            <a:endParaRPr lang="en-US" dirty="0"/>
          </a:p>
        </p:txBody>
      </p:sp>
      <p:sp>
        <p:nvSpPr>
          <p:cNvPr id="11" name="Text Placeholder 10">
            <a:extLst>
              <a:ext uri="{FF2B5EF4-FFF2-40B4-BE49-F238E27FC236}">
                <a16:creationId xmlns:a16="http://schemas.microsoft.com/office/drawing/2014/main" id="{78B3DC49-821D-A965-1785-D4A1BC8C3D14}"/>
              </a:ext>
            </a:extLst>
          </p:cNvPr>
          <p:cNvSpPr>
            <a:spLocks noGrp="1"/>
          </p:cNvSpPr>
          <p:nvPr>
            <p:ph type="body" sz="quarter" idx="17"/>
          </p:nvPr>
        </p:nvSpPr>
        <p:spPr>
          <a:xfrm>
            <a:off x="3176124" y="2760392"/>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IA </a:t>
            </a:r>
            <a:r>
              <a:rPr lang="en-US" altLang="en-US" sz="900" dirty="0" err="1">
                <a:solidFill>
                  <a:prstClr val="black"/>
                </a:solidFill>
                <a:latin typeface="Calibri"/>
                <a:ea typeface="Calibri"/>
                <a:cs typeface="Arial"/>
              </a:rPr>
              <a:t>Generativa</a:t>
            </a:r>
            <a:endParaRPr lang="en-US" sz="900"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Machine Learning </a:t>
            </a:r>
            <a:endParaRPr lang="en-US" sz="900"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Data Science</a:t>
            </a:r>
            <a:endParaRPr lang="en-US" sz="900"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altLang="en-US" sz="900" dirty="0">
                <a:solidFill>
                  <a:prstClr val="black"/>
                </a:solidFill>
                <a:latin typeface="Calibri"/>
                <a:ea typeface="Calibri" panose="020F0502020204030204"/>
                <a:cs typeface="Arial"/>
              </a:rPr>
              <a:t>Python, R</a:t>
            </a:r>
          </a:p>
          <a:p>
            <a:pPr marL="170180" indent="-170180">
              <a:lnSpc>
                <a:spcPct val="100000"/>
              </a:lnSpc>
              <a:spcBef>
                <a:spcPts val="450"/>
              </a:spcBef>
              <a:tabLst>
                <a:tab pos="133270" algn="l"/>
              </a:tabLst>
              <a:defRPr/>
            </a:pPr>
            <a:r>
              <a:rPr lang="en-US" altLang="en-US" sz="900" dirty="0">
                <a:solidFill>
                  <a:prstClr val="black"/>
                </a:solidFill>
                <a:latin typeface="Calibri" panose="020F0502020204030204"/>
                <a:ea typeface="Calibri" panose="020F0502020204030204"/>
                <a:cs typeface="Arial"/>
              </a:rPr>
              <a:t>Power BI, Tableau</a:t>
            </a:r>
          </a:p>
          <a:p>
            <a:pPr marL="170180" indent="-170180">
              <a:lnSpc>
                <a:spcPct val="100000"/>
              </a:lnSpc>
              <a:spcBef>
                <a:spcPts val="450"/>
              </a:spcBef>
              <a:tabLst>
                <a:tab pos="133270" algn="l"/>
              </a:tabLst>
              <a:defRPr/>
            </a:pPr>
            <a:r>
              <a:rPr lang="en-US" altLang="en-US" sz="900" dirty="0">
                <a:solidFill>
                  <a:prstClr val="black"/>
                </a:solidFill>
                <a:latin typeface="Calibri" panose="020F0502020204030204"/>
                <a:ea typeface="Calibri" panose="020F0502020204030204"/>
                <a:cs typeface="Arial"/>
              </a:rPr>
              <a:t>SQL</a:t>
            </a:r>
          </a:p>
        </p:txBody>
      </p:sp>
      <p:sp>
        <p:nvSpPr>
          <p:cNvPr id="12" name="Text Placeholder 11">
            <a:extLst>
              <a:ext uri="{FF2B5EF4-FFF2-40B4-BE49-F238E27FC236}">
                <a16:creationId xmlns:a16="http://schemas.microsoft.com/office/drawing/2014/main" id="{EE479601-FB29-22D5-38B3-B6408ED2C761}"/>
              </a:ext>
            </a:extLst>
          </p:cNvPr>
          <p:cNvSpPr>
            <a:spLocks noGrp="1"/>
          </p:cNvSpPr>
          <p:nvPr>
            <p:ph type="body" sz="quarter" idx="18"/>
          </p:nvPr>
        </p:nvSpPr>
        <p:spPr>
          <a:xfrm>
            <a:off x="5427750" y="2425645"/>
            <a:ext cx="6524747" cy="4053221"/>
          </a:xfrm>
        </p:spPr>
        <p:txBody>
          <a:bodyPr>
            <a:noAutofit/>
          </a:bodyPr>
          <a:lstStyle/>
          <a:p>
            <a:pPr marL="0" indent="0">
              <a:buNone/>
            </a:pPr>
            <a:r>
              <a:rPr lang="es-ES" sz="1000" dirty="0"/>
              <a:t>Accenture — AI </a:t>
            </a:r>
            <a:r>
              <a:rPr lang="es-ES" sz="1000" dirty="0" err="1"/>
              <a:t>Academy</a:t>
            </a:r>
            <a:r>
              <a:rPr lang="es-ES" sz="1000" dirty="0"/>
              <a:t> | Analista Sr de Arquitectura Tecnológica LLM</a:t>
            </a:r>
            <a:br>
              <a:rPr lang="es-ES" sz="1000" dirty="0"/>
            </a:br>
            <a:r>
              <a:rPr lang="es-ES" sz="1000" i="1" dirty="0"/>
              <a:t>2026 – Presente</a:t>
            </a:r>
            <a:endParaRPr lang="es-ES" sz="1000" dirty="0"/>
          </a:p>
          <a:p>
            <a:r>
              <a:rPr lang="es-ES" sz="1000" b="0" dirty="0"/>
              <a:t>Participando en el programa AI </a:t>
            </a:r>
            <a:r>
              <a:rPr lang="es-ES" sz="1000" b="0" dirty="0" err="1"/>
              <a:t>Academy</a:t>
            </a:r>
            <a:r>
              <a:rPr lang="es-ES" sz="1000" b="0" dirty="0"/>
              <a:t> de Accenture, enfocado en modelos de lenguaje de gran escala, sistemas de IA generativa y arquitectura de IA empresarial.</a:t>
            </a:r>
            <a:br>
              <a:rPr lang="es-ES" sz="1000" b="0" dirty="0"/>
            </a:br>
            <a:endParaRPr lang="es-ES" sz="1000" b="0" dirty="0"/>
          </a:p>
          <a:p>
            <a:pPr marL="0" indent="0">
              <a:buNone/>
            </a:pPr>
            <a:r>
              <a:rPr lang="es-ES" sz="1000" dirty="0"/>
              <a:t>Gire S.A. — Joven Profesional | Datos, IA y Automatización</a:t>
            </a:r>
            <a:br>
              <a:rPr lang="es-ES" sz="1000" dirty="0"/>
            </a:br>
            <a:r>
              <a:rPr lang="es-ES" sz="1000" i="1" dirty="0"/>
              <a:t>2025 – 2026</a:t>
            </a:r>
            <a:endParaRPr lang="es-ES" sz="1000" dirty="0"/>
          </a:p>
          <a:p>
            <a:r>
              <a:rPr lang="es-ES" sz="1000" b="0" dirty="0"/>
              <a:t>Trabajé en optimización de sistemas de datos financieros, automatización de procesos (RPA) e iniciativas de IA generativa dentro del entorno de tecnología y operaciones.</a:t>
            </a:r>
            <a:br>
              <a:rPr lang="es-ES" sz="1000" b="0" dirty="0"/>
            </a:br>
            <a:endParaRPr lang="es-ES" sz="1000" b="0" dirty="0"/>
          </a:p>
          <a:p>
            <a:pPr marL="0" indent="0">
              <a:buNone/>
            </a:pPr>
            <a:r>
              <a:rPr lang="es-ES" sz="1000" dirty="0" err="1"/>
              <a:t>Simetrik</a:t>
            </a:r>
            <a:r>
              <a:rPr lang="es-ES" sz="1000" dirty="0"/>
              <a:t> — Analista de Datos SQL y Soporte</a:t>
            </a:r>
            <a:br>
              <a:rPr lang="es-ES" sz="1000" dirty="0"/>
            </a:br>
            <a:r>
              <a:rPr lang="es-ES" sz="1000" i="1" dirty="0"/>
              <a:t>2023 – 2025</a:t>
            </a:r>
            <a:endParaRPr lang="es-ES" sz="1000" dirty="0"/>
          </a:p>
          <a:p>
            <a:r>
              <a:rPr lang="es-ES" sz="1000" b="0" dirty="0"/>
              <a:t>Brindé soporte técnico y análisis de datos para sistemas de conciliación de datos, resolviendo problemas relacionados con pipelines de procesamiento de datos y operaciones de base de datos.</a:t>
            </a:r>
          </a:p>
          <a:p>
            <a:pPr marL="0" indent="0">
              <a:buNone/>
            </a:pPr>
            <a:r>
              <a:rPr lang="es-ES" sz="1000" dirty="0"/>
              <a:t>Grupo Calipso (</a:t>
            </a:r>
            <a:r>
              <a:rPr lang="es-ES" sz="1000" dirty="0" err="1"/>
              <a:t>Visma</a:t>
            </a:r>
            <a:r>
              <a:rPr lang="es-ES" sz="1000" dirty="0"/>
              <a:t>) — Desarrollador SQL</a:t>
            </a:r>
            <a:br>
              <a:rPr lang="es-ES" sz="1000" dirty="0"/>
            </a:br>
            <a:r>
              <a:rPr lang="es-ES" sz="1000" i="1" dirty="0"/>
              <a:t>2021 – 2023</a:t>
            </a:r>
            <a:endParaRPr lang="es-ES" sz="1000" dirty="0"/>
          </a:p>
          <a:p>
            <a:r>
              <a:rPr lang="es-ES" sz="1000" b="0" dirty="0"/>
              <a:t>Trabajé con sistemas ERP y entornos SQL, brindando soporte a operaciones de bases de datos y asistiendo en procesos de migración de servidores.</a:t>
            </a: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CEDE82B-7F4D-F991-5453-226EA59997D7}"/>
              </a:ext>
            </a:extLst>
          </p:cNvPr>
          <p:cNvSpPr>
            <a:spLocks noGrp="1"/>
          </p:cNvSpPr>
          <p:nvPr>
            <p:ph type="body" sz="quarter" idx="19"/>
          </p:nvPr>
        </p:nvSpPr>
        <p:spPr>
          <a:xfrm>
            <a:off x="2369005" y="821491"/>
            <a:ext cx="6541532" cy="310896"/>
          </a:xfrm>
        </p:spPr>
        <p:txBody>
          <a:bodyPr/>
          <a:lstStyle/>
          <a:p>
            <a:pPr marL="0" indent="0">
              <a:buNone/>
            </a:pPr>
            <a:r>
              <a:rPr lang="es-AR" dirty="0"/>
              <a:t>Technology / Data &amp; AI</a:t>
            </a:r>
            <a:endParaRPr lang="en-US" dirty="0"/>
          </a:p>
        </p:txBody>
      </p:sp>
      <p:sp>
        <p:nvSpPr>
          <p:cNvPr id="3" name="Footer Placeholder 2">
            <a:extLst>
              <a:ext uri="{FF2B5EF4-FFF2-40B4-BE49-F238E27FC236}">
                <a16:creationId xmlns:a16="http://schemas.microsoft.com/office/drawing/2014/main" id="{EC55AF9F-CC16-A6BA-1E97-1A2C50D91803}"/>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sp>
        <p:nvSpPr>
          <p:cNvPr id="30" name="Text Placeholder 10">
            <a:extLst>
              <a:ext uri="{FF2B5EF4-FFF2-40B4-BE49-F238E27FC236}">
                <a16:creationId xmlns:a16="http://schemas.microsoft.com/office/drawing/2014/main" id="{BF6E0910-389B-32E0-FFD2-5353401C5CB1}"/>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477C5CFA-EC2E-9D2A-1546-07B058D37683}"/>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sz="900" dirty="0" err="1">
                <a:latin typeface="+mn-lt"/>
              </a:rPr>
              <a:t>Servicios</a:t>
            </a:r>
            <a:r>
              <a:rPr lang="en-US" sz="900" dirty="0">
                <a:latin typeface="+mn-lt"/>
              </a:rPr>
              <a:t> </a:t>
            </a:r>
            <a:r>
              <a:rPr lang="en-US" sz="900" dirty="0" err="1">
                <a:latin typeface="+mn-lt"/>
              </a:rPr>
              <a:t>financieros</a:t>
            </a:r>
            <a:r>
              <a:rPr lang="en-US" sz="900" dirty="0">
                <a:latin typeface="+mn-lt"/>
              </a:rPr>
              <a:t> y Fintech</a:t>
            </a:r>
          </a:p>
          <a:p>
            <a:pPr marL="170781" indent="-170781">
              <a:lnSpc>
                <a:spcPct val="100000"/>
              </a:lnSpc>
              <a:spcBef>
                <a:spcPts val="450"/>
              </a:spcBef>
              <a:tabLst>
                <a:tab pos="133270" algn="l"/>
              </a:tabLst>
              <a:defRPr/>
            </a:pPr>
            <a:r>
              <a:rPr lang="en-US" sz="900" dirty="0">
                <a:latin typeface="+mn-lt"/>
              </a:rPr>
              <a:t>Software </a:t>
            </a:r>
            <a:r>
              <a:rPr lang="en-US" sz="900" dirty="0" err="1">
                <a:latin typeface="+mn-lt"/>
              </a:rPr>
              <a:t>empresarial</a:t>
            </a:r>
            <a:endParaRPr lang="en-US" sz="900" dirty="0">
              <a:latin typeface="+mn-lt"/>
            </a:endParaRPr>
          </a:p>
          <a:p>
            <a:pPr marL="170781" indent="-170781">
              <a:lnSpc>
                <a:spcPct val="100000"/>
              </a:lnSpc>
              <a:spcBef>
                <a:spcPts val="450"/>
              </a:spcBef>
              <a:tabLst>
                <a:tab pos="133270" algn="l"/>
              </a:tabLst>
              <a:defRPr/>
            </a:pPr>
            <a:r>
              <a:rPr lang="en-US" sz="900" dirty="0">
                <a:latin typeface="+mn-lt"/>
              </a:rPr>
              <a:t>Consultoria y </a:t>
            </a:r>
            <a:r>
              <a:rPr lang="en-US" sz="900" dirty="0" err="1">
                <a:latin typeface="+mn-lt"/>
              </a:rPr>
              <a:t>soluciones</a:t>
            </a:r>
            <a:r>
              <a:rPr lang="en-US" sz="900" dirty="0">
                <a:latin typeface="+mn-lt"/>
              </a:rPr>
              <a:t> IA</a:t>
            </a: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9A2C410C-2D87-1387-0ADB-C3ED47BA26B7}"/>
              </a:ext>
            </a:extLst>
          </p:cNvPr>
          <p:cNvSpPr txBox="1"/>
          <p:nvPr/>
        </p:nvSpPr>
        <p:spPr>
          <a:xfrm>
            <a:off x="210586" y="5245785"/>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94C02175-5F46-8DC8-5BB8-DF89A8A57308}"/>
              </a:ext>
            </a:extLst>
          </p:cNvPr>
          <p:cNvSpPr txBox="1"/>
          <p:nvPr/>
        </p:nvSpPr>
        <p:spPr>
          <a:xfrm>
            <a:off x="341211" y="5603433"/>
            <a:ext cx="2781010" cy="707886"/>
          </a:xfrm>
          <a:prstGeom prst="rect">
            <a:avLst/>
          </a:prstGeom>
          <a:noFill/>
        </p:spPr>
        <p:txBody>
          <a:bodyPr wrap="square" rtlCol="0">
            <a:spAutoFit/>
          </a:bodyPr>
          <a:lstStyle/>
          <a:p>
            <a:r>
              <a:rPr lang="es-AR" sz="1000" dirty="0">
                <a:solidFill>
                  <a:prstClr val="black"/>
                </a:solidFill>
              </a:rPr>
              <a:t>AWS – Machine </a:t>
            </a:r>
            <a:r>
              <a:rPr lang="es-AR" sz="1000" dirty="0" err="1">
                <a:solidFill>
                  <a:prstClr val="black"/>
                </a:solidFill>
              </a:rPr>
              <a:t>Learning</a:t>
            </a:r>
            <a:r>
              <a:rPr lang="es-AR" sz="1000" dirty="0">
                <a:solidFill>
                  <a:prstClr val="black"/>
                </a:solidFill>
              </a:rPr>
              <a:t>, </a:t>
            </a:r>
            <a:r>
              <a:rPr lang="es-AR" sz="1000" dirty="0" err="1">
                <a:solidFill>
                  <a:prstClr val="black"/>
                </a:solidFill>
              </a:rPr>
              <a:t>Learning</a:t>
            </a:r>
            <a:r>
              <a:rPr lang="es-AR" sz="1000" dirty="0">
                <a:solidFill>
                  <a:prstClr val="black"/>
                </a:solidFill>
              </a:rPr>
              <a:t> Plan</a:t>
            </a:r>
          </a:p>
          <a:p>
            <a:r>
              <a:rPr lang="es-AR" sz="1000" dirty="0">
                <a:solidFill>
                  <a:prstClr val="black"/>
                </a:solidFill>
              </a:rPr>
              <a:t>IBM - Data Workshop (</a:t>
            </a:r>
            <a:r>
              <a:rPr lang="es-AR" sz="1000" dirty="0" err="1">
                <a:solidFill>
                  <a:prstClr val="black"/>
                </a:solidFill>
              </a:rPr>
              <a:t>Level</a:t>
            </a:r>
            <a:r>
              <a:rPr lang="es-AR" sz="1000" dirty="0">
                <a:solidFill>
                  <a:prstClr val="black"/>
                </a:solidFill>
              </a:rPr>
              <a:t> 1)</a:t>
            </a:r>
          </a:p>
          <a:p>
            <a:r>
              <a:rPr lang="es-AR" sz="1000" dirty="0">
                <a:solidFill>
                  <a:prstClr val="black"/>
                </a:solidFill>
              </a:rPr>
              <a:t>IBM – AI workshop (</a:t>
            </a:r>
            <a:r>
              <a:rPr lang="es-AR" sz="1000" dirty="0" err="1">
                <a:solidFill>
                  <a:prstClr val="black"/>
                </a:solidFill>
              </a:rPr>
              <a:t>Level</a:t>
            </a:r>
            <a:r>
              <a:rPr lang="es-AR" sz="1000" dirty="0">
                <a:solidFill>
                  <a:prstClr val="black"/>
                </a:solidFill>
              </a:rPr>
              <a:t> 2)</a:t>
            </a:r>
          </a:p>
          <a:p>
            <a:r>
              <a:rPr lang="es-AR" sz="1000" dirty="0">
                <a:solidFill>
                  <a:prstClr val="black"/>
                </a:solidFill>
              </a:rPr>
              <a:t>LinkedIn – </a:t>
            </a:r>
            <a:r>
              <a:rPr lang="es-AR" sz="1000" dirty="0" err="1">
                <a:solidFill>
                  <a:prstClr val="black"/>
                </a:solidFill>
              </a:rPr>
              <a:t>Tableau</a:t>
            </a:r>
            <a:r>
              <a:rPr lang="es-AR" sz="1000" dirty="0">
                <a:solidFill>
                  <a:prstClr val="black"/>
                </a:solidFill>
              </a:rPr>
              <a:t> esencial</a:t>
            </a:r>
            <a:endParaRPr lang="en-US" sz="1000" dirty="0">
              <a:solidFill>
                <a:prstClr val="black"/>
              </a:solidFill>
            </a:endParaRPr>
          </a:p>
        </p:txBody>
      </p:sp>
      <p:pic>
        <p:nvPicPr>
          <p:cNvPr id="20" name="Picture Placeholder 19" descr="A person in a white shirt&#10;&#10;AI-generated content may be incorrect.">
            <a:extLst>
              <a:ext uri="{FF2B5EF4-FFF2-40B4-BE49-F238E27FC236}">
                <a16:creationId xmlns:a16="http://schemas.microsoft.com/office/drawing/2014/main" id="{B198D659-9BA8-0FBE-1C92-304408FCBDAF}"/>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6529" r="6529"/>
          <a:stretch>
            <a:fillRect/>
          </a:stretch>
        </p:blipFill>
        <p:spPr>
          <a:xfrm>
            <a:off x="642938" y="88224"/>
            <a:ext cx="1336675" cy="1424892"/>
          </a:xfrm>
        </p:spPr>
      </p:pic>
      <p:sp>
        <p:nvSpPr>
          <p:cNvPr id="15" name="TextBox 14">
            <a:extLst>
              <a:ext uri="{FF2B5EF4-FFF2-40B4-BE49-F238E27FC236}">
                <a16:creationId xmlns:a16="http://schemas.microsoft.com/office/drawing/2014/main" id="{FF0AC8A8-279F-796D-5968-5D1F6B4FCCB9}"/>
              </a:ext>
            </a:extLst>
          </p:cNvPr>
          <p:cNvSpPr txBox="1"/>
          <p:nvPr/>
        </p:nvSpPr>
        <p:spPr>
          <a:xfrm>
            <a:off x="3176124" y="5245785"/>
            <a:ext cx="1888998" cy="600164"/>
          </a:xfrm>
          <a:prstGeom prst="rect">
            <a:avLst/>
          </a:prstGeom>
          <a:noFill/>
        </p:spPr>
        <p:txBody>
          <a:bodyPr wrap="square">
            <a:spAutoFit/>
          </a:bodyPr>
          <a:lstStyle/>
          <a:p>
            <a:r>
              <a:rPr lang="en-US" sz="1100" b="1" dirty="0">
                <a:latin typeface="Graphik Super" panose="020B0B03030202060203" pitchFamily="34" charset="0"/>
              </a:rPr>
              <a:t>LANGUAGES</a:t>
            </a:r>
          </a:p>
          <a:p>
            <a:pPr marL="171450" indent="-171450">
              <a:buFont typeface="Arial" panose="020B0604020202020204" pitchFamily="34" charset="0"/>
              <a:buChar char="•"/>
            </a:pPr>
            <a:r>
              <a:rPr lang="en-US" sz="1100" dirty="0"/>
              <a:t>Español (Nativo)</a:t>
            </a:r>
          </a:p>
          <a:p>
            <a:pPr marL="171450" indent="-171450">
              <a:buFont typeface="Arial" panose="020B0604020202020204" pitchFamily="34" charset="0"/>
              <a:buChar char="•"/>
            </a:pPr>
            <a:r>
              <a:rPr lang="en-US" sz="1100" dirty="0"/>
              <a:t>English (B2)</a:t>
            </a:r>
            <a:endParaRPr lang="en-US" sz="1100" dirty="0">
              <a:solidFill>
                <a:prstClr val="black"/>
              </a:solidFill>
            </a:endParaRPr>
          </a:p>
        </p:txBody>
      </p:sp>
    </p:spTree>
    <p:extLst>
      <p:ext uri="{BB962C8B-B14F-4D97-AF65-F5344CB8AC3E}">
        <p14:creationId xmlns:p14="http://schemas.microsoft.com/office/powerpoint/2010/main" val="37055576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b3e803809cee597fc3b47f0bb07c2c3c">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31b344b0215af432afecb1c8ed6d0c85"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F57FD9B-F289-4349-8549-47202472B902}"/>
</file>

<file path=customXml/itemProps2.xml><?xml version="1.0" encoding="utf-8"?>
<ds:datastoreItem xmlns:ds="http://schemas.openxmlformats.org/officeDocument/2006/customXml" ds:itemID="{6144C9B9-51C1-4799-AC7C-FA632A9C1FB3}">
  <ds:schemaRefs>
    <ds:schemaRef ds:uri="http://schemas.microsoft.com/sharepoint/v3/contenttype/forms"/>
  </ds:schemaRefs>
</ds:datastoreItem>
</file>

<file path=customXml/itemProps3.xml><?xml version="1.0" encoding="utf-8"?>
<ds:datastoreItem xmlns:ds="http://schemas.openxmlformats.org/officeDocument/2006/customXml" ds:itemID="{A4FDDEF0-1083-4094-9B20-46F9C8F1434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30</TotalTime>
  <Words>746</Words>
  <Application>Microsoft Office PowerPoint</Application>
  <PresentationFormat>Widescreen</PresentationFormat>
  <Paragraphs>80</Paragraphs>
  <Slides>2</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1" baseType="lpstr">
      <vt:lpstr>Aptos</vt:lpstr>
      <vt:lpstr>Arial</vt:lpstr>
      <vt:lpstr>Calibri</vt:lpstr>
      <vt:lpstr>Calibri Light</vt:lpstr>
      <vt:lpstr>Graphik</vt:lpstr>
      <vt:lpstr>Graphik Black</vt:lpstr>
      <vt:lpstr>Graphik Super</vt:lpstr>
      <vt:lpstr>1_Office Theme</vt:lpstr>
      <vt:lpstr>think-cell Slide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lastModifiedBy>Simonassi, Mateo</cp:lastModifiedBy>
  <cp:revision>4</cp:revision>
  <dcterms:created xsi:type="dcterms:W3CDTF">2022-03-18T18:13:59Z</dcterms:created>
  <dcterms:modified xsi:type="dcterms:W3CDTF">2026-03-04T21:20:17Z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ies>
</file>