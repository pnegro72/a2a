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fif" ContentType="image/jpeg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3" r:id="rId5"/>
  </p:sldMasterIdLst>
  <p:notesMasterIdLst>
    <p:notesMasterId r:id="rId7"/>
  </p:notesMasterIdLst>
  <p:sldIdLst>
    <p:sldId id="2076136191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C50D61-6781-430E-9D26-F1C9AB9F2CFD}" v="1" dt="2022-11-15T20:13:12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ina, Gerardo" userId="S::gerardo.medina@accenture.com::e5ccb10a-0b34-4ffc-a0e6-e96a001c576a" providerId="AD" clId="Web-{FEC50D61-6781-430E-9D26-F1C9AB9F2CFD}"/>
    <pc:docChg chg="modSld">
      <pc:chgData name="Medina, Gerardo" userId="S::gerardo.medina@accenture.com::e5ccb10a-0b34-4ffc-a0e6-e96a001c576a" providerId="AD" clId="Web-{FEC50D61-6781-430E-9D26-F1C9AB9F2CFD}" dt="2022-11-15T20:13:12.048" v="1" actId="20577"/>
      <pc:docMkLst>
        <pc:docMk/>
      </pc:docMkLst>
      <pc:sldChg chg="modSp">
        <pc:chgData name="Medina, Gerardo" userId="S::gerardo.medina@accenture.com::e5ccb10a-0b34-4ffc-a0e6-e96a001c576a" providerId="AD" clId="Web-{FEC50D61-6781-430E-9D26-F1C9AB9F2CFD}" dt="2022-11-15T20:13:12.048" v="1" actId="20577"/>
        <pc:sldMkLst>
          <pc:docMk/>
          <pc:sldMk cId="521239612" sldId="2076136191"/>
        </pc:sldMkLst>
        <pc:spChg chg="mod">
          <ac:chgData name="Medina, Gerardo" userId="S::gerardo.medina@accenture.com::e5ccb10a-0b34-4ffc-a0e6-e96a001c576a" providerId="AD" clId="Web-{FEC50D61-6781-430E-9D26-F1C9AB9F2CFD}" dt="2022-11-15T20:13:12.048" v="1" actId="20577"/>
          <ac:spMkLst>
            <pc:docMk/>
            <pc:sldMk cId="521239612" sldId="2076136191"/>
            <ac:spMk id="6" creationId="{643080F5-2607-4F7B-9264-C5041032336B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F921D-307B-419E-A161-30E4BDA78686}" type="datetimeFigureOut">
              <a:rPr lang="es-AR" smtClean="0"/>
              <a:t>21/11/2022</a:t>
            </a:fld>
            <a:endParaRPr lang="es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A04AC-A84A-4AA1-9665-F98B76453F4A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0514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877665F-10BD-4C6C-AC32-89F087D69A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8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4" imgW="530" imgH="531" progId="TCLayout.ActiveDocument.1">
                  <p:embed/>
                </p:oleObj>
              </mc:Choice>
              <mc:Fallback>
                <p:oleObj name="think-cell Slide" r:id="rId4" imgW="530" imgH="53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877665F-10BD-4C6C-AC32-89F087D69A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00170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3791" y="-46505"/>
            <a:ext cx="12184418" cy="1939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2938" y="88223"/>
            <a:ext cx="1336675" cy="1673225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384558" y="6517088"/>
            <a:ext cx="5711445" cy="20624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EE8CA5D-8B85-43BD-926A-533776C7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312" y="649074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kumimoji="0" lang="en-US" sz="1000" b="0" i="0" u="none" strike="noStrike" kern="1200" cap="none" spc="0" normalizeH="0" baseline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394130" y="-3677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99975" y="2132513"/>
            <a:ext cx="267930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944" y="2132513"/>
            <a:ext cx="5408559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248824" y="213251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4863CF-A9CF-4E25-8C24-C00A183C18E3}"/>
              </a:ext>
            </a:extLst>
          </p:cNvPr>
          <p:cNvGrpSpPr/>
          <p:nvPr userDrawn="1"/>
        </p:nvGrpSpPr>
        <p:grpSpPr>
          <a:xfrm>
            <a:off x="237237" y="2237951"/>
            <a:ext cx="5074087" cy="4252790"/>
            <a:chOff x="470702" y="2490873"/>
            <a:chExt cx="5074087" cy="425279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7A9885D-A32A-4F6C-952D-566AFC7BC7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0702" y="2490873"/>
              <a:ext cx="0" cy="3319272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3C22190-B227-49DD-8F11-48D76E075E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12947" y="2490875"/>
              <a:ext cx="0" cy="3319272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EE7479-6552-4B10-8999-F9FFF684DA7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544788" y="2518340"/>
              <a:ext cx="1" cy="422532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69005" y="59040"/>
            <a:ext cx="654153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69005" y="504446"/>
            <a:ext cx="6541532" cy="31704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9005" y="1202219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69005" y="1517216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8606-7DF7-4ECE-BFD6-9805E216A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211" y="2421646"/>
            <a:ext cx="2586918" cy="29833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24ABDA-AF82-4D3F-B9B8-924763598D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31099" y="2739487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37520"/>
            <a:ext cx="6524747" cy="3916033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9005" y="887223"/>
            <a:ext cx="6541532" cy="310896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3BBBEA3D-ACAB-4B7B-8EF3-C7C27964A6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55677" y="4272823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2421103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FUNCTIONAL</a:t>
            </a: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3926442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</p:spTree>
    <p:extLst>
      <p:ext uri="{BB962C8B-B14F-4D97-AF65-F5344CB8AC3E}">
        <p14:creationId xmlns:p14="http://schemas.microsoft.com/office/powerpoint/2010/main" val="21806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33544-EAA4-455F-8C8C-F9FC7D06B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98" y="1744826"/>
            <a:ext cx="6435081" cy="1714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6000" cap="all" baseline="0">
                <a:latin typeface="+mj-lt"/>
              </a:defRPr>
            </a:lvl1pPr>
          </a:lstStyle>
          <a:p>
            <a:pPr lvl="0"/>
            <a:r>
              <a:rPr lang="de-DE" err="1"/>
              <a:t>Presentation</a:t>
            </a:r>
            <a:r>
              <a:rPr lang="de-DE"/>
              <a:t> Title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D6C774CE-8A51-462C-A6DA-3353B65B8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8" y="3486875"/>
            <a:ext cx="6435081" cy="5078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3000" cap="all" baseline="0">
                <a:solidFill>
                  <a:schemeClr val="tx1"/>
                </a:solidFill>
                <a:latin typeface="+mj-lt"/>
              </a:defRPr>
            </a:lvl1pPr>
            <a:lvl2pPr>
              <a:defRPr sz="3000">
                <a:latin typeface="Graphik Black" panose="020B0A03030202060203" pitchFamily="34" charset="0"/>
              </a:defRPr>
            </a:lvl2pPr>
            <a:lvl3pPr>
              <a:defRPr sz="3000">
                <a:latin typeface="Graphik Black" panose="020B0A03030202060203" pitchFamily="34" charset="0"/>
              </a:defRPr>
            </a:lvl3pPr>
            <a:lvl4pPr>
              <a:defRPr sz="3000">
                <a:latin typeface="Graphik Black" panose="020B0A03030202060203" pitchFamily="34" charset="0"/>
              </a:defRPr>
            </a:lvl4pPr>
            <a:lvl5pPr>
              <a:defRPr sz="3000">
                <a:latin typeface="Graphik Black" panose="020B0A03030202060203" pitchFamily="34" charset="0"/>
              </a:defRPr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41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3791" y="-46505"/>
            <a:ext cx="12184418" cy="1939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2938" y="88223"/>
            <a:ext cx="1336675" cy="1673225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384558" y="6517088"/>
            <a:ext cx="5711445" cy="20624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EE8CA5D-8B85-43BD-926A-533776C7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312" y="649074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kumimoji="0" lang="en-US" sz="1000" b="0" i="0" u="none" strike="noStrike" kern="1200" cap="none" spc="0" normalizeH="0" baseline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394130" y="-3677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99975" y="2132513"/>
            <a:ext cx="267930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944" y="2132513"/>
            <a:ext cx="5408559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248824" y="213251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4863CF-A9CF-4E25-8C24-C00A183C18E3}"/>
              </a:ext>
            </a:extLst>
          </p:cNvPr>
          <p:cNvGrpSpPr/>
          <p:nvPr userDrawn="1"/>
        </p:nvGrpSpPr>
        <p:grpSpPr>
          <a:xfrm>
            <a:off x="237237" y="2237951"/>
            <a:ext cx="5074087" cy="4252790"/>
            <a:chOff x="470702" y="2490873"/>
            <a:chExt cx="5074087" cy="425279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7A9885D-A32A-4F6C-952D-566AFC7BC7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0702" y="2490873"/>
              <a:ext cx="0" cy="3319272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3C22190-B227-49DD-8F11-48D76E075E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12947" y="2490875"/>
              <a:ext cx="0" cy="3319272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EE7479-6552-4B10-8999-F9FFF684DA7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544788" y="2518340"/>
              <a:ext cx="1" cy="422532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69005" y="59040"/>
            <a:ext cx="654153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69005" y="504446"/>
            <a:ext cx="6541532" cy="31704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9005" y="1202219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69005" y="1517216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8606-7DF7-4ECE-BFD6-9805E216A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211" y="2421646"/>
            <a:ext cx="2586918" cy="29833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24ABDA-AF82-4D3F-B9B8-924763598D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31099" y="2739487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37520"/>
            <a:ext cx="6524747" cy="3916033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9005" y="887223"/>
            <a:ext cx="6541532" cy="310896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3BBBEA3D-ACAB-4B7B-8EF3-C7C27964A6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55677" y="4272823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2421103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FUNCTIONAL</a:t>
            </a: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3926442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</p:spTree>
    <p:extLst>
      <p:ext uri="{BB962C8B-B14F-4D97-AF65-F5344CB8AC3E}">
        <p14:creationId xmlns:p14="http://schemas.microsoft.com/office/powerpoint/2010/main" val="117534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heme" Target="../theme/theme2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vmlDrawing" Target="../drawings/vmlDrawing2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D2A40-219B-4A42-BDCD-91ED1016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AC728-5E8B-42F7-9F39-F04825FAA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3194B-FBE7-4F5A-BBFD-20B6E0DC0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56486-13E7-424D-BC87-91F135AC8676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166AE-AC75-490C-A610-103573351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49CD1-69FD-462A-8C84-A583CCA69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859B2-4A9A-4F64-9661-9DC88835B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90F368C-0662-4B05-B5E4-7B52C6EBA9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579490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7" imgW="532" imgH="530" progId="TCLayout.ActiveDocument.1">
                  <p:embed/>
                </p:oleObj>
              </mc:Choice>
              <mc:Fallback>
                <p:oleObj name="think-cell Slide" r:id="rId7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90F368C-0662-4B05-B5E4-7B52C6EBA9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949DF7F-5FAC-4247-9933-EE9462252CF9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D60B7-D06D-4830-BD69-35B1465F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365126"/>
            <a:ext cx="11425084" cy="82457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DF177-00B3-4AFF-B6D4-A595D3A7C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458" y="1273629"/>
            <a:ext cx="11425084" cy="49033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83EB6817-997F-4BFD-89D6-B40A72240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4419" y="6492875"/>
            <a:ext cx="4114800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r>
              <a:rPr lang="es-ES"/>
              <a:t>Copyright © 2020 Accenture. </a:t>
            </a:r>
            <a:r>
              <a:rPr lang="es-ES" err="1"/>
              <a:t>All</a:t>
            </a:r>
            <a:r>
              <a:rPr lang="es-ES"/>
              <a:t> </a:t>
            </a:r>
            <a:r>
              <a:rPr lang="es-ES" err="1"/>
              <a:t>rights</a:t>
            </a:r>
            <a:r>
              <a:rPr lang="es-ES"/>
              <a:t> </a:t>
            </a:r>
            <a:r>
              <a:rPr lang="es-ES" err="1"/>
              <a:t>reserved</a:t>
            </a:r>
            <a:r>
              <a:rPr lang="es-ES"/>
              <a:t>.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9D47C7C1-747A-488B-90A2-DB416575D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219" y="6492875"/>
            <a:ext cx="479323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860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2800" b="1" kern="1200" cap="all" spc="-150" baseline="0">
          <a:solidFill>
            <a:schemeClr val="tx1"/>
          </a:solidFill>
          <a:latin typeface="Graphik" panose="020B0503030202060203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8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lang="en-US" sz="1800" kern="1200" dirty="0" smtClean="0">
          <a:solidFill>
            <a:schemeClr val="accent1"/>
          </a:solidFill>
          <a:latin typeface="Graphik" panose="020B0503030202060203" pitchFamily="34" charset="77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1600" b="1" kern="1200" cap="all" baseline="0">
          <a:solidFill>
            <a:schemeClr val="accent2"/>
          </a:solidFill>
          <a:latin typeface="Graphik" panose="020B0503030202060203" pitchFamily="34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400" b="1" kern="1200">
          <a:solidFill>
            <a:schemeClr val="accent4"/>
          </a:solidFill>
          <a:latin typeface="Graphik" panose="020B0503030202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8BDC1-E9F8-4EEF-9FAB-00FC58FA9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597F7-1063-46BB-A5C6-BD69CD4624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Gerardo Medina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3080F5-2607-4F7B-9264-C504103233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>
                <a:latin typeface="Graphik Black"/>
              </a:rPr>
              <a:t>ML Engineering Manager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2E9116-884D-487E-A1F6-B67499333E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gerardo.medina@accenture.com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54985B-72FF-41C6-B083-F11D3DDEF4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Rosario, Argentina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3265563-7E7C-4DBB-AF77-CDEA802FB0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dirty="0">
                <a:solidFill>
                  <a:prstClr val="black"/>
                </a:solidFill>
              </a:rPr>
              <a:t>Gerardo is a Physicist (Instituto </a:t>
            </a:r>
            <a:r>
              <a:rPr lang="en-US" dirty="0" err="1">
                <a:solidFill>
                  <a:prstClr val="black"/>
                </a:solidFill>
              </a:rPr>
              <a:t>Balseiro</a:t>
            </a:r>
            <a:r>
              <a:rPr lang="en-US" dirty="0">
                <a:solidFill>
                  <a:prstClr val="black"/>
                </a:solidFill>
              </a:rPr>
              <a:t>, Argentina), with more than 28 years of experience in Software Industry, mostly SCADAs, measurement systems and related data services and distributed applications. He is currently a Machine Learning Engineering Manager in Accenture Applied Intelligence </a:t>
            </a:r>
            <a:r>
              <a:rPr lang="en-US" dirty="0" err="1">
                <a:solidFill>
                  <a:prstClr val="black"/>
                </a:solidFill>
              </a:rPr>
              <a:t>Latam</a:t>
            </a:r>
            <a:r>
              <a:rPr lang="en-US" dirty="0">
                <a:solidFill>
                  <a:prstClr val="black"/>
                </a:solidFill>
              </a:rPr>
              <a:t> Hub.</a:t>
            </a: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dirty="0">
                <a:solidFill>
                  <a:schemeClr val="dk1"/>
                </a:solidFill>
              </a:rPr>
              <a:t>He is focused on ML models  by applying MLOps techniques in order to automatize client’s AI process. </a:t>
            </a: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dirty="0">
                <a:solidFill>
                  <a:prstClr val="black"/>
                </a:solidFill>
              </a:rPr>
              <a:t>Gerardo is a native Spanish speaker, proficient in English and French, and has basic knowledge of Italian.</a:t>
            </a:r>
            <a:endParaRPr lang="en-US" dirty="0">
              <a:solidFill>
                <a:prstClr val="black"/>
              </a:solidFill>
              <a:cs typeface="Calibri"/>
            </a:endParaRP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95D3D0-EDF6-4D74-965C-4B25FEDFCC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31099" y="2739486"/>
            <a:ext cx="2012108" cy="1338737"/>
          </a:xfrm>
        </p:spPr>
        <p:txBody>
          <a:bodyPr>
            <a:normAutofit/>
          </a:bodyPr>
          <a:lstStyle/>
          <a:p>
            <a:pPr marL="170781" lvl="0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Machine Learning Engineering - </a:t>
            </a:r>
            <a:r>
              <a:rPr lang="en-US" altLang="en-US" sz="8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MLOps</a:t>
            </a:r>
            <a:endParaRPr lang="en-US" altLang="en-US" sz="800" dirty="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170781" lvl="0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Software Engineering</a:t>
            </a:r>
          </a:p>
          <a:p>
            <a:pPr marL="170781" lvl="0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Project Management</a:t>
            </a:r>
          </a:p>
          <a:p>
            <a:pPr marL="170781" lvl="0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Software Architecture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34980F-833A-4CEA-B193-B68AFF6066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37520"/>
            <a:ext cx="6524747" cy="4053221"/>
          </a:xfrm>
        </p:spPr>
        <p:txBody>
          <a:bodyPr>
            <a:noAutofit/>
          </a:bodyPr>
          <a:lstStyle/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n-US" sz="1000" dirty="0">
                <a:solidFill>
                  <a:prstClr val="black"/>
                </a:solidFill>
              </a:rPr>
              <a:t>MLE @ CAMMESA, ARGENTINA, RENEWABLE ENERGY DEPARTMENT</a:t>
            </a:r>
          </a:p>
          <a:p>
            <a:pPr marL="171450" lvl="0" indent="-171450"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Integration and instrumentation of ML models for renewable energy prediction. Data pipeline implementation and instrumentation: acquisition and rule-based filtering of real-time measurements, time series weather forecasts and power generators availability. QoS monitoring via dashboards and automatic alerts. API and website publication of model's output.</a:t>
            </a:r>
          </a:p>
          <a:p>
            <a:pPr marL="171450" lvl="0" indent="-171450"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Integration between </a:t>
            </a:r>
            <a:r>
              <a:rPr lang="en-US" sz="1000" b="0" dirty="0" err="1">
                <a:solidFill>
                  <a:prstClr val="black"/>
                </a:solidFill>
              </a:rPr>
              <a:t>OSISoft</a:t>
            </a:r>
            <a:r>
              <a:rPr lang="en-US" sz="1000" b="0" dirty="0">
                <a:solidFill>
                  <a:prstClr val="black"/>
                </a:solidFill>
              </a:rPr>
              <a:t> DB, </a:t>
            </a:r>
            <a:r>
              <a:rPr lang="en-US" sz="1000" b="0" dirty="0" err="1">
                <a:solidFill>
                  <a:prstClr val="black"/>
                </a:solidFill>
              </a:rPr>
              <a:t>InfluxDB</a:t>
            </a:r>
            <a:r>
              <a:rPr lang="en-US" sz="1000" b="0" dirty="0">
                <a:solidFill>
                  <a:prstClr val="black"/>
                </a:solidFill>
              </a:rPr>
              <a:t>, MongoDB and Oracle.</a:t>
            </a: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 b="0" dirty="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n-US" sz="1000" dirty="0">
                <a:solidFill>
                  <a:prstClr val="black"/>
                </a:solidFill>
              </a:rPr>
              <a:t>SE @ CAMMESA, ARGENTINA</a:t>
            </a: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Design and Implementation of an Industrial Electricity Consumption Measurement System.</a:t>
            </a: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Architecture, API specs for external providers, and implementation of data services.</a:t>
            </a: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Two-stage data implementation, raw and transformed, in SQL Server and Oracle.</a:t>
            </a:r>
          </a:p>
          <a:p>
            <a:pPr marL="171450" lvl="0" indent="-171450"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en-US" sz="1000" b="0" dirty="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n-US" sz="1000" dirty="0">
                <a:solidFill>
                  <a:prstClr val="black"/>
                </a:solidFill>
              </a:rPr>
              <a:t>SOFTWARE FACTORY MANAGEMENT @ ELECTRIC ENERGY WHOLESALE MARKET ADMINISTRATION COMPANY, ARGENTINA</a:t>
            </a:r>
          </a:p>
          <a:p>
            <a:pPr marL="171450" lvl="0" indent="-171450"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Agile Methodology Implementation for the Software Factory .</a:t>
            </a:r>
          </a:p>
          <a:p>
            <a:pPr marL="171450" indent="-171450"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Development of distributed solutions involving different Optimization and Forecasting Mathematical Models.</a:t>
            </a:r>
          </a:p>
          <a:p>
            <a:pPr marL="171450" lvl="0" indent="-171450"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Real Time Scada and OLTP integration. </a:t>
            </a:r>
          </a:p>
          <a:p>
            <a:pPr marL="171450" lvl="0" indent="-171450"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Renewable Energy Data Tools.</a:t>
            </a:r>
          </a:p>
          <a:p>
            <a:pPr marL="171450" lvl="0" indent="-171450"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Data services and web sites for the gas and oil power generation fuel supplier market.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AB44894-8232-41D9-A194-2698685863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>
                <a:latin typeface="Graphik"/>
              </a:rPr>
              <a:t>Machine Learning Engineering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966CF-FD9C-4253-80B3-E3B4151511A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492875"/>
            <a:ext cx="4114800" cy="228600"/>
          </a:xfrm>
        </p:spPr>
        <p:txBody>
          <a:bodyPr/>
          <a:lstStyle/>
          <a:p>
            <a:r>
              <a:rPr lang="es-ES" dirty="0"/>
              <a:t>Copyright © 2021 Accenture.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rights</a:t>
            </a:r>
            <a:r>
              <a:rPr lang="es-ES" dirty="0"/>
              <a:t> </a:t>
            </a:r>
            <a:r>
              <a:rPr lang="es-ES" dirty="0" err="1"/>
              <a:t>reserved</a:t>
            </a:r>
            <a:r>
              <a:rPr lang="es-ES" dirty="0"/>
              <a:t>.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035D33C-0BA7-472B-9248-CECE86DFA9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55677" y="4272823"/>
            <a:ext cx="2012108" cy="1697954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marL="170781" lvl="0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Arial"/>
              </a:rPr>
              <a:t>Energy</a:t>
            </a:r>
          </a:p>
          <a:p>
            <a:pPr marL="170781" lvl="0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Arial"/>
              </a:rPr>
              <a:t>Steel Industry</a:t>
            </a:r>
          </a:p>
          <a:p>
            <a:pPr marL="170781" lvl="0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Arial"/>
              </a:rPr>
              <a:t>Fuel Logistics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B9AE9816-243B-920D-0B0E-DE1DF96E417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 r="1044"/>
          <a:stretch>
            <a:fillRect/>
          </a:stretch>
        </p:blipFill>
        <p:spPr>
          <a:xfrm>
            <a:off x="341313" y="88900"/>
            <a:ext cx="1638300" cy="1673225"/>
          </a:xfrm>
          <a:prstGeom prst="ellipse">
            <a:avLst/>
          </a:prstGeom>
          <a:noFill/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212396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VISA">
      <a:dk1>
        <a:sysClr val="windowText" lastClr="000000"/>
      </a:dk1>
      <a:lt1>
        <a:sysClr val="window" lastClr="FFFFFF"/>
      </a:lt1>
      <a:dk2>
        <a:srgbClr val="F0F0F0"/>
      </a:dk2>
      <a:lt2>
        <a:srgbClr val="ADADAD"/>
      </a:lt2>
      <a:accent1>
        <a:srgbClr val="1A1F71"/>
      </a:accent1>
      <a:accent2>
        <a:srgbClr val="F7B600"/>
      </a:accent2>
      <a:accent3>
        <a:srgbClr val="5C5C5C"/>
      </a:accent3>
      <a:accent4>
        <a:srgbClr val="003EA9"/>
      </a:accent4>
      <a:accent5>
        <a:srgbClr val="EF8400"/>
      </a:accent5>
      <a:accent6>
        <a:srgbClr val="FFD700"/>
      </a:accent6>
      <a:hlink>
        <a:srgbClr val="1A1F71"/>
      </a:hlink>
      <a:folHlink>
        <a:srgbClr val="ADADAD"/>
      </a:folHlink>
    </a:clrScheme>
    <a:fontScheme name="Custom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bg2">
              <a:lumMod val="9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24e4c7a8421853a402df6e265f794394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ca37c5a048a84fd67bc1e66e7d26fe3d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777FF0-1F0A-4711-B68F-82AD166ECE02}"/>
</file>

<file path=customXml/itemProps2.xml><?xml version="1.0" encoding="utf-8"?>
<ds:datastoreItem xmlns:ds="http://schemas.openxmlformats.org/officeDocument/2006/customXml" ds:itemID="{019073F5-F07D-4CBE-B1E8-369D4890B8A5}">
  <ds:schemaRefs>
    <ds:schemaRef ds:uri="http://schemas.openxmlformats.org/package/2006/metadata/core-properties"/>
    <ds:schemaRef ds:uri="http://schemas.microsoft.com/office/2006/documentManagement/types"/>
    <ds:schemaRef ds:uri="95122b86-f9da-48c6-a86f-890339eac15b"/>
    <ds:schemaRef ds:uri="http://schemas.microsoft.com/office/infopath/2007/PartnerControls"/>
    <ds:schemaRef ds:uri="http://www.w3.org/XML/1998/namespace"/>
    <ds:schemaRef ds:uri="http://purl.org/dc/elements/1.1/"/>
    <ds:schemaRef ds:uri="http://purl.org/dc/dcmitype/"/>
    <ds:schemaRef ds:uri="e06b4fce-3ac1-4799-aa7c-3248d414e960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2144EF6-C5BA-491F-9BFB-7537AD8B59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305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Graphik</vt:lpstr>
      <vt:lpstr>Graphik Black</vt:lpstr>
      <vt:lpstr>Graphik Super</vt:lpstr>
      <vt:lpstr>1_Office Theme</vt:lpstr>
      <vt:lpstr>6_Office Theme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ricardo.di.pasquale</dc:title>
  <dc:creator>Rodriguez Varela, J.</dc:creator>
  <cp:lastModifiedBy>Di Pasquale, Ricardo Hector</cp:lastModifiedBy>
  <cp:revision>17</cp:revision>
  <dcterms:created xsi:type="dcterms:W3CDTF">2020-04-16T03:05:14Z</dcterms:created>
  <dcterms:modified xsi:type="dcterms:W3CDTF">2022-11-21T15:29:17Z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