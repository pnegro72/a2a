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4"/>
    <p:sldMasterId id="2147483760" r:id="rId5"/>
    <p:sldMasterId id="2147483812" r:id="rId6"/>
  </p:sldMasterIdLst>
  <p:notesMasterIdLst>
    <p:notesMasterId r:id="rId8"/>
  </p:notesMasterIdLst>
  <p:handoutMasterIdLst>
    <p:handoutMasterId r:id="rId9"/>
  </p:handoutMasterIdLst>
  <p:sldIdLst>
    <p:sldId id="2076136212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3772" userDrawn="1">
          <p15:clr>
            <a:srgbClr val="A4A3A4"/>
          </p15:clr>
        </p15:guide>
        <p15:guide id="6" pos="3931" userDrawn="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59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dermann, Uta" initials="SU" lastIdx="8" clrIdx="0">
    <p:extLst>
      <p:ext uri="{19B8F6BF-5375-455C-9EA6-DF929625EA0E}">
        <p15:presenceInfo xmlns:p15="http://schemas.microsoft.com/office/powerpoint/2012/main" userId="S-1-5-21-329068152-1454471165-1417001333-4183212" providerId="AD"/>
      </p:ext>
    </p:extLst>
  </p:cmAuthor>
  <p:cmAuthor id="2" name="Habel, Till" initials="HT" lastIdx="5" clrIdx="1">
    <p:extLst>
      <p:ext uri="{19B8F6BF-5375-455C-9EA6-DF929625EA0E}">
        <p15:presenceInfo xmlns:p15="http://schemas.microsoft.com/office/powerpoint/2012/main" userId="S-1-5-21-329068152-1454471165-1417001333-7653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969696"/>
    <a:srgbClr val="5A5A5A"/>
    <a:srgbClr val="002266"/>
    <a:srgbClr val="FFB500"/>
    <a:srgbClr val="FFFFFF"/>
    <a:srgbClr val="000000"/>
    <a:srgbClr val="C9F3FF"/>
    <a:srgbClr val="F2F2F2"/>
    <a:srgbClr val="008CB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243E4-258C-49E9-925D-FDEEBACD897C}" v="24" dt="2026-03-27T19:30:31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pos="3772"/>
        <p:guide pos="3931"/>
        <p:guide orient="horz" pos="2160"/>
        <p:guide pos="59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lpi, Maria Paz" userId="S::maria.paz.gelpi@accenture.com::2334aa62-4790-4f56-854a-392fc524553b" providerId="AD" clId="Web-{85BB47FE-C70D-79CC-4FEF-5B2A3485CE27}"/>
    <pc:docChg chg="modSld">
      <pc:chgData name="Gelpi, Maria Paz" userId="S::maria.paz.gelpi@accenture.com::2334aa62-4790-4f56-854a-392fc524553b" providerId="AD" clId="Web-{85BB47FE-C70D-79CC-4FEF-5B2A3485CE27}" dt="2023-02-01T19:05:16.416" v="3" actId="20577"/>
      <pc:docMkLst>
        <pc:docMk/>
      </pc:docMkLst>
      <pc:sldChg chg="modSp">
        <pc:chgData name="Gelpi, Maria Paz" userId="S::maria.paz.gelpi@accenture.com::2334aa62-4790-4f56-854a-392fc524553b" providerId="AD" clId="Web-{85BB47FE-C70D-79CC-4FEF-5B2A3485CE27}" dt="2023-02-01T19:05:16.416" v="3" actId="20577"/>
        <pc:sldMkLst>
          <pc:docMk/>
          <pc:sldMk cId="3747954151" sldId="2076136212"/>
        </pc:sldMkLst>
        <pc:spChg chg="mod">
          <ac:chgData name="Gelpi, Maria Paz" userId="S::maria.paz.gelpi@accenture.com::2334aa62-4790-4f56-854a-392fc524553b" providerId="AD" clId="Web-{85BB47FE-C70D-79CC-4FEF-5B2A3485CE27}" dt="2023-02-01T19:05:16.416" v="3" actId="20577"/>
          <ac:spMkLst>
            <pc:docMk/>
            <pc:sldMk cId="3747954151" sldId="2076136212"/>
            <ac:spMk id="3" creationId="{FBD5EC0B-4D54-E441-7F31-D4C98525F636}"/>
          </ac:spMkLst>
        </pc:spChg>
      </pc:sldChg>
    </pc:docChg>
  </pc:docChgLst>
  <pc:docChgLst>
    <pc:chgData name="Gelpi, M. Paz" userId="2334aa62-4790-4f56-854a-392fc524553b" providerId="ADAL" clId="{E07E34E3-DB68-499D-8359-5BF419BD7B17}"/>
    <pc:docChg chg="undo custSel modSld">
      <pc:chgData name="Gelpi, M. Paz" userId="2334aa62-4790-4f56-854a-392fc524553b" providerId="ADAL" clId="{E07E34E3-DB68-499D-8359-5BF419BD7B17}" dt="2026-03-27T19:30:31.219" v="23" actId="20577"/>
      <pc:docMkLst>
        <pc:docMk/>
      </pc:docMkLst>
      <pc:sldChg chg="addSp delSp modSp mod">
        <pc:chgData name="Gelpi, M. Paz" userId="2334aa62-4790-4f56-854a-392fc524553b" providerId="ADAL" clId="{E07E34E3-DB68-499D-8359-5BF419BD7B17}" dt="2026-03-27T19:30:31.219" v="23" actId="20577"/>
        <pc:sldMkLst>
          <pc:docMk/>
          <pc:sldMk cId="3747954151" sldId="2076136212"/>
        </pc:sldMkLst>
        <pc:spChg chg="mod">
          <ac:chgData name="Gelpi, M. Paz" userId="2334aa62-4790-4f56-854a-392fc524553b" providerId="ADAL" clId="{E07E34E3-DB68-499D-8359-5BF419BD7B17}" dt="2026-03-27T19:29:11.584" v="15" actId="14100"/>
          <ac:spMkLst>
            <pc:docMk/>
            <pc:sldMk cId="3747954151" sldId="2076136212"/>
            <ac:spMk id="2" creationId="{1CEEF2B6-12FF-1F3B-0ADF-93251083EC65}"/>
          </ac:spMkLst>
        </pc:spChg>
        <pc:spChg chg="mod">
          <ac:chgData name="Gelpi, M. Paz" userId="2334aa62-4790-4f56-854a-392fc524553b" providerId="ADAL" clId="{E07E34E3-DB68-499D-8359-5BF419BD7B17}" dt="2026-03-27T19:30:31.219" v="23" actId="20577"/>
          <ac:spMkLst>
            <pc:docMk/>
            <pc:sldMk cId="3747954151" sldId="2076136212"/>
            <ac:spMk id="49" creationId="{67B10EEE-BF1A-4587-0DE7-065C396FC396}"/>
          </ac:spMkLst>
        </pc:spChg>
        <pc:picChg chg="add del mod">
          <ac:chgData name="Gelpi, M. Paz" userId="2334aa62-4790-4f56-854a-392fc524553b" providerId="ADAL" clId="{E07E34E3-DB68-499D-8359-5BF419BD7B17}" dt="2026-03-27T19:29:16.693" v="17" actId="1076"/>
          <ac:picMkLst>
            <pc:docMk/>
            <pc:sldMk cId="3747954151" sldId="2076136212"/>
            <ac:picMk id="8" creationId="{1E946E00-966C-504F-8587-9DD04432E800}"/>
          </ac:picMkLst>
        </pc:picChg>
        <pc:picChg chg="add del mod">
          <ac:chgData name="Gelpi, M. Paz" userId="2334aa62-4790-4f56-854a-392fc524553b" providerId="ADAL" clId="{E07E34E3-DB68-499D-8359-5BF419BD7B17}" dt="2026-03-27T19:27:53.752" v="7" actId="478"/>
          <ac:picMkLst>
            <pc:docMk/>
            <pc:sldMk cId="3747954151" sldId="2076136212"/>
            <ac:picMk id="1026" creationId="{B81CCBB8-B169-7D32-4598-5828709B8E8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Arial" panose="020B0604020202020204" pitchFamily="34" charset="0"/>
              </a:rPr>
              <a:t>3/27/2026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39D084F-DC83-4EB0-8CED-52E9AA3ECA1C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3544-EAA4-455F-8C8C-F9FC7D06B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8" y="1744826"/>
            <a:ext cx="6435081" cy="1714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6000" cap="all" baseline="0">
                <a:latin typeface="+mj-lt"/>
              </a:defRPr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C774CE-8A51-462C-A6DA-3353B65B8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8" y="3486875"/>
            <a:ext cx="6435081" cy="5078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3000" cap="all" baseline="0">
                <a:solidFill>
                  <a:schemeClr val="tx1"/>
                </a:solidFill>
                <a:latin typeface="+mj-lt"/>
              </a:defRPr>
            </a:lvl1pPr>
            <a:lvl2pPr>
              <a:defRPr sz="3000">
                <a:latin typeface="Graphik Black" panose="020B0A03030202060203" pitchFamily="34" charset="0"/>
              </a:defRPr>
            </a:lvl2pPr>
            <a:lvl3pPr>
              <a:defRPr sz="3000">
                <a:latin typeface="Graphik Black" panose="020B0A03030202060203" pitchFamily="34" charset="0"/>
              </a:defRPr>
            </a:lvl3pPr>
            <a:lvl4pPr>
              <a:defRPr sz="3000">
                <a:latin typeface="Graphik Black" panose="020B0A03030202060203" pitchFamily="34" charset="0"/>
              </a:defRPr>
            </a:lvl4pPr>
            <a:lvl5pPr>
              <a:defRPr sz="3000">
                <a:latin typeface="Graphik Black" panose="020B0A03030202060203" pitchFamily="34" charset="0"/>
              </a:defRPr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spañ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938" y="88223"/>
            <a:ext cx="1336675" cy="1673225"/>
          </a:xfrm>
        </p:spPr>
        <p:txBody>
          <a:bodyPr/>
          <a:lstStyle>
            <a:lvl1pPr>
              <a:defRPr/>
            </a:lvl1pPr>
          </a:lstStyle>
          <a:p>
            <a:r>
              <a:rPr lang="es-CO" noProof="0"/>
              <a:t>Clic para adjuntar la imagen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5244" y="2132513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ÁREAS DE CONOCIMIENTO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EXPERIENCIA SELECCIONADA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PERFIL PROFESIONAL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237237" y="2237951"/>
            <a:ext cx="0" cy="331927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C22190-B227-49DD-8F11-48D76E075E94}"/>
              </a:ext>
            </a:extLst>
          </p:cNvPr>
          <p:cNvCxnSpPr>
            <a:cxnSpLocks/>
          </p:cNvCxnSpPr>
          <p:nvPr userDrawn="1"/>
        </p:nvCxnSpPr>
        <p:spPr>
          <a:xfrm>
            <a:off x="3079482" y="2237953"/>
            <a:ext cx="0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EE7479-6552-4B10-8999-F9FFF684DA70}"/>
              </a:ext>
            </a:extLst>
          </p:cNvPr>
          <p:cNvCxnSpPr>
            <a:cxnSpLocks/>
          </p:cNvCxnSpPr>
          <p:nvPr userDrawn="1"/>
        </p:nvCxnSpPr>
        <p:spPr>
          <a:xfrm flipH="1">
            <a:off x="5311323" y="2265418"/>
            <a:ext cx="1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Nombre Apellido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Rol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  <a:p>
            <a:pPr lvl="1"/>
            <a:r>
              <a:rPr lang="es-CO" noProof="0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CO" noProof="0"/>
              <a:t>Major 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 anchorCtr="0">
            <a:no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FUNCIONAL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DCDD220-FD2A-412B-830F-C6A5F46C86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3255677" y="4900148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A637F3C-BD10-4E01-B648-8CE5AFBAFD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455376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INDUSTRIA</a:t>
            </a:r>
          </a:p>
        </p:txBody>
      </p:sp>
    </p:spTree>
    <p:extLst>
      <p:ext uri="{BB962C8B-B14F-4D97-AF65-F5344CB8AC3E}">
        <p14:creationId xmlns:p14="http://schemas.microsoft.com/office/powerpoint/2010/main" val="238192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42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96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4553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5197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288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60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284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6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292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734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53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67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990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742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18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4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93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53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Arial" panose="020B0604020202020204" pitchFamily="34" charset="0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agenda summary here in Palatino Linotype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163083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129826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039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4059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0888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0506533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1333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734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9758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642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6158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2710604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389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5441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896995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subtitle here in Palatino Linotype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49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695045"/>
      </p:ext>
    </p:extLst>
  </p:cSld>
  <p:clrMapOvr>
    <a:masterClrMapping/>
  </p:clrMapOvr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16094"/>
      </p:ext>
    </p:extLst>
  </p:cSld>
  <p:clrMapOvr>
    <a:masterClrMapping/>
  </p:clrMapOvr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465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03742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83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716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94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558837"/>
      </p:ext>
    </p:extLst>
  </p:cSld>
  <p:clrMapOvr>
    <a:masterClrMapping/>
  </p:clrMapOvr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815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21285"/>
      </p:ext>
    </p:extLst>
  </p:cSld>
  <p:clrMapOvr>
    <a:masterClrMapping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113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23754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3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7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203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18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3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7558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55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810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2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3654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92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2376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4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03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499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532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124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5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418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71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55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119716"/>
      </p:ext>
    </p:extLst>
  </p:cSld>
  <p:clrMapOvr>
    <a:masterClrMapping/>
  </p:clrMapOvr>
  <p:hf hd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211242"/>
      </p:ext>
    </p:extLst>
  </p:cSld>
  <p:clrMapOvr>
    <a:masterClrMapping/>
  </p:clrMapOvr>
  <p:hf hd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198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5675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6228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361676"/>
      </p:ext>
    </p:extLst>
  </p:cSld>
  <p:clrMapOvr>
    <a:masterClrMapping/>
  </p:clrMapOvr>
  <p:hf hd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9926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12167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88826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41816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1143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174956"/>
      </p:ext>
    </p:extLst>
  </p:cSld>
  <p:clrMapOvr>
    <a:masterClrMapping/>
  </p:clrMapOvr>
  <p:hf hd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24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2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48163"/>
      </p:ext>
    </p:extLst>
  </p:cSld>
  <p:clrMapOvr>
    <a:masterClrMapping/>
  </p:clrMapOvr>
  <p:hf hd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754577"/>
      </p:ext>
    </p:extLst>
  </p:cSld>
  <p:clrMapOvr>
    <a:masterClrMapping/>
  </p:clrMapOvr>
  <p:hf hd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1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30909"/>
      </p:ext>
    </p:extLst>
  </p:cSld>
  <p:clrMapOvr>
    <a:masterClrMapping/>
  </p:clrMapOvr>
  <p:hf hd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129126"/>
      </p:ext>
    </p:extLst>
  </p:cSld>
  <p:clrMapOvr>
    <a:masterClrMapping/>
  </p:clrMapOvr>
  <p:hf hd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195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556659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818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7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48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283677"/>
      </p:ext>
    </p:extLst>
  </p:cSld>
  <p:clrMapOvr>
    <a:masterClrMapping/>
  </p:clrMapOvr>
  <p:hf hd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2378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52441"/>
      </p:ext>
    </p:extLst>
  </p:cSld>
  <p:clrMapOvr>
    <a:masterClrMapping/>
  </p:clrMapOvr>
  <p:hf hd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06938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oleObject" Target="../embeddings/oleObject1.bin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tags" Target="../tags/tag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tags" Target="../tags/tag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theme" Target="../theme/theme3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tags" Target="../tags/tag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63.xml"/><Relationship Id="rId51" Type="http://schemas.openxmlformats.org/officeDocument/2006/relationships/tags" Target="../tags/tag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90F368C-0662-4B05-B5E4-7B52C6EBA9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32" imgH="530" progId="TCLayout.ActiveDocument.1">
                  <p:embed/>
                </p:oleObj>
              </mc:Choice>
              <mc:Fallback>
                <p:oleObj name="think-cell Slide" r:id="rId8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90F368C-0662-4B05-B5E4-7B52C6EBA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949DF7F-5FAC-4247-9933-EE9462252CF9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D60B7-D06D-4830-BD69-35B1465F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1425084" cy="82457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DF177-00B3-4AFF-B6D4-A595D3A7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58" y="1273629"/>
            <a:ext cx="11425084" cy="490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3EB6817-997F-4BFD-89D6-B40A72240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4419" y="6492875"/>
            <a:ext cx="4114800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r>
              <a:rPr lang="es-ES"/>
              <a:t>Copyright © 2020 Accenture. </a:t>
            </a:r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rights</a:t>
            </a:r>
            <a:r>
              <a:rPr lang="es-ES"/>
              <a:t> </a:t>
            </a:r>
            <a:r>
              <a:rPr lang="es-ES" err="1"/>
              <a:t>reserved</a:t>
            </a:r>
            <a:r>
              <a:rPr lang="es-ES"/>
              <a:t>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D47C7C1-747A-488B-90A2-DB416575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219" y="6492875"/>
            <a:ext cx="479323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86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56" r:id="rId2"/>
    <p:sldLayoutId id="2147483757" r:id="rId3"/>
    <p:sldLayoutId id="2147483759" r:id="rId4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800" b="1" kern="1200" cap="all" spc="-150" baseline="0">
          <a:solidFill>
            <a:schemeClr val="tx1"/>
          </a:solidFill>
          <a:latin typeface="Graphik" panose="020B050303020206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8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chemeClr val="accent1"/>
          </a:solidFill>
          <a:latin typeface="Graphik" panose="020B0503030202060203" pitchFamily="34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1" kern="1200" cap="all" baseline="0">
          <a:solidFill>
            <a:schemeClr val="accent2"/>
          </a:solidFill>
          <a:latin typeface="Graphik" panose="020B0503030202060203" pitchFamily="34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Graphik" panose="020B0503030202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4DDAE6C-DBD6-9171-7CEF-37612C1A40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5" imgW="532" imgH="530" progId="TCLayout.ActiveDocument.1">
                  <p:embed/>
                </p:oleObj>
              </mc:Choice>
              <mc:Fallback>
                <p:oleObj name="think-cell Slide" r:id="rId5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4DDAE6C-DBD6-9171-7CEF-37612C1A4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918C99E-8041-E18D-FDC3-3EAD90D1708D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1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8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  <p:sldLayoutId id="2147483842" r:id="rId30"/>
    <p:sldLayoutId id="2147483843" r:id="rId31"/>
    <p:sldLayoutId id="2147483844" r:id="rId32"/>
    <p:sldLayoutId id="2147483845" r:id="rId33"/>
    <p:sldLayoutId id="2147483846" r:id="rId34"/>
    <p:sldLayoutId id="2147483847" r:id="rId35"/>
    <p:sldLayoutId id="2147483848" r:id="rId36"/>
    <p:sldLayoutId id="2147483849" r:id="rId37"/>
    <p:sldLayoutId id="2147483850" r:id="rId38"/>
    <p:sldLayoutId id="2147483851" r:id="rId39"/>
    <p:sldLayoutId id="2147483852" r:id="rId40"/>
    <p:sldLayoutId id="2147483853" r:id="rId41"/>
    <p:sldLayoutId id="2147483854" r:id="rId42"/>
    <p:sldLayoutId id="2147483855" r:id="rId43"/>
    <p:sldLayoutId id="2147483856" r:id="rId44"/>
    <p:sldLayoutId id="2147483857" r:id="rId45"/>
    <p:sldLayoutId id="2147483858" r:id="rId46"/>
    <p:sldLayoutId id="2147483859" r:id="rId47"/>
    <p:sldLayoutId id="2147483860" r:id="rId48"/>
    <p:sldLayoutId id="2147483861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727846" y="208333"/>
            <a:ext cx="4822888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>
                <a:solidFill>
                  <a:schemeClr val="accent3"/>
                </a:solidFill>
                <a:latin typeface="Graphik"/>
              </a:rPr>
              <a:t>María Paz Gelpi</a:t>
            </a:r>
            <a:endParaRPr lang="en-US" sz="3200" b="1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accent3"/>
                </a:solidFill>
                <a:latin typeface="Graphik Black"/>
              </a:rPr>
              <a:t>AI LLM Technology Architecture Associate Manager</a:t>
            </a:r>
          </a:p>
          <a:p>
            <a:pPr marL="0" indent="0">
              <a:buNone/>
            </a:pPr>
            <a:r>
              <a:rPr lang="en-US" sz="1000"/>
              <a:t>Technology - Data &amp; AI</a:t>
            </a:r>
            <a:endParaRPr lang="es-AR" sz="1000" b="1">
              <a:latin typeface="Graphik"/>
            </a:endParaRPr>
          </a:p>
          <a:p>
            <a:pPr marL="0" indent="0">
              <a:buNone/>
            </a:pPr>
            <a:r>
              <a:rPr lang="en-US" sz="1000" b="1">
                <a:latin typeface="Graphik"/>
              </a:rPr>
              <a:t>maria.paz.gelpi@accenture.com</a:t>
            </a:r>
          </a:p>
          <a:p>
            <a:pPr marL="0" indent="0">
              <a:buNone/>
            </a:pPr>
            <a:r>
              <a:rPr lang="en-US" sz="1000">
                <a:latin typeface="Graphik"/>
              </a:rPr>
              <a:t>Mar del Plata, Argentina</a:t>
            </a:r>
            <a:endParaRPr lang="en-US" sz="1000"/>
          </a:p>
          <a:p>
            <a:endParaRPr lang="en-US" sz="900" b="1"/>
          </a:p>
          <a:p>
            <a:endParaRPr lang="en-US" sz="1200"/>
          </a:p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802" y="190032"/>
            <a:ext cx="1092759" cy="19426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386408" y="171448"/>
            <a:ext cx="5704721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402305" y="260893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2887779" cy="3868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263464" y="2340498"/>
            <a:ext cx="2896032" cy="1624386"/>
            <a:chOff x="587421" y="2373647"/>
            <a:chExt cx="2896032" cy="1355495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587421" y="2373647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595675" y="3390480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249438" y="4607975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249438" y="5261128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333119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Generative AI &amp; LLMs: </a:t>
            </a:r>
            <a:r>
              <a:rPr lang="en-US" b="0"/>
              <a:t>Agentic AI Systems, RAG, Prompt Engineering, QA Metrics design, vertex ai, Gemini Enterprise, Snowflake Cortex</a:t>
            </a:r>
          </a:p>
          <a:p>
            <a:r>
              <a:rPr lang="en-US"/>
              <a:t>ML &amp; Data Science: </a:t>
            </a:r>
            <a:r>
              <a:rPr lang="en-US" b="0" err="1"/>
              <a:t>XGBoost</a:t>
            </a:r>
            <a:r>
              <a:rPr lang="en-US" b="0"/>
              <a:t>, Prophet, LGBM, Random Forest, NLP (BERT, Spacy, </a:t>
            </a:r>
            <a:r>
              <a:rPr lang="en-US" b="0" err="1"/>
              <a:t>Gensim</a:t>
            </a:r>
            <a:r>
              <a:rPr lang="en-US" b="0"/>
              <a:t>), TensorFlow, </a:t>
            </a:r>
            <a:r>
              <a:rPr lang="en-US" b="0" err="1"/>
              <a:t>Keras</a:t>
            </a:r>
            <a:endParaRPr lang="en-US" b="0"/>
          </a:p>
          <a:p>
            <a:r>
              <a:rPr lang="en-US"/>
              <a:t>Cloud &amp; Data Platforms: </a:t>
            </a:r>
            <a:r>
              <a:rPr lang="en-US" b="0"/>
              <a:t>GCP (</a:t>
            </a:r>
            <a:r>
              <a:rPr lang="en-US" b="0" err="1"/>
              <a:t>BigQuery</a:t>
            </a:r>
            <a:r>
              <a:rPr lang="en-US" b="0"/>
              <a:t>, Vertex AI), Snowflake, Azure (Azure DevOps)</a:t>
            </a:r>
          </a:p>
          <a:p>
            <a:r>
              <a:rPr lang="en-US"/>
              <a:t>Dev: </a:t>
            </a:r>
            <a:r>
              <a:rPr lang="en-US" b="0"/>
              <a:t>Python, SQL</a:t>
            </a:r>
          </a:p>
          <a:p>
            <a:r>
              <a:rPr lang="en-US"/>
              <a:t>Product &amp; Delivery: </a:t>
            </a:r>
            <a:r>
              <a:rPr lang="en-US" b="0"/>
              <a:t>Product Ownership, Roadmap Strategy, QA Frameworks, Agile / Scrum, Risk Assessment, KPI Design</a:t>
            </a:r>
          </a:p>
          <a:p>
            <a:r>
              <a:rPr lang="en-US"/>
              <a:t>AI Governance &amp; RAI: </a:t>
            </a:r>
            <a:r>
              <a:rPr lang="en-US" b="0"/>
              <a:t>Responsible AI Frameworks, RAI Architecture Patterns, AI Risk Assessment, AI Governance.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32388" y="3766020"/>
            <a:ext cx="3106657" cy="9192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Char char="•"/>
            </a:pPr>
            <a:r>
              <a:rPr lang="en-US" sz="900">
                <a:solidFill>
                  <a:srgbClr val="000000"/>
                </a:solidFill>
              </a:rPr>
              <a:t>Chemical engineering – Universidad Nacional de Mar del Plata – 2011</a:t>
            </a:r>
          </a:p>
          <a:p>
            <a:pPr marL="171450" indent="-171450">
              <a:buChar char="•"/>
            </a:pPr>
            <a:r>
              <a:rPr lang="en-US" sz="900">
                <a:solidFill>
                  <a:srgbClr val="000000"/>
                </a:solidFill>
              </a:rPr>
              <a:t>MBA in Technology – </a:t>
            </a:r>
            <a:r>
              <a:rPr lang="en-US" sz="900" err="1">
                <a:solidFill>
                  <a:srgbClr val="000000"/>
                </a:solidFill>
              </a:rPr>
              <a:t>UdeSA</a:t>
            </a:r>
            <a:r>
              <a:rPr lang="en-US" sz="900">
                <a:solidFill>
                  <a:srgbClr val="000000"/>
                </a:solidFill>
              </a:rPr>
              <a:t> (2024-2025)</a:t>
            </a:r>
          </a:p>
          <a:p>
            <a:pPr marL="171450" indent="-171450">
              <a:buChar char="•"/>
            </a:pPr>
            <a:r>
              <a:rPr lang="en-US" sz="900">
                <a:solidFill>
                  <a:srgbClr val="000000"/>
                </a:solidFill>
              </a:rPr>
              <a:t>Postgraduate in Continuous Improvement – Universidad general Sarmiento - 2016</a:t>
            </a:r>
            <a:endParaRPr lang="es-AR" sz="1100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56712" y="2458717"/>
            <a:ext cx="3105962" cy="110032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800" b="0">
              <a:latin typeface="+mn-lt"/>
              <a:cs typeface="Calibri" panose="020F0502020204030204" pitchFamily="34" charset="0"/>
            </a:endParaRPr>
          </a:p>
          <a:p>
            <a:r>
              <a:rPr lang="en-US" sz="800"/>
              <a:t>Chemical Engineer , Data Scientist and  AI Product Owner</a:t>
            </a:r>
          </a:p>
          <a:p>
            <a:r>
              <a:rPr lang="en-US" sz="800"/>
              <a:t>Tech Lead and PO on GenAI &amp; ML products</a:t>
            </a:r>
          </a:p>
          <a:p>
            <a:r>
              <a:rPr lang="en-US" sz="800"/>
              <a:t>MBA in Technology </a:t>
            </a:r>
          </a:p>
          <a:p>
            <a:r>
              <a:rPr lang="en-US" sz="800"/>
              <a:t>Responsible AI Lead :  Data Governance structure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endParaRPr lang="en-US" sz="1000"/>
          </a:p>
          <a:p>
            <a:endParaRPr lang="es-AR" sz="1000">
              <a:latin typeface="Graphik"/>
            </a:endParaRPr>
          </a:p>
          <a:p>
            <a:endParaRPr lang="es-AR" sz="100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32388" y="4849561"/>
            <a:ext cx="2702016" cy="4242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English (C1)</a:t>
            </a:r>
          </a:p>
          <a:p>
            <a:r>
              <a:rPr lang="en-US"/>
              <a:t>Spanish (Native)</a:t>
            </a:r>
          </a:p>
          <a:p>
            <a:endParaRPr lang="es-AR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1533597" y="5542826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Pharma</a:t>
            </a:r>
          </a:p>
          <a:p>
            <a:r>
              <a:rPr lang="en-US"/>
              <a:t>Finance</a:t>
            </a:r>
          </a:p>
          <a:p>
            <a:r>
              <a:rPr lang="en-US"/>
              <a:t>HR</a:t>
            </a:r>
          </a:p>
          <a:p>
            <a:endParaRPr lang="es-AR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263464" y="552316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IT</a:t>
            </a:r>
          </a:p>
          <a:p>
            <a:r>
              <a:rPr lang="en-US"/>
              <a:t>Oil &amp; Gas</a:t>
            </a:r>
          </a:p>
          <a:p>
            <a:r>
              <a:rPr lang="en-US"/>
              <a:t>Supply Chain </a:t>
            </a:r>
          </a:p>
          <a:p>
            <a:endParaRPr lang="es-AR"/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402305" y="602099"/>
            <a:ext cx="5587290" cy="54297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RAI Team Lead (2025- Today)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/>
              <a:t>Leads the Responsible AI team within Data Governance structure at Accenture</a:t>
            </a:r>
            <a:endParaRPr lang="en-US" sz="1000" b="0">
              <a:solidFill>
                <a:srgbClr val="000000"/>
              </a:solidFill>
              <a:latin typeface="+mn-lt"/>
            </a:endParaRP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/>
              <a:t>Designed end-to-end RAI framework: RAI Intake Assessment, RAI Architecture Patterns, and RAI Scorecard.</a:t>
            </a:r>
            <a:endParaRPr lang="en-US" sz="1000">
              <a:solidFill>
                <a:srgbClr val="000000"/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</a:rPr>
              <a:t>AI Product Owner /Tech Lead (03 2023– Today</a:t>
            </a:r>
            <a:r>
              <a:rPr lang="en-US" sz="1000" b="0">
                <a:solidFill>
                  <a:srgbClr val="000000"/>
                </a:solidFill>
              </a:rPr>
              <a:t>​</a:t>
            </a:r>
            <a:r>
              <a:rPr lang="en-US" sz="1000">
                <a:solidFill>
                  <a:srgbClr val="000000"/>
                </a:solidFill>
              </a:rPr>
              <a:t>)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/>
              <a:t>Leads cross functional GenAI and ML teams and Translates business requirements into technical specifications and actionable roadmaps for the team.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/>
              <a:t>Supports architecture design for agentic AI systems 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/>
              <a:t>Product lifecycle ownership: roadmap prioritization, QA framework definition, OKR design, risk management, and continuous improvement cycles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b="0"/>
              <a:t>PROJECTS: 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err="1"/>
              <a:t>AskAmethyst</a:t>
            </a:r>
            <a:r>
              <a:rPr lang="en-US" sz="1000" b="0"/>
              <a:t> / 360VN : Snowflake Cortex conversational agent for Finance &amp; Sales:  Tech Product Owner and tech lead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/>
              <a:t>Gemini Enterprise POC : Platform evaluation for Competitive Intelligence: Tech Lead for POC, architecture definition and use case scoping.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err="1"/>
              <a:t>AskAxiom</a:t>
            </a:r>
            <a:r>
              <a:rPr lang="en-US" sz="1000" b="0"/>
              <a:t> / GenNav : Conversational RAG platform for Finance: end-to-end Product ownership</a:t>
            </a:r>
            <a:endParaRPr lang="en-US" sz="1000">
              <a:solidFill>
                <a:srgbClr val="000000"/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Data Scientist R&amp;I (09 2021– 03 2023 )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err="1"/>
              <a:t>OptForce</a:t>
            </a:r>
            <a:r>
              <a:rPr lang="en-US" sz="1000" b="0"/>
              <a:t> Model - Data Scientist (Demand Forecasts improvement, Metrics design ) 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err="1"/>
              <a:t>OptForce</a:t>
            </a:r>
            <a:r>
              <a:rPr lang="en-US" sz="1000" b="0"/>
              <a:t> Model : Business Analyst  (Design Thinking Facilitator, OKR Design)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/>
              <a:t>Demand Prediction Model ( </a:t>
            </a:r>
            <a:r>
              <a:rPr lang="en-US" sz="1000" b="0" err="1"/>
              <a:t>XGBoost</a:t>
            </a:r>
            <a:r>
              <a:rPr lang="en-US" sz="1000" b="0"/>
              <a:t> , Random Forest, </a:t>
            </a:r>
            <a:r>
              <a:rPr lang="en-US" sz="1000" b="0" err="1"/>
              <a:t>Kmeans</a:t>
            </a:r>
            <a:r>
              <a:rPr lang="en-US" sz="1000" b="0"/>
              <a:t>; LGBM )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Data Scientist - Marketing Analytics Team (08 2019 – 08 2021)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latin typeface="+mn-lt"/>
                <a:cs typeface="Calibri" panose="020F0502020204030204" pitchFamily="34" charset="0"/>
              </a:rPr>
              <a:t>Topic Model (</a:t>
            </a:r>
            <a:r>
              <a:rPr lang="en-US" sz="1000" b="0" err="1">
                <a:latin typeface="+mn-lt"/>
                <a:cs typeface="Calibri" panose="020F0502020204030204" pitchFamily="34" charset="0"/>
              </a:rPr>
              <a:t>Gensim</a:t>
            </a:r>
            <a:r>
              <a:rPr lang="en-US" sz="1000" b="0">
                <a:latin typeface="+mn-lt"/>
                <a:cs typeface="Calibri" panose="020F0502020204030204" pitchFamily="34" charset="0"/>
              </a:rPr>
              <a:t>, BERT, Spacy)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latin typeface="+mn-lt"/>
                <a:cs typeface="Calibri" panose="020F0502020204030204" pitchFamily="34" charset="0"/>
              </a:rPr>
              <a:t>Bot Detection Model (K-means, </a:t>
            </a:r>
            <a:r>
              <a:rPr lang="en-US" sz="1000" b="0" err="1">
                <a:latin typeface="+mn-lt"/>
                <a:cs typeface="Calibri" panose="020F0502020204030204" pitchFamily="34" charset="0"/>
              </a:rPr>
              <a:t>XGBoost</a:t>
            </a:r>
            <a:r>
              <a:rPr lang="en-US" sz="1000" b="0">
                <a:latin typeface="+mn-lt"/>
                <a:cs typeface="Calibri" panose="020F0502020204030204" pitchFamily="34" charset="0"/>
              </a:rPr>
              <a:t>)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latin typeface="+mn-lt"/>
                <a:cs typeface="Calibri" panose="020F0502020204030204" pitchFamily="34" charset="0"/>
              </a:rPr>
              <a:t>GCP Data Science Platform Migration</a:t>
            </a:r>
            <a:endParaRPr lang="en-US" sz="1000" b="0">
              <a:solidFill>
                <a:srgbClr val="000000"/>
              </a:solidFill>
              <a:latin typeface="+mn-lt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Continuous improvement Lead- CIS </a:t>
            </a:r>
            <a:r>
              <a:rPr lang="en-US" sz="1000" err="1">
                <a:solidFill>
                  <a:srgbClr val="000000"/>
                </a:solidFill>
                <a:latin typeface="+mn-lt"/>
              </a:rPr>
              <a:t>Ingeniería</a:t>
            </a:r>
            <a:r>
              <a:rPr lang="en-US" sz="1000">
                <a:solidFill>
                  <a:srgbClr val="000000"/>
                </a:solidFill>
                <a:latin typeface="+mn-lt"/>
              </a:rPr>
              <a:t>  (12 2014 – 06 2018)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​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Quality Management Lead – Gihon Laboratorios (01 2012 – 11 2014)</a:t>
            </a:r>
            <a:r>
              <a:rPr lang="en-US" sz="1000" b="0">
                <a:solidFill>
                  <a:srgbClr val="000000"/>
                </a:solidFill>
                <a:latin typeface="+mn-lt"/>
              </a:rPr>
              <a:t>​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>
                <a:solidFill>
                  <a:srgbClr val="000000"/>
                </a:solidFill>
                <a:latin typeface="+mn-lt"/>
              </a:rPr>
              <a:t>Planning – Nutreco Alimentos  (11 -2010- 08-2011)</a:t>
            </a:r>
          </a:p>
          <a:p>
            <a:pPr>
              <a:spcAft>
                <a:spcPts val="300"/>
              </a:spcAft>
            </a:pPr>
            <a:endParaRPr lang="en-US" sz="1000" b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>
              <a:latin typeface="+mn-lt"/>
            </a:endParaRP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2022 Accenture.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Accenture Applied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Dividers SectionNumber SlideNumber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6_Office Theme">
  <a:themeElements>
    <a:clrScheme name="VISA">
      <a:dk1>
        <a:sysClr val="windowText" lastClr="000000"/>
      </a:dk1>
      <a:lt1>
        <a:sysClr val="window" lastClr="FFFFFF"/>
      </a:lt1>
      <a:dk2>
        <a:srgbClr val="F0F0F0"/>
      </a:dk2>
      <a:lt2>
        <a:srgbClr val="ADADAD"/>
      </a:lt2>
      <a:accent1>
        <a:srgbClr val="1A1F71"/>
      </a:accent1>
      <a:accent2>
        <a:srgbClr val="F7B600"/>
      </a:accent2>
      <a:accent3>
        <a:srgbClr val="5C5C5C"/>
      </a:accent3>
      <a:accent4>
        <a:srgbClr val="003EA9"/>
      </a:accent4>
      <a:accent5>
        <a:srgbClr val="EF8400"/>
      </a:accent5>
      <a:accent6>
        <a:srgbClr val="FFD700"/>
      </a:accent6>
      <a:hlink>
        <a:srgbClr val="1A1F71"/>
      </a:hlink>
      <a:folHlink>
        <a:srgbClr val="ADADAD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bg2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CENtur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CENture" id="{CC97BB4A-B5B4-4409-B17B-7852844FDFFA}" vid="{0BB4CAA1-AE1F-4AF8-B344-62FB55F0150B}"/>
    </a:ext>
  </a:extLst>
</a:theme>
</file>

<file path=ppt/theme/theme3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2" ma:contentTypeDescription="Create a new document." ma:contentTypeScope="" ma:versionID="7a6cc17327f8fd4a1bea693b89822f0e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0fcd0ec4e5a5c37c753411fc93cc8c20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0F725C-5958-44B6-837F-EE61FAE71683}">
  <ds:schemaRefs>
    <ds:schemaRef ds:uri="9e1adda6-93f2-443e-b0ef-40d6e1dc8c9d"/>
    <ds:schemaRef ds:uri="9e5dff9b-ec84-400a-8d4d-02e96956639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47B172E-CD09-404A-9D73-CF6EC1E50CB2}">
  <ds:schemaRefs>
    <ds:schemaRef ds:uri="9e1adda6-93f2-443e-b0ef-40d6e1dc8c9d"/>
    <ds:schemaRef ds:uri="9e5dff9b-ec84-400a-8d4d-02e96956639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953E4F1-EED6-4251-8956-041C290CBDF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c0f418-96a4-4caf-9d7c-ccc5ec7f9d91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6_Office Theme</vt:lpstr>
      <vt:lpstr>ThemeACCENture</vt:lpstr>
      <vt:lpstr>ThemeACN2</vt:lpstr>
      <vt:lpstr>PowerPoint Presentation</vt:lpstr>
    </vt:vector>
  </TitlesOfParts>
  <Company>Accenture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Proposal CoE</dc:title>
  <dc:creator>rosana.gonzalez@accenture.com</dc:creator>
  <cp:keywords>Products CV Template</cp:keywords>
  <cp:revision>1</cp:revision>
  <dcterms:modified xsi:type="dcterms:W3CDTF">2026-03-27T19:30:33Z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Order">
    <vt:r8>390400</vt:r8>
  </property>
  <property fmtid="{D5CDD505-2E9C-101B-9397-08002B2CF9AE}" pid="4" name="xd_ProgID">
    <vt:lpwstr/>
  </property>
  <property fmtid="{D5CDD505-2E9C-101B-9397-08002B2CF9AE}" pid="5" name="_CopySource">
    <vt:lpwstr>https://ts.accenture.com/sites/PRODUCTS_ASG/dcde/Mentoring/PRD Onboarding Deck/ASG_PRD Onboarding Session_2018_01_January_final.pptx</vt:lpwstr>
  </property>
  <property fmtid="{D5CDD505-2E9C-101B-9397-08002B2CF9AE}" pid="6" name="TemplateUrl">
    <vt:lpwstr/>
  </property>
  <property fmtid="{D5CDD505-2E9C-101B-9397-08002B2CF9AE}" pid="7" name="MSIP_Label_1bc0f418-96a4-4caf-9d7c-ccc5ec7f9d91_Enabled">
    <vt:lpwstr>true</vt:lpwstr>
  </property>
  <property fmtid="{D5CDD505-2E9C-101B-9397-08002B2CF9AE}" pid="8" name="MSIP_Label_1bc0f418-96a4-4caf-9d7c-ccc5ec7f9d91_SetDate">
    <vt:lpwstr>2020-04-30T23:14:57Z</vt:lpwstr>
  </property>
  <property fmtid="{D5CDD505-2E9C-101B-9397-08002B2CF9AE}" pid="9" name="MSIP_Label_1bc0f418-96a4-4caf-9d7c-ccc5ec7f9d91_Method">
    <vt:lpwstr>Privileged</vt:lpwstr>
  </property>
  <property fmtid="{D5CDD505-2E9C-101B-9397-08002B2CF9AE}" pid="10" name="MSIP_Label_1bc0f418-96a4-4caf-9d7c-ccc5ec7f9d91_Name">
    <vt:lpwstr>1bc0f418-96a4-4caf-9d7c-ccc5ec7f9d91</vt:lpwstr>
  </property>
  <property fmtid="{D5CDD505-2E9C-101B-9397-08002B2CF9AE}" pid="11" name="MSIP_Label_1bc0f418-96a4-4caf-9d7c-ccc5ec7f9d91_SiteId">
    <vt:lpwstr>e0793d39-0939-496d-b129-198edd916feb</vt:lpwstr>
  </property>
  <property fmtid="{D5CDD505-2E9C-101B-9397-08002B2CF9AE}" pid="12" name="MSIP_Label_1bc0f418-96a4-4caf-9d7c-ccc5ec7f9d91_ActionId">
    <vt:lpwstr>6258137a-c4ad-4877-b5d3-000067d54560</vt:lpwstr>
  </property>
  <property fmtid="{D5CDD505-2E9C-101B-9397-08002B2CF9AE}" pid="13" name="MSIP_Label_1bc0f418-96a4-4caf-9d7c-ccc5ec7f9d91_ContentBits">
    <vt:lpwstr>0</vt:lpwstr>
  </property>
  <property fmtid="{D5CDD505-2E9C-101B-9397-08002B2CF9AE}" pid="14" name="MediaServiceImageTags">
    <vt:lpwstr/>
  </property>
</Properties>
</file>