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076136191" r:id="rId5"/>
    <p:sldId id="207613619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0A3718-01DC-4DF4-9C58-CCC0510D8DAE}" v="10" dt="2026-03-30T15:09:32.7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8" d="100"/>
          <a:sy n="98" d="100"/>
        </p:scale>
        <p:origin x="-1144" y="-1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hort Headline and 2 Column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877665F-10BD-4C6C-AC32-89F087D69A77}"/>
              </a:ext>
            </a:extLst>
          </p:cNvPr>
          <p:cNvGraphicFramePr>
            <a:graphicFrameLocks noChangeAspect="1"/>
          </p:cNvGraphicFramePr>
          <p:nvPr userDrawn="1">
            <p:custDataLst>
              <p:tags r:id="rId1"/>
            </p:custDataLst>
          </p:nvPr>
        </p:nvGraphicFramePr>
        <p:xfrm>
          <a:off x="1589" y="1588"/>
          <a:ext cx="1588"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a:extLst>
                          <a:ext uri="{FF2B5EF4-FFF2-40B4-BE49-F238E27FC236}">
                            <a16:creationId xmlns:a16="http://schemas.microsoft.com/office/drawing/2014/main" id="{7877665F-10BD-4C6C-AC32-89F087D69A77}"/>
                          </a:ext>
                        </a:extLst>
                      </p:cNvPr>
                      <p:cNvPicPr/>
                      <p:nvPr/>
                    </p:nvPicPr>
                    <p:blipFill>
                      <a:blip r:embed="rId4"/>
                      <a:stretch>
                        <a:fillRect/>
                      </a:stretch>
                    </p:blipFill>
                    <p:spPr>
                      <a:xfrm>
                        <a:off x="1589" y="1588"/>
                        <a:ext cx="1588" cy="1587"/>
                      </a:xfrm>
                      <a:prstGeom prst="rect">
                        <a:avLst/>
                      </a:prstGeom>
                    </p:spPr>
                  </p:pic>
                </p:oleObj>
              </mc:Fallback>
            </mc:AlternateContent>
          </a:graphicData>
        </a:graphic>
      </p:graphicFrame>
      <p:sp>
        <p:nvSpPr>
          <p:cNvPr id="7" name="Footer Placeholder 6"/>
          <p:cNvSpPr>
            <a:spLocks noGrp="1"/>
          </p:cNvSpPr>
          <p:nvPr>
            <p:ph type="ftr" sz="quarter" idx="16"/>
          </p:nvPr>
        </p:nvSpPr>
        <p:spPr/>
        <p:txBody>
          <a:bodyPr/>
          <a:lstStyle/>
          <a:p>
            <a:r>
              <a:rPr lang="en-US"/>
              <a:t>Copyright © 2018 Accenture. All rights reserved.</a:t>
            </a:r>
          </a:p>
        </p:txBody>
      </p:sp>
      <p:sp>
        <p:nvSpPr>
          <p:cNvPr id="10" name="Slide Number Placeholder 9"/>
          <p:cNvSpPr>
            <a:spLocks noGrp="1"/>
          </p:cNvSpPr>
          <p:nvPr>
            <p:ph type="sldNum" sz="quarter" idx="17"/>
          </p:nvPr>
        </p:nvSpPr>
        <p:spPr/>
        <p:txBody>
          <a:bodyPr/>
          <a:lstStyle/>
          <a:p>
            <a:fld id="{4F9AC08D-23A9-440E-BCB9-AA1E9877CC38}" type="slidenum">
              <a:rPr lang="en-US" smtClean="0"/>
              <a:pPr/>
              <a:t>‹#›</a:t>
            </a:fld>
            <a:endParaRPr lang="en-US"/>
          </a:p>
        </p:txBody>
      </p:sp>
      <p:sp>
        <p:nvSpPr>
          <p:cNvPr id="6" name="Content Placeholder 5"/>
          <p:cNvSpPr>
            <a:spLocks noGrp="1"/>
          </p:cNvSpPr>
          <p:nvPr>
            <p:ph sz="quarter" idx="18"/>
          </p:nvPr>
        </p:nvSpPr>
        <p:spPr>
          <a:xfrm>
            <a:off x="381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
        <p:nvSpPr>
          <p:cNvPr id="11" name="Title 10"/>
          <p:cNvSpPr>
            <a:spLocks noGrp="1"/>
          </p:cNvSpPr>
          <p:nvPr>
            <p:ph type="title"/>
          </p:nvPr>
        </p:nvSpPr>
        <p:spPr>
          <a:xfrm>
            <a:off x="381000" y="381000"/>
            <a:ext cx="5715000" cy="990601"/>
          </a:xfrm>
        </p:spPr>
        <p:txBody>
          <a:bodyPr/>
          <a:lstStyle/>
          <a:p>
            <a:r>
              <a:rPr lang="en-US"/>
              <a:t>Click to edit Master title style</a:t>
            </a:r>
          </a:p>
        </p:txBody>
      </p:sp>
      <p:sp>
        <p:nvSpPr>
          <p:cNvPr id="8" name="Content Placeholder 5"/>
          <p:cNvSpPr>
            <a:spLocks noGrp="1"/>
          </p:cNvSpPr>
          <p:nvPr>
            <p:ph sz="quarter" idx="19"/>
          </p:nvPr>
        </p:nvSpPr>
        <p:spPr>
          <a:xfrm>
            <a:off x="6096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62059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emplate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642938" y="88223"/>
            <a:ext cx="1336675" cy="1673225"/>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299975" y="2132513"/>
            <a:ext cx="267930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grpSp>
        <p:nvGrpSpPr>
          <p:cNvPr id="41" name="Group 40">
            <a:extLst>
              <a:ext uri="{FF2B5EF4-FFF2-40B4-BE49-F238E27FC236}">
                <a16:creationId xmlns:a16="http://schemas.microsoft.com/office/drawing/2014/main" id="{4F4863CF-A9CF-4E25-8C24-C00A183C18E3}"/>
              </a:ext>
            </a:extLst>
          </p:cNvPr>
          <p:cNvGrpSpPr/>
          <p:nvPr userDrawn="1"/>
        </p:nvGrpSpPr>
        <p:grpSpPr>
          <a:xfrm>
            <a:off x="237237" y="2237951"/>
            <a:ext cx="5074087" cy="4252790"/>
            <a:chOff x="470702" y="2490873"/>
            <a:chExt cx="5074087" cy="4252790"/>
          </a:xfrm>
        </p:grpSpPr>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470702" y="2490873"/>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312947" y="2490875"/>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544788" y="2518340"/>
              <a:ext cx="1" cy="422532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5" name="Text Placeholder 31">
            <a:extLst>
              <a:ext uri="{FF2B5EF4-FFF2-40B4-BE49-F238E27FC236}">
                <a16:creationId xmlns:a16="http://schemas.microsoft.com/office/drawing/2014/main" id="{F3D691ED-AD26-4C5B-A0B8-F0E39B64E481}"/>
              </a:ext>
            </a:extLst>
          </p:cNvPr>
          <p:cNvSpPr>
            <a:spLocks noGrp="1"/>
          </p:cNvSpPr>
          <p:nvPr>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0" name="Text Placeholder 8">
            <a:extLst>
              <a:ext uri="{FF2B5EF4-FFF2-40B4-BE49-F238E27FC236}">
                <a16:creationId xmlns:a16="http://schemas.microsoft.com/office/drawing/2014/main" id="{3BBBEA3D-ACAB-4B7B-8EF3-C7C27964A6B9}"/>
              </a:ext>
            </a:extLst>
          </p:cNvPr>
          <p:cNvSpPr>
            <a:spLocks noGrp="1"/>
          </p:cNvSpPr>
          <p:nvPr>
            <p:ph type="body" sz="quarter" idx="20"/>
          </p:nvPr>
        </p:nvSpPr>
        <p:spPr>
          <a:xfrm>
            <a:off x="3255677" y="4272823"/>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FUNCTIONAL</a:t>
            </a: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66510" y="3926442"/>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spTree>
    <p:extLst>
      <p:ext uri="{BB962C8B-B14F-4D97-AF65-F5344CB8AC3E}">
        <p14:creationId xmlns:p14="http://schemas.microsoft.com/office/powerpoint/2010/main" val="27331879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D2A40-219B-4A42-BDCD-91ED101679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2AC728-5E8B-42F7-9F39-F04825FAA4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B3194B-FBE7-4F5A-BBFD-20B6E0DC0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56486-13E7-424D-BC87-91F135AC8676}" type="datetimeFigureOut">
              <a:rPr lang="en-US" smtClean="0"/>
              <a:t>3/30/2026</a:t>
            </a:fld>
            <a:endParaRPr lang="en-US"/>
          </a:p>
        </p:txBody>
      </p:sp>
      <p:sp>
        <p:nvSpPr>
          <p:cNvPr id="5" name="Footer Placeholder 4">
            <a:extLst>
              <a:ext uri="{FF2B5EF4-FFF2-40B4-BE49-F238E27FC236}">
                <a16:creationId xmlns:a16="http://schemas.microsoft.com/office/drawing/2014/main" id="{32D166AE-AC75-490C-A610-103573351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249CD1-69FD-462A-8C84-A583CCA694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859B2-4A9A-4F64-9661-9DC88835B741}" type="slidenum">
              <a:rPr lang="en-US" smtClean="0"/>
              <a:t>‹#›</a:t>
            </a:fld>
            <a:endParaRPr lang="en-US"/>
          </a:p>
        </p:txBody>
      </p:sp>
    </p:spTree>
    <p:extLst>
      <p:ext uri="{BB962C8B-B14F-4D97-AF65-F5344CB8AC3E}">
        <p14:creationId xmlns:p14="http://schemas.microsoft.com/office/powerpoint/2010/main" val="250338571"/>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08BDC1-E9F8-4EEF-9FAB-00FC58FA9F3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ECB597F7-1063-46BB-A5C6-BD69CD4624A0}"/>
              </a:ext>
            </a:extLst>
          </p:cNvPr>
          <p:cNvSpPr>
            <a:spLocks noGrp="1"/>
          </p:cNvSpPr>
          <p:nvPr>
            <p:ph type="body" sz="quarter" idx="11"/>
          </p:nvPr>
        </p:nvSpPr>
        <p:spPr/>
        <p:txBody>
          <a:bodyPr>
            <a:normAutofit fontScale="92500" lnSpcReduction="20000"/>
          </a:bodyPr>
          <a:lstStyle/>
          <a:p>
            <a:r>
              <a:rPr lang="es-AR" dirty="0"/>
              <a:t>Karenina Kauffmann</a:t>
            </a:r>
            <a:endParaRPr lang="en-US" dirty="0"/>
          </a:p>
        </p:txBody>
      </p:sp>
      <p:sp>
        <p:nvSpPr>
          <p:cNvPr id="6" name="Text Placeholder 5">
            <a:extLst>
              <a:ext uri="{FF2B5EF4-FFF2-40B4-BE49-F238E27FC236}">
                <a16:creationId xmlns:a16="http://schemas.microsoft.com/office/drawing/2014/main" id="{643080F5-2607-4F7B-9264-C5041032336B}"/>
              </a:ext>
            </a:extLst>
          </p:cNvPr>
          <p:cNvSpPr>
            <a:spLocks noGrp="1"/>
          </p:cNvSpPr>
          <p:nvPr>
            <p:ph type="body" sz="quarter" idx="12"/>
          </p:nvPr>
        </p:nvSpPr>
        <p:spPr/>
        <p:txBody>
          <a:bodyPr>
            <a:normAutofit fontScale="85000" lnSpcReduction="20000"/>
          </a:bodyPr>
          <a:lstStyle/>
          <a:p>
            <a:r>
              <a:rPr lang="es-AR" dirty="0"/>
              <a:t>AI LLM </a:t>
            </a:r>
            <a:r>
              <a:rPr lang="es-AR" dirty="0" err="1"/>
              <a:t>Tecnology</a:t>
            </a:r>
            <a:r>
              <a:rPr lang="es-AR" dirty="0"/>
              <a:t> </a:t>
            </a:r>
            <a:r>
              <a:rPr lang="es-AR" dirty="0" err="1"/>
              <a:t>Arch</a:t>
            </a:r>
            <a:r>
              <a:rPr lang="es-AR" dirty="0"/>
              <a:t> Sr </a:t>
            </a:r>
            <a:r>
              <a:rPr lang="es-AR" dirty="0" err="1"/>
              <a:t>Analyst</a:t>
            </a:r>
            <a:endParaRPr lang="en-US" dirty="0"/>
          </a:p>
        </p:txBody>
      </p:sp>
      <p:sp>
        <p:nvSpPr>
          <p:cNvPr id="7" name="Text Placeholder 6">
            <a:extLst>
              <a:ext uri="{FF2B5EF4-FFF2-40B4-BE49-F238E27FC236}">
                <a16:creationId xmlns:a16="http://schemas.microsoft.com/office/drawing/2014/main" id="{D52E9116-884D-487E-A1F6-B67499333E59}"/>
              </a:ext>
            </a:extLst>
          </p:cNvPr>
          <p:cNvSpPr>
            <a:spLocks noGrp="1"/>
          </p:cNvSpPr>
          <p:nvPr>
            <p:ph type="body" sz="quarter" idx="13"/>
          </p:nvPr>
        </p:nvSpPr>
        <p:spPr/>
        <p:txBody>
          <a:bodyPr/>
          <a:lstStyle/>
          <a:p>
            <a:r>
              <a:rPr lang="en-US" dirty="0"/>
              <a:t>karenina.kauffmann@accenture.com</a:t>
            </a:r>
          </a:p>
        </p:txBody>
      </p:sp>
      <p:sp>
        <p:nvSpPr>
          <p:cNvPr id="8" name="Text Placeholder 7">
            <a:extLst>
              <a:ext uri="{FF2B5EF4-FFF2-40B4-BE49-F238E27FC236}">
                <a16:creationId xmlns:a16="http://schemas.microsoft.com/office/drawing/2014/main" id="{6E54985B-72FF-41C6-B083-F11D3DDEF40C}"/>
              </a:ext>
            </a:extLst>
          </p:cNvPr>
          <p:cNvSpPr>
            <a:spLocks noGrp="1"/>
          </p:cNvSpPr>
          <p:nvPr>
            <p:ph type="body" sz="quarter" idx="14"/>
          </p:nvPr>
        </p:nvSpPr>
        <p:spPr/>
        <p:txBody>
          <a:bodyPr/>
          <a:lstStyle/>
          <a:p>
            <a:r>
              <a:rPr lang="en-US" dirty="0"/>
              <a:t>San Nicolas de </a:t>
            </a:r>
            <a:r>
              <a:rPr lang="en-US" dirty="0" err="1"/>
              <a:t>los</a:t>
            </a:r>
            <a:r>
              <a:rPr lang="en-US" dirty="0"/>
              <a:t> Arroyos, Buenos Aires, Argentina</a:t>
            </a:r>
          </a:p>
        </p:txBody>
      </p:sp>
      <p:sp>
        <p:nvSpPr>
          <p:cNvPr id="10" name="Text Placeholder 9">
            <a:extLst>
              <a:ext uri="{FF2B5EF4-FFF2-40B4-BE49-F238E27FC236}">
                <a16:creationId xmlns:a16="http://schemas.microsoft.com/office/drawing/2014/main" id="{C3265563-7E7C-4DBB-AF77-CDEA802FB0B2}"/>
              </a:ext>
            </a:extLst>
          </p:cNvPr>
          <p:cNvSpPr>
            <a:spLocks noGrp="1"/>
          </p:cNvSpPr>
          <p:nvPr>
            <p:ph type="body" sz="quarter" idx="16"/>
          </p:nvPr>
        </p:nvSpPr>
        <p:spPr>
          <a:xfrm>
            <a:off x="341211" y="2421647"/>
            <a:ext cx="2650385" cy="2919138"/>
          </a:xfrm>
        </p:spPr>
        <p:txBody>
          <a:bodyPr vert="horz" lIns="91440" tIns="45720" rIns="91440" bIns="45720" rtlCol="0" anchor="t">
            <a:normAutofit fontScale="92500" lnSpcReduction="10000"/>
          </a:bodyPr>
          <a:lstStyle/>
          <a:p>
            <a:pPr marL="0" lvl="0" indent="0" algn="just">
              <a:lnSpc>
                <a:spcPct val="100000"/>
              </a:lnSpc>
              <a:spcBef>
                <a:spcPts val="300"/>
              </a:spcBef>
              <a:buClr>
                <a:srgbClr val="549E39"/>
              </a:buClr>
              <a:buNone/>
              <a:defRPr/>
            </a:pPr>
            <a:r>
              <a:rPr lang="en-US" dirty="0"/>
              <a:t>Backend Developer specializing in scalable architectures, database design, and performance optimization. Strong expertise in process automation, web scraping, and AI‑driven content generation. Improved deployment performance through SQL optimization and indexing strategies, and developed microservices‑based systems and cloud‑native solutions using AWS. Experienced in designing robust REST APIs, managing CI/CD pipelines, and integrating third‑party services, including payment gateways. </a:t>
            </a:r>
          </a:p>
          <a:p>
            <a:pPr marL="0" lvl="0" indent="0" algn="just">
              <a:lnSpc>
                <a:spcPct val="100000"/>
              </a:lnSpc>
              <a:spcBef>
                <a:spcPts val="300"/>
              </a:spcBef>
              <a:buClr>
                <a:srgbClr val="549E39"/>
              </a:buClr>
              <a:buNone/>
              <a:defRPr/>
            </a:pPr>
            <a:r>
              <a:rPr lang="en-US" dirty="0"/>
              <a:t>Core strengths: backend architecture, database modeling, automation, cloud infrastructure, and AI integrations. </a:t>
            </a:r>
          </a:p>
          <a:p>
            <a:pPr marL="0" lvl="0" indent="0" algn="just">
              <a:lnSpc>
                <a:spcPct val="100000"/>
              </a:lnSpc>
              <a:spcBef>
                <a:spcPts val="300"/>
              </a:spcBef>
              <a:buClr>
                <a:srgbClr val="549E39"/>
              </a:buClr>
              <a:buNone/>
              <a:defRPr/>
            </a:pPr>
            <a:endParaRPr lang="en-US" dirty="0"/>
          </a:p>
        </p:txBody>
      </p:sp>
      <p:sp>
        <p:nvSpPr>
          <p:cNvPr id="11" name="Text Placeholder 10">
            <a:extLst>
              <a:ext uri="{FF2B5EF4-FFF2-40B4-BE49-F238E27FC236}">
                <a16:creationId xmlns:a16="http://schemas.microsoft.com/office/drawing/2014/main" id="{1B95D3D0-EDF6-4D74-965C-4B25FEDFCCC5}"/>
              </a:ext>
            </a:extLst>
          </p:cNvPr>
          <p:cNvSpPr>
            <a:spLocks noGrp="1"/>
          </p:cNvSpPr>
          <p:nvPr>
            <p:ph type="body" sz="quarter" idx="17"/>
          </p:nvPr>
        </p:nvSpPr>
        <p:spPr>
          <a:xfrm>
            <a:off x="3095300" y="2640293"/>
            <a:ext cx="2251611" cy="1370691"/>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sz="900" dirty="0">
                <a:solidFill>
                  <a:prstClr val="black"/>
                </a:solidFill>
                <a:latin typeface="Calibri"/>
                <a:ea typeface="Calibri"/>
                <a:cs typeface="Arial"/>
              </a:rPr>
              <a:t>Backend Engineering &amp; Microservices</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Data Bases &amp; Data modeling</a:t>
            </a:r>
            <a:endParaRPr lang="en-US" dirty="0">
              <a:solidFill>
                <a:prstClr val="black"/>
              </a:solidFill>
              <a:latin typeface="Graphik"/>
              <a:ea typeface="Calibri" panose="020F0502020204030204"/>
              <a:cs typeface="Arial"/>
            </a:endParaRPr>
          </a:p>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Arial"/>
              </a:rPr>
              <a:t>AI-Driven Content Generation</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Cloud </a:t>
            </a:r>
            <a:r>
              <a:rPr lang="en-US" altLang="en-US" sz="900" dirty="0" err="1">
                <a:solidFill>
                  <a:prstClr val="black"/>
                </a:solidFill>
                <a:latin typeface="Calibri"/>
                <a:ea typeface="Calibri"/>
                <a:cs typeface="Arial"/>
              </a:rPr>
              <a:t>Coputing</a:t>
            </a:r>
            <a:r>
              <a:rPr lang="en-US" altLang="en-US" sz="900" dirty="0">
                <a:solidFill>
                  <a:prstClr val="black"/>
                </a:solidFill>
                <a:latin typeface="Calibri"/>
                <a:ea typeface="Calibri"/>
                <a:cs typeface="Arial"/>
              </a:rPr>
              <a:t> (AWS)</a:t>
            </a:r>
          </a:p>
          <a:p>
            <a:pPr marL="170180" indent="-170180">
              <a:lnSpc>
                <a:spcPct val="100000"/>
              </a:lnSpc>
              <a:spcBef>
                <a:spcPts val="450"/>
              </a:spcBef>
              <a:tabLst>
                <a:tab pos="133270" algn="l"/>
              </a:tabLst>
              <a:defRPr/>
            </a:pPr>
            <a:r>
              <a:rPr lang="en-US" sz="900" dirty="0">
                <a:solidFill>
                  <a:prstClr val="black"/>
                </a:solidFill>
                <a:latin typeface="Calibri"/>
                <a:ea typeface="Calibri"/>
                <a:cs typeface="Arial"/>
              </a:rPr>
              <a:t>Automation &amp; CI/CD Pipelines</a:t>
            </a:r>
          </a:p>
          <a:p>
            <a:pPr marL="170180" indent="-170180">
              <a:lnSpc>
                <a:spcPct val="100000"/>
              </a:lnSpc>
              <a:spcBef>
                <a:spcPts val="450"/>
              </a:spcBef>
              <a:tabLst>
                <a:tab pos="133270" algn="l"/>
              </a:tabLst>
              <a:defRPr/>
            </a:pPr>
            <a:r>
              <a:rPr lang="en-US" sz="900" dirty="0">
                <a:solidFill>
                  <a:prstClr val="black"/>
                </a:solidFill>
                <a:latin typeface="Calibri"/>
                <a:ea typeface="Calibri"/>
                <a:cs typeface="Arial"/>
              </a:rPr>
              <a:t>Web Scraping &amp; Search Engines</a:t>
            </a:r>
          </a:p>
          <a:p>
            <a:pPr marL="170180" indent="-170180">
              <a:lnSpc>
                <a:spcPct val="100000"/>
              </a:lnSpc>
              <a:spcBef>
                <a:spcPts val="450"/>
              </a:spcBef>
              <a:tabLst>
                <a:tab pos="133270" algn="l"/>
              </a:tabLst>
              <a:defRPr/>
            </a:pPr>
            <a:r>
              <a:rPr lang="en-US" sz="900" dirty="0">
                <a:solidFill>
                  <a:prstClr val="black"/>
                </a:solidFill>
                <a:latin typeface="Calibri"/>
                <a:ea typeface="Calibri"/>
                <a:cs typeface="Arial"/>
              </a:rPr>
              <a:t>Python &amp; Node.js Development</a:t>
            </a:r>
          </a:p>
          <a:p>
            <a:pPr marL="170180" indent="-170180">
              <a:lnSpc>
                <a:spcPct val="100000"/>
              </a:lnSpc>
              <a:spcBef>
                <a:spcPts val="450"/>
              </a:spcBef>
              <a:tabLst>
                <a:tab pos="133270" algn="l"/>
              </a:tabLst>
              <a:defRPr/>
            </a:pPr>
            <a:endParaRPr lang="en-US" dirty="0"/>
          </a:p>
          <a:p>
            <a:pPr marL="0" lvl="0" indent="0">
              <a:lnSpc>
                <a:spcPct val="100000"/>
              </a:lnSpc>
              <a:spcBef>
                <a:spcPts val="450"/>
              </a:spcBef>
              <a:buNone/>
              <a:tabLst>
                <a:tab pos="133270" algn="l"/>
              </a:tabLst>
              <a:defRPr/>
            </a:pPr>
            <a:endParaRPr lang="en-US" altLang="en-US" sz="900" dirty="0">
              <a:solidFill>
                <a:prstClr val="black"/>
              </a:solidFill>
              <a:latin typeface="Calibri" panose="020F0502020204030204"/>
              <a:cs typeface="Arial"/>
            </a:endParaRPr>
          </a:p>
        </p:txBody>
      </p:sp>
      <p:sp>
        <p:nvSpPr>
          <p:cNvPr id="12" name="Text Placeholder 11">
            <a:extLst>
              <a:ext uri="{FF2B5EF4-FFF2-40B4-BE49-F238E27FC236}">
                <a16:creationId xmlns:a16="http://schemas.microsoft.com/office/drawing/2014/main" id="{2134980F-833A-4CEA-B193-B68AFF606610}"/>
              </a:ext>
            </a:extLst>
          </p:cNvPr>
          <p:cNvSpPr>
            <a:spLocks noGrp="1"/>
          </p:cNvSpPr>
          <p:nvPr>
            <p:ph type="body" sz="quarter" idx="18"/>
          </p:nvPr>
        </p:nvSpPr>
        <p:spPr>
          <a:xfrm>
            <a:off x="5427750" y="2425645"/>
            <a:ext cx="6524747" cy="4053221"/>
          </a:xfrm>
        </p:spPr>
        <p:txBody>
          <a:bodyPr>
            <a:noAutofit/>
          </a:bodyPr>
          <a:lstStyle/>
          <a:p>
            <a:pPr marL="0" lvl="0" indent="0" defTabSz="912813">
              <a:lnSpc>
                <a:spcPct val="100000"/>
              </a:lnSpc>
              <a:spcBef>
                <a:spcPts val="0"/>
              </a:spcBef>
              <a:buNone/>
              <a:tabLst>
                <a:tab pos="917575" algn="l"/>
              </a:tabLst>
              <a:defRPr/>
            </a:pPr>
            <a:r>
              <a:rPr lang="en-US" sz="1000" dirty="0" err="1">
                <a:solidFill>
                  <a:prstClr val="black"/>
                </a:solidFill>
              </a:rPr>
              <a:t>Arkhaine</a:t>
            </a:r>
            <a:endParaRPr lang="en-US" sz="1000" dirty="0">
              <a:solidFill>
                <a:prstClr val="black"/>
              </a:solidFill>
            </a:endParaRPr>
          </a:p>
          <a:p>
            <a:pPr defTabSz="912813">
              <a:lnSpc>
                <a:spcPct val="100000"/>
              </a:lnSpc>
              <a:spcBef>
                <a:spcPts val="0"/>
              </a:spcBef>
              <a:tabLst>
                <a:tab pos="917575" algn="l"/>
              </a:tabLst>
              <a:defRPr/>
            </a:pPr>
            <a:r>
              <a:rPr lang="en-US" sz="1000" b="0" dirty="0">
                <a:solidFill>
                  <a:prstClr val="black"/>
                </a:solidFill>
              </a:rPr>
              <a:t>Responsible for developing and structuring backend systems, designing database architectures, and integrating required services for each software solution, including payment gateways and AI APIs such as OpenAI and Gemini for content generation. </a:t>
            </a:r>
          </a:p>
          <a:p>
            <a:pPr defTabSz="912813">
              <a:lnSpc>
                <a:spcPct val="100000"/>
              </a:lnSpc>
              <a:spcBef>
                <a:spcPts val="0"/>
              </a:spcBef>
              <a:tabLst>
                <a:tab pos="917575" algn="l"/>
              </a:tabLst>
              <a:defRPr/>
            </a:pPr>
            <a:r>
              <a:rPr lang="en-US" sz="1000" b="0" dirty="0">
                <a:solidFill>
                  <a:prstClr val="black"/>
                </a:solidFill>
              </a:rPr>
              <a:t>Technologies used include Node.js, Web Scraping, MySQL, FTP, REST APIs, Gemini API, and OpenAI API.</a:t>
            </a:r>
          </a:p>
          <a:p>
            <a:pPr marL="0" indent="0" defTabSz="912813">
              <a:lnSpc>
                <a:spcPct val="100000"/>
              </a:lnSpc>
              <a:spcBef>
                <a:spcPts val="0"/>
              </a:spcBef>
              <a:buNone/>
              <a:tabLst>
                <a:tab pos="917575" algn="l"/>
              </a:tabLst>
              <a:defRPr/>
            </a:pPr>
            <a:br>
              <a:rPr lang="en-US" sz="1000" dirty="0">
                <a:solidFill>
                  <a:prstClr val="black"/>
                </a:solidFill>
              </a:rPr>
            </a:br>
            <a:r>
              <a:rPr lang="en-US" sz="1000" dirty="0" err="1">
                <a:solidFill>
                  <a:prstClr val="black"/>
                </a:solidFill>
              </a:rPr>
              <a:t>AdGoat</a:t>
            </a:r>
            <a:endParaRPr lang="en-US" sz="1000" dirty="0">
              <a:solidFill>
                <a:prstClr val="black"/>
              </a:solidFill>
            </a:endParaRPr>
          </a:p>
          <a:p>
            <a:pPr defTabSz="912813">
              <a:lnSpc>
                <a:spcPct val="100000"/>
              </a:lnSpc>
              <a:spcBef>
                <a:spcPts val="0"/>
              </a:spcBef>
              <a:tabLst>
                <a:tab pos="917575" algn="l"/>
              </a:tabLst>
              <a:defRPr/>
            </a:pPr>
            <a:r>
              <a:rPr lang="en-US" sz="1000" b="0" dirty="0">
                <a:solidFill>
                  <a:prstClr val="black"/>
                </a:solidFill>
              </a:rPr>
              <a:t>Reduced deployment response times by 70% through SQL query optimization and indexing strategies, developed process automations using AWS services, and contributed to the maintenance and implementation of new features including a proprietary search engine, AI-driven multilingual content generation with text and image prompts, pipeline management, and the development and maintenance of web scraping processes and collaboration with the frontend team.</a:t>
            </a:r>
          </a:p>
          <a:p>
            <a:pPr defTabSz="912813">
              <a:lnSpc>
                <a:spcPct val="100000"/>
              </a:lnSpc>
              <a:spcBef>
                <a:spcPts val="0"/>
              </a:spcBef>
              <a:tabLst>
                <a:tab pos="917575" algn="l"/>
              </a:tabLst>
              <a:defRPr/>
            </a:pPr>
            <a:r>
              <a:rPr lang="en-US" sz="1000" b="0" dirty="0">
                <a:solidFill>
                  <a:prstClr val="black"/>
                </a:solidFill>
              </a:rPr>
              <a:t>Technologies used include Python, Node.js, PostgreSQL, AWS (Lambda, S3, OpenSearch, API Gateway, CloudWatch, Secrets Manager), OpenAI API, </a:t>
            </a:r>
            <a:r>
              <a:rPr lang="en-US" sz="1000" b="0" dirty="0" err="1">
                <a:solidFill>
                  <a:prstClr val="black"/>
                </a:solidFill>
              </a:rPr>
              <a:t>Terragrunt</a:t>
            </a:r>
            <a:r>
              <a:rPr lang="en-US" sz="1000" b="0" dirty="0">
                <a:solidFill>
                  <a:prstClr val="black"/>
                </a:solidFill>
              </a:rPr>
              <a:t>, and GitHub Actions, React (basic knowledge).</a:t>
            </a:r>
          </a:p>
          <a:p>
            <a:pPr defTabSz="912813">
              <a:lnSpc>
                <a:spcPct val="100000"/>
              </a:lnSpc>
              <a:spcBef>
                <a:spcPts val="0"/>
              </a:spcBef>
              <a:tabLst>
                <a:tab pos="917575" algn="l"/>
              </a:tabLst>
              <a:defRPr/>
            </a:pPr>
            <a:endParaRPr lang="en-US" sz="1000" b="0" dirty="0">
              <a:solidFill>
                <a:prstClr val="black"/>
              </a:solidFill>
            </a:endParaRPr>
          </a:p>
          <a:p>
            <a:pPr marL="0" lvl="0" indent="0" defTabSz="912813">
              <a:lnSpc>
                <a:spcPct val="100000"/>
              </a:lnSpc>
              <a:spcBef>
                <a:spcPts val="0"/>
              </a:spcBef>
              <a:buNone/>
              <a:tabLst>
                <a:tab pos="917575" algn="l"/>
              </a:tabLst>
              <a:defRPr/>
            </a:pPr>
            <a:r>
              <a:rPr lang="en-US" sz="1000" dirty="0" err="1">
                <a:solidFill>
                  <a:prstClr val="black"/>
                </a:solidFill>
              </a:rPr>
              <a:t>Custome</a:t>
            </a:r>
            <a:r>
              <a:rPr lang="en-US" sz="1000" dirty="0">
                <a:solidFill>
                  <a:prstClr val="black"/>
                </a:solidFill>
              </a:rPr>
              <a:t> Scoops</a:t>
            </a:r>
          </a:p>
          <a:p>
            <a:pPr defTabSz="912813">
              <a:lnSpc>
                <a:spcPct val="100000"/>
              </a:lnSpc>
              <a:spcBef>
                <a:spcPts val="0"/>
              </a:spcBef>
              <a:tabLst>
                <a:tab pos="917575" algn="l"/>
              </a:tabLst>
              <a:defRPr/>
            </a:pPr>
            <a:r>
              <a:rPr lang="en-US" sz="1000" b="0" dirty="0">
                <a:solidFill>
                  <a:prstClr val="black"/>
                </a:solidFill>
              </a:rPr>
              <a:t>Designed and implemented database architectures and developed the second version of the product, including its supporting microservices, ensuring scalability and maintainability. </a:t>
            </a:r>
          </a:p>
          <a:p>
            <a:pPr defTabSz="912813">
              <a:lnSpc>
                <a:spcPct val="100000"/>
              </a:lnSpc>
              <a:spcBef>
                <a:spcPts val="0"/>
              </a:spcBef>
              <a:tabLst>
                <a:tab pos="917575" algn="l"/>
              </a:tabLst>
              <a:defRPr/>
            </a:pPr>
            <a:r>
              <a:rPr lang="en-US" sz="1000" b="0" dirty="0">
                <a:solidFill>
                  <a:prstClr val="black"/>
                </a:solidFill>
              </a:rPr>
              <a:t>Technologies used include PHP, Python, MySQL, PostgreSQL, TypeScript, and REST APIs.</a:t>
            </a:r>
            <a:endParaRPr lang="en-US" sz="1000" dirty="0">
              <a:solidFill>
                <a:prstClr val="black"/>
              </a:solidFill>
            </a:endParaRPr>
          </a:p>
          <a:p>
            <a:pPr defTabSz="912813">
              <a:lnSpc>
                <a:spcPct val="100000"/>
              </a:lnSpc>
              <a:spcBef>
                <a:spcPts val="0"/>
              </a:spcBef>
              <a:tabLst>
                <a:tab pos="917575" algn="l"/>
              </a:tabLst>
              <a:defRPr/>
            </a:pPr>
            <a:endParaRPr lang="it-IT" b="0" dirty="0"/>
          </a:p>
          <a:p>
            <a:pPr defTabSz="912813">
              <a:lnSpc>
                <a:spcPct val="100000"/>
              </a:lnSpc>
              <a:spcBef>
                <a:spcPts val="0"/>
              </a:spcBef>
              <a:tabLst>
                <a:tab pos="917575" algn="l"/>
              </a:tabLst>
              <a:defRPr/>
            </a:pP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lvl="0" defTabSz="912813">
              <a:lnSpc>
                <a:spcPct val="100000"/>
              </a:lnSpc>
              <a:spcBef>
                <a:spcPts val="0"/>
              </a:spcBef>
              <a:buFontTx/>
              <a:buChar char="-"/>
              <a:tabLst>
                <a:tab pos="917575" algn="l"/>
              </a:tabLst>
              <a:defRPr/>
            </a:pPr>
            <a:endParaRPr lang="en-US" sz="1000" dirty="0">
              <a:solidFill>
                <a:prstClr val="black"/>
              </a:solidFill>
            </a:endParaRPr>
          </a:p>
          <a:p>
            <a:pPr marL="0" lvl="0" indent="0" defTabSz="912813">
              <a:lnSpc>
                <a:spcPct val="100000"/>
              </a:lnSpc>
              <a:spcBef>
                <a:spcPts val="0"/>
              </a:spcBef>
              <a:buNone/>
              <a:tabLst>
                <a:tab pos="917575" algn="l"/>
              </a:tabLst>
              <a:defRPr/>
            </a:pPr>
            <a:endParaRPr lang="en-US" sz="1000" dirty="0">
              <a:solidFill>
                <a:prstClr val="black"/>
              </a:solidFill>
            </a:endParaRPr>
          </a:p>
        </p:txBody>
      </p:sp>
      <p:sp>
        <p:nvSpPr>
          <p:cNvPr id="13" name="Text Placeholder 12">
            <a:extLst>
              <a:ext uri="{FF2B5EF4-FFF2-40B4-BE49-F238E27FC236}">
                <a16:creationId xmlns:a16="http://schemas.microsoft.com/office/drawing/2014/main" id="{8AB44894-8232-41D9-A194-2698685863BB}"/>
              </a:ext>
            </a:extLst>
          </p:cNvPr>
          <p:cNvSpPr>
            <a:spLocks noGrp="1"/>
          </p:cNvSpPr>
          <p:nvPr>
            <p:ph type="body" sz="quarter" idx="19"/>
          </p:nvPr>
        </p:nvSpPr>
        <p:spPr/>
        <p:txBody>
          <a:bodyPr/>
          <a:lstStyle/>
          <a:p>
            <a:pPr marL="0" indent="0">
              <a:buNone/>
            </a:pPr>
            <a:r>
              <a:rPr lang="es-AR" dirty="0"/>
              <a:t>        </a:t>
            </a:r>
            <a:endParaRPr lang="en-US" dirty="0"/>
          </a:p>
        </p:txBody>
      </p:sp>
      <p:sp>
        <p:nvSpPr>
          <p:cNvPr id="3" name="Footer Placeholder 2">
            <a:extLst>
              <a:ext uri="{FF2B5EF4-FFF2-40B4-BE49-F238E27FC236}">
                <a16:creationId xmlns:a16="http://schemas.microsoft.com/office/drawing/2014/main" id="{33D966CF-FD9C-4253-80B3-E3B4151511A0}"/>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pic>
        <p:nvPicPr>
          <p:cNvPr id="27" name="Picture Placeholder 26">
            <a:extLst>
              <a:ext uri="{FF2B5EF4-FFF2-40B4-BE49-F238E27FC236}">
                <a16:creationId xmlns:a16="http://schemas.microsoft.com/office/drawing/2014/main" id="{C6332352-5514-4374-8288-6E713209780A}"/>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20043" r="20043"/>
          <a:stretch/>
        </p:blipFill>
        <p:spPr/>
      </p:pic>
      <p:sp>
        <p:nvSpPr>
          <p:cNvPr id="30" name="Text Placeholder 10">
            <a:extLst>
              <a:ext uri="{FF2B5EF4-FFF2-40B4-BE49-F238E27FC236}">
                <a16:creationId xmlns:a16="http://schemas.microsoft.com/office/drawing/2014/main" id="{D8EBDDCE-48D7-4534-8057-F03D089029E4}"/>
              </a:ext>
            </a:extLst>
          </p:cNvPr>
          <p:cNvSpPr txBox="1">
            <a:spLocks/>
          </p:cNvSpPr>
          <p:nvPr/>
        </p:nvSpPr>
        <p:spPr>
          <a:xfrm>
            <a:off x="3176139" y="4272380"/>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dirty="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dirty="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dirty="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3658CBF4-BCD4-4FE7-976F-59FAEC664190}"/>
              </a:ext>
            </a:extLst>
          </p:cNvPr>
          <p:cNvSpPr txBox="1">
            <a:spLocks/>
          </p:cNvSpPr>
          <p:nvPr/>
        </p:nvSpPr>
        <p:spPr>
          <a:xfrm>
            <a:off x="3116119" y="4258099"/>
            <a:ext cx="2012108"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Publisher</a:t>
            </a: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Customer Experience (CX)</a:t>
            </a: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Software Factory</a:t>
            </a:r>
          </a:p>
          <a:p>
            <a:pPr marL="170781" indent="-170781">
              <a:lnSpc>
                <a:spcPct val="100000"/>
              </a:lnSpc>
              <a:spcBef>
                <a:spcPts val="450"/>
              </a:spcBef>
              <a:tabLst>
                <a:tab pos="133270" algn="l"/>
              </a:tabLst>
              <a:defRPr/>
            </a:pPr>
            <a:endParaRPr lang="en-US" altLang="en-US" sz="900" dirty="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dirty="0">
              <a:solidFill>
                <a:prstClr val="black"/>
              </a:solidFill>
              <a:latin typeface="Calibri" panose="020F0502020204030204"/>
              <a:cs typeface="Arial"/>
            </a:endParaRPr>
          </a:p>
        </p:txBody>
      </p:sp>
      <p:pic>
        <p:nvPicPr>
          <p:cNvPr id="1026" name="Picture 2">
            <a:extLst>
              <a:ext uri="{FF2B5EF4-FFF2-40B4-BE49-F238E27FC236}">
                <a16:creationId xmlns:a16="http://schemas.microsoft.com/office/drawing/2014/main" id="{F0263F70-63F0-6F7F-CAB9-BDB1F05338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6124" y="6279369"/>
            <a:ext cx="573287" cy="46964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08D3015-BB46-4C76-ABE0-1D7F99BFFC21}"/>
              </a:ext>
            </a:extLst>
          </p:cNvPr>
          <p:cNvSpPr txBox="1"/>
          <p:nvPr/>
        </p:nvSpPr>
        <p:spPr>
          <a:xfrm>
            <a:off x="3461123" y="5166445"/>
            <a:ext cx="2342612" cy="261610"/>
          </a:xfrm>
          <a:prstGeom prst="rect">
            <a:avLst/>
          </a:prstGeom>
          <a:noFill/>
        </p:spPr>
        <p:txBody>
          <a:bodyPr wrap="square" lIns="91440" tIns="45720" rIns="91440" bIns="45720" rtlCol="0" anchor="t">
            <a:spAutoFit/>
          </a:bodyPr>
          <a:lstStyle/>
          <a:p>
            <a:r>
              <a:rPr lang="es-AR" sz="1100" b="1">
                <a:solidFill>
                  <a:srgbClr val="7030A0"/>
                </a:solidFill>
                <a:latin typeface="Graphik"/>
              </a:rPr>
              <a:t>CERTIFICATIONS</a:t>
            </a:r>
            <a:endParaRPr lang="en-US" sz="1100" b="1">
              <a:solidFill>
                <a:srgbClr val="7030A0"/>
              </a:solidFill>
              <a:latin typeface="Graphik"/>
            </a:endParaRPr>
          </a:p>
        </p:txBody>
      </p:sp>
      <p:sp>
        <p:nvSpPr>
          <p:cNvPr id="14" name="TextBox 13">
            <a:extLst>
              <a:ext uri="{FF2B5EF4-FFF2-40B4-BE49-F238E27FC236}">
                <a16:creationId xmlns:a16="http://schemas.microsoft.com/office/drawing/2014/main" id="{AEC9E137-957C-3A35-467E-838DA660A245}"/>
              </a:ext>
            </a:extLst>
          </p:cNvPr>
          <p:cNvSpPr txBox="1"/>
          <p:nvPr/>
        </p:nvSpPr>
        <p:spPr>
          <a:xfrm>
            <a:off x="3051616" y="5429813"/>
            <a:ext cx="2221568" cy="553998"/>
          </a:xfrm>
          <a:prstGeom prst="rect">
            <a:avLst/>
          </a:prstGeom>
          <a:noFill/>
        </p:spPr>
        <p:txBody>
          <a:bodyPr wrap="square" rtlCol="0">
            <a:spAutoFit/>
          </a:bodyPr>
          <a:lstStyle/>
          <a:p>
            <a:r>
              <a:rPr lang="es-AR" sz="1000" dirty="0" err="1">
                <a:solidFill>
                  <a:prstClr val="black"/>
                </a:solidFill>
              </a:rPr>
              <a:t>University</a:t>
            </a:r>
            <a:r>
              <a:rPr lang="es-AR" sz="1000" dirty="0">
                <a:solidFill>
                  <a:prstClr val="black"/>
                </a:solidFill>
              </a:rPr>
              <a:t> </a:t>
            </a:r>
            <a:r>
              <a:rPr lang="es-AR" sz="1000" dirty="0" err="1">
                <a:solidFill>
                  <a:prstClr val="black"/>
                </a:solidFill>
              </a:rPr>
              <a:t>Technician</a:t>
            </a:r>
            <a:r>
              <a:rPr lang="es-AR" sz="1000" dirty="0">
                <a:solidFill>
                  <a:prstClr val="black"/>
                </a:solidFill>
              </a:rPr>
              <a:t> in </a:t>
            </a:r>
            <a:r>
              <a:rPr lang="es-AR" sz="1000" dirty="0" err="1">
                <a:solidFill>
                  <a:prstClr val="black"/>
                </a:solidFill>
              </a:rPr>
              <a:t>Programming</a:t>
            </a:r>
            <a:r>
              <a:rPr lang="es-AR" sz="1000" dirty="0">
                <a:solidFill>
                  <a:prstClr val="black"/>
                </a:solidFill>
              </a:rPr>
              <a:t> </a:t>
            </a:r>
            <a:br>
              <a:rPr lang="es-AR" sz="1000" dirty="0">
                <a:solidFill>
                  <a:prstClr val="black"/>
                </a:solidFill>
              </a:rPr>
            </a:br>
            <a:r>
              <a:rPr lang="es-AR" sz="1000" dirty="0" err="1">
                <a:solidFill>
                  <a:prstClr val="black"/>
                </a:solidFill>
              </a:rPr>
              <a:t>Developer</a:t>
            </a:r>
            <a:r>
              <a:rPr lang="es-AR" sz="1000" dirty="0">
                <a:solidFill>
                  <a:prstClr val="black"/>
                </a:solidFill>
              </a:rPr>
              <a:t> </a:t>
            </a:r>
            <a:r>
              <a:rPr lang="es-AR" sz="1000" dirty="0" err="1">
                <a:solidFill>
                  <a:prstClr val="black"/>
                </a:solidFill>
              </a:rPr>
              <a:t>Partner</a:t>
            </a:r>
            <a:r>
              <a:rPr lang="es-AR" sz="1000" dirty="0">
                <a:solidFill>
                  <a:prstClr val="black"/>
                </a:solidFill>
              </a:rPr>
              <a:t> </a:t>
            </a:r>
            <a:r>
              <a:rPr lang="es-AR" sz="1000" dirty="0" err="1">
                <a:solidFill>
                  <a:prstClr val="black"/>
                </a:solidFill>
              </a:rPr>
              <a:t>Program</a:t>
            </a:r>
            <a:r>
              <a:rPr lang="es-AR" sz="1000" dirty="0">
                <a:solidFill>
                  <a:prstClr val="black"/>
                </a:solidFill>
              </a:rPr>
              <a:t> Mercado Pago</a:t>
            </a:r>
            <a:endParaRPr lang="en-US" sz="1000" dirty="0">
              <a:solidFill>
                <a:prstClr val="black"/>
              </a:solidFill>
            </a:endParaRPr>
          </a:p>
        </p:txBody>
      </p:sp>
      <p:pic>
        <p:nvPicPr>
          <p:cNvPr id="16" name="Picture 15">
            <a:extLst>
              <a:ext uri="{FF2B5EF4-FFF2-40B4-BE49-F238E27FC236}">
                <a16:creationId xmlns:a16="http://schemas.microsoft.com/office/drawing/2014/main" id="{C8A3EA66-0F3E-C2C0-B93A-71543DC7C009}"/>
              </a:ext>
            </a:extLst>
          </p:cNvPr>
          <p:cNvPicPr>
            <a:picLocks noChangeAspect="1"/>
          </p:cNvPicPr>
          <p:nvPr/>
        </p:nvPicPr>
        <p:blipFill>
          <a:blip r:embed="rId4"/>
          <a:stretch>
            <a:fillRect/>
          </a:stretch>
        </p:blipFill>
        <p:spPr>
          <a:xfrm>
            <a:off x="3772885" y="6295870"/>
            <a:ext cx="387888" cy="436639"/>
          </a:xfrm>
          <a:prstGeom prst="rect">
            <a:avLst/>
          </a:prstGeom>
        </p:spPr>
      </p:pic>
      <p:pic>
        <p:nvPicPr>
          <p:cNvPr id="15" name="Picture 14" descr="A blue hexagon with white text&#10;&#10;Description automatically generated">
            <a:extLst>
              <a:ext uri="{FF2B5EF4-FFF2-40B4-BE49-F238E27FC236}">
                <a16:creationId xmlns:a16="http://schemas.microsoft.com/office/drawing/2014/main" id="{17769169-8E14-6EFF-6086-BFF715A7EC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26355" y="6248133"/>
            <a:ext cx="573287" cy="573287"/>
          </a:xfrm>
          <a:prstGeom prst="rect">
            <a:avLst/>
          </a:prstGeom>
        </p:spPr>
      </p:pic>
      <p:pic>
        <p:nvPicPr>
          <p:cNvPr id="18" name="Picture 17">
            <a:extLst>
              <a:ext uri="{FF2B5EF4-FFF2-40B4-BE49-F238E27FC236}">
                <a16:creationId xmlns:a16="http://schemas.microsoft.com/office/drawing/2014/main" id="{6BA989BC-FE72-BFAD-CE82-661EF161FE8F}"/>
              </a:ext>
            </a:extLst>
          </p:cNvPr>
          <p:cNvPicPr>
            <a:picLocks noChangeAspect="1"/>
          </p:cNvPicPr>
          <p:nvPr/>
        </p:nvPicPr>
        <p:blipFill>
          <a:blip r:embed="rId6"/>
          <a:stretch>
            <a:fillRect/>
          </a:stretch>
        </p:blipFill>
        <p:spPr>
          <a:xfrm>
            <a:off x="4799642" y="6295870"/>
            <a:ext cx="487249" cy="491980"/>
          </a:xfrm>
          <a:prstGeom prst="rect">
            <a:avLst/>
          </a:prstGeom>
        </p:spPr>
      </p:pic>
      <p:sp>
        <p:nvSpPr>
          <p:cNvPr id="17" name="TextBox 16">
            <a:extLst>
              <a:ext uri="{FF2B5EF4-FFF2-40B4-BE49-F238E27FC236}">
                <a16:creationId xmlns:a16="http://schemas.microsoft.com/office/drawing/2014/main" id="{EB936E7B-71E5-4305-549C-30040AD8DB0C}"/>
              </a:ext>
            </a:extLst>
          </p:cNvPr>
          <p:cNvSpPr txBox="1"/>
          <p:nvPr/>
        </p:nvSpPr>
        <p:spPr>
          <a:xfrm>
            <a:off x="237507" y="5341578"/>
            <a:ext cx="154379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AR" sz="1200" b="1">
                <a:solidFill>
                  <a:srgbClr val="7030A0"/>
                </a:solidFill>
                <a:latin typeface="Graphik"/>
              </a:rPr>
              <a:t>Lenguajes</a:t>
            </a:r>
            <a:endParaRPr lang="es-AR" sz="1200" b="1" dirty="0">
              <a:solidFill>
                <a:srgbClr val="7030A0"/>
              </a:solidFill>
              <a:latin typeface="Graphik"/>
            </a:endParaRPr>
          </a:p>
          <a:p>
            <a:pPr algn="ctr"/>
            <a:endParaRPr lang="en-US"/>
          </a:p>
        </p:txBody>
      </p:sp>
      <p:sp>
        <p:nvSpPr>
          <p:cNvPr id="19" name="TextBox 18">
            <a:extLst>
              <a:ext uri="{FF2B5EF4-FFF2-40B4-BE49-F238E27FC236}">
                <a16:creationId xmlns:a16="http://schemas.microsoft.com/office/drawing/2014/main" id="{88CCA1AF-78E0-BFAD-DF61-5834ECB07738}"/>
              </a:ext>
            </a:extLst>
          </p:cNvPr>
          <p:cNvSpPr txBox="1"/>
          <p:nvPr/>
        </p:nvSpPr>
        <p:spPr>
          <a:xfrm>
            <a:off x="337595" y="5618544"/>
            <a:ext cx="1668684"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AR" sz="1000" dirty="0" err="1">
                <a:latin typeface="Calibri"/>
              </a:rPr>
              <a:t>Spanish</a:t>
            </a:r>
            <a:r>
              <a:rPr lang="es-AR" sz="1000" dirty="0">
                <a:latin typeface="Calibri"/>
              </a:rPr>
              <a:t>:</a:t>
            </a:r>
            <a:r>
              <a:rPr lang="es-AR" sz="1000" baseline="0" dirty="0">
                <a:latin typeface="Calibri"/>
              </a:rPr>
              <a:t> </a:t>
            </a:r>
            <a:r>
              <a:rPr lang="es-AR" sz="1000" dirty="0">
                <a:latin typeface="Calibri"/>
              </a:rPr>
              <a:t>Native</a:t>
            </a:r>
            <a:br>
              <a:rPr sz="1000" dirty="0">
                <a:latin typeface="Calibri"/>
                <a:ea typeface="Calibri"/>
                <a:cs typeface="Calibri"/>
              </a:rPr>
            </a:br>
            <a:r>
              <a:rPr lang="es-AR" sz="1000" dirty="0">
                <a:latin typeface="Calibri"/>
              </a:rPr>
              <a:t>English</a:t>
            </a:r>
            <a:r>
              <a:rPr lang="es-AR" sz="1000" baseline="0" dirty="0">
                <a:latin typeface="Calibri"/>
              </a:rPr>
              <a:t> C1</a:t>
            </a:r>
            <a:endParaRPr lang="en-US" dirty="0"/>
          </a:p>
          <a:p>
            <a:pPr algn="ctr"/>
            <a:endParaRPr lang="en-US"/>
          </a:p>
        </p:txBody>
      </p:sp>
    </p:spTree>
    <p:extLst>
      <p:ext uri="{BB962C8B-B14F-4D97-AF65-F5344CB8AC3E}">
        <p14:creationId xmlns:p14="http://schemas.microsoft.com/office/powerpoint/2010/main" val="521239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BFD82-23C1-9828-C7D6-75D8913E9C1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09B7DA-1B93-DCED-09AE-284EF3F5D68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1BF7E3F1-785C-43FC-2679-C2EB7C762DDC}"/>
              </a:ext>
            </a:extLst>
          </p:cNvPr>
          <p:cNvSpPr>
            <a:spLocks noGrp="1"/>
          </p:cNvSpPr>
          <p:nvPr>
            <p:ph type="body" sz="quarter" idx="11"/>
          </p:nvPr>
        </p:nvSpPr>
        <p:spPr/>
        <p:txBody>
          <a:bodyPr>
            <a:normAutofit fontScale="92500" lnSpcReduction="20000"/>
          </a:bodyPr>
          <a:lstStyle/>
          <a:p>
            <a:r>
              <a:rPr lang="es-AR" dirty="0"/>
              <a:t>Karenina Kauffmann</a:t>
            </a:r>
            <a:endParaRPr lang="en-US" dirty="0"/>
          </a:p>
        </p:txBody>
      </p:sp>
      <p:sp>
        <p:nvSpPr>
          <p:cNvPr id="6" name="Text Placeholder 5">
            <a:extLst>
              <a:ext uri="{FF2B5EF4-FFF2-40B4-BE49-F238E27FC236}">
                <a16:creationId xmlns:a16="http://schemas.microsoft.com/office/drawing/2014/main" id="{965562B3-C560-F26C-0334-8EF3B148BE1E}"/>
              </a:ext>
            </a:extLst>
          </p:cNvPr>
          <p:cNvSpPr>
            <a:spLocks noGrp="1"/>
          </p:cNvSpPr>
          <p:nvPr>
            <p:ph type="body" sz="quarter" idx="12"/>
          </p:nvPr>
        </p:nvSpPr>
        <p:spPr/>
        <p:txBody>
          <a:bodyPr>
            <a:normAutofit fontScale="85000" lnSpcReduction="20000"/>
          </a:bodyPr>
          <a:lstStyle/>
          <a:p>
            <a:r>
              <a:rPr lang="es-AR" dirty="0"/>
              <a:t>AI LLM </a:t>
            </a:r>
            <a:r>
              <a:rPr lang="es-AR" dirty="0" err="1"/>
              <a:t>Tecnology</a:t>
            </a:r>
            <a:r>
              <a:rPr lang="es-AR" dirty="0"/>
              <a:t> </a:t>
            </a:r>
            <a:r>
              <a:rPr lang="es-AR" dirty="0" err="1"/>
              <a:t>Arch</a:t>
            </a:r>
            <a:r>
              <a:rPr lang="es-AR" dirty="0"/>
              <a:t> Sr </a:t>
            </a:r>
            <a:r>
              <a:rPr lang="es-AR" dirty="0" err="1"/>
              <a:t>Analyst</a:t>
            </a:r>
            <a:endParaRPr lang="en-US" dirty="0"/>
          </a:p>
        </p:txBody>
      </p:sp>
      <p:sp>
        <p:nvSpPr>
          <p:cNvPr id="7" name="Text Placeholder 6">
            <a:extLst>
              <a:ext uri="{FF2B5EF4-FFF2-40B4-BE49-F238E27FC236}">
                <a16:creationId xmlns:a16="http://schemas.microsoft.com/office/drawing/2014/main" id="{FE6A2641-933C-F2A1-D1E8-9E149C5276BE}"/>
              </a:ext>
            </a:extLst>
          </p:cNvPr>
          <p:cNvSpPr>
            <a:spLocks noGrp="1"/>
          </p:cNvSpPr>
          <p:nvPr>
            <p:ph type="body" sz="quarter" idx="13"/>
          </p:nvPr>
        </p:nvSpPr>
        <p:spPr/>
        <p:txBody>
          <a:bodyPr/>
          <a:lstStyle/>
          <a:p>
            <a:r>
              <a:rPr lang="en-US" dirty="0"/>
              <a:t>karenina.kauffmann@accenture.com</a:t>
            </a:r>
          </a:p>
        </p:txBody>
      </p:sp>
      <p:sp>
        <p:nvSpPr>
          <p:cNvPr id="8" name="Text Placeholder 7">
            <a:extLst>
              <a:ext uri="{FF2B5EF4-FFF2-40B4-BE49-F238E27FC236}">
                <a16:creationId xmlns:a16="http://schemas.microsoft.com/office/drawing/2014/main" id="{2B3E654F-7254-A546-9DEB-046284CC5DEB}"/>
              </a:ext>
            </a:extLst>
          </p:cNvPr>
          <p:cNvSpPr>
            <a:spLocks noGrp="1"/>
          </p:cNvSpPr>
          <p:nvPr>
            <p:ph type="body" sz="quarter" idx="14"/>
          </p:nvPr>
        </p:nvSpPr>
        <p:spPr/>
        <p:txBody>
          <a:bodyPr/>
          <a:lstStyle/>
          <a:p>
            <a:r>
              <a:rPr lang="en-US" dirty="0"/>
              <a:t>San Nicolas de </a:t>
            </a:r>
            <a:r>
              <a:rPr lang="en-US" dirty="0" err="1"/>
              <a:t>los</a:t>
            </a:r>
            <a:r>
              <a:rPr lang="en-US" dirty="0"/>
              <a:t> Arroyos, Buenos Aires, Argentina</a:t>
            </a:r>
          </a:p>
        </p:txBody>
      </p:sp>
      <p:sp>
        <p:nvSpPr>
          <p:cNvPr id="10" name="Text Placeholder 9">
            <a:extLst>
              <a:ext uri="{FF2B5EF4-FFF2-40B4-BE49-F238E27FC236}">
                <a16:creationId xmlns:a16="http://schemas.microsoft.com/office/drawing/2014/main" id="{77388623-2D80-3279-FCD1-BBE2921567DA}"/>
              </a:ext>
            </a:extLst>
          </p:cNvPr>
          <p:cNvSpPr>
            <a:spLocks noGrp="1"/>
          </p:cNvSpPr>
          <p:nvPr>
            <p:ph type="body" sz="quarter" idx="16"/>
          </p:nvPr>
        </p:nvSpPr>
        <p:spPr>
          <a:xfrm>
            <a:off x="341211" y="2421647"/>
            <a:ext cx="2650385" cy="2919138"/>
          </a:xfrm>
        </p:spPr>
        <p:txBody>
          <a:bodyPr vert="horz" lIns="91440" tIns="45720" rIns="91440" bIns="45720" rtlCol="0" anchor="t">
            <a:normAutofit fontScale="92500" lnSpcReduction="20000"/>
          </a:bodyPr>
          <a:lstStyle/>
          <a:p>
            <a:pPr marL="0" lvl="0" indent="0" algn="just">
              <a:lnSpc>
                <a:spcPct val="100000"/>
              </a:lnSpc>
              <a:spcBef>
                <a:spcPts val="300"/>
              </a:spcBef>
              <a:buClr>
                <a:srgbClr val="549E39"/>
              </a:buClr>
              <a:buNone/>
              <a:defRPr/>
            </a:pPr>
            <a:r>
              <a:rPr lang="es-ES" dirty="0"/>
              <a:t>Desarrolladora </a:t>
            </a:r>
            <a:r>
              <a:rPr lang="es-ES" dirty="0" err="1"/>
              <a:t>Backend</a:t>
            </a:r>
            <a:r>
              <a:rPr lang="es-ES" dirty="0"/>
              <a:t> especializada en arquitecturas escalables, diseño de bases de datos y optimización del rendimiento. Sólida experiencia en automatización de procesos, web </a:t>
            </a:r>
            <a:r>
              <a:rPr lang="es-ES" dirty="0" err="1"/>
              <a:t>scraping</a:t>
            </a:r>
            <a:r>
              <a:rPr lang="es-ES" dirty="0"/>
              <a:t> y generación de contenido impulsado por IA. He mejorado el rendimiento de despliegues mediante optimización SQL y estrategias de indexación, y he desarrollado sistemas basados en microservicios y soluciones </a:t>
            </a:r>
            <a:r>
              <a:rPr lang="es-ES" dirty="0" err="1"/>
              <a:t>cloud</a:t>
            </a:r>
            <a:r>
              <a:rPr lang="es-ES" dirty="0"/>
              <a:t>‑native utilizando AWS. Tengo </a:t>
            </a:r>
            <a:r>
              <a:rPr lang="es-ES" dirty="0" err="1"/>
              <a:t>xperiencia</a:t>
            </a:r>
            <a:r>
              <a:rPr lang="es-ES" dirty="0"/>
              <a:t> en el diseño de </a:t>
            </a:r>
            <a:r>
              <a:rPr lang="es-ES" dirty="0" err="1"/>
              <a:t>APIs</a:t>
            </a:r>
            <a:r>
              <a:rPr lang="es-ES" dirty="0"/>
              <a:t> REST robustas, gestión de pipelines CI/CD e integración de servicios de terceros, incluidas pasarelas de pago. </a:t>
            </a:r>
          </a:p>
          <a:p>
            <a:pPr marL="0" lvl="0" indent="0" algn="just">
              <a:lnSpc>
                <a:spcPct val="100000"/>
              </a:lnSpc>
              <a:spcBef>
                <a:spcPts val="300"/>
              </a:spcBef>
              <a:buClr>
                <a:srgbClr val="549E39"/>
              </a:buClr>
              <a:buNone/>
              <a:defRPr/>
            </a:pPr>
            <a:r>
              <a:rPr lang="es-ES" dirty="0"/>
              <a:t>Fortalezas principales: arquitectura </a:t>
            </a:r>
            <a:r>
              <a:rPr lang="es-ES" dirty="0" err="1"/>
              <a:t>backend</a:t>
            </a:r>
            <a:r>
              <a:rPr lang="es-ES" dirty="0"/>
              <a:t>, modelado de datos, automatización, infraestructura en la nube e integraciones con IA.</a:t>
            </a:r>
          </a:p>
          <a:p>
            <a:pPr marL="0" lvl="0" indent="0" algn="just">
              <a:lnSpc>
                <a:spcPct val="100000"/>
              </a:lnSpc>
              <a:spcBef>
                <a:spcPts val="300"/>
              </a:spcBef>
              <a:buClr>
                <a:srgbClr val="549E39"/>
              </a:buClr>
              <a:buNone/>
              <a:defRPr/>
            </a:pPr>
            <a:endParaRPr lang="es-ES" dirty="0">
              <a:ea typeface="Calibri" panose="020F0502020204030204"/>
              <a:cs typeface="Calibri" panose="020F0502020204030204"/>
            </a:endParaRPr>
          </a:p>
        </p:txBody>
      </p:sp>
      <p:sp>
        <p:nvSpPr>
          <p:cNvPr id="11" name="Text Placeholder 10">
            <a:extLst>
              <a:ext uri="{FF2B5EF4-FFF2-40B4-BE49-F238E27FC236}">
                <a16:creationId xmlns:a16="http://schemas.microsoft.com/office/drawing/2014/main" id="{A5C57E29-3E00-EBDE-5A0B-E04EBBEE5622}"/>
              </a:ext>
            </a:extLst>
          </p:cNvPr>
          <p:cNvSpPr>
            <a:spLocks noGrp="1"/>
          </p:cNvSpPr>
          <p:nvPr>
            <p:ph type="body" sz="quarter" idx="17"/>
          </p:nvPr>
        </p:nvSpPr>
        <p:spPr>
          <a:xfrm>
            <a:off x="3138030" y="2643571"/>
            <a:ext cx="2251611" cy="1370691"/>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sz="900" dirty="0">
                <a:solidFill>
                  <a:prstClr val="black"/>
                </a:solidFill>
                <a:latin typeface="Calibri"/>
                <a:ea typeface="Calibri"/>
                <a:cs typeface="Arial"/>
              </a:rPr>
              <a:t>Backend Engineering &amp; Microservices</a:t>
            </a:r>
            <a:endParaRPr lang="en-US" sz="900"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Data Bases &amp; Data modeling</a:t>
            </a:r>
            <a:endParaRPr lang="en-US" sz="900" dirty="0">
              <a:solidFill>
                <a:prstClr val="black"/>
              </a:solidFill>
              <a:latin typeface="Graphik"/>
              <a:ea typeface="Calibri" panose="020F0502020204030204"/>
              <a:cs typeface="Arial"/>
            </a:endParaRPr>
          </a:p>
          <a:p>
            <a:pPr marL="170180" indent="-170180">
              <a:lnSpc>
                <a:spcPct val="100000"/>
              </a:lnSpc>
              <a:spcBef>
                <a:spcPts val="450"/>
              </a:spcBef>
              <a:tabLst>
                <a:tab pos="133270" algn="l"/>
              </a:tabLst>
              <a:defRPr/>
            </a:pPr>
            <a:r>
              <a:rPr lang="en-US" sz="900" dirty="0">
                <a:solidFill>
                  <a:prstClr val="black"/>
                </a:solidFill>
                <a:latin typeface="Calibri"/>
                <a:ea typeface="Calibri" panose="020F0502020204030204"/>
                <a:cs typeface="Arial"/>
              </a:rPr>
              <a:t>AI-Driven Content Generation</a:t>
            </a:r>
            <a:endParaRPr lang="en-US" sz="900"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Cloud </a:t>
            </a:r>
            <a:r>
              <a:rPr lang="en-US" altLang="en-US" sz="900" dirty="0" err="1">
                <a:solidFill>
                  <a:prstClr val="black"/>
                </a:solidFill>
                <a:latin typeface="Calibri"/>
                <a:ea typeface="Calibri"/>
                <a:cs typeface="Arial"/>
              </a:rPr>
              <a:t>Coputing</a:t>
            </a:r>
            <a:r>
              <a:rPr lang="en-US" altLang="en-US" sz="900" dirty="0">
                <a:solidFill>
                  <a:prstClr val="black"/>
                </a:solidFill>
                <a:latin typeface="Calibri"/>
                <a:ea typeface="Calibri"/>
                <a:cs typeface="Arial"/>
              </a:rPr>
              <a:t> (AWS)</a:t>
            </a:r>
          </a:p>
          <a:p>
            <a:pPr marL="170180" indent="-170180">
              <a:lnSpc>
                <a:spcPct val="100000"/>
              </a:lnSpc>
              <a:spcBef>
                <a:spcPts val="450"/>
              </a:spcBef>
              <a:tabLst>
                <a:tab pos="133270" algn="l"/>
              </a:tabLst>
              <a:defRPr/>
            </a:pPr>
            <a:r>
              <a:rPr lang="en-US" sz="900" dirty="0">
                <a:solidFill>
                  <a:prstClr val="black"/>
                </a:solidFill>
                <a:latin typeface="Calibri"/>
                <a:ea typeface="Calibri"/>
                <a:cs typeface="Arial"/>
              </a:rPr>
              <a:t>Automation &amp; CI/CD Pipelines</a:t>
            </a:r>
          </a:p>
          <a:p>
            <a:pPr marL="170180" indent="-170180">
              <a:lnSpc>
                <a:spcPct val="100000"/>
              </a:lnSpc>
              <a:spcBef>
                <a:spcPts val="450"/>
              </a:spcBef>
              <a:tabLst>
                <a:tab pos="133270" algn="l"/>
              </a:tabLst>
              <a:defRPr/>
            </a:pPr>
            <a:r>
              <a:rPr lang="en-US" sz="900" dirty="0">
                <a:solidFill>
                  <a:prstClr val="black"/>
                </a:solidFill>
                <a:latin typeface="Calibri"/>
                <a:ea typeface="Calibri"/>
                <a:cs typeface="Arial"/>
              </a:rPr>
              <a:t>Web Scraping &amp; Search Engines</a:t>
            </a:r>
          </a:p>
          <a:p>
            <a:pPr marL="170180" indent="-170180">
              <a:lnSpc>
                <a:spcPct val="100000"/>
              </a:lnSpc>
              <a:spcBef>
                <a:spcPts val="450"/>
              </a:spcBef>
              <a:tabLst>
                <a:tab pos="133270" algn="l"/>
              </a:tabLst>
              <a:defRPr/>
            </a:pPr>
            <a:r>
              <a:rPr lang="en-US" sz="900" dirty="0">
                <a:solidFill>
                  <a:prstClr val="black"/>
                </a:solidFill>
                <a:latin typeface="Calibri"/>
                <a:ea typeface="Calibri"/>
                <a:cs typeface="Arial"/>
              </a:rPr>
              <a:t>Python &amp; Node.js Development</a:t>
            </a:r>
          </a:p>
          <a:p>
            <a:pPr marL="0" lvl="0" indent="0">
              <a:lnSpc>
                <a:spcPct val="100000"/>
              </a:lnSpc>
              <a:spcBef>
                <a:spcPts val="450"/>
              </a:spcBef>
              <a:buNone/>
              <a:tabLst>
                <a:tab pos="133270" algn="l"/>
              </a:tabLst>
              <a:defRPr/>
            </a:pPr>
            <a:endParaRPr lang="en-US" altLang="en-US" sz="900" dirty="0">
              <a:solidFill>
                <a:prstClr val="black"/>
              </a:solidFill>
              <a:latin typeface="Calibri" panose="020F0502020204030204"/>
              <a:cs typeface="Arial"/>
            </a:endParaRPr>
          </a:p>
        </p:txBody>
      </p:sp>
      <p:sp>
        <p:nvSpPr>
          <p:cNvPr id="12" name="Text Placeholder 11">
            <a:extLst>
              <a:ext uri="{FF2B5EF4-FFF2-40B4-BE49-F238E27FC236}">
                <a16:creationId xmlns:a16="http://schemas.microsoft.com/office/drawing/2014/main" id="{F9884530-F74B-5DC1-D0A9-5C91626B0DDF}"/>
              </a:ext>
            </a:extLst>
          </p:cNvPr>
          <p:cNvSpPr>
            <a:spLocks noGrp="1"/>
          </p:cNvSpPr>
          <p:nvPr>
            <p:ph type="body" sz="quarter" idx="18"/>
          </p:nvPr>
        </p:nvSpPr>
        <p:spPr>
          <a:xfrm>
            <a:off x="5427750" y="2425645"/>
            <a:ext cx="6524747" cy="4053221"/>
          </a:xfrm>
        </p:spPr>
        <p:txBody>
          <a:bodyPr>
            <a:noAutofit/>
          </a:bodyPr>
          <a:lstStyle/>
          <a:p>
            <a:pPr marL="0" lvl="0" indent="0" defTabSz="912813">
              <a:lnSpc>
                <a:spcPct val="100000"/>
              </a:lnSpc>
              <a:spcBef>
                <a:spcPts val="0"/>
              </a:spcBef>
              <a:buNone/>
              <a:tabLst>
                <a:tab pos="917575" algn="l"/>
              </a:tabLst>
              <a:defRPr/>
            </a:pPr>
            <a:r>
              <a:rPr lang="en-US" sz="1000" dirty="0" err="1">
                <a:solidFill>
                  <a:prstClr val="black"/>
                </a:solidFill>
              </a:rPr>
              <a:t>Arkhaine</a:t>
            </a:r>
            <a:endParaRPr lang="en-US" sz="1000" dirty="0">
              <a:solidFill>
                <a:prstClr val="black"/>
              </a:solidFill>
            </a:endParaRPr>
          </a:p>
          <a:p>
            <a:pPr defTabSz="912813">
              <a:lnSpc>
                <a:spcPct val="100000"/>
              </a:lnSpc>
              <a:spcBef>
                <a:spcPts val="0"/>
              </a:spcBef>
              <a:tabLst>
                <a:tab pos="917575" algn="l"/>
              </a:tabLst>
              <a:defRPr/>
            </a:pPr>
            <a:r>
              <a:rPr lang="es-ES" sz="1000" b="0" dirty="0">
                <a:solidFill>
                  <a:prstClr val="black"/>
                </a:solidFill>
              </a:rPr>
              <a:t>Responsable de desarrollar y estructurar sistemas </a:t>
            </a:r>
            <a:r>
              <a:rPr lang="es-ES" sz="1000" b="0" dirty="0" err="1">
                <a:solidFill>
                  <a:prstClr val="black"/>
                </a:solidFill>
              </a:rPr>
              <a:t>backend</a:t>
            </a:r>
            <a:r>
              <a:rPr lang="es-ES" sz="1000" b="0" dirty="0">
                <a:solidFill>
                  <a:prstClr val="black"/>
                </a:solidFill>
              </a:rPr>
              <a:t>, diseñar arquitecturas de bases de datos e integrar los servicios necesarios para cada solución de software, incluyendo pasarelas de pago y </a:t>
            </a:r>
            <a:r>
              <a:rPr lang="es-ES" sz="1000" b="0" dirty="0" err="1">
                <a:solidFill>
                  <a:prstClr val="black"/>
                </a:solidFill>
              </a:rPr>
              <a:t>APIs</a:t>
            </a:r>
            <a:r>
              <a:rPr lang="es-ES" sz="1000" b="0" dirty="0">
                <a:solidFill>
                  <a:prstClr val="black"/>
                </a:solidFill>
              </a:rPr>
              <a:t> de IA como </a:t>
            </a:r>
            <a:r>
              <a:rPr lang="es-ES" sz="1000" b="0" dirty="0" err="1">
                <a:solidFill>
                  <a:prstClr val="black"/>
                </a:solidFill>
              </a:rPr>
              <a:t>OpenAI</a:t>
            </a:r>
            <a:r>
              <a:rPr lang="es-ES" sz="1000" b="0" dirty="0">
                <a:solidFill>
                  <a:prstClr val="black"/>
                </a:solidFill>
              </a:rPr>
              <a:t> y Gemini para generación de contenido. </a:t>
            </a:r>
          </a:p>
          <a:p>
            <a:pPr defTabSz="912813">
              <a:lnSpc>
                <a:spcPct val="100000"/>
              </a:lnSpc>
              <a:spcBef>
                <a:spcPts val="0"/>
              </a:spcBef>
              <a:tabLst>
                <a:tab pos="917575" algn="l"/>
              </a:tabLst>
              <a:defRPr/>
            </a:pPr>
            <a:r>
              <a:rPr lang="es-ES" sz="1000" b="0" dirty="0">
                <a:solidFill>
                  <a:prstClr val="black"/>
                </a:solidFill>
              </a:rPr>
              <a:t>Las tecnologías utilizadas incluyen Node.js, Web </a:t>
            </a:r>
            <a:r>
              <a:rPr lang="es-ES" sz="1000" b="0" dirty="0" err="1">
                <a:solidFill>
                  <a:prstClr val="black"/>
                </a:solidFill>
              </a:rPr>
              <a:t>Scraping</a:t>
            </a:r>
            <a:r>
              <a:rPr lang="es-ES" sz="1000" b="0" dirty="0">
                <a:solidFill>
                  <a:prstClr val="black"/>
                </a:solidFill>
              </a:rPr>
              <a:t>, MySQL, FTP, REST </a:t>
            </a:r>
            <a:r>
              <a:rPr lang="es-ES" sz="1000" b="0" dirty="0" err="1">
                <a:solidFill>
                  <a:prstClr val="black"/>
                </a:solidFill>
              </a:rPr>
              <a:t>APIs</a:t>
            </a:r>
            <a:r>
              <a:rPr lang="es-ES" sz="1000" b="0" dirty="0">
                <a:solidFill>
                  <a:prstClr val="black"/>
                </a:solidFill>
              </a:rPr>
              <a:t>, Gemini API y </a:t>
            </a:r>
            <a:r>
              <a:rPr lang="es-ES" sz="1000" b="0" dirty="0" err="1">
                <a:solidFill>
                  <a:prstClr val="black"/>
                </a:solidFill>
              </a:rPr>
              <a:t>OpenAI</a:t>
            </a:r>
            <a:r>
              <a:rPr lang="es-ES" sz="1000" b="0" dirty="0">
                <a:solidFill>
                  <a:prstClr val="black"/>
                </a:solidFill>
              </a:rPr>
              <a:t> API.</a:t>
            </a:r>
          </a:p>
          <a:p>
            <a:pPr marL="0" indent="0" defTabSz="912813">
              <a:lnSpc>
                <a:spcPct val="100000"/>
              </a:lnSpc>
              <a:spcBef>
                <a:spcPts val="0"/>
              </a:spcBef>
              <a:buNone/>
              <a:tabLst>
                <a:tab pos="917575" algn="l"/>
              </a:tabLst>
              <a:defRPr/>
            </a:pPr>
            <a:br>
              <a:rPr lang="en-US" sz="1000" dirty="0">
                <a:solidFill>
                  <a:prstClr val="black"/>
                </a:solidFill>
              </a:rPr>
            </a:br>
            <a:r>
              <a:rPr lang="en-US" sz="1000" dirty="0" err="1">
                <a:solidFill>
                  <a:prstClr val="black"/>
                </a:solidFill>
              </a:rPr>
              <a:t>AdGoat</a:t>
            </a:r>
            <a:endParaRPr lang="en-US" sz="1000" dirty="0">
              <a:solidFill>
                <a:prstClr val="black"/>
              </a:solidFill>
            </a:endParaRPr>
          </a:p>
          <a:p>
            <a:pPr defTabSz="912813">
              <a:lnSpc>
                <a:spcPct val="100000"/>
              </a:lnSpc>
              <a:spcBef>
                <a:spcPts val="0"/>
              </a:spcBef>
              <a:tabLst>
                <a:tab pos="917575" algn="l"/>
              </a:tabLst>
              <a:defRPr/>
            </a:pPr>
            <a:r>
              <a:rPr lang="es-ES" sz="1000" b="0" dirty="0">
                <a:solidFill>
                  <a:prstClr val="black"/>
                </a:solidFill>
              </a:rPr>
              <a:t>Reduje los tiempos de respuesta en los despliegues en un 70% mediante la optimización de consultas SQL y estrategias de indexación, desarrollé automatizaciones de procesos utilizando servicios de AWS y contribuí al mantenimiento e implementación de nuevas funcionalidades, incluyendo un motor de búsqueda propietario, generación de contenido multilingüe impulsada por IA con </a:t>
            </a:r>
            <a:r>
              <a:rPr lang="es-ES" sz="1000" b="0" dirty="0" err="1">
                <a:solidFill>
                  <a:prstClr val="black"/>
                </a:solidFill>
              </a:rPr>
              <a:t>prompts</a:t>
            </a:r>
            <a:r>
              <a:rPr lang="es-ES" sz="1000" b="0" dirty="0">
                <a:solidFill>
                  <a:prstClr val="black"/>
                </a:solidFill>
              </a:rPr>
              <a:t> de texto e imagen, gestión de pipelines y el desarrollo y mantenimiento de procesos de web </a:t>
            </a:r>
            <a:r>
              <a:rPr lang="es-ES" sz="1000" b="0" dirty="0" err="1">
                <a:solidFill>
                  <a:prstClr val="black"/>
                </a:solidFill>
              </a:rPr>
              <a:t>scraping</a:t>
            </a:r>
            <a:r>
              <a:rPr lang="es-ES" sz="1000" b="0" dirty="0">
                <a:solidFill>
                  <a:prstClr val="black"/>
                </a:solidFill>
              </a:rPr>
              <a:t> y colaboración con el equipo de </a:t>
            </a:r>
            <a:r>
              <a:rPr lang="es-ES" sz="1000" b="0" dirty="0" err="1">
                <a:solidFill>
                  <a:prstClr val="black"/>
                </a:solidFill>
              </a:rPr>
              <a:t>FrontEnd</a:t>
            </a:r>
            <a:r>
              <a:rPr lang="es-ES" sz="1000" b="0" dirty="0">
                <a:solidFill>
                  <a:prstClr val="black"/>
                </a:solidFill>
              </a:rPr>
              <a:t>.</a:t>
            </a:r>
          </a:p>
          <a:p>
            <a:pPr defTabSz="912813">
              <a:lnSpc>
                <a:spcPct val="100000"/>
              </a:lnSpc>
              <a:spcBef>
                <a:spcPts val="0"/>
              </a:spcBef>
              <a:tabLst>
                <a:tab pos="917575" algn="l"/>
              </a:tabLst>
              <a:defRPr/>
            </a:pPr>
            <a:r>
              <a:rPr lang="es-ES" sz="1000" b="0" dirty="0">
                <a:solidFill>
                  <a:prstClr val="black"/>
                </a:solidFill>
              </a:rPr>
              <a:t>Las tecnologías utilizadas incluyen Python, Node.js, PostgreSQL, AWS (Lambda, S3, </a:t>
            </a:r>
            <a:r>
              <a:rPr lang="es-ES" sz="1000" b="0" dirty="0" err="1">
                <a:solidFill>
                  <a:prstClr val="black"/>
                </a:solidFill>
              </a:rPr>
              <a:t>OpenSearch</a:t>
            </a:r>
            <a:r>
              <a:rPr lang="es-ES" sz="1000" b="0" dirty="0">
                <a:solidFill>
                  <a:prstClr val="black"/>
                </a:solidFill>
              </a:rPr>
              <a:t>, API Gateway, </a:t>
            </a:r>
            <a:r>
              <a:rPr lang="es-ES" sz="1000" b="0" dirty="0" err="1">
                <a:solidFill>
                  <a:prstClr val="black"/>
                </a:solidFill>
              </a:rPr>
              <a:t>CloudWatch</a:t>
            </a:r>
            <a:r>
              <a:rPr lang="es-ES" sz="1000" b="0" dirty="0">
                <a:solidFill>
                  <a:prstClr val="black"/>
                </a:solidFill>
              </a:rPr>
              <a:t>, </a:t>
            </a:r>
            <a:r>
              <a:rPr lang="es-ES" sz="1000" b="0" dirty="0" err="1">
                <a:solidFill>
                  <a:prstClr val="black"/>
                </a:solidFill>
              </a:rPr>
              <a:t>Secrets</a:t>
            </a:r>
            <a:r>
              <a:rPr lang="es-ES" sz="1000" b="0" dirty="0">
                <a:solidFill>
                  <a:prstClr val="black"/>
                </a:solidFill>
              </a:rPr>
              <a:t> Manager), </a:t>
            </a:r>
            <a:r>
              <a:rPr lang="es-ES" sz="1000" b="0" dirty="0" err="1">
                <a:solidFill>
                  <a:prstClr val="black"/>
                </a:solidFill>
              </a:rPr>
              <a:t>OpenAI</a:t>
            </a:r>
            <a:r>
              <a:rPr lang="es-ES" sz="1000" b="0" dirty="0">
                <a:solidFill>
                  <a:prstClr val="black"/>
                </a:solidFill>
              </a:rPr>
              <a:t> API, </a:t>
            </a:r>
            <a:r>
              <a:rPr lang="es-ES" sz="1000" b="0" dirty="0" err="1">
                <a:solidFill>
                  <a:prstClr val="black"/>
                </a:solidFill>
              </a:rPr>
              <a:t>Terragrunt</a:t>
            </a:r>
            <a:r>
              <a:rPr lang="es-ES" sz="1000" b="0" dirty="0">
                <a:solidFill>
                  <a:prstClr val="black"/>
                </a:solidFill>
              </a:rPr>
              <a:t> y GitHub </a:t>
            </a:r>
            <a:r>
              <a:rPr lang="es-ES" sz="1000" b="0" dirty="0" err="1">
                <a:solidFill>
                  <a:prstClr val="black"/>
                </a:solidFill>
              </a:rPr>
              <a:t>Actions</a:t>
            </a:r>
            <a:r>
              <a:rPr lang="es-ES" sz="1000" b="0" dirty="0">
                <a:solidFill>
                  <a:prstClr val="black"/>
                </a:solidFill>
              </a:rPr>
              <a:t>, </a:t>
            </a:r>
            <a:r>
              <a:rPr lang="es-ES" sz="1000" b="0" dirty="0" err="1">
                <a:solidFill>
                  <a:prstClr val="black"/>
                </a:solidFill>
              </a:rPr>
              <a:t>React</a:t>
            </a:r>
            <a:r>
              <a:rPr lang="es-ES" sz="1000" b="0" dirty="0">
                <a:solidFill>
                  <a:prstClr val="black"/>
                </a:solidFill>
              </a:rPr>
              <a:t> (conocimiento básico)</a:t>
            </a:r>
          </a:p>
          <a:p>
            <a:pPr defTabSz="912813">
              <a:lnSpc>
                <a:spcPct val="100000"/>
              </a:lnSpc>
              <a:spcBef>
                <a:spcPts val="0"/>
              </a:spcBef>
              <a:tabLst>
                <a:tab pos="917575" algn="l"/>
              </a:tabLst>
              <a:defRPr/>
            </a:pPr>
            <a:endParaRPr lang="en-US" sz="1000" b="0" dirty="0">
              <a:solidFill>
                <a:prstClr val="black"/>
              </a:solidFill>
            </a:endParaRPr>
          </a:p>
          <a:p>
            <a:pPr marL="0" lvl="0" indent="0" defTabSz="912813">
              <a:lnSpc>
                <a:spcPct val="100000"/>
              </a:lnSpc>
              <a:spcBef>
                <a:spcPts val="0"/>
              </a:spcBef>
              <a:buNone/>
              <a:tabLst>
                <a:tab pos="917575" algn="l"/>
              </a:tabLst>
              <a:defRPr/>
            </a:pPr>
            <a:r>
              <a:rPr lang="en-US" sz="1000" dirty="0" err="1">
                <a:solidFill>
                  <a:prstClr val="black"/>
                </a:solidFill>
              </a:rPr>
              <a:t>Custome</a:t>
            </a:r>
            <a:r>
              <a:rPr lang="en-US" sz="1000" dirty="0">
                <a:solidFill>
                  <a:prstClr val="black"/>
                </a:solidFill>
              </a:rPr>
              <a:t> Scoops</a:t>
            </a:r>
          </a:p>
          <a:p>
            <a:pPr defTabSz="912813">
              <a:lnSpc>
                <a:spcPct val="100000"/>
              </a:lnSpc>
              <a:spcBef>
                <a:spcPts val="0"/>
              </a:spcBef>
              <a:tabLst>
                <a:tab pos="917575" algn="l"/>
              </a:tabLst>
              <a:defRPr/>
            </a:pPr>
            <a:r>
              <a:rPr lang="es-ES" sz="1000" b="0" dirty="0">
                <a:solidFill>
                  <a:prstClr val="black"/>
                </a:solidFill>
              </a:rPr>
              <a:t>Diseñé e implementé arquitecturas de bases de datos y desarrollé la segunda versión del producto, incluyendo sus microservicios de soporte, garantizando la escalabilidad y mantenibilidad. </a:t>
            </a:r>
          </a:p>
          <a:p>
            <a:pPr defTabSz="912813">
              <a:lnSpc>
                <a:spcPct val="100000"/>
              </a:lnSpc>
              <a:spcBef>
                <a:spcPts val="0"/>
              </a:spcBef>
              <a:tabLst>
                <a:tab pos="917575" algn="l"/>
              </a:tabLst>
              <a:defRPr/>
            </a:pPr>
            <a:r>
              <a:rPr lang="es-ES" sz="1000" b="0" dirty="0">
                <a:solidFill>
                  <a:prstClr val="black"/>
                </a:solidFill>
              </a:rPr>
              <a:t>Las tecnologías utilizadas incluyen PHP, Python, MySQL, PostgreSQL, </a:t>
            </a:r>
            <a:r>
              <a:rPr lang="es-ES" sz="1000" b="0" dirty="0" err="1">
                <a:solidFill>
                  <a:prstClr val="black"/>
                </a:solidFill>
              </a:rPr>
              <a:t>TypeScript</a:t>
            </a:r>
            <a:r>
              <a:rPr lang="es-ES" sz="1000" b="0" dirty="0">
                <a:solidFill>
                  <a:prstClr val="black"/>
                </a:solidFill>
              </a:rPr>
              <a:t> y REST </a:t>
            </a:r>
            <a:r>
              <a:rPr lang="es-ES" sz="1000" b="0" dirty="0" err="1">
                <a:solidFill>
                  <a:prstClr val="black"/>
                </a:solidFill>
              </a:rPr>
              <a:t>APIs</a:t>
            </a:r>
            <a:r>
              <a:rPr lang="es-ES" sz="1000" b="0" dirty="0">
                <a:solidFill>
                  <a:prstClr val="black"/>
                </a:solidFill>
              </a:rPr>
              <a:t>.</a:t>
            </a:r>
            <a:endParaRPr lang="it-IT" b="0" dirty="0"/>
          </a:p>
          <a:p>
            <a:pPr defTabSz="912813">
              <a:lnSpc>
                <a:spcPct val="100000"/>
              </a:lnSpc>
              <a:spcBef>
                <a:spcPts val="0"/>
              </a:spcBef>
              <a:tabLst>
                <a:tab pos="917575" algn="l"/>
              </a:tabLst>
              <a:defRPr/>
            </a:pP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lvl="0" defTabSz="912813">
              <a:lnSpc>
                <a:spcPct val="100000"/>
              </a:lnSpc>
              <a:spcBef>
                <a:spcPts val="0"/>
              </a:spcBef>
              <a:buFontTx/>
              <a:buChar char="-"/>
              <a:tabLst>
                <a:tab pos="917575" algn="l"/>
              </a:tabLst>
              <a:defRPr/>
            </a:pPr>
            <a:endParaRPr lang="en-US" sz="1000" dirty="0">
              <a:solidFill>
                <a:prstClr val="black"/>
              </a:solidFill>
            </a:endParaRPr>
          </a:p>
          <a:p>
            <a:pPr marL="0" lvl="0" indent="0" defTabSz="912813">
              <a:lnSpc>
                <a:spcPct val="100000"/>
              </a:lnSpc>
              <a:spcBef>
                <a:spcPts val="0"/>
              </a:spcBef>
              <a:buNone/>
              <a:tabLst>
                <a:tab pos="917575" algn="l"/>
              </a:tabLst>
              <a:defRPr/>
            </a:pPr>
            <a:endParaRPr lang="en-US" sz="1000" dirty="0">
              <a:solidFill>
                <a:prstClr val="black"/>
              </a:solidFill>
            </a:endParaRPr>
          </a:p>
        </p:txBody>
      </p:sp>
      <p:sp>
        <p:nvSpPr>
          <p:cNvPr id="13" name="Text Placeholder 12">
            <a:extLst>
              <a:ext uri="{FF2B5EF4-FFF2-40B4-BE49-F238E27FC236}">
                <a16:creationId xmlns:a16="http://schemas.microsoft.com/office/drawing/2014/main" id="{11E35AFA-7A89-CB13-32F3-4F69179E9065}"/>
              </a:ext>
            </a:extLst>
          </p:cNvPr>
          <p:cNvSpPr>
            <a:spLocks noGrp="1"/>
          </p:cNvSpPr>
          <p:nvPr>
            <p:ph type="body" sz="quarter" idx="19"/>
          </p:nvPr>
        </p:nvSpPr>
        <p:spPr/>
        <p:txBody>
          <a:bodyPr/>
          <a:lstStyle/>
          <a:p>
            <a:pPr marL="0" indent="0">
              <a:buNone/>
            </a:pPr>
            <a:r>
              <a:rPr lang="es-AR" dirty="0"/>
              <a:t>        </a:t>
            </a:r>
            <a:endParaRPr lang="en-US" dirty="0"/>
          </a:p>
        </p:txBody>
      </p:sp>
      <p:sp>
        <p:nvSpPr>
          <p:cNvPr id="3" name="Footer Placeholder 2">
            <a:extLst>
              <a:ext uri="{FF2B5EF4-FFF2-40B4-BE49-F238E27FC236}">
                <a16:creationId xmlns:a16="http://schemas.microsoft.com/office/drawing/2014/main" id="{38C04A08-3EFC-B585-A711-25700C94B4EF}"/>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pic>
        <p:nvPicPr>
          <p:cNvPr id="27" name="Picture Placeholder 26">
            <a:extLst>
              <a:ext uri="{FF2B5EF4-FFF2-40B4-BE49-F238E27FC236}">
                <a16:creationId xmlns:a16="http://schemas.microsoft.com/office/drawing/2014/main" id="{FC039FF3-98F7-E60B-04D0-830864CE2ABF}"/>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20043" r="20043"/>
          <a:stretch/>
        </p:blipFill>
        <p:spPr/>
      </p:pic>
      <p:sp>
        <p:nvSpPr>
          <p:cNvPr id="30" name="Text Placeholder 10">
            <a:extLst>
              <a:ext uri="{FF2B5EF4-FFF2-40B4-BE49-F238E27FC236}">
                <a16:creationId xmlns:a16="http://schemas.microsoft.com/office/drawing/2014/main" id="{A993CB9C-A846-171B-1407-49BC1C33B302}"/>
              </a:ext>
            </a:extLst>
          </p:cNvPr>
          <p:cNvSpPr txBox="1">
            <a:spLocks/>
          </p:cNvSpPr>
          <p:nvPr/>
        </p:nvSpPr>
        <p:spPr>
          <a:xfrm>
            <a:off x="3176139" y="4272380"/>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F5FFDA6E-55E0-98A0-17D1-6F29EA76D268}"/>
              </a:ext>
            </a:extLst>
          </p:cNvPr>
          <p:cNvSpPr txBox="1">
            <a:spLocks/>
          </p:cNvSpPr>
          <p:nvPr/>
        </p:nvSpPr>
        <p:spPr>
          <a:xfrm>
            <a:off x="3132455" y="4201808"/>
            <a:ext cx="2012108"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Publisher</a:t>
            </a: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Customer Experience (CX)</a:t>
            </a: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Software Factory</a:t>
            </a:r>
          </a:p>
          <a:p>
            <a:pPr marL="170781" indent="-170781">
              <a:lnSpc>
                <a:spcPct val="100000"/>
              </a:lnSpc>
              <a:spcBef>
                <a:spcPts val="450"/>
              </a:spcBef>
              <a:tabLst>
                <a:tab pos="133270" algn="l"/>
              </a:tabLst>
              <a:defRPr/>
            </a:pPr>
            <a:endParaRPr lang="en-US" altLang="en-US" sz="900" dirty="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dirty="0">
              <a:solidFill>
                <a:prstClr val="black"/>
              </a:solidFill>
              <a:latin typeface="Calibri" panose="020F0502020204030204"/>
              <a:cs typeface="Arial"/>
            </a:endParaRPr>
          </a:p>
        </p:txBody>
      </p:sp>
      <p:pic>
        <p:nvPicPr>
          <p:cNvPr id="1026" name="Picture 2">
            <a:extLst>
              <a:ext uri="{FF2B5EF4-FFF2-40B4-BE49-F238E27FC236}">
                <a16:creationId xmlns:a16="http://schemas.microsoft.com/office/drawing/2014/main" id="{5340C80F-CCC6-D448-CA19-B776D92ADE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6124" y="6279369"/>
            <a:ext cx="573287" cy="46964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E53A902-9B77-9609-639A-36DD3A6E321F}"/>
              </a:ext>
            </a:extLst>
          </p:cNvPr>
          <p:cNvSpPr txBox="1"/>
          <p:nvPr/>
        </p:nvSpPr>
        <p:spPr>
          <a:xfrm>
            <a:off x="3336983" y="4934575"/>
            <a:ext cx="2342612" cy="246221"/>
          </a:xfrm>
          <a:prstGeom prst="rect">
            <a:avLst/>
          </a:prstGeom>
          <a:noFill/>
        </p:spPr>
        <p:txBody>
          <a:bodyPr wrap="square" lIns="91440" tIns="45720" rIns="91440" bIns="45720" rtlCol="0" anchor="t">
            <a:spAutoFit/>
          </a:bodyPr>
          <a:lstStyle/>
          <a:p>
            <a:r>
              <a:rPr lang="es-AR" sz="1000" b="1" dirty="0">
                <a:solidFill>
                  <a:srgbClr val="7030A0"/>
                </a:solidFill>
                <a:latin typeface="Graphik"/>
              </a:rPr>
              <a:t>CERTIFICATIONS</a:t>
            </a:r>
            <a:endParaRPr lang="en-US" sz="1000" b="1" dirty="0">
              <a:solidFill>
                <a:srgbClr val="7030A0"/>
              </a:solidFill>
              <a:latin typeface="Graphik"/>
            </a:endParaRPr>
          </a:p>
        </p:txBody>
      </p:sp>
      <p:sp>
        <p:nvSpPr>
          <p:cNvPr id="14" name="TextBox 13">
            <a:extLst>
              <a:ext uri="{FF2B5EF4-FFF2-40B4-BE49-F238E27FC236}">
                <a16:creationId xmlns:a16="http://schemas.microsoft.com/office/drawing/2014/main" id="{D2908087-1795-C9B0-DF69-1434B8C491EC}"/>
              </a:ext>
            </a:extLst>
          </p:cNvPr>
          <p:cNvSpPr txBox="1"/>
          <p:nvPr/>
        </p:nvSpPr>
        <p:spPr>
          <a:xfrm>
            <a:off x="3102225" y="5177900"/>
            <a:ext cx="2236725" cy="553998"/>
          </a:xfrm>
          <a:prstGeom prst="rect">
            <a:avLst/>
          </a:prstGeom>
          <a:noFill/>
        </p:spPr>
        <p:txBody>
          <a:bodyPr wrap="square" lIns="91440" tIns="45720" rIns="91440" bIns="45720" rtlCol="0" anchor="t">
            <a:spAutoFit/>
          </a:bodyPr>
          <a:lstStyle/>
          <a:p>
            <a:r>
              <a:rPr lang="es-AR" sz="1000" dirty="0">
                <a:solidFill>
                  <a:prstClr val="black"/>
                </a:solidFill>
              </a:rPr>
              <a:t>Técnico Universitario en Programación </a:t>
            </a:r>
            <a:br>
              <a:rPr lang="es-AR" sz="1000" dirty="0">
                <a:solidFill>
                  <a:prstClr val="black"/>
                </a:solidFill>
              </a:rPr>
            </a:br>
            <a:r>
              <a:rPr lang="es-AR" sz="1000" dirty="0" err="1">
                <a:solidFill>
                  <a:prstClr val="black"/>
                </a:solidFill>
              </a:rPr>
              <a:t>Developer</a:t>
            </a:r>
            <a:r>
              <a:rPr lang="es-AR" sz="1000" dirty="0">
                <a:solidFill>
                  <a:prstClr val="black"/>
                </a:solidFill>
              </a:rPr>
              <a:t> </a:t>
            </a:r>
            <a:r>
              <a:rPr lang="es-AR" sz="1000" dirty="0" err="1">
                <a:solidFill>
                  <a:prstClr val="black"/>
                </a:solidFill>
              </a:rPr>
              <a:t>Partner</a:t>
            </a:r>
            <a:r>
              <a:rPr lang="es-AR" sz="1000" dirty="0">
                <a:solidFill>
                  <a:prstClr val="black"/>
                </a:solidFill>
              </a:rPr>
              <a:t> </a:t>
            </a:r>
            <a:r>
              <a:rPr lang="es-AR" sz="1000" dirty="0" err="1">
                <a:solidFill>
                  <a:prstClr val="black"/>
                </a:solidFill>
              </a:rPr>
              <a:t>Program</a:t>
            </a:r>
            <a:r>
              <a:rPr lang="es-AR" sz="1000" dirty="0">
                <a:solidFill>
                  <a:prstClr val="black"/>
                </a:solidFill>
              </a:rPr>
              <a:t> Mercado Pago</a:t>
            </a:r>
            <a:endParaRPr lang="en-US" sz="1000" dirty="0">
              <a:solidFill>
                <a:prstClr val="black"/>
              </a:solidFill>
            </a:endParaRPr>
          </a:p>
        </p:txBody>
      </p:sp>
      <p:pic>
        <p:nvPicPr>
          <p:cNvPr id="16" name="Picture 15">
            <a:extLst>
              <a:ext uri="{FF2B5EF4-FFF2-40B4-BE49-F238E27FC236}">
                <a16:creationId xmlns:a16="http://schemas.microsoft.com/office/drawing/2014/main" id="{29AEE614-977E-B8C6-A496-61D67A69EBC7}"/>
              </a:ext>
            </a:extLst>
          </p:cNvPr>
          <p:cNvPicPr>
            <a:picLocks noChangeAspect="1"/>
          </p:cNvPicPr>
          <p:nvPr/>
        </p:nvPicPr>
        <p:blipFill>
          <a:blip r:embed="rId4"/>
          <a:stretch>
            <a:fillRect/>
          </a:stretch>
        </p:blipFill>
        <p:spPr>
          <a:xfrm>
            <a:off x="3772885" y="6295870"/>
            <a:ext cx="387888" cy="436639"/>
          </a:xfrm>
          <a:prstGeom prst="rect">
            <a:avLst/>
          </a:prstGeom>
        </p:spPr>
      </p:pic>
      <p:pic>
        <p:nvPicPr>
          <p:cNvPr id="15" name="Picture 14" descr="A blue hexagon with white text&#10;&#10;Description automatically generated">
            <a:extLst>
              <a:ext uri="{FF2B5EF4-FFF2-40B4-BE49-F238E27FC236}">
                <a16:creationId xmlns:a16="http://schemas.microsoft.com/office/drawing/2014/main" id="{481BE9B6-4601-EE96-638F-280B40D6C6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26355" y="6248133"/>
            <a:ext cx="573287" cy="573287"/>
          </a:xfrm>
          <a:prstGeom prst="rect">
            <a:avLst/>
          </a:prstGeom>
        </p:spPr>
      </p:pic>
      <p:pic>
        <p:nvPicPr>
          <p:cNvPr id="18" name="Picture 17">
            <a:extLst>
              <a:ext uri="{FF2B5EF4-FFF2-40B4-BE49-F238E27FC236}">
                <a16:creationId xmlns:a16="http://schemas.microsoft.com/office/drawing/2014/main" id="{4EBA6404-3246-2205-573B-EC705567464B}"/>
              </a:ext>
            </a:extLst>
          </p:cNvPr>
          <p:cNvPicPr>
            <a:picLocks noChangeAspect="1"/>
          </p:cNvPicPr>
          <p:nvPr/>
        </p:nvPicPr>
        <p:blipFill>
          <a:blip r:embed="rId6"/>
          <a:stretch>
            <a:fillRect/>
          </a:stretch>
        </p:blipFill>
        <p:spPr>
          <a:xfrm>
            <a:off x="4799642" y="6295870"/>
            <a:ext cx="487249" cy="491980"/>
          </a:xfrm>
          <a:prstGeom prst="rect">
            <a:avLst/>
          </a:prstGeom>
        </p:spPr>
      </p:pic>
      <p:sp>
        <p:nvSpPr>
          <p:cNvPr id="17" name="TextBox 16">
            <a:extLst>
              <a:ext uri="{FF2B5EF4-FFF2-40B4-BE49-F238E27FC236}">
                <a16:creationId xmlns:a16="http://schemas.microsoft.com/office/drawing/2014/main" id="{3E377F53-4AF5-A1EE-E6C4-9644C89CA6FB}"/>
              </a:ext>
            </a:extLst>
          </p:cNvPr>
          <p:cNvSpPr txBox="1"/>
          <p:nvPr/>
        </p:nvSpPr>
        <p:spPr>
          <a:xfrm>
            <a:off x="237507" y="5061856"/>
            <a:ext cx="154379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AR" sz="1200" b="1">
                <a:solidFill>
                  <a:srgbClr val="7030A0"/>
                </a:solidFill>
                <a:latin typeface="Graphik"/>
              </a:rPr>
              <a:t>Lenguajes</a:t>
            </a:r>
            <a:endParaRPr lang="es-AR" sz="1200" b="1" dirty="0">
              <a:solidFill>
                <a:srgbClr val="7030A0"/>
              </a:solidFill>
              <a:latin typeface="Graphik"/>
            </a:endParaRPr>
          </a:p>
          <a:p>
            <a:pPr algn="ctr"/>
            <a:endParaRPr lang="en-US"/>
          </a:p>
        </p:txBody>
      </p:sp>
      <p:sp>
        <p:nvSpPr>
          <p:cNvPr id="19" name="TextBox 18">
            <a:extLst>
              <a:ext uri="{FF2B5EF4-FFF2-40B4-BE49-F238E27FC236}">
                <a16:creationId xmlns:a16="http://schemas.microsoft.com/office/drawing/2014/main" id="{99C27A93-047E-419D-CE8B-0D18ADC9D86A}"/>
              </a:ext>
            </a:extLst>
          </p:cNvPr>
          <p:cNvSpPr txBox="1"/>
          <p:nvPr/>
        </p:nvSpPr>
        <p:spPr>
          <a:xfrm>
            <a:off x="336468" y="5338947"/>
            <a:ext cx="2404754"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AR" sz="1000" dirty="0">
                <a:latin typeface="Calibri"/>
              </a:rPr>
              <a:t>Español Nativo</a:t>
            </a:r>
            <a:br>
              <a:rPr sz="1000" dirty="0">
                <a:latin typeface="Calibri"/>
                <a:ea typeface="Calibri"/>
                <a:cs typeface="Calibri"/>
              </a:rPr>
            </a:br>
            <a:r>
              <a:rPr lang="es-AR" sz="1000">
                <a:ea typeface="Calibri"/>
                <a:cs typeface="Calibri"/>
              </a:rPr>
              <a:t>Ingles C1</a:t>
            </a:r>
            <a:endParaRPr lang="es-AR" sz="1000" dirty="0">
              <a:ea typeface="Calibri"/>
              <a:cs typeface="Calibri"/>
            </a:endParaRPr>
          </a:p>
          <a:p>
            <a:pPr algn="ctr"/>
            <a:endParaRPr lang="en-US"/>
          </a:p>
        </p:txBody>
      </p:sp>
    </p:spTree>
    <p:extLst>
      <p:ext uri="{BB962C8B-B14F-4D97-AF65-F5344CB8AC3E}">
        <p14:creationId xmlns:p14="http://schemas.microsoft.com/office/powerpoint/2010/main" val="9518645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2" ma:contentTypeDescription="Create a new document." ma:contentTypeScope="" ma:versionID="7a6cc17327f8fd4a1bea693b89822f0e">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0fcd0ec4e5a5c37c753411fc93cc8c20"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e1adda6-93f2-443e-b0ef-40d6e1dc8c9d" xsi:nil="true"/>
    <lcf76f155ced4ddcb4097134ff3c332f xmlns="9e5dff9b-ec84-400a-8d4d-02e96956639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1A001A-0D62-4E05-9DAE-DF975B38D7C9}"/>
</file>

<file path=customXml/itemProps2.xml><?xml version="1.0" encoding="utf-8"?>
<ds:datastoreItem xmlns:ds="http://schemas.openxmlformats.org/officeDocument/2006/customXml" ds:itemID="{A4FDDEF0-1083-4094-9B20-46F9C8F14342}">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144C9B9-51C1-4799-AC7C-FA632A9C1FB3}">
  <ds:schemaRefs>
    <ds:schemaRef ds:uri="http://schemas.microsoft.com/sharepoint/v3/contenttype/fo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32</TotalTime>
  <Words>853</Words>
  <Application>Microsoft Office PowerPoint</Application>
  <PresentationFormat>Widescreen</PresentationFormat>
  <Paragraphs>75</Paragraphs>
  <Slides>2</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10" baseType="lpstr">
      <vt:lpstr>Arial</vt:lpstr>
      <vt:lpstr>Calibri</vt:lpstr>
      <vt:lpstr>Calibri Light</vt:lpstr>
      <vt:lpstr>Graphik</vt:lpstr>
      <vt:lpstr>Graphik Black</vt:lpstr>
      <vt:lpstr>Graphik Super</vt:lpstr>
      <vt:lpstr>1_Office Theme</vt:lpstr>
      <vt:lpstr>think-cell Slide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Penacchioni, Ana</dc:creator>
  <cp:lastModifiedBy>Kauffmann, Karenina</cp:lastModifiedBy>
  <cp:revision>60</cp:revision>
  <dcterms:created xsi:type="dcterms:W3CDTF">2022-03-18T18:13:59Z</dcterms:created>
  <dcterms:modified xsi:type="dcterms:W3CDTF">2026-03-30T15:10:18Z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ies>
</file>