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0" r:id="rId4"/>
    <p:sldMasterId id="2147483760" r:id="rId5"/>
    <p:sldMasterId id="2147483812" r:id="rId6"/>
  </p:sldMasterIdLst>
  <p:notesMasterIdLst>
    <p:notesMasterId r:id="rId9"/>
  </p:notesMasterIdLst>
  <p:handoutMasterIdLst>
    <p:handoutMasterId r:id="rId10"/>
  </p:handoutMasterIdLst>
  <p:sldIdLst>
    <p:sldId id="2076136212" r:id="rId7"/>
    <p:sldId id="2076136216" r:id="rId8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pos="3772" userDrawn="1">
          <p15:clr>
            <a:srgbClr val="A4A3A4"/>
          </p15:clr>
        </p15:guide>
        <p15:guide id="6" pos="3931" userDrawn="1">
          <p15:clr>
            <a:srgbClr val="A4A3A4"/>
          </p15:clr>
        </p15:guide>
        <p15:guide id="7" orient="horz" pos="2160">
          <p15:clr>
            <a:srgbClr val="A4A3A4"/>
          </p15:clr>
        </p15:guide>
        <p15:guide id="8" pos="5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adermann, Uta" initials="SU" lastIdx="8" clrIdx="0">
    <p:extLst>
      <p:ext uri="{19B8F6BF-5375-455C-9EA6-DF929625EA0E}">
        <p15:presenceInfo xmlns:p15="http://schemas.microsoft.com/office/powerpoint/2012/main" userId="S-1-5-21-329068152-1454471165-1417001333-4183212" providerId="AD"/>
      </p:ext>
    </p:extLst>
  </p:cmAuthor>
  <p:cmAuthor id="2" name="Habel, Till" initials="HT" lastIdx="5" clrIdx="1">
    <p:extLst>
      <p:ext uri="{19B8F6BF-5375-455C-9EA6-DF929625EA0E}">
        <p15:presenceInfo xmlns:p15="http://schemas.microsoft.com/office/powerpoint/2012/main" userId="S-1-5-21-329068152-1454471165-1417001333-7653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C5C5"/>
    <a:srgbClr val="A100FF"/>
    <a:srgbClr val="969696"/>
    <a:srgbClr val="5A5A5A"/>
    <a:srgbClr val="002266"/>
    <a:srgbClr val="FFB500"/>
    <a:srgbClr val="FFFFFF"/>
    <a:srgbClr val="000000"/>
    <a:srgbClr val="C9F3FF"/>
    <a:srgbClr val="F2F2F2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543ADB-F9C9-BD9D-D597-23425AE2FBEB}" v="32" dt="2026-03-13T14:34:35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872" y="306"/>
      </p:cViewPr>
      <p:guideLst>
        <p:guide pos="3840"/>
        <p:guide pos="3772"/>
        <p:guide pos="3931"/>
        <p:guide orient="horz" pos="2160"/>
        <p:guide pos="5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vo, Leandro" userId="S::leandro.bravo@accenture.com::c5e1ddce-6068-4899-a457-370f92e42b67" providerId="AD" clId="Web-{25543ADB-F9C9-BD9D-D597-23425AE2FBEB}"/>
    <pc:docChg chg="modSld">
      <pc:chgData name="Bravo, Leandro" userId="S::leandro.bravo@accenture.com::c5e1ddce-6068-4899-a457-370f92e42b67" providerId="AD" clId="Web-{25543ADB-F9C9-BD9D-D597-23425AE2FBEB}" dt="2026-03-13T14:34:35.763" v="31" actId="1076"/>
      <pc:docMkLst>
        <pc:docMk/>
      </pc:docMkLst>
      <pc:sldChg chg="modSp">
        <pc:chgData name="Bravo, Leandro" userId="S::leandro.bravo@accenture.com::c5e1ddce-6068-4899-a457-370f92e42b67" providerId="AD" clId="Web-{25543ADB-F9C9-BD9D-D597-23425AE2FBEB}" dt="2026-03-13T14:34:26.545" v="30" actId="20577"/>
        <pc:sldMkLst>
          <pc:docMk/>
          <pc:sldMk cId="3747954151" sldId="2076136212"/>
        </pc:sldMkLst>
        <pc:spChg chg="mod">
          <ac:chgData name="Bravo, Leandro" userId="S::leandro.bravo@accenture.com::c5e1ddce-6068-4899-a457-370f92e42b67" providerId="AD" clId="Web-{25543ADB-F9C9-BD9D-D597-23425AE2FBEB}" dt="2026-03-13T14:34:26.545" v="30" actId="20577"/>
          <ac:spMkLst>
            <pc:docMk/>
            <pc:sldMk cId="3747954151" sldId="2076136212"/>
            <ac:spMk id="47" creationId="{88916E2A-4E45-86B5-A986-94589B9AFC66}"/>
          </ac:spMkLst>
        </pc:spChg>
      </pc:sldChg>
      <pc:sldChg chg="modSp">
        <pc:chgData name="Bravo, Leandro" userId="S::leandro.bravo@accenture.com::c5e1ddce-6068-4899-a457-370f92e42b67" providerId="AD" clId="Web-{25543ADB-F9C9-BD9D-D597-23425AE2FBEB}" dt="2026-03-13T14:34:35.763" v="31" actId="1076"/>
        <pc:sldMkLst>
          <pc:docMk/>
          <pc:sldMk cId="3765140449" sldId="2076136216"/>
        </pc:sldMkLst>
        <pc:spChg chg="mod">
          <ac:chgData name="Bravo, Leandro" userId="S::leandro.bravo@accenture.com::c5e1ddce-6068-4899-a457-370f92e42b67" providerId="AD" clId="Web-{25543ADB-F9C9-BD9D-D597-23425AE2FBEB}" dt="2026-03-13T14:34:35.763" v="31" actId="1076"/>
          <ac:spMkLst>
            <pc:docMk/>
            <pc:sldMk cId="3765140449" sldId="2076136216"/>
            <ac:spMk id="47" creationId="{88916E2A-4E45-86B5-A986-94589B9AFC6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Arial" panose="020B0604020202020204" pitchFamily="34" charset="0"/>
              </a:rPr>
              <a:t>3/13/2026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39D084F-DC83-4EB0-8CED-52E9AA3ECA1C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08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33544-EAA4-455F-8C8C-F9FC7D06B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0998" y="1744826"/>
            <a:ext cx="6435081" cy="1714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6000" cap="all" baseline="0">
                <a:latin typeface="+mj-lt"/>
              </a:defRPr>
            </a:lvl1pPr>
          </a:lstStyle>
          <a:p>
            <a:pPr lvl="0"/>
            <a:r>
              <a:rPr lang="de-DE" err="1"/>
              <a:t>Presentation</a:t>
            </a:r>
            <a:r>
              <a:rPr lang="de-DE"/>
              <a:t> Title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D6C774CE-8A51-462C-A6DA-3353B65B8E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8" y="3486875"/>
            <a:ext cx="6435081" cy="50783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3000" cap="all" baseline="0">
                <a:solidFill>
                  <a:schemeClr val="tx1"/>
                </a:solidFill>
                <a:latin typeface="+mj-lt"/>
              </a:defRPr>
            </a:lvl1pPr>
            <a:lvl2pPr>
              <a:defRPr sz="3000">
                <a:latin typeface="Graphik Black" panose="020B0A03030202060203" pitchFamily="34" charset="0"/>
              </a:defRPr>
            </a:lvl2pPr>
            <a:lvl3pPr>
              <a:defRPr sz="3000">
                <a:latin typeface="Graphik Black" panose="020B0A03030202060203" pitchFamily="34" charset="0"/>
              </a:defRPr>
            </a:lvl3pPr>
            <a:lvl4pPr>
              <a:defRPr sz="3000">
                <a:latin typeface="Graphik Black" panose="020B0A03030202060203" pitchFamily="34" charset="0"/>
              </a:defRPr>
            </a:lvl4pPr>
            <a:lvl5pPr>
              <a:defRPr sz="3000">
                <a:latin typeface="Graphik Black" panose="020B0A03030202060203" pitchFamily="34" charset="0"/>
              </a:defRPr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933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1" y="-1"/>
            <a:ext cx="6392222" cy="2059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3617" y="626110"/>
            <a:ext cx="1442719" cy="133541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965" y="-222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98529" y="2018682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92222" y="10184"/>
            <a:ext cx="236424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165383" y="205946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122196" y="2132513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8187" y="57004"/>
            <a:ext cx="639222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952042" y="557359"/>
            <a:ext cx="4589689" cy="36587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68147" y="1327893"/>
            <a:ext cx="4573583" cy="277493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52042" y="1654042"/>
            <a:ext cx="4573583" cy="307480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565375" y="406400"/>
            <a:ext cx="5504429" cy="6050539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952041" y="974294"/>
            <a:ext cx="4589689" cy="302535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4586627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SPECIALIZATIONS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553010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7924A8-2A02-43C8-85AF-AC1F770B25F9}"/>
              </a:ext>
            </a:extLst>
          </p:cNvPr>
          <p:cNvCxnSpPr>
            <a:cxnSpLocks/>
          </p:cNvCxnSpPr>
          <p:nvPr userDrawn="1"/>
        </p:nvCxnSpPr>
        <p:spPr>
          <a:xfrm>
            <a:off x="3047449" y="2138280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AE5B2F-A695-4635-BE85-22746FB8F6C3}"/>
              </a:ext>
            </a:extLst>
          </p:cNvPr>
          <p:cNvCxnSpPr>
            <a:cxnSpLocks/>
          </p:cNvCxnSpPr>
          <p:nvPr userDrawn="1"/>
        </p:nvCxnSpPr>
        <p:spPr>
          <a:xfrm>
            <a:off x="6359445" y="2129629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2">
            <a:extLst>
              <a:ext uri="{FF2B5EF4-FFF2-40B4-BE49-F238E27FC236}">
                <a16:creationId xmlns:a16="http://schemas.microsoft.com/office/drawing/2014/main" id="{E06497E9-679F-430D-9081-1240D8516F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2321774"/>
            <a:ext cx="3238780" cy="26641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HARD/SOFT SKILLS &amp; TOOLS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47D7F098-D91A-436B-8577-8921654BC3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5530106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LANGUAGES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F31576D1-FEDB-405C-8BC0-6F0C36D9A6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3429729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EDUCATION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5DBFF989-E3B8-4558-88C8-758F498BE4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70863" y="5963920"/>
            <a:ext cx="979538" cy="83707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Españ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3791" y="-46505"/>
            <a:ext cx="12184418" cy="1939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938" y="88223"/>
            <a:ext cx="1336675" cy="1673225"/>
          </a:xfrm>
        </p:spPr>
        <p:txBody>
          <a:bodyPr/>
          <a:lstStyle>
            <a:lvl1pPr>
              <a:defRPr/>
            </a:lvl1pPr>
          </a:lstStyle>
          <a:p>
            <a:r>
              <a:rPr lang="es-CO" noProof="0"/>
              <a:t>Clic para adjuntar la imagen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384558" y="6517088"/>
            <a:ext cx="5711445" cy="20624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EE8CA5D-8B85-43BD-926A-533776C7D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312" y="6490741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kumimoji="0" lang="en-US" sz="1000" b="0" i="0" u="none" strike="noStrike" kern="1200" cap="none" spc="0" normalizeH="0" baseline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394130" y="-3677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5244" y="2132513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ÁREAS DE CONOCIMIENTO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52944" y="2132513"/>
            <a:ext cx="5408559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EXPERIENCIA SELECCIONADA</a:t>
            </a: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248824" y="2132513"/>
            <a:ext cx="1954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PERFIL PROFESIONAL 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237237" y="2237951"/>
            <a:ext cx="0" cy="3319272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3C22190-B227-49DD-8F11-48D76E075E94}"/>
              </a:ext>
            </a:extLst>
          </p:cNvPr>
          <p:cNvCxnSpPr>
            <a:cxnSpLocks/>
          </p:cNvCxnSpPr>
          <p:nvPr userDrawn="1"/>
        </p:nvCxnSpPr>
        <p:spPr>
          <a:xfrm>
            <a:off x="3079482" y="2237953"/>
            <a:ext cx="0" cy="406800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7EE7479-6552-4B10-8999-F9FFF684DA70}"/>
              </a:ext>
            </a:extLst>
          </p:cNvPr>
          <p:cNvCxnSpPr>
            <a:cxnSpLocks/>
          </p:cNvCxnSpPr>
          <p:nvPr userDrawn="1"/>
        </p:nvCxnSpPr>
        <p:spPr>
          <a:xfrm flipH="1">
            <a:off x="5311323" y="2265418"/>
            <a:ext cx="1" cy="406800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369005" y="59040"/>
            <a:ext cx="654153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Nombre Apellido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369005" y="504446"/>
            <a:ext cx="6541532" cy="317045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Rol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69005" y="1202219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369005" y="1517216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Home location: City, Country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78606-7DF7-4ECE-BFD6-9805E216A984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341211" y="2421646"/>
            <a:ext cx="2586918" cy="298330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CO" noProof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24ABDA-AF82-4D3F-B9B8-924763598D47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3231099" y="2739487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s-CO" noProof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5427750" y="2437520"/>
            <a:ext cx="6524747" cy="3916033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CO" noProof="0"/>
              <a:t>Click to edit Master text styles</a:t>
            </a:r>
          </a:p>
          <a:p>
            <a:pPr lvl="1"/>
            <a:r>
              <a:rPr lang="es-CO" noProof="0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2369005" y="887223"/>
            <a:ext cx="6541532" cy="310896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CO" noProof="0"/>
              <a:t>Major </a:t>
            </a:r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2421103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 anchorCtr="0">
            <a:no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FUNCIONAL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DCDD220-FD2A-412B-830F-C6A5F46C86D4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3255677" y="4900148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5A637F3C-BD10-4E01-B648-8CE5AFBAFD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455376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INDUSTRIA</a:t>
            </a:r>
          </a:p>
        </p:txBody>
      </p:sp>
    </p:spTree>
    <p:extLst>
      <p:ext uri="{BB962C8B-B14F-4D97-AF65-F5344CB8AC3E}">
        <p14:creationId xmlns:p14="http://schemas.microsoft.com/office/powerpoint/2010/main" val="2381926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background pattern&#10;&#10;Description automatically generated">
            <a:extLst>
              <a:ext uri="{FF2B5EF4-FFF2-40B4-BE49-F238E27FC236}">
                <a16:creationId xmlns:a16="http://schemas.microsoft.com/office/drawing/2014/main" id="{79E0B481-9E2B-407E-9ADA-E67AAEFC2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184" y="1253518"/>
            <a:ext cx="4165600" cy="4572000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2DD3BE25-2391-4F9A-B346-0A143EB60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216" y="556663"/>
            <a:ext cx="1686444" cy="445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07D88-2012-4019-9DA3-C6BF5D140B74}"/>
              </a:ext>
            </a:extLst>
          </p:cNvPr>
          <p:cNvSpPr/>
          <p:nvPr userDrawn="1"/>
        </p:nvSpPr>
        <p:spPr>
          <a:xfrm>
            <a:off x="7873034" y="6074817"/>
            <a:ext cx="381675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b="0" i="0">
                <a:latin typeface="Graphik" panose="020B0503030202060203" pitchFamily="34" charset="77"/>
              </a:rPr>
              <a:t>Accenture Applied Intelligence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8FC5-AA00-4A5A-99FA-F9A41C0D094A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642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96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4553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05197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34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3288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Palatino Linotype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33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Palatino Linotype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5605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2848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86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4292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29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8734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53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1676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8990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7742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5185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18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340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2939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531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Arial" panose="020B0604020202020204" pitchFamily="34" charset="0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agenda summary here in Palatino Linotype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16308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91298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8039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64059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GB"/>
              <a:t>Place subtitle here 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0888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050653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13330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8734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69758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206425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61583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27106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3891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3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6544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GB"/>
              <a:t>Place subtitle here 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689699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subtitle here in Palatino Linotype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6494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769504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1160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8465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03742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4833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0716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941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555883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0815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7021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‒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8113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background pattern&#10;&#10;Description automatically generated">
            <a:extLst>
              <a:ext uri="{FF2B5EF4-FFF2-40B4-BE49-F238E27FC236}">
                <a16:creationId xmlns:a16="http://schemas.microsoft.com/office/drawing/2014/main" id="{79E0B481-9E2B-407E-9ADA-E67AAEFC2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184" y="1253518"/>
            <a:ext cx="4165600" cy="4572000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2DD3BE25-2391-4F9A-B346-0A143EB60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216" y="556663"/>
            <a:ext cx="1686444" cy="445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07D88-2012-4019-9DA3-C6BF5D140B74}"/>
              </a:ext>
            </a:extLst>
          </p:cNvPr>
          <p:cNvSpPr/>
          <p:nvPr userDrawn="1"/>
        </p:nvSpPr>
        <p:spPr>
          <a:xfrm>
            <a:off x="7873034" y="6074817"/>
            <a:ext cx="381675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b="0" i="0">
                <a:latin typeface="Graphik" panose="020B0503030202060203" pitchFamily="34" charset="77"/>
              </a:rPr>
              <a:t>Accenture Applied Intelligence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8FC5-AA00-4A5A-99FA-F9A41C0D094A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23754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_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1" y="-1"/>
            <a:ext cx="6392222" cy="2059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3617" y="626110"/>
            <a:ext cx="1442719" cy="133541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965" y="-222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98529" y="2018682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92222" y="10184"/>
            <a:ext cx="236424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165383" y="205946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122196" y="2132513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8187" y="57004"/>
            <a:ext cx="639222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952042" y="557359"/>
            <a:ext cx="4589689" cy="36587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68147" y="1327893"/>
            <a:ext cx="4573583" cy="277493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52042" y="1654042"/>
            <a:ext cx="4573583" cy="307480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565375" y="406400"/>
            <a:ext cx="5504429" cy="6050539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952041" y="974294"/>
            <a:ext cx="4589689" cy="302535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4586627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SPECIALIZATIONS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553010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7924A8-2A02-43C8-85AF-AC1F770B25F9}"/>
              </a:ext>
            </a:extLst>
          </p:cNvPr>
          <p:cNvCxnSpPr>
            <a:cxnSpLocks/>
          </p:cNvCxnSpPr>
          <p:nvPr userDrawn="1"/>
        </p:nvCxnSpPr>
        <p:spPr>
          <a:xfrm>
            <a:off x="3047449" y="2138280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AE5B2F-A695-4635-BE85-22746FB8F6C3}"/>
              </a:ext>
            </a:extLst>
          </p:cNvPr>
          <p:cNvCxnSpPr>
            <a:cxnSpLocks/>
          </p:cNvCxnSpPr>
          <p:nvPr userDrawn="1"/>
        </p:nvCxnSpPr>
        <p:spPr>
          <a:xfrm>
            <a:off x="6359445" y="2129629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2">
            <a:extLst>
              <a:ext uri="{FF2B5EF4-FFF2-40B4-BE49-F238E27FC236}">
                <a16:creationId xmlns:a16="http://schemas.microsoft.com/office/drawing/2014/main" id="{E06497E9-679F-430D-9081-1240D8516F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2321774"/>
            <a:ext cx="3238780" cy="26641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HARD/SOFT SKILLS &amp; TOOLS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47D7F098-D91A-436B-8577-8921654BC3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5530106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LANGUAGES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F31576D1-FEDB-405C-8BC0-6F0C36D9A6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3429729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EDUCATION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5DBFF989-E3B8-4558-88C8-758F498BE4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70863" y="5963920"/>
            <a:ext cx="979538" cy="83707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63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47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7203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54184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31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57558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89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0554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8107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2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3654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92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2376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24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7031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2499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6532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2124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51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8418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2714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550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411971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21124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198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65675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26228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36167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9926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712167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988826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641816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91143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1749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824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28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4816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275457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218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8309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01291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195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556659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5818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5870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6548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028367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723787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765244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806938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5.xml"/><Relationship Id="rId34" Type="http://schemas.openxmlformats.org/officeDocument/2006/relationships/slideLayout" Target="../slideLayouts/slideLayout38.xml"/><Relationship Id="rId42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4.xml"/><Relationship Id="rId55" Type="http://schemas.openxmlformats.org/officeDocument/2006/relationships/oleObject" Target="../embeddings/oleObject1.bin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9.xml"/><Relationship Id="rId53" Type="http://schemas.openxmlformats.org/officeDocument/2006/relationships/tags" Target="../tags/tag4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35.xml"/><Relationship Id="rId44" Type="http://schemas.openxmlformats.org/officeDocument/2006/relationships/slideLayout" Target="../slideLayouts/slideLayout48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52.xml"/><Relationship Id="rId56" Type="http://schemas.openxmlformats.org/officeDocument/2006/relationships/image" Target="../media/image1.emf"/><Relationship Id="rId8" Type="http://schemas.openxmlformats.org/officeDocument/2006/relationships/slideLayout" Target="../slideLayouts/slideLayout12.xml"/><Relationship Id="rId51" Type="http://schemas.openxmlformats.org/officeDocument/2006/relationships/slideLayout" Target="../slideLayouts/slideLayout55.xml"/><Relationship Id="rId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24.xml"/><Relationship Id="rId41" Type="http://schemas.openxmlformats.org/officeDocument/2006/relationships/slideLayout" Target="../slideLayouts/slideLayout45.xml"/><Relationship Id="rId54" Type="http://schemas.openxmlformats.org/officeDocument/2006/relationships/tags" Target="../tags/tag5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40.xml"/><Relationship Id="rId4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7.xml"/><Relationship Id="rId47" Type="http://schemas.openxmlformats.org/officeDocument/2006/relationships/slideLayout" Target="../slideLayouts/slideLayout102.xml"/><Relationship Id="rId50" Type="http://schemas.openxmlformats.org/officeDocument/2006/relationships/theme" Target="../theme/theme3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9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2.xml"/><Relationship Id="rId40" Type="http://schemas.openxmlformats.org/officeDocument/2006/relationships/slideLayout" Target="../slideLayouts/slideLayout95.xml"/><Relationship Id="rId45" Type="http://schemas.openxmlformats.org/officeDocument/2006/relationships/slideLayout" Target="../slideLayouts/slideLayout100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86.xml"/><Relationship Id="rId44" Type="http://schemas.openxmlformats.org/officeDocument/2006/relationships/slideLayout" Target="../slideLayouts/slideLayout99.xml"/><Relationship Id="rId52" Type="http://schemas.openxmlformats.org/officeDocument/2006/relationships/tags" Target="../tags/tag7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90.xml"/><Relationship Id="rId43" Type="http://schemas.openxmlformats.org/officeDocument/2006/relationships/slideLayout" Target="../slideLayouts/slideLayout98.xml"/><Relationship Id="rId48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63.xml"/><Relationship Id="rId51" Type="http://schemas.openxmlformats.org/officeDocument/2006/relationships/tags" Target="../tags/tag6.xml"/><Relationship Id="rId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93.xml"/><Relationship Id="rId4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96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91.xml"/><Relationship Id="rId49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90F368C-0662-4B05-B5E4-7B52C6EBA9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32" imgH="530" progId="TCLayout.ActiveDocument.1">
                  <p:embed/>
                </p:oleObj>
              </mc:Choice>
              <mc:Fallback>
                <p:oleObj name="think-cell Slide" r:id="rId8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90F368C-0662-4B05-B5E4-7B52C6EBA9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8949DF7F-5FAC-4247-9933-EE9462252CF9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 dirty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D60B7-D06D-4830-BD69-35B1465F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365126"/>
            <a:ext cx="11425084" cy="82457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DF177-00B3-4AFF-B6D4-A595D3A7C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458" y="1273629"/>
            <a:ext cx="11425084" cy="49033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dirty="0" err="1"/>
              <a:t>Click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edit</a:t>
            </a:r>
            <a:r>
              <a:rPr lang="es-ES" dirty="0"/>
              <a:t> Master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styles</a:t>
            </a:r>
            <a:endParaRPr lang="es-ES" dirty="0"/>
          </a:p>
          <a:p>
            <a:pPr lvl="1"/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lvl="2"/>
            <a:r>
              <a:rPr lang="es-ES" dirty="0" err="1"/>
              <a:t>Third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lvl="3"/>
            <a:r>
              <a:rPr lang="es-ES" dirty="0" err="1"/>
              <a:t>Fourth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lvl="4"/>
            <a:r>
              <a:rPr lang="es-ES" dirty="0" err="1"/>
              <a:t>Fifth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83EB6817-997F-4BFD-89D6-B40A72240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14419" y="6492875"/>
            <a:ext cx="4114800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r>
              <a:rPr lang="es-ES" dirty="0"/>
              <a:t>Copyright © 2020 Accenture.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rights</a:t>
            </a:r>
            <a:r>
              <a:rPr lang="es-ES" dirty="0"/>
              <a:t> </a:t>
            </a:r>
            <a:r>
              <a:rPr lang="es-ES" dirty="0" err="1"/>
              <a:t>reserved</a:t>
            </a:r>
            <a:r>
              <a:rPr lang="es-ES" dirty="0"/>
              <a:t>.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9D47C7C1-747A-488B-90A2-DB416575D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219" y="6492875"/>
            <a:ext cx="479323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686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56" r:id="rId2"/>
    <p:sldLayoutId id="2147483757" r:id="rId3"/>
    <p:sldLayoutId id="2147483759" r:id="rId4"/>
  </p:sldLayoutIdLst>
  <p:hf hd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2800" b="1" kern="1200" cap="all" spc="-150" baseline="0">
          <a:solidFill>
            <a:schemeClr val="tx1"/>
          </a:solidFill>
          <a:latin typeface="Graphik" panose="020B0503030202060203" pitchFamily="34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8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lang="en-US" sz="1800" kern="1200" dirty="0" smtClean="0">
          <a:solidFill>
            <a:schemeClr val="accent1"/>
          </a:solidFill>
          <a:latin typeface="Graphik" panose="020B0503030202060203" pitchFamily="34" charset="77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1600" b="1" kern="1200" cap="all" baseline="0">
          <a:solidFill>
            <a:schemeClr val="accent2"/>
          </a:solidFill>
          <a:latin typeface="Graphik" panose="020B0503030202060203" pitchFamily="34" charset="77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400" b="1" kern="1200">
          <a:solidFill>
            <a:schemeClr val="accent4"/>
          </a:solidFill>
          <a:latin typeface="Graphik" panose="020B0503030202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4DDAE6C-DBD6-9171-7CEF-37612C1A40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3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5" imgW="532" imgH="530" progId="TCLayout.ActiveDocument.1">
                  <p:embed/>
                </p:oleObj>
              </mc:Choice>
              <mc:Fallback>
                <p:oleObj name="think-cell Slide" r:id="rId55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4DDAE6C-DBD6-9171-7CEF-37612C1A40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6918C99E-8041-E18D-FDC3-3EAD90D1708D}"/>
              </a:ext>
            </a:extLst>
          </p:cNvPr>
          <p:cNvSpPr/>
          <p:nvPr userDrawn="1">
            <p:custDataLst>
              <p:tags r:id="rId5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71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796" r:id="rId36"/>
    <p:sldLayoutId id="2147483797" r:id="rId37"/>
    <p:sldLayoutId id="2147483798" r:id="rId38"/>
    <p:sldLayoutId id="2147483799" r:id="rId39"/>
    <p:sldLayoutId id="2147483800" r:id="rId40"/>
    <p:sldLayoutId id="2147483801" r:id="rId41"/>
    <p:sldLayoutId id="2147483802" r:id="rId42"/>
    <p:sldLayoutId id="2147483803" r:id="rId43"/>
    <p:sldLayoutId id="2147483804" r:id="rId44"/>
    <p:sldLayoutId id="2147483805" r:id="rId45"/>
    <p:sldLayoutId id="2147483806" r:id="rId46"/>
    <p:sldLayoutId id="2147483807" r:id="rId47"/>
    <p:sldLayoutId id="2147483808" r:id="rId48"/>
    <p:sldLayoutId id="2147483809" r:id="rId49"/>
    <p:sldLayoutId id="2147483810" r:id="rId50"/>
    <p:sldLayoutId id="2147483811" r:id="rId5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98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32" r:id="rId20"/>
    <p:sldLayoutId id="2147483833" r:id="rId21"/>
    <p:sldLayoutId id="2147483834" r:id="rId22"/>
    <p:sldLayoutId id="2147483835" r:id="rId23"/>
    <p:sldLayoutId id="2147483836" r:id="rId24"/>
    <p:sldLayoutId id="2147483837" r:id="rId25"/>
    <p:sldLayoutId id="2147483838" r:id="rId26"/>
    <p:sldLayoutId id="2147483839" r:id="rId27"/>
    <p:sldLayoutId id="2147483840" r:id="rId28"/>
    <p:sldLayoutId id="2147483841" r:id="rId29"/>
    <p:sldLayoutId id="2147483842" r:id="rId30"/>
    <p:sldLayoutId id="2147483843" r:id="rId31"/>
    <p:sldLayoutId id="2147483844" r:id="rId32"/>
    <p:sldLayoutId id="2147483845" r:id="rId33"/>
    <p:sldLayoutId id="2147483846" r:id="rId34"/>
    <p:sldLayoutId id="2147483847" r:id="rId35"/>
    <p:sldLayoutId id="2147483848" r:id="rId36"/>
    <p:sldLayoutId id="2147483849" r:id="rId37"/>
    <p:sldLayoutId id="2147483850" r:id="rId38"/>
    <p:sldLayoutId id="2147483851" r:id="rId39"/>
    <p:sldLayoutId id="2147483852" r:id="rId40"/>
    <p:sldLayoutId id="2147483853" r:id="rId41"/>
    <p:sldLayoutId id="2147483854" r:id="rId42"/>
    <p:sldLayoutId id="2147483855" r:id="rId43"/>
    <p:sldLayoutId id="2147483856" r:id="rId44"/>
    <p:sldLayoutId id="2147483857" r:id="rId45"/>
    <p:sldLayoutId id="2147483858" r:id="rId46"/>
    <p:sldLayoutId id="2147483859" r:id="rId47"/>
    <p:sldLayoutId id="2147483860" r:id="rId48"/>
    <p:sldLayoutId id="2147483861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6.xml"/><Relationship Id="rId4" Type="http://schemas.openxmlformats.org/officeDocument/2006/relationships/image" Target="../media/image1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6.xml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Leandro Bravo</a:t>
            </a: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Graphik Black"/>
              </a:rPr>
              <a:t>Data Eng, </a:t>
            </a:r>
            <a:r>
              <a:rPr lang="en-US" dirty="0" err="1">
                <a:solidFill>
                  <a:schemeClr val="accent3"/>
                </a:solidFill>
                <a:latin typeface="Graphik Black"/>
              </a:rPr>
              <a:t>Mgmt</a:t>
            </a:r>
            <a:r>
              <a:rPr lang="en-US" dirty="0">
                <a:solidFill>
                  <a:schemeClr val="accent3"/>
                </a:solidFill>
                <a:latin typeface="Graphik Black"/>
              </a:rPr>
              <a:t> &amp; Gov Specialist</a:t>
            </a:r>
          </a:p>
          <a:p>
            <a:pPr marL="0" indent="0">
              <a:buNone/>
            </a:pPr>
            <a:r>
              <a:rPr lang="es-AR" sz="1200" dirty="0" err="1"/>
              <a:t>Technology</a:t>
            </a:r>
            <a:r>
              <a:rPr lang="es-AR" sz="1200" dirty="0"/>
              <a:t> / Data &amp; AI</a:t>
            </a:r>
          </a:p>
          <a:p>
            <a:pPr marL="0" indent="0">
              <a:buNone/>
            </a:pPr>
            <a:r>
              <a:rPr lang="en-US" sz="1200" b="1" dirty="0" err="1">
                <a:latin typeface="Graphik"/>
              </a:rPr>
              <a:t>leandro.bravo</a:t>
            </a:r>
            <a:r>
              <a:rPr lang="es-AR" sz="1200" b="1" dirty="0">
                <a:latin typeface="Graphik"/>
              </a:rPr>
              <a:t>@accenture.com</a:t>
            </a:r>
            <a:endParaRPr lang="en-US" sz="1200" b="1" dirty="0">
              <a:latin typeface="Graphik"/>
            </a:endParaRP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Argentina</a:t>
            </a:r>
            <a:endParaRPr lang="en-US" sz="1200" dirty="0"/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946E00-966C-504F-8587-9DD04432E8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5552" y="764813"/>
            <a:ext cx="1515933" cy="1518138"/>
          </a:xfrm>
          <a:prstGeom prst="ellipse">
            <a:avLst/>
          </a:prstGeom>
          <a:ln>
            <a:solidFill>
              <a:srgbClr val="C5C5C5"/>
            </a:solidFill>
          </a:ln>
          <a:effectLst>
            <a:softEdge rad="0"/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2480" cy="974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 dirty="0">
                <a:solidFill>
                  <a:schemeClr val="accent2"/>
                </a:solidFill>
                <a:latin typeface="+mj-lt"/>
              </a:rPr>
              <a:t>HABILIDADES Y HERRAMIENTAS</a:t>
            </a:r>
            <a:endParaRPr lang="en-US" sz="10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00869" y="2349360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429619"/>
            <a:ext cx="2903835" cy="2136594"/>
            <a:chOff x="652656" y="2462768"/>
            <a:chExt cx="2903835" cy="2136594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PERFIL PROFESSIONAL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1B6E0D27-DFC9-0BED-62DE-B980A526E12C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4385441"/>
              <a:ext cx="2887778" cy="213921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ESPECIALIZACIONES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3611504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EDUCACION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IDIOMAS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AREAS DE EXPERIENCIA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INDUSTRIA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595686" y="2864594"/>
            <a:ext cx="2668543" cy="24058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900" dirty="0"/>
              <a:t>Python Backend: </a:t>
            </a:r>
            <a:r>
              <a:rPr lang="en-US" sz="900" b="0" dirty="0" err="1">
                <a:solidFill>
                  <a:srgbClr val="000000"/>
                </a:solidFill>
              </a:rPr>
              <a:t>FastAPI</a:t>
            </a:r>
            <a:r>
              <a:rPr lang="en-US" sz="900" b="0" dirty="0">
                <a:solidFill>
                  <a:srgbClr val="000000"/>
                </a:solidFill>
              </a:rPr>
              <a:t>, </a:t>
            </a:r>
            <a:r>
              <a:rPr lang="en-US" sz="900" b="0" dirty="0" err="1">
                <a:solidFill>
                  <a:srgbClr val="000000"/>
                </a:solidFill>
              </a:rPr>
              <a:t>Sqlalchemy</a:t>
            </a:r>
            <a:r>
              <a:rPr lang="en-US" sz="900" b="0" dirty="0">
                <a:solidFill>
                  <a:srgbClr val="000000"/>
                </a:solidFill>
              </a:rPr>
              <a:t>, Flask, Django, </a:t>
            </a:r>
            <a:r>
              <a:rPr lang="en-US" sz="900" b="0" dirty="0" err="1">
                <a:solidFill>
                  <a:srgbClr val="000000"/>
                </a:solidFill>
              </a:rPr>
              <a:t>Pydantic</a:t>
            </a:r>
            <a:r>
              <a:rPr lang="en-US" sz="900" b="0" dirty="0">
                <a:solidFill>
                  <a:srgbClr val="000000"/>
                </a:solidFill>
              </a:rPr>
              <a:t>.</a:t>
            </a:r>
          </a:p>
          <a:p>
            <a:r>
              <a:rPr lang="en-US" sz="900" dirty="0"/>
              <a:t>Python DS: </a:t>
            </a:r>
            <a:r>
              <a:rPr lang="en-US" sz="900" b="0" dirty="0">
                <a:solidFill>
                  <a:srgbClr val="000000"/>
                </a:solidFill>
              </a:rPr>
              <a:t>Pandas, </a:t>
            </a:r>
            <a:r>
              <a:rPr lang="en-US" sz="900" b="0" dirty="0" err="1">
                <a:solidFill>
                  <a:srgbClr val="000000"/>
                </a:solidFill>
              </a:rPr>
              <a:t>Scikiit</a:t>
            </a:r>
            <a:r>
              <a:rPr lang="en-US" sz="900" b="0" dirty="0">
                <a:solidFill>
                  <a:srgbClr val="000000"/>
                </a:solidFill>
              </a:rPr>
              <a:t>-learn, </a:t>
            </a:r>
            <a:r>
              <a:rPr lang="en-US" sz="900" b="0" dirty="0" err="1">
                <a:solidFill>
                  <a:srgbClr val="000000"/>
                </a:solidFill>
              </a:rPr>
              <a:t>Scipy</a:t>
            </a:r>
            <a:r>
              <a:rPr lang="en-US" sz="900" b="0" dirty="0">
                <a:solidFill>
                  <a:srgbClr val="000000"/>
                </a:solidFill>
              </a:rPr>
              <a:t>, </a:t>
            </a:r>
            <a:r>
              <a:rPr lang="en-US" sz="900" b="0" dirty="0" err="1">
                <a:solidFill>
                  <a:srgbClr val="000000"/>
                </a:solidFill>
              </a:rPr>
              <a:t>Numpy</a:t>
            </a:r>
            <a:r>
              <a:rPr lang="en-US" sz="900" b="0" dirty="0">
                <a:solidFill>
                  <a:srgbClr val="000000"/>
                </a:solidFill>
              </a:rPr>
              <a:t>, </a:t>
            </a:r>
            <a:r>
              <a:rPr lang="en-US" sz="900" b="0" dirty="0" err="1">
                <a:solidFill>
                  <a:srgbClr val="000000"/>
                </a:solidFill>
              </a:rPr>
              <a:t>PySpark</a:t>
            </a:r>
            <a:r>
              <a:rPr lang="en-US" sz="900" b="0" dirty="0">
                <a:solidFill>
                  <a:srgbClr val="000000"/>
                </a:solidFill>
              </a:rPr>
              <a:t>, Seaborn, h3, </a:t>
            </a:r>
            <a:r>
              <a:rPr lang="en-US" sz="900" b="0" dirty="0" err="1">
                <a:solidFill>
                  <a:srgbClr val="000000"/>
                </a:solidFill>
              </a:rPr>
              <a:t>GeoPandas</a:t>
            </a:r>
            <a:r>
              <a:rPr lang="en-US" sz="900" b="0" dirty="0">
                <a:solidFill>
                  <a:srgbClr val="000000"/>
                </a:solidFill>
              </a:rPr>
              <a:t>, Shapely</a:t>
            </a:r>
          </a:p>
          <a:p>
            <a:r>
              <a:rPr lang="en-US" sz="900" dirty="0"/>
              <a:t>GenAI: </a:t>
            </a:r>
            <a:r>
              <a:rPr lang="en-US" sz="900" b="0" dirty="0">
                <a:solidFill>
                  <a:srgbClr val="000000"/>
                </a:solidFill>
              </a:rPr>
              <a:t>OpenAI, </a:t>
            </a:r>
            <a:r>
              <a:rPr lang="en-US" sz="900" b="0" dirty="0" err="1">
                <a:solidFill>
                  <a:srgbClr val="000000"/>
                </a:solidFill>
              </a:rPr>
              <a:t>VertexAI</a:t>
            </a:r>
            <a:r>
              <a:rPr lang="en-US" sz="900" b="0" dirty="0">
                <a:solidFill>
                  <a:srgbClr val="000000"/>
                </a:solidFill>
              </a:rPr>
              <a:t>, </a:t>
            </a:r>
            <a:r>
              <a:rPr lang="en-US" sz="900" b="0" dirty="0" err="1">
                <a:solidFill>
                  <a:srgbClr val="000000"/>
                </a:solidFill>
              </a:rPr>
              <a:t>Langchain</a:t>
            </a:r>
            <a:r>
              <a:rPr lang="en-US" sz="900" b="0" dirty="0">
                <a:solidFill>
                  <a:srgbClr val="000000"/>
                </a:solidFill>
              </a:rPr>
              <a:t>, </a:t>
            </a:r>
            <a:r>
              <a:rPr lang="en-US" sz="900" b="0" dirty="0" err="1">
                <a:solidFill>
                  <a:srgbClr val="000000"/>
                </a:solidFill>
              </a:rPr>
              <a:t>LangGraph</a:t>
            </a:r>
            <a:r>
              <a:rPr lang="en-US" sz="900" b="0" dirty="0">
                <a:solidFill>
                  <a:srgbClr val="000000"/>
                </a:solidFill>
              </a:rPr>
              <a:t>, ADK, </a:t>
            </a:r>
            <a:r>
              <a:rPr lang="en-US" sz="900" b="0" dirty="0" err="1">
                <a:solidFill>
                  <a:srgbClr val="000000"/>
                </a:solidFill>
              </a:rPr>
              <a:t>Pydantic</a:t>
            </a:r>
            <a:r>
              <a:rPr lang="en-US" sz="900" b="0" dirty="0">
                <a:solidFill>
                  <a:srgbClr val="000000"/>
                </a:solidFill>
              </a:rPr>
              <a:t> AI</a:t>
            </a:r>
          </a:p>
          <a:p>
            <a:r>
              <a:rPr lang="en-US" sz="900" dirty="0"/>
              <a:t>Databases: </a:t>
            </a:r>
            <a:r>
              <a:rPr lang="en-US" sz="900" b="0" dirty="0" err="1">
                <a:solidFill>
                  <a:srgbClr val="000000"/>
                </a:solidFill>
              </a:rPr>
              <a:t>Postgresql</a:t>
            </a:r>
            <a:r>
              <a:rPr lang="en-US" sz="900" b="0" dirty="0">
                <a:solidFill>
                  <a:srgbClr val="000000"/>
                </a:solidFill>
              </a:rPr>
              <a:t>, MySQL, MongoDB, ArcGIS</a:t>
            </a:r>
          </a:p>
          <a:p>
            <a:r>
              <a:rPr lang="en-US" sz="900" dirty="0"/>
              <a:t>Containerization: </a:t>
            </a:r>
            <a:r>
              <a:rPr lang="en-US" sz="900" b="0" dirty="0">
                <a:solidFill>
                  <a:srgbClr val="000000"/>
                </a:solidFill>
              </a:rPr>
              <a:t>Docker, Compose, Rancher, Kubernetes.</a:t>
            </a:r>
          </a:p>
          <a:p>
            <a:r>
              <a:rPr lang="en-US" sz="900" dirty="0"/>
              <a:t>Cloud: </a:t>
            </a:r>
            <a:r>
              <a:rPr lang="en-US" sz="900" b="0" dirty="0">
                <a:solidFill>
                  <a:srgbClr val="000000"/>
                </a:solidFill>
              </a:rPr>
              <a:t>Azure AKS, Azure WebApp Service, Azure OpenAI </a:t>
            </a:r>
            <a:r>
              <a:rPr lang="en-US" sz="900" b="0" dirty="0" err="1">
                <a:solidFill>
                  <a:srgbClr val="000000"/>
                </a:solidFill>
              </a:rPr>
              <a:t>Servcice</a:t>
            </a:r>
            <a:r>
              <a:rPr lang="en-US" sz="900" b="0" dirty="0">
                <a:solidFill>
                  <a:srgbClr val="000000"/>
                </a:solidFill>
              </a:rPr>
              <a:t>, AWS Glue &amp; Lambda, GCP </a:t>
            </a:r>
            <a:r>
              <a:rPr lang="en-US" sz="900" b="0" dirty="0" err="1">
                <a:solidFill>
                  <a:srgbClr val="000000"/>
                </a:solidFill>
              </a:rPr>
              <a:t>VertexAI</a:t>
            </a:r>
            <a:r>
              <a:rPr lang="en-US" sz="900" b="0" dirty="0">
                <a:solidFill>
                  <a:srgbClr val="000000"/>
                </a:solidFill>
              </a:rPr>
              <a:t>.</a:t>
            </a:r>
          </a:p>
          <a:p>
            <a:r>
              <a:rPr lang="en-US" sz="900" dirty="0" err="1">
                <a:solidFill>
                  <a:srgbClr val="460073"/>
                </a:solidFill>
              </a:rPr>
              <a:t>Otras</a:t>
            </a:r>
            <a:r>
              <a:rPr lang="en-US" sz="900" dirty="0">
                <a:solidFill>
                  <a:srgbClr val="460073"/>
                </a:solidFill>
              </a:rPr>
              <a:t>: </a:t>
            </a:r>
            <a:r>
              <a:rPr lang="en-US" sz="900" b="0" dirty="0">
                <a:solidFill>
                  <a:srgbClr val="000000"/>
                </a:solidFill>
              </a:rPr>
              <a:t>Nodejs</a:t>
            </a: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49438" y="3861758"/>
            <a:ext cx="3106657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har char="•"/>
            </a:pPr>
            <a:r>
              <a:rPr lang="en-US" sz="1000" dirty="0" err="1">
                <a:solidFill>
                  <a:srgbClr val="000000"/>
                </a:solidFill>
              </a:rPr>
              <a:t>Licenciatura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en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Sistemas</a:t>
            </a:r>
            <a:r>
              <a:rPr lang="en-US" sz="1000" dirty="0">
                <a:solidFill>
                  <a:srgbClr val="000000"/>
                </a:solidFill>
              </a:rPr>
              <a:t> (</a:t>
            </a:r>
            <a:r>
              <a:rPr lang="en-US" sz="1000" dirty="0" err="1">
                <a:solidFill>
                  <a:srgbClr val="000000"/>
                </a:solidFill>
              </a:rPr>
              <a:t>Incompleto</a:t>
            </a:r>
            <a:r>
              <a:rPr lang="en-US" sz="1000" dirty="0">
                <a:solidFill>
                  <a:srgbClr val="000000"/>
                </a:solidFill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s-AR" dirty="0">
              <a:latin typeface="Graphik"/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5" y="2709462"/>
            <a:ext cx="2702016" cy="3009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latin typeface="Graphik"/>
              </a:rPr>
              <a:t>My professional experience encompasses creating automations, full-stack apps and developing ETL jobs, reports and control panels. I am a creative person who enjoys a good challenge and learning new things.</a:t>
            </a:r>
            <a:endParaRPr lang="en-US" sz="1000" dirty="0">
              <a:solidFill>
                <a:srgbClr val="595959"/>
              </a:solidFill>
              <a:latin typeface="Graphik"/>
            </a:endParaRPr>
          </a:p>
          <a:p>
            <a:pPr marL="171450" indent="-171450">
              <a:buChar char="•"/>
            </a:pPr>
            <a:endParaRPr lang="en-US" sz="1000" dirty="0"/>
          </a:p>
          <a:p>
            <a:endParaRPr lang="es-AR" sz="1000" dirty="0">
              <a:latin typeface="Graphik"/>
            </a:endParaRP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F5B1C679-DFF5-C42C-3C67-B3D6B74019FF}"/>
              </a:ext>
            </a:extLst>
          </p:cNvPr>
          <p:cNvSpPr txBox="1">
            <a:spLocks/>
          </p:cNvSpPr>
          <p:nvPr/>
        </p:nvSpPr>
        <p:spPr>
          <a:xfrm>
            <a:off x="249437" y="4596773"/>
            <a:ext cx="2702015" cy="2722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raphik"/>
              </a:rPr>
              <a:t>Cert </a:t>
            </a:r>
            <a:r>
              <a:rPr lang="en-US" sz="1000" dirty="0" err="1">
                <a:solidFill>
                  <a:srgbClr val="000000"/>
                </a:solidFill>
                <a:latin typeface="Graphik"/>
              </a:rPr>
              <a:t>en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 Cs de Datos </a:t>
            </a:r>
            <a:r>
              <a:rPr lang="en-US" sz="1000" dirty="0" err="1">
                <a:solidFill>
                  <a:srgbClr val="000000"/>
                </a:solidFill>
                <a:latin typeface="Graphik"/>
              </a:rPr>
              <a:t>en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 Digital House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Graphik"/>
              </a:rPr>
              <a:t>Cert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Graphik"/>
              </a:rPr>
              <a:t>en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Graphik"/>
              </a:rPr>
              <a:t> Cs de Datos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Graphik"/>
              </a:rPr>
              <a:t>en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Graphik"/>
              </a:rPr>
              <a:t> Correlation One</a:t>
            </a:r>
            <a:endParaRPr lang="en-US" sz="1000" b="0" i="0" u="none" strike="noStrike" dirty="0">
              <a:solidFill>
                <a:srgbClr val="000000"/>
              </a:solidFill>
              <a:effectLst/>
              <a:latin typeface="Graphik" panose="020B0503030202060203" pitchFamily="34" charset="0"/>
            </a:endParaRPr>
          </a:p>
          <a:p>
            <a:pPr marL="0" indent="0" algn="l" rtl="0" fontAlgn="base">
              <a:buNone/>
            </a:pPr>
            <a:endParaRPr lang="en-US" sz="1000" dirty="0">
              <a:solidFill>
                <a:srgbClr val="000000"/>
              </a:solidFill>
            </a:endParaRPr>
          </a:p>
          <a:p>
            <a:endParaRPr lang="es-AR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511677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Ingles (</a:t>
            </a:r>
            <a:r>
              <a:rPr lang="en-US" dirty="0" err="1"/>
              <a:t>avanzado</a:t>
            </a:r>
            <a:r>
              <a:rPr lang="en-US" dirty="0"/>
              <a:t>)</a:t>
            </a:r>
          </a:p>
          <a:p>
            <a:r>
              <a:rPr lang="en-US" dirty="0" err="1"/>
              <a:t>Portugues</a:t>
            </a:r>
            <a:r>
              <a:rPr lang="en-US" dirty="0"/>
              <a:t> (</a:t>
            </a:r>
            <a:r>
              <a:rPr lang="en-US" dirty="0" err="1"/>
              <a:t>princpiante</a:t>
            </a:r>
            <a:r>
              <a:rPr lang="en-US" dirty="0"/>
              <a:t>)</a:t>
            </a:r>
          </a:p>
          <a:p>
            <a:r>
              <a:rPr lang="en-US" dirty="0" err="1"/>
              <a:t>Español</a:t>
            </a:r>
            <a:r>
              <a:rPr lang="en-US" dirty="0"/>
              <a:t> (</a:t>
            </a:r>
            <a:r>
              <a:rPr lang="en-US" dirty="0" err="1"/>
              <a:t>nativo</a:t>
            </a:r>
            <a:r>
              <a:rPr lang="en-US" dirty="0"/>
              <a:t>)</a:t>
            </a:r>
            <a:endParaRPr lang="es-AR" dirty="0"/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35A5E06F-27C7-2207-0875-01BABFD0C887}"/>
              </a:ext>
            </a:extLst>
          </p:cNvPr>
          <p:cNvSpPr txBox="1">
            <a:spLocks/>
          </p:cNvSpPr>
          <p:nvPr/>
        </p:nvSpPr>
        <p:spPr>
          <a:xfrm>
            <a:off x="4919202" y="5535372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 err="1"/>
              <a:t>Seguros</a:t>
            </a:r>
            <a:endParaRPr lang="en-US" dirty="0"/>
          </a:p>
          <a:p>
            <a:r>
              <a:rPr lang="en-US" dirty="0"/>
              <a:t>Financiera</a:t>
            </a:r>
          </a:p>
          <a:p>
            <a:r>
              <a:rPr lang="en-US" dirty="0"/>
              <a:t>Energía</a:t>
            </a:r>
            <a:endParaRPr lang="es-AR" dirty="0"/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Accenture Technology Data &amp; AI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90076" y="0"/>
            <a:ext cx="5209217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17542" y="57756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 dirty="0">
                <a:solidFill>
                  <a:schemeClr val="accent2"/>
                </a:solidFill>
                <a:latin typeface="+mj-lt"/>
              </a:rPr>
              <a:t>EXPERIENCIA</a:t>
            </a:r>
            <a:endParaRPr lang="en-US" sz="16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07843" y="607317"/>
            <a:ext cx="5081751" cy="52986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endParaRPr lang="en-US" sz="8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530AA-5D53-D81C-6851-9AF0C0CDFDE1}"/>
              </a:ext>
            </a:extLst>
          </p:cNvPr>
          <p:cNvSpPr txBox="1"/>
          <p:nvPr/>
        </p:nvSpPr>
        <p:spPr>
          <a:xfrm>
            <a:off x="6907843" y="310937"/>
            <a:ext cx="5081751" cy="6489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ES" sz="1000" b="1" dirty="0">
                <a:latin typeface="Segoe UI" panose="020B0502040204020203" pitchFamily="34" charset="0"/>
              </a:rPr>
              <a:t>Desarrollador de Aplicaciones </a:t>
            </a:r>
            <a:r>
              <a:rPr lang="es-ES" sz="1000" b="1" dirty="0" err="1">
                <a:latin typeface="Segoe UI" panose="020B0502040204020203" pitchFamily="34" charset="0"/>
              </a:rPr>
              <a:t>Agénticas</a:t>
            </a:r>
            <a:r>
              <a:rPr lang="es-ES" sz="1000" b="1" dirty="0">
                <a:latin typeface="Segoe UI" panose="020B0502040204020203" pitchFamily="34" charset="0"/>
              </a:rPr>
              <a:t> – Accenture (2026)</a:t>
            </a:r>
            <a:endParaRPr lang="es-ES" sz="10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Desarrollo de sistemas de agentes con </a:t>
            </a:r>
            <a:r>
              <a:rPr lang="es-ES" sz="900" b="1" dirty="0">
                <a:latin typeface="Segoe UI" panose="020B0502040204020203" pitchFamily="34" charset="0"/>
              </a:rPr>
              <a:t>Google ADK</a:t>
            </a:r>
            <a:r>
              <a:rPr lang="es-ES" sz="900" dirty="0">
                <a:latin typeface="Segoe UI" panose="020B0502040204020203" pitchFamily="34" charset="0"/>
              </a:rPr>
              <a:t> y </a:t>
            </a:r>
            <a:r>
              <a:rPr lang="es-ES" sz="900" b="1" dirty="0" err="1">
                <a:latin typeface="Segoe UI" panose="020B0502040204020203" pitchFamily="34" charset="0"/>
              </a:rPr>
              <a:t>OpenAI</a:t>
            </a:r>
            <a:r>
              <a:rPr lang="es-ES" sz="900" dirty="0">
                <a:latin typeface="Segoe UI" panose="020B0502040204020203" pitchFamily="34" charset="0"/>
              </a:rPr>
              <a:t> en Python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Arquitectura de agentes desacoplados comunicados mediante </a:t>
            </a:r>
            <a:r>
              <a:rPr lang="es-ES" sz="900" b="1" dirty="0">
                <a:latin typeface="Segoe UI" panose="020B0502040204020203" pitchFamily="34" charset="0"/>
              </a:rPr>
              <a:t>A2A</a:t>
            </a:r>
            <a:endParaRPr lang="es-ES" sz="9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Tool </a:t>
            </a:r>
            <a:r>
              <a:rPr lang="es-ES" sz="900" dirty="0" err="1">
                <a:latin typeface="Segoe UI" panose="020B0502040204020203" pitchFamily="34" charset="0"/>
              </a:rPr>
              <a:t>calling</a:t>
            </a:r>
            <a:r>
              <a:rPr lang="es-ES" sz="900" dirty="0">
                <a:latin typeface="Segoe UI" panose="020B0502040204020203" pitchFamily="34" charset="0"/>
              </a:rPr>
              <a:t> hacia </a:t>
            </a:r>
            <a:r>
              <a:rPr lang="es-ES" sz="900" b="1" dirty="0" err="1">
                <a:latin typeface="Segoe UI" panose="020B0502040204020203" pitchFamily="34" charset="0"/>
              </a:rPr>
              <a:t>APIs</a:t>
            </a:r>
            <a:r>
              <a:rPr lang="es-ES" sz="900" b="1" dirty="0">
                <a:latin typeface="Segoe UI" panose="020B0502040204020203" pitchFamily="34" charset="0"/>
              </a:rPr>
              <a:t> y bases de datos</a:t>
            </a:r>
            <a:r>
              <a:rPr lang="es-ES" sz="900" dirty="0">
                <a:latin typeface="Segoe UI" panose="020B0502040204020203" pitchFamily="34" charset="0"/>
              </a:rPr>
              <a:t> mediante </a:t>
            </a:r>
            <a:r>
              <a:rPr lang="es-ES" sz="900" dirty="0" err="1">
                <a:latin typeface="Segoe UI" panose="020B0502040204020203" pitchFamily="34" charset="0"/>
              </a:rPr>
              <a:t>mocks</a:t>
            </a:r>
            <a:r>
              <a:rPr lang="es-ES" sz="900" dirty="0">
                <a:latin typeface="Segoe UI" panose="020B0502040204020203" pitchFamily="34" charset="0"/>
              </a:rPr>
              <a:t> de servicios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 err="1">
                <a:latin typeface="Segoe UI" panose="020B0502040204020203" pitchFamily="34" charset="0"/>
              </a:rPr>
              <a:t>Contenerización</a:t>
            </a:r>
            <a:r>
              <a:rPr lang="es-ES" sz="900" dirty="0">
                <a:latin typeface="Segoe UI" panose="020B0502040204020203" pitchFamily="34" charset="0"/>
              </a:rPr>
              <a:t> con </a:t>
            </a:r>
            <a:r>
              <a:rPr lang="es-ES" sz="900" b="1" dirty="0">
                <a:latin typeface="Segoe UI" panose="020B0502040204020203" pitchFamily="34" charset="0"/>
              </a:rPr>
              <a:t>Docker</a:t>
            </a:r>
            <a:r>
              <a:rPr lang="es-ES" sz="900" dirty="0">
                <a:latin typeface="Segoe UI" panose="020B0502040204020203" pitchFamily="34" charset="0"/>
              </a:rPr>
              <a:t> y evaluación con </a:t>
            </a:r>
            <a:r>
              <a:rPr lang="es-ES" sz="900" b="1" dirty="0">
                <a:latin typeface="Segoe UI" panose="020B0502040204020203" pitchFamily="34" charset="0"/>
              </a:rPr>
              <a:t>ADK </a:t>
            </a:r>
            <a:r>
              <a:rPr lang="es-ES" sz="900" b="1" dirty="0" err="1">
                <a:latin typeface="Segoe UI" panose="020B0502040204020203" pitchFamily="34" charset="0"/>
              </a:rPr>
              <a:t>EvalKit</a:t>
            </a:r>
            <a:endParaRPr lang="es-ES" sz="90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s-ES" sz="1000" b="1" dirty="0">
                <a:latin typeface="Segoe UI" panose="020B0502040204020203" pitchFamily="34" charset="0"/>
              </a:rPr>
              <a:t>Ingeniero de Datos Python – Accenture (2024–2026)</a:t>
            </a:r>
            <a:endParaRPr lang="es-ES" sz="10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Desarrollo de </a:t>
            </a:r>
            <a:r>
              <a:rPr lang="es-ES" sz="900" b="1" dirty="0">
                <a:latin typeface="Segoe UI" panose="020B0502040204020203" pitchFamily="34" charset="0"/>
              </a:rPr>
              <a:t>pipelines ETL</a:t>
            </a:r>
            <a:r>
              <a:rPr lang="es-ES" sz="900" dirty="0">
                <a:latin typeface="Segoe UI" panose="020B0502040204020203" pitchFamily="34" charset="0"/>
              </a:rPr>
              <a:t> en AWS con </a:t>
            </a:r>
            <a:r>
              <a:rPr lang="es-ES" sz="900" dirty="0" err="1">
                <a:latin typeface="Segoe UI" panose="020B0502040204020203" pitchFamily="34" charset="0"/>
              </a:rPr>
              <a:t>Glue</a:t>
            </a:r>
            <a:r>
              <a:rPr lang="es-ES" sz="900" dirty="0">
                <a:latin typeface="Segoe UI" panose="020B0502040204020203" pitchFamily="34" charset="0"/>
              </a:rPr>
              <a:t>, Lambda, </a:t>
            </a:r>
            <a:r>
              <a:rPr lang="es-ES" sz="900" dirty="0" err="1">
                <a:latin typeface="Segoe UI" panose="020B0502040204020203" pitchFamily="34" charset="0"/>
              </a:rPr>
              <a:t>Athena</a:t>
            </a:r>
            <a:r>
              <a:rPr lang="es-ES" sz="900" dirty="0">
                <a:latin typeface="Segoe UI" panose="020B0502040204020203" pitchFamily="34" charset="0"/>
              </a:rPr>
              <a:t> y S3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Procesamiento de </a:t>
            </a:r>
            <a:r>
              <a:rPr lang="es-ES" sz="900" b="1" dirty="0">
                <a:latin typeface="Segoe UI" panose="020B0502040204020203" pitchFamily="34" charset="0"/>
              </a:rPr>
              <a:t>datos geográficos</a:t>
            </a:r>
            <a:r>
              <a:rPr lang="es-ES" sz="900" dirty="0">
                <a:latin typeface="Segoe UI" panose="020B0502040204020203" pitchFamily="34" charset="0"/>
              </a:rPr>
              <a:t> de múltiples fuentes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Preparación de </a:t>
            </a:r>
            <a:r>
              <a:rPr lang="es-ES" sz="900" dirty="0" err="1">
                <a:latin typeface="Segoe UI" panose="020B0502040204020203" pitchFamily="34" charset="0"/>
              </a:rPr>
              <a:t>datasets</a:t>
            </a:r>
            <a:r>
              <a:rPr lang="es-ES" sz="900" dirty="0">
                <a:latin typeface="Segoe UI" panose="020B0502040204020203" pitchFamily="34" charset="0"/>
              </a:rPr>
              <a:t> para </a:t>
            </a:r>
            <a:r>
              <a:rPr lang="es-ES" sz="900" b="1" dirty="0" err="1">
                <a:latin typeface="Segoe UI" panose="020B0502040204020203" pitchFamily="34" charset="0"/>
              </a:rPr>
              <a:t>frontend</a:t>
            </a:r>
            <a:r>
              <a:rPr lang="es-ES" sz="900" b="1" dirty="0">
                <a:latin typeface="Segoe UI" panose="020B0502040204020203" pitchFamily="34" charset="0"/>
              </a:rPr>
              <a:t> analítico</a:t>
            </a:r>
            <a:endParaRPr lang="es-ES" sz="90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s-ES" sz="1000" b="1" dirty="0">
                <a:latin typeface="Segoe UI" panose="020B0502040204020203" pitchFamily="34" charset="0"/>
              </a:rPr>
              <a:t>Desarrollador </a:t>
            </a:r>
            <a:r>
              <a:rPr lang="es-ES" sz="1000" b="1" dirty="0" err="1">
                <a:latin typeface="Segoe UI" panose="020B0502040204020203" pitchFamily="34" charset="0"/>
              </a:rPr>
              <a:t>GenAI</a:t>
            </a:r>
            <a:r>
              <a:rPr lang="es-ES" sz="1000" b="1" dirty="0">
                <a:latin typeface="Segoe UI" panose="020B0502040204020203" pitchFamily="34" charset="0"/>
              </a:rPr>
              <a:t> – NTT Data (2023–2024)</a:t>
            </a:r>
            <a:endParaRPr lang="es-ES" sz="10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Integración de </a:t>
            </a:r>
            <a:r>
              <a:rPr lang="es-ES" sz="900" b="1" dirty="0">
                <a:latin typeface="Segoe UI" panose="020B0502040204020203" pitchFamily="34" charset="0"/>
              </a:rPr>
              <a:t>Azure </a:t>
            </a:r>
            <a:r>
              <a:rPr lang="es-ES" sz="900" b="1" dirty="0" err="1">
                <a:latin typeface="Segoe UI" panose="020B0502040204020203" pitchFamily="34" charset="0"/>
              </a:rPr>
              <a:t>OpenAI</a:t>
            </a:r>
            <a:r>
              <a:rPr lang="es-ES" sz="900" dirty="0">
                <a:latin typeface="Segoe UI" panose="020B0502040204020203" pitchFamily="34" charset="0"/>
              </a:rPr>
              <a:t> en </a:t>
            </a:r>
            <a:r>
              <a:rPr lang="es-ES" sz="900" dirty="0" err="1">
                <a:latin typeface="Segoe UI" panose="020B0502040204020203" pitchFamily="34" charset="0"/>
              </a:rPr>
              <a:t>chatbot</a:t>
            </a:r>
            <a:r>
              <a:rPr lang="es-ES" sz="900" dirty="0">
                <a:latin typeface="Segoe UI" panose="020B0502040204020203" pitchFamily="34" charset="0"/>
              </a:rPr>
              <a:t> mediante </a:t>
            </a:r>
            <a:r>
              <a:rPr lang="es-ES" sz="900" dirty="0" err="1">
                <a:latin typeface="Segoe UI" panose="020B0502040204020203" pitchFamily="34" charset="0"/>
              </a:rPr>
              <a:t>FastAPI</a:t>
            </a:r>
            <a:endParaRPr lang="es-ES" sz="9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Implementación de </a:t>
            </a:r>
            <a:r>
              <a:rPr lang="es-ES" sz="900" b="1" dirty="0">
                <a:latin typeface="Segoe UI" panose="020B0502040204020203" pitchFamily="34" charset="0"/>
              </a:rPr>
              <a:t>RAG</a:t>
            </a:r>
            <a:r>
              <a:rPr lang="es-ES" sz="900" dirty="0">
                <a:latin typeface="Segoe UI" panose="020B0502040204020203" pitchFamily="34" charset="0"/>
              </a:rPr>
              <a:t> con </a:t>
            </a:r>
            <a:r>
              <a:rPr lang="es-ES" sz="900" dirty="0" err="1">
                <a:latin typeface="Segoe UI" panose="020B0502040204020203" pitchFamily="34" charset="0"/>
              </a:rPr>
              <a:t>LangChain</a:t>
            </a:r>
            <a:r>
              <a:rPr lang="es-ES" sz="900" dirty="0">
                <a:latin typeface="Segoe UI" panose="020B0502040204020203" pitchFamily="34" charset="0"/>
              </a:rPr>
              <a:t> y </a:t>
            </a:r>
            <a:r>
              <a:rPr lang="es-ES" sz="900" dirty="0" err="1">
                <a:latin typeface="Segoe UI" panose="020B0502040204020203" pitchFamily="34" charset="0"/>
              </a:rPr>
              <a:t>Chroma</a:t>
            </a:r>
            <a:endParaRPr lang="es-ES" sz="9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Casos de uso: atención al cliente y búsqueda en SharePoint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Uso de </a:t>
            </a:r>
            <a:r>
              <a:rPr lang="es-ES" sz="900" b="1" dirty="0" err="1">
                <a:latin typeface="Segoe UI" panose="020B0502040204020203" pitchFamily="34" charset="0"/>
              </a:rPr>
              <a:t>Vertex</a:t>
            </a:r>
            <a:r>
              <a:rPr lang="es-ES" sz="900" b="1" dirty="0">
                <a:latin typeface="Segoe UI" panose="020B0502040204020203" pitchFamily="34" charset="0"/>
              </a:rPr>
              <a:t> AI</a:t>
            </a:r>
            <a:r>
              <a:rPr lang="es-ES" sz="900" dirty="0">
                <a:latin typeface="Segoe UI" panose="020B0502040204020203" pitchFamily="34" charset="0"/>
              </a:rPr>
              <a:t> para conversión de PDF a HTML</a:t>
            </a:r>
          </a:p>
          <a:p>
            <a:pPr fontAlgn="t">
              <a:lnSpc>
                <a:spcPts val="1500"/>
              </a:lnSpc>
              <a:buNone/>
            </a:pPr>
            <a:r>
              <a:rPr lang="es-ES" sz="1000" b="1" dirty="0">
                <a:latin typeface="Segoe UI" panose="020B0502040204020203" pitchFamily="34" charset="0"/>
              </a:rPr>
              <a:t>Practicante de Ciencia de Datos – </a:t>
            </a:r>
            <a:r>
              <a:rPr lang="es-ES" sz="1000" b="1" dirty="0" err="1">
                <a:latin typeface="Segoe UI" panose="020B0502040204020203" pitchFamily="34" charset="0"/>
              </a:rPr>
              <a:t>Froneus</a:t>
            </a:r>
            <a:r>
              <a:rPr lang="es-ES" sz="1000" b="1" dirty="0">
                <a:latin typeface="Segoe UI" panose="020B0502040204020203" pitchFamily="34" charset="0"/>
              </a:rPr>
              <a:t> (2022–2023)</a:t>
            </a:r>
            <a:endParaRPr lang="es-ES" sz="10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Mantenimiento de modelo de </a:t>
            </a:r>
            <a:r>
              <a:rPr lang="es-ES" sz="900" b="1" dirty="0">
                <a:latin typeface="Segoe UI" panose="020B0502040204020203" pitchFamily="34" charset="0"/>
              </a:rPr>
              <a:t>clasificación de texto</a:t>
            </a:r>
            <a:r>
              <a:rPr lang="es-ES" sz="900" dirty="0">
                <a:latin typeface="Segoe UI" panose="020B0502040204020203" pitchFamily="34" charset="0"/>
              </a:rPr>
              <a:t> (</a:t>
            </a:r>
            <a:r>
              <a:rPr lang="es-ES" sz="900" dirty="0" err="1">
                <a:latin typeface="Segoe UI" panose="020B0502040204020203" pitchFamily="34" charset="0"/>
              </a:rPr>
              <a:t>scikit-learn</a:t>
            </a:r>
            <a:r>
              <a:rPr lang="es-ES" sz="900" dirty="0">
                <a:latin typeface="Segoe UI" panose="020B0502040204020203" pitchFamily="34" charset="0"/>
              </a:rPr>
              <a:t>) para </a:t>
            </a:r>
            <a:r>
              <a:rPr lang="es-ES" sz="900" dirty="0" err="1">
                <a:latin typeface="Segoe UI" panose="020B0502040204020203" pitchFamily="34" charset="0"/>
              </a:rPr>
              <a:t>voice</a:t>
            </a:r>
            <a:r>
              <a:rPr lang="es-ES" sz="900" dirty="0">
                <a:latin typeface="Segoe UI" panose="020B0502040204020203" pitchFamily="34" charset="0"/>
              </a:rPr>
              <a:t> </a:t>
            </a:r>
            <a:r>
              <a:rPr lang="es-ES" sz="900" dirty="0" err="1">
                <a:latin typeface="Segoe UI" panose="020B0502040204020203" pitchFamily="34" charset="0"/>
              </a:rPr>
              <a:t>bot</a:t>
            </a:r>
            <a:endParaRPr lang="es-ES" sz="9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Desarrollo de pipeline </a:t>
            </a:r>
            <a:r>
              <a:rPr lang="es-ES" sz="900" b="1" dirty="0">
                <a:latin typeface="Segoe UI" panose="020B0502040204020203" pitchFamily="34" charset="0"/>
              </a:rPr>
              <a:t>ETL en </a:t>
            </a:r>
            <a:r>
              <a:rPr lang="es-ES" sz="900" b="1" dirty="0" err="1">
                <a:latin typeface="Segoe UI" panose="020B0502040204020203" pitchFamily="34" charset="0"/>
              </a:rPr>
              <a:t>PySpark</a:t>
            </a:r>
            <a:r>
              <a:rPr lang="es-ES" sz="900" b="1" dirty="0">
                <a:latin typeface="Segoe UI" panose="020B0502040204020203" pitchFamily="34" charset="0"/>
              </a:rPr>
              <a:t> (</a:t>
            </a:r>
            <a:r>
              <a:rPr lang="es-ES" sz="900" b="1" dirty="0" err="1">
                <a:latin typeface="Segoe UI" panose="020B0502040204020203" pitchFamily="34" charset="0"/>
              </a:rPr>
              <a:t>Databricks</a:t>
            </a:r>
            <a:r>
              <a:rPr lang="es-ES" sz="900" b="1" dirty="0">
                <a:latin typeface="Segoe UI" panose="020B0502040204020203" pitchFamily="34" charset="0"/>
              </a:rPr>
              <a:t>)</a:t>
            </a:r>
            <a:r>
              <a:rPr lang="es-ES" sz="900" dirty="0">
                <a:latin typeface="Segoe UI" panose="020B0502040204020203" pitchFamily="34" charset="0"/>
              </a:rPr>
              <a:t> de MongoDB a PostgreSQL</a:t>
            </a:r>
          </a:p>
          <a:p>
            <a:pPr fontAlgn="t">
              <a:lnSpc>
                <a:spcPts val="1500"/>
              </a:lnSpc>
              <a:buNone/>
            </a:pPr>
            <a:r>
              <a:rPr lang="es-ES" sz="1000" b="1" dirty="0">
                <a:latin typeface="Segoe UI" panose="020B0502040204020203" pitchFamily="34" charset="0"/>
              </a:rPr>
              <a:t>Programador Python – </a:t>
            </a:r>
            <a:r>
              <a:rPr lang="es-ES" sz="1000" b="1" dirty="0" err="1">
                <a:latin typeface="Segoe UI" panose="020B0502040204020203" pitchFamily="34" charset="0"/>
              </a:rPr>
              <a:t>Forian</a:t>
            </a:r>
            <a:r>
              <a:rPr lang="es-ES" sz="1000" b="1" dirty="0">
                <a:latin typeface="Segoe UI" panose="020B0502040204020203" pitchFamily="34" charset="0"/>
              </a:rPr>
              <a:t> (2020–2022)</a:t>
            </a:r>
            <a:endParaRPr lang="es-ES" sz="10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Desarrollo de </a:t>
            </a:r>
            <a:r>
              <a:rPr lang="es-ES" sz="900" dirty="0" err="1">
                <a:latin typeface="Segoe UI" panose="020B0502040204020203" pitchFamily="34" charset="0"/>
              </a:rPr>
              <a:t>dashboard</a:t>
            </a:r>
            <a:r>
              <a:rPr lang="es-ES" sz="900" dirty="0">
                <a:latin typeface="Segoe UI" panose="020B0502040204020203" pitchFamily="34" charset="0"/>
              </a:rPr>
              <a:t> con </a:t>
            </a:r>
            <a:r>
              <a:rPr lang="es-ES" sz="900" b="1" dirty="0">
                <a:latin typeface="Segoe UI" panose="020B0502040204020203" pitchFamily="34" charset="0"/>
              </a:rPr>
              <a:t>Django + PostgreSQL</a:t>
            </a:r>
            <a:endParaRPr lang="es-ES" sz="9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Optimización de base de datos y pipelines ETL en Python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Modelo de clasificación de texto en producción (</a:t>
            </a:r>
            <a:r>
              <a:rPr lang="es-ES" sz="900" dirty="0" err="1">
                <a:latin typeface="Segoe UI" panose="020B0502040204020203" pitchFamily="34" charset="0"/>
              </a:rPr>
              <a:t>scikit-learn</a:t>
            </a:r>
            <a:r>
              <a:rPr lang="es-ES" sz="900" dirty="0">
                <a:latin typeface="Segoe UI" panose="020B0502040204020203" pitchFamily="34" charset="0"/>
              </a:rPr>
              <a:t>)</a:t>
            </a:r>
          </a:p>
          <a:p>
            <a:pPr fontAlgn="t">
              <a:lnSpc>
                <a:spcPts val="1500"/>
              </a:lnSpc>
              <a:buNone/>
            </a:pPr>
            <a:r>
              <a:rPr lang="es-ES" sz="1000" b="1" dirty="0">
                <a:latin typeface="Segoe UI" panose="020B0502040204020203" pitchFamily="34" charset="0"/>
              </a:rPr>
              <a:t>Practicante de Ciencia de Datos – BNP </a:t>
            </a:r>
            <a:r>
              <a:rPr lang="es-ES" sz="1000" b="1" dirty="0" err="1">
                <a:latin typeface="Segoe UI" panose="020B0502040204020203" pitchFamily="34" charset="0"/>
              </a:rPr>
              <a:t>Paribas</a:t>
            </a:r>
            <a:r>
              <a:rPr lang="es-ES" sz="1000" b="1" dirty="0">
                <a:latin typeface="Segoe UI" panose="020B0502040204020203" pitchFamily="34" charset="0"/>
              </a:rPr>
              <a:t> </a:t>
            </a:r>
            <a:r>
              <a:rPr lang="es-ES" sz="1000" b="1" dirty="0" err="1">
                <a:latin typeface="Segoe UI" panose="020B0502040204020203" pitchFamily="34" charset="0"/>
              </a:rPr>
              <a:t>Cardif</a:t>
            </a:r>
            <a:r>
              <a:rPr lang="es-ES" sz="1000" b="1" dirty="0">
                <a:latin typeface="Segoe UI" panose="020B0502040204020203" pitchFamily="34" charset="0"/>
              </a:rPr>
              <a:t> (2019–2020)</a:t>
            </a:r>
            <a:endParaRPr lang="es-ES" sz="10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Modelos predictivos con </a:t>
            </a:r>
            <a:r>
              <a:rPr lang="es-ES" sz="900" b="1" dirty="0" err="1">
                <a:latin typeface="Segoe UI" panose="020B0502040204020203" pitchFamily="34" charset="0"/>
              </a:rPr>
              <a:t>scikit-learn</a:t>
            </a:r>
            <a:r>
              <a:rPr lang="es-ES" sz="900" b="1" dirty="0">
                <a:latin typeface="Segoe UI" panose="020B0502040204020203" pitchFamily="34" charset="0"/>
              </a:rPr>
              <a:t> y </a:t>
            </a:r>
            <a:r>
              <a:rPr lang="es-ES" sz="900" b="1" dirty="0" err="1">
                <a:latin typeface="Segoe UI" panose="020B0502040204020203" pitchFamily="34" charset="0"/>
              </a:rPr>
              <a:t>XGBoost</a:t>
            </a:r>
            <a:r>
              <a:rPr lang="es-ES" sz="900" dirty="0">
                <a:latin typeface="Segoe UI" panose="020B0502040204020203" pitchFamily="34" charset="0"/>
              </a:rPr>
              <a:t> para reclamaciones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Reglas de asociación (</a:t>
            </a:r>
            <a:r>
              <a:rPr lang="es-ES" sz="900" b="1" dirty="0" err="1">
                <a:latin typeface="Segoe UI" panose="020B0502040204020203" pitchFamily="34" charset="0"/>
              </a:rPr>
              <a:t>Apriori</a:t>
            </a:r>
            <a:r>
              <a:rPr lang="es-ES" sz="900" dirty="0">
                <a:latin typeface="Segoe UI" panose="020B0502040204020203" pitchFamily="34" charset="0"/>
              </a:rPr>
              <a:t>) para análisis de campañas</a:t>
            </a:r>
          </a:p>
          <a:p>
            <a:pPr fontAlgn="t">
              <a:lnSpc>
                <a:spcPts val="1500"/>
              </a:lnSpc>
              <a:buNone/>
            </a:pPr>
            <a:r>
              <a:rPr lang="es-ES" sz="1000" b="1" dirty="0">
                <a:latin typeface="Segoe UI" panose="020B0502040204020203" pitchFamily="34" charset="0"/>
              </a:rPr>
              <a:t>Practicante de Ciencia de Datos – </a:t>
            </a:r>
            <a:r>
              <a:rPr lang="es-ES" sz="1000" b="1" dirty="0" err="1">
                <a:latin typeface="Segoe UI" panose="020B0502040204020203" pitchFamily="34" charset="0"/>
              </a:rPr>
              <a:t>Overactive</a:t>
            </a:r>
            <a:r>
              <a:rPr lang="es-ES" sz="1000" b="1" dirty="0">
                <a:latin typeface="Segoe UI" panose="020B0502040204020203" pitchFamily="34" charset="0"/>
              </a:rPr>
              <a:t> (2018–2019)</a:t>
            </a:r>
            <a:endParaRPr lang="es-ES" sz="10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Clasificación de texto con </a:t>
            </a:r>
            <a:r>
              <a:rPr lang="es-ES" sz="900" dirty="0" err="1">
                <a:latin typeface="Segoe UI" panose="020B0502040204020203" pitchFamily="34" charset="0"/>
              </a:rPr>
              <a:t>scikit-learn</a:t>
            </a:r>
            <a:r>
              <a:rPr lang="es-ES" sz="900" dirty="0">
                <a:latin typeface="Segoe UI" panose="020B0502040204020203" pitchFamily="34" charset="0"/>
              </a:rPr>
              <a:t> para </a:t>
            </a:r>
            <a:r>
              <a:rPr lang="es-ES" sz="900" b="1" dirty="0">
                <a:latin typeface="Segoe UI" panose="020B0502040204020203" pitchFamily="34" charset="0"/>
              </a:rPr>
              <a:t>moderación de comentarios</a:t>
            </a:r>
            <a:endParaRPr lang="es-ES" sz="90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s-ES" sz="1000" b="1" dirty="0">
                <a:latin typeface="Segoe UI" panose="020B0502040204020203" pitchFamily="34" charset="0"/>
              </a:rPr>
              <a:t>Practicante de Ciencia de Datos – </a:t>
            </a:r>
            <a:r>
              <a:rPr lang="es-ES" sz="1000" b="1" dirty="0" err="1">
                <a:latin typeface="Segoe UI" panose="020B0502040204020203" pitchFamily="34" charset="0"/>
              </a:rPr>
              <a:t>Bizmetriks</a:t>
            </a:r>
            <a:r>
              <a:rPr lang="es-ES" sz="1000" b="1" dirty="0">
                <a:latin typeface="Segoe UI" panose="020B0502040204020203" pitchFamily="34" charset="0"/>
              </a:rPr>
              <a:t> (2018)</a:t>
            </a:r>
            <a:endParaRPr lang="es-ES" sz="10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Segmentación de clientes con </a:t>
            </a:r>
            <a:r>
              <a:rPr lang="es-ES" sz="900" b="1" dirty="0">
                <a:latin typeface="Segoe UI" panose="020B0502040204020203" pitchFamily="34" charset="0"/>
              </a:rPr>
              <a:t>K-</a:t>
            </a:r>
            <a:r>
              <a:rPr lang="es-ES" sz="900" b="1" dirty="0" err="1">
                <a:latin typeface="Segoe UI" panose="020B0502040204020203" pitchFamily="34" charset="0"/>
              </a:rPr>
              <a:t>Means</a:t>
            </a:r>
            <a:endParaRPr lang="es-ES" sz="9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ETL en Python consumiendo </a:t>
            </a:r>
            <a:r>
              <a:rPr lang="es-ES" sz="900" b="1" dirty="0">
                <a:latin typeface="Segoe UI" panose="020B0502040204020203" pitchFamily="34" charset="0"/>
              </a:rPr>
              <a:t>API REST (HAL)</a:t>
            </a:r>
            <a:endParaRPr lang="es-ES" sz="9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s-ES" sz="900" dirty="0">
                <a:latin typeface="Segoe UI" panose="020B0502040204020203" pitchFamily="34" charset="0"/>
              </a:rPr>
              <a:t>Análisis estadístico de </a:t>
            </a:r>
            <a:r>
              <a:rPr lang="es-ES" sz="900" b="1" dirty="0" err="1">
                <a:latin typeface="Segoe UI" panose="020B0502040204020203" pitchFamily="34" charset="0"/>
              </a:rPr>
              <a:t>churn</a:t>
            </a:r>
            <a:r>
              <a:rPr lang="es-ES" sz="900" b="1" dirty="0">
                <a:latin typeface="Segoe UI" panose="020B0502040204020203" pitchFamily="34" charset="0"/>
              </a:rPr>
              <a:t> y deuda de clientes</a:t>
            </a: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Leandro Bravo</a:t>
            </a: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Graphik Black"/>
              </a:rPr>
              <a:t>Data Eng, </a:t>
            </a:r>
            <a:r>
              <a:rPr lang="en-US" dirty="0" err="1">
                <a:solidFill>
                  <a:schemeClr val="accent3"/>
                </a:solidFill>
                <a:latin typeface="Graphik Black"/>
              </a:rPr>
              <a:t>Mgmt</a:t>
            </a:r>
            <a:r>
              <a:rPr lang="en-US" dirty="0">
                <a:solidFill>
                  <a:schemeClr val="accent3"/>
                </a:solidFill>
                <a:latin typeface="Graphik Black"/>
              </a:rPr>
              <a:t> &amp; Gov Specialist</a:t>
            </a:r>
          </a:p>
          <a:p>
            <a:pPr marL="0" indent="0">
              <a:buNone/>
            </a:pPr>
            <a:r>
              <a:rPr lang="es-AR" sz="1200" dirty="0" err="1"/>
              <a:t>Technology</a:t>
            </a:r>
            <a:r>
              <a:rPr lang="es-AR" sz="1200" dirty="0"/>
              <a:t> / Data &amp; AI</a:t>
            </a:r>
          </a:p>
          <a:p>
            <a:pPr marL="0" indent="0">
              <a:buNone/>
            </a:pPr>
            <a:r>
              <a:rPr lang="en-US" sz="1200" b="1" dirty="0" err="1">
                <a:latin typeface="Graphik"/>
              </a:rPr>
              <a:t>leandro.bravo</a:t>
            </a:r>
            <a:r>
              <a:rPr lang="es-AR" sz="1200" b="1" dirty="0">
                <a:latin typeface="Graphik"/>
              </a:rPr>
              <a:t>@accenture.com</a:t>
            </a:r>
            <a:endParaRPr lang="en-US" sz="1200" b="1" dirty="0">
              <a:latin typeface="Graphik"/>
            </a:endParaRP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Argentina</a:t>
            </a:r>
            <a:endParaRPr lang="en-US" sz="1200" dirty="0"/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946E00-966C-504F-8587-9DD04432E8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5552" y="764813"/>
            <a:ext cx="1515933" cy="1518138"/>
          </a:xfrm>
          <a:prstGeom prst="ellipse">
            <a:avLst/>
          </a:prstGeom>
          <a:ln>
            <a:solidFill>
              <a:srgbClr val="C5C5C5"/>
            </a:solidFill>
          </a:ln>
          <a:effectLst>
            <a:softEdge rad="0"/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2480" cy="974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00869" y="2349360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429619"/>
            <a:ext cx="2903835" cy="2136594"/>
            <a:chOff x="652656" y="2462768"/>
            <a:chExt cx="2903835" cy="2136594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PROFESSIONAL BACKGROUND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1B6E0D27-DFC9-0BED-62DE-B980A526E12C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4385441"/>
              <a:ext cx="2887778" cy="213921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SPECIALIZATIONS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3611504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585659" y="2864594"/>
            <a:ext cx="266854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900" dirty="0"/>
              <a:t>Python Backend: </a:t>
            </a:r>
            <a:r>
              <a:rPr lang="en-US" sz="900" b="0" dirty="0" err="1">
                <a:solidFill>
                  <a:srgbClr val="000000"/>
                </a:solidFill>
              </a:rPr>
              <a:t>FastAPI</a:t>
            </a:r>
            <a:r>
              <a:rPr lang="en-US" sz="900" b="0" dirty="0">
                <a:solidFill>
                  <a:srgbClr val="000000"/>
                </a:solidFill>
              </a:rPr>
              <a:t>, </a:t>
            </a:r>
            <a:r>
              <a:rPr lang="en-US" sz="900" b="0" dirty="0" err="1">
                <a:solidFill>
                  <a:srgbClr val="000000"/>
                </a:solidFill>
              </a:rPr>
              <a:t>Sqlalchemy</a:t>
            </a:r>
            <a:r>
              <a:rPr lang="en-US" sz="900" b="0" dirty="0">
                <a:solidFill>
                  <a:srgbClr val="000000"/>
                </a:solidFill>
              </a:rPr>
              <a:t>, Flask, Django, </a:t>
            </a:r>
            <a:r>
              <a:rPr lang="en-US" sz="900" b="0" dirty="0" err="1">
                <a:solidFill>
                  <a:srgbClr val="000000"/>
                </a:solidFill>
              </a:rPr>
              <a:t>Pydantic</a:t>
            </a:r>
            <a:r>
              <a:rPr lang="en-US" sz="900" b="0" dirty="0">
                <a:solidFill>
                  <a:srgbClr val="000000"/>
                </a:solidFill>
              </a:rPr>
              <a:t>.</a:t>
            </a:r>
          </a:p>
          <a:p>
            <a:r>
              <a:rPr lang="en-US" sz="900" dirty="0"/>
              <a:t>Python DS: </a:t>
            </a:r>
            <a:r>
              <a:rPr lang="en-US" sz="900" b="0" dirty="0">
                <a:solidFill>
                  <a:srgbClr val="000000"/>
                </a:solidFill>
              </a:rPr>
              <a:t>Pandas, </a:t>
            </a:r>
            <a:r>
              <a:rPr lang="en-US" sz="900" b="0" dirty="0" err="1">
                <a:solidFill>
                  <a:srgbClr val="000000"/>
                </a:solidFill>
              </a:rPr>
              <a:t>Scikiit</a:t>
            </a:r>
            <a:r>
              <a:rPr lang="en-US" sz="900" b="0" dirty="0">
                <a:solidFill>
                  <a:srgbClr val="000000"/>
                </a:solidFill>
              </a:rPr>
              <a:t>-learn, </a:t>
            </a:r>
            <a:r>
              <a:rPr lang="en-US" sz="900" b="0" dirty="0" err="1">
                <a:solidFill>
                  <a:srgbClr val="000000"/>
                </a:solidFill>
              </a:rPr>
              <a:t>Scipy</a:t>
            </a:r>
            <a:r>
              <a:rPr lang="en-US" sz="900" b="0" dirty="0">
                <a:solidFill>
                  <a:srgbClr val="000000"/>
                </a:solidFill>
              </a:rPr>
              <a:t>, </a:t>
            </a:r>
            <a:r>
              <a:rPr lang="en-US" sz="900" b="0" dirty="0" err="1">
                <a:solidFill>
                  <a:srgbClr val="000000"/>
                </a:solidFill>
              </a:rPr>
              <a:t>Numpy</a:t>
            </a:r>
            <a:r>
              <a:rPr lang="en-US" sz="900" b="0" dirty="0">
                <a:solidFill>
                  <a:srgbClr val="000000"/>
                </a:solidFill>
              </a:rPr>
              <a:t>, </a:t>
            </a:r>
            <a:r>
              <a:rPr lang="en-US" sz="900" b="0" dirty="0" err="1">
                <a:solidFill>
                  <a:srgbClr val="000000"/>
                </a:solidFill>
              </a:rPr>
              <a:t>PySpark</a:t>
            </a:r>
            <a:r>
              <a:rPr lang="en-US" sz="900" b="0" dirty="0">
                <a:solidFill>
                  <a:srgbClr val="000000"/>
                </a:solidFill>
              </a:rPr>
              <a:t>, Seaborn, h3, </a:t>
            </a:r>
            <a:r>
              <a:rPr lang="en-US" sz="900" b="0" dirty="0" err="1">
                <a:solidFill>
                  <a:srgbClr val="000000"/>
                </a:solidFill>
              </a:rPr>
              <a:t>GeoPandas</a:t>
            </a:r>
            <a:r>
              <a:rPr lang="en-US" sz="900" b="0" dirty="0">
                <a:solidFill>
                  <a:srgbClr val="000000"/>
                </a:solidFill>
              </a:rPr>
              <a:t>, Shapely</a:t>
            </a:r>
          </a:p>
          <a:p>
            <a:r>
              <a:rPr lang="en-US" sz="900" dirty="0"/>
              <a:t>GenAI: </a:t>
            </a:r>
            <a:r>
              <a:rPr lang="en-US" sz="900" b="0" dirty="0">
                <a:solidFill>
                  <a:srgbClr val="000000"/>
                </a:solidFill>
              </a:rPr>
              <a:t>OpenAI, </a:t>
            </a:r>
            <a:r>
              <a:rPr lang="en-US" sz="900" b="0" dirty="0" err="1">
                <a:solidFill>
                  <a:srgbClr val="000000"/>
                </a:solidFill>
              </a:rPr>
              <a:t>VertexAI</a:t>
            </a:r>
            <a:r>
              <a:rPr lang="en-US" sz="900" b="0" dirty="0">
                <a:solidFill>
                  <a:srgbClr val="000000"/>
                </a:solidFill>
              </a:rPr>
              <a:t>, </a:t>
            </a:r>
            <a:r>
              <a:rPr lang="en-US" sz="900" b="0" dirty="0" err="1">
                <a:solidFill>
                  <a:srgbClr val="000000"/>
                </a:solidFill>
              </a:rPr>
              <a:t>Langchain</a:t>
            </a:r>
            <a:r>
              <a:rPr lang="en-US" sz="900" b="0" dirty="0">
                <a:solidFill>
                  <a:srgbClr val="000000"/>
                </a:solidFill>
              </a:rPr>
              <a:t>, </a:t>
            </a:r>
            <a:r>
              <a:rPr lang="en-US" sz="900" b="0" dirty="0" err="1">
                <a:solidFill>
                  <a:srgbClr val="000000"/>
                </a:solidFill>
              </a:rPr>
              <a:t>LangGraph</a:t>
            </a:r>
            <a:r>
              <a:rPr lang="en-US" sz="900" b="0" dirty="0">
                <a:solidFill>
                  <a:srgbClr val="000000"/>
                </a:solidFill>
              </a:rPr>
              <a:t>, ADK, </a:t>
            </a:r>
            <a:r>
              <a:rPr lang="en-US" sz="900" b="0" dirty="0" err="1">
                <a:solidFill>
                  <a:srgbClr val="000000"/>
                </a:solidFill>
              </a:rPr>
              <a:t>Pydantic</a:t>
            </a:r>
            <a:r>
              <a:rPr lang="en-US" sz="900" b="0" dirty="0">
                <a:solidFill>
                  <a:srgbClr val="000000"/>
                </a:solidFill>
              </a:rPr>
              <a:t> AI</a:t>
            </a:r>
          </a:p>
          <a:p>
            <a:r>
              <a:rPr lang="en-US" sz="900" dirty="0"/>
              <a:t>Databases: </a:t>
            </a:r>
            <a:r>
              <a:rPr lang="en-US" sz="900" b="0" dirty="0" err="1">
                <a:solidFill>
                  <a:srgbClr val="000000"/>
                </a:solidFill>
              </a:rPr>
              <a:t>Postgresql</a:t>
            </a:r>
            <a:r>
              <a:rPr lang="en-US" sz="900" b="0" dirty="0">
                <a:solidFill>
                  <a:srgbClr val="000000"/>
                </a:solidFill>
              </a:rPr>
              <a:t>, MySQL, MongoDB, ArcGIS</a:t>
            </a:r>
          </a:p>
          <a:p>
            <a:r>
              <a:rPr lang="en-US" sz="900" dirty="0"/>
              <a:t>Containerization: </a:t>
            </a:r>
            <a:r>
              <a:rPr lang="en-US" sz="900" b="0" dirty="0">
                <a:solidFill>
                  <a:srgbClr val="000000"/>
                </a:solidFill>
              </a:rPr>
              <a:t>Docker, Compose, Rancher, Kubernetes.</a:t>
            </a:r>
          </a:p>
          <a:p>
            <a:r>
              <a:rPr lang="en-US" sz="900" dirty="0"/>
              <a:t>Cloud: </a:t>
            </a:r>
            <a:r>
              <a:rPr lang="en-US" sz="900" b="0" dirty="0">
                <a:solidFill>
                  <a:srgbClr val="000000"/>
                </a:solidFill>
              </a:rPr>
              <a:t>Azure AKS, Azure WebApp Service, Azure OpenAI </a:t>
            </a:r>
            <a:r>
              <a:rPr lang="en-US" sz="900" b="0" dirty="0" err="1">
                <a:solidFill>
                  <a:srgbClr val="000000"/>
                </a:solidFill>
              </a:rPr>
              <a:t>Servcice</a:t>
            </a:r>
            <a:r>
              <a:rPr lang="en-US" sz="900" b="0" dirty="0">
                <a:solidFill>
                  <a:srgbClr val="000000"/>
                </a:solidFill>
              </a:rPr>
              <a:t>, AWS Glue &amp; Lambda, GCP </a:t>
            </a:r>
            <a:r>
              <a:rPr lang="en-US" sz="900" b="0" dirty="0" err="1">
                <a:solidFill>
                  <a:srgbClr val="000000"/>
                </a:solidFill>
              </a:rPr>
              <a:t>VertexAI</a:t>
            </a:r>
            <a:r>
              <a:rPr lang="en-US" sz="900" b="0" dirty="0">
                <a:solidFill>
                  <a:srgbClr val="000000"/>
                </a:solidFill>
              </a:rPr>
              <a:t>.</a:t>
            </a:r>
            <a:endParaRPr lang="en-US" sz="900" dirty="0"/>
          </a:p>
          <a:p>
            <a:r>
              <a:rPr lang="en-US" sz="900">
                <a:solidFill>
                  <a:srgbClr val="460073"/>
                </a:solidFill>
              </a:rPr>
              <a:t>Other: </a:t>
            </a:r>
            <a:r>
              <a:rPr lang="en-US" sz="900" b="0">
                <a:solidFill>
                  <a:srgbClr val="000000"/>
                </a:solidFill>
              </a:rPr>
              <a:t>Nodejs</a:t>
            </a:r>
            <a:endParaRPr lang="en-US" sz="900" b="0" dirty="0">
              <a:solidFill>
                <a:srgbClr val="000000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49438" y="3861758"/>
            <a:ext cx="3106657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Bachelor in Computer Science (Incomplete)</a:t>
            </a:r>
            <a:endParaRPr lang="en-US" sz="1000" dirty="0"/>
          </a:p>
          <a:p>
            <a:endParaRPr lang="es-AR" dirty="0">
              <a:latin typeface="Graphik"/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5" y="2709462"/>
            <a:ext cx="2702016" cy="3009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latin typeface="Graphik"/>
              </a:rPr>
              <a:t>My professional experience encompasses creating automations, full-stack apps and developing ETL jobs, reports and control panels. I am a creative person who enjoys a good challenge and learning new things.</a:t>
            </a:r>
            <a:endParaRPr lang="en-US" sz="1000" dirty="0">
              <a:solidFill>
                <a:srgbClr val="595959"/>
              </a:solidFill>
              <a:latin typeface="Graphik"/>
            </a:endParaRPr>
          </a:p>
          <a:p>
            <a:pPr marL="171450" indent="-171450">
              <a:buChar char="•"/>
            </a:pPr>
            <a:endParaRPr lang="en-US" sz="1000" dirty="0"/>
          </a:p>
          <a:p>
            <a:endParaRPr lang="es-AR" sz="1000" dirty="0">
              <a:latin typeface="Graphik"/>
            </a:endParaRP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F5B1C679-DFF5-C42C-3C67-B3D6B74019FF}"/>
              </a:ext>
            </a:extLst>
          </p:cNvPr>
          <p:cNvSpPr txBox="1">
            <a:spLocks/>
          </p:cNvSpPr>
          <p:nvPr/>
        </p:nvSpPr>
        <p:spPr>
          <a:xfrm>
            <a:off x="249437" y="4596773"/>
            <a:ext cx="2702015" cy="2722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raphik"/>
              </a:rPr>
              <a:t>Data Science Certificate in Digital House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Graphik"/>
              </a:rPr>
              <a:t>Correlation 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O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Graphik"/>
              </a:rPr>
              <a:t>ne DS Certificate</a:t>
            </a:r>
            <a:endParaRPr lang="en-US" sz="1000" b="0" i="0" u="none" strike="noStrike" dirty="0">
              <a:solidFill>
                <a:srgbClr val="000000"/>
              </a:solidFill>
              <a:effectLst/>
              <a:latin typeface="Graphik" panose="020B0503030202060203" pitchFamily="34" charset="0"/>
            </a:endParaRPr>
          </a:p>
          <a:p>
            <a:pPr marL="0" indent="0" algn="l" rtl="0" fontAlgn="base">
              <a:buNone/>
            </a:pPr>
            <a:endParaRPr lang="en-US" sz="1000" dirty="0">
              <a:solidFill>
                <a:srgbClr val="000000"/>
              </a:solidFill>
            </a:endParaRPr>
          </a:p>
          <a:p>
            <a:endParaRPr lang="es-AR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511677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English (advanced)</a:t>
            </a:r>
          </a:p>
          <a:p>
            <a:r>
              <a:rPr lang="en-US" dirty="0"/>
              <a:t>Portuguese (beginner)</a:t>
            </a:r>
          </a:p>
          <a:p>
            <a:r>
              <a:rPr lang="en-US" dirty="0"/>
              <a:t>Spanish (native)</a:t>
            </a:r>
            <a:endParaRPr lang="es-AR" dirty="0"/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35A5E06F-27C7-2207-0875-01BABFD0C887}"/>
              </a:ext>
            </a:extLst>
          </p:cNvPr>
          <p:cNvSpPr txBox="1">
            <a:spLocks/>
          </p:cNvSpPr>
          <p:nvPr/>
        </p:nvSpPr>
        <p:spPr>
          <a:xfrm>
            <a:off x="4919202" y="5535372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Insurance</a:t>
            </a:r>
          </a:p>
          <a:p>
            <a:r>
              <a:rPr lang="en-US" dirty="0"/>
              <a:t>Financial</a:t>
            </a:r>
          </a:p>
          <a:p>
            <a:r>
              <a:rPr lang="en-US" dirty="0"/>
              <a:t>Energy</a:t>
            </a:r>
            <a:endParaRPr lang="es-AR" dirty="0"/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Accenture Technology Data &amp; 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965063-685B-A148-DC57-1C14F1387878}"/>
              </a:ext>
            </a:extLst>
          </p:cNvPr>
          <p:cNvSpPr/>
          <p:nvPr/>
        </p:nvSpPr>
        <p:spPr>
          <a:xfrm>
            <a:off x="6790076" y="0"/>
            <a:ext cx="5209217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8FF540B7-417A-6705-5E14-00C9E126A824}"/>
              </a:ext>
            </a:extLst>
          </p:cNvPr>
          <p:cNvSpPr txBox="1">
            <a:spLocks/>
          </p:cNvSpPr>
          <p:nvPr/>
        </p:nvSpPr>
        <p:spPr>
          <a:xfrm>
            <a:off x="6917542" y="57756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 dirty="0">
                <a:solidFill>
                  <a:schemeClr val="accent2"/>
                </a:solidFill>
                <a:latin typeface="+mj-lt"/>
              </a:rPr>
              <a:t>EXPERIENCIA</a:t>
            </a:r>
            <a:endParaRPr lang="en-US" sz="16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B9D01CF-DF02-C0B2-4148-DA1100FFED5F}"/>
              </a:ext>
            </a:extLst>
          </p:cNvPr>
          <p:cNvSpPr txBox="1">
            <a:spLocks/>
          </p:cNvSpPr>
          <p:nvPr/>
        </p:nvSpPr>
        <p:spPr>
          <a:xfrm>
            <a:off x="6907843" y="607317"/>
            <a:ext cx="5081751" cy="52986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endParaRPr lang="en-US" sz="8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001E2F-F237-4AB1-7D1E-3378FC8D3CF3}"/>
              </a:ext>
            </a:extLst>
          </p:cNvPr>
          <p:cNvSpPr txBox="1"/>
          <p:nvPr/>
        </p:nvSpPr>
        <p:spPr>
          <a:xfrm>
            <a:off x="6917542" y="310936"/>
            <a:ext cx="5081751" cy="6489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t">
              <a:lnSpc>
                <a:spcPts val="1500"/>
              </a:lnSpc>
            </a:pPr>
            <a:r>
              <a:rPr lang="en-US" sz="1000" b="1" dirty="0">
                <a:latin typeface="Segoe UI" panose="020B0502040204020203" pitchFamily="34" charset="0"/>
              </a:rPr>
              <a:t>Agentic Applications Developer – Accenture (2026)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Developed an LLM-based agent system using Google ADK and OpenAI in Python.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Designed decoupled agents communicating through the A2A protocol.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Implemented tool calling to APIs and databases using service mocks.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Containerized with Docker and evaluated agents using ADK </a:t>
            </a:r>
            <a:r>
              <a:rPr lang="en-US" sz="900" dirty="0" err="1">
                <a:latin typeface="Segoe UI" panose="020B0502040204020203" pitchFamily="34" charset="0"/>
              </a:rPr>
              <a:t>EvalKit</a:t>
            </a:r>
            <a:r>
              <a:rPr lang="en-US" sz="900" dirty="0">
                <a:latin typeface="Segoe UI" panose="020B0502040204020203" pitchFamily="34" charset="0"/>
              </a:rPr>
              <a:t>.</a:t>
            </a:r>
          </a:p>
          <a:p>
            <a:pPr fontAlgn="t">
              <a:lnSpc>
                <a:spcPts val="1500"/>
              </a:lnSpc>
            </a:pPr>
            <a:r>
              <a:rPr lang="en-US" sz="1000" b="1" dirty="0">
                <a:latin typeface="Segoe UI" panose="020B0502040204020203" pitchFamily="34" charset="0"/>
              </a:rPr>
              <a:t>Python Data Engineer – Accenture (2024–2026)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Built ETL pipelines on AWS using Glue, Lambda, Athena, and S3.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Processed geospatial data from multiple sources.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Prepared datasets for an analytical frontend.</a:t>
            </a:r>
          </a:p>
          <a:p>
            <a:pPr fontAlgn="t">
              <a:lnSpc>
                <a:spcPts val="1500"/>
              </a:lnSpc>
            </a:pPr>
            <a:r>
              <a:rPr lang="en-US" sz="1000" b="1" dirty="0">
                <a:latin typeface="Segoe UI" panose="020B0502040204020203" pitchFamily="34" charset="0"/>
              </a:rPr>
              <a:t>GenAI Application Developer – NTT Data (2023–2024)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Integrated Azure OpenAI into a chatbot using </a:t>
            </a:r>
            <a:r>
              <a:rPr lang="en-US" sz="900" dirty="0" err="1">
                <a:latin typeface="Segoe UI" panose="020B0502040204020203" pitchFamily="34" charset="0"/>
              </a:rPr>
              <a:t>FastAPI</a:t>
            </a:r>
            <a:r>
              <a:rPr lang="en-US" sz="900" dirty="0">
                <a:latin typeface="Segoe UI" panose="020B0502040204020203" pitchFamily="34" charset="0"/>
              </a:rPr>
              <a:t>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Implemented RAG pipelines with </a:t>
            </a:r>
            <a:r>
              <a:rPr lang="en-US" sz="900" dirty="0" err="1">
                <a:latin typeface="Segoe UI" panose="020B0502040204020203" pitchFamily="34" charset="0"/>
              </a:rPr>
              <a:t>LangChain</a:t>
            </a:r>
            <a:r>
              <a:rPr lang="en-US" sz="900" dirty="0">
                <a:latin typeface="Segoe UI" panose="020B0502040204020203" pitchFamily="34" charset="0"/>
              </a:rPr>
              <a:t> and Chroma.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Use cases: customer support and SharePoint knowledge base search.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Used Vertex AI for PDF-to-HTML document transformation.</a:t>
            </a:r>
          </a:p>
          <a:p>
            <a:pPr fontAlgn="t">
              <a:lnSpc>
                <a:spcPts val="1500"/>
              </a:lnSpc>
            </a:pPr>
            <a:r>
              <a:rPr lang="en-US" sz="1000" b="1" dirty="0">
                <a:latin typeface="Segoe UI" panose="020B0502040204020203" pitchFamily="34" charset="0"/>
              </a:rPr>
              <a:t>Data Science Intern – </a:t>
            </a:r>
            <a:r>
              <a:rPr lang="en-US" sz="1000" b="1" dirty="0" err="1">
                <a:latin typeface="Segoe UI" panose="020B0502040204020203" pitchFamily="34" charset="0"/>
              </a:rPr>
              <a:t>Froneus</a:t>
            </a:r>
            <a:r>
              <a:rPr lang="en-US" sz="1000" b="1" dirty="0">
                <a:latin typeface="Segoe UI" panose="020B0502040204020203" pitchFamily="34" charset="0"/>
              </a:rPr>
              <a:t> (2022–2023)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Maintained a text classification model (scikit-learn) for a voice bot.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Built a </a:t>
            </a:r>
            <a:r>
              <a:rPr lang="en-US" sz="900" dirty="0" err="1">
                <a:latin typeface="Segoe UI" panose="020B0502040204020203" pitchFamily="34" charset="0"/>
              </a:rPr>
              <a:t>PySpark</a:t>
            </a:r>
            <a:r>
              <a:rPr lang="en-US" sz="900" dirty="0">
                <a:latin typeface="Segoe UI" panose="020B0502040204020203" pitchFamily="34" charset="0"/>
              </a:rPr>
              <a:t> ETL pipeline on Databricks from MongoDB to PostgreSQL.</a:t>
            </a:r>
          </a:p>
          <a:p>
            <a:pPr fontAlgn="t">
              <a:lnSpc>
                <a:spcPts val="1500"/>
              </a:lnSpc>
            </a:pPr>
            <a:r>
              <a:rPr lang="en-US" sz="1000" b="1" dirty="0">
                <a:latin typeface="Segoe UI" panose="020B0502040204020203" pitchFamily="34" charset="0"/>
              </a:rPr>
              <a:t>Python Developer – </a:t>
            </a:r>
            <a:r>
              <a:rPr lang="en-US" sz="1000" b="1" dirty="0" err="1">
                <a:latin typeface="Segoe UI" panose="020B0502040204020203" pitchFamily="34" charset="0"/>
              </a:rPr>
              <a:t>Forian</a:t>
            </a:r>
            <a:r>
              <a:rPr lang="en-US" sz="1000" b="1" dirty="0">
                <a:latin typeface="Segoe UI" panose="020B0502040204020203" pitchFamily="34" charset="0"/>
              </a:rPr>
              <a:t> (2020–2022)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Developed a </a:t>
            </a:r>
            <a:r>
              <a:rPr lang="en-US" sz="1000" b="1" dirty="0"/>
              <a:t>Django + PostgreSQL analytics dashboard</a:t>
            </a:r>
            <a:r>
              <a:rPr lang="en-US" sz="1000" dirty="0"/>
              <a:t>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Implemented Python ETL pipelines and database performance optimizations.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Deployed a production text classification model (scikit-learn).</a:t>
            </a:r>
          </a:p>
          <a:p>
            <a:pPr fontAlgn="t">
              <a:lnSpc>
                <a:spcPts val="1500"/>
              </a:lnSpc>
            </a:pPr>
            <a:r>
              <a:rPr lang="en-US" sz="1000" b="1" dirty="0">
                <a:latin typeface="Segoe UI" panose="020B0502040204020203" pitchFamily="34" charset="0"/>
              </a:rPr>
              <a:t>Data Science Intern – BNP Paribas </a:t>
            </a:r>
            <a:r>
              <a:rPr lang="en-US" sz="1000" b="1" dirty="0" err="1">
                <a:latin typeface="Segoe UI" panose="020B0502040204020203" pitchFamily="34" charset="0"/>
              </a:rPr>
              <a:t>Cardif</a:t>
            </a:r>
            <a:r>
              <a:rPr lang="en-US" sz="1000" b="1" dirty="0">
                <a:latin typeface="Segoe UI" panose="020B0502040204020203" pitchFamily="34" charset="0"/>
              </a:rPr>
              <a:t> (2019–2020)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Built predictive models using scikit-learn and </a:t>
            </a:r>
            <a:r>
              <a:rPr lang="en-US" sz="900" dirty="0" err="1">
                <a:latin typeface="Segoe UI" panose="020B0502040204020203" pitchFamily="34" charset="0"/>
              </a:rPr>
              <a:t>XGBoost</a:t>
            </a:r>
            <a:r>
              <a:rPr lang="en-US" sz="900" dirty="0">
                <a:latin typeface="Segoe UI" panose="020B0502040204020203" pitchFamily="34" charset="0"/>
              </a:rPr>
              <a:t> for insurance claims.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Applied </a:t>
            </a:r>
            <a:r>
              <a:rPr lang="en-US" sz="900" dirty="0" err="1">
                <a:latin typeface="Segoe UI" panose="020B0502040204020203" pitchFamily="34" charset="0"/>
              </a:rPr>
              <a:t>Apriori</a:t>
            </a:r>
            <a:r>
              <a:rPr lang="en-US" sz="900" dirty="0">
                <a:latin typeface="Segoe UI" panose="020B0502040204020203" pitchFamily="34" charset="0"/>
              </a:rPr>
              <a:t> association rules for marketing campaign analysis.</a:t>
            </a:r>
          </a:p>
          <a:p>
            <a:pPr fontAlgn="t">
              <a:lnSpc>
                <a:spcPts val="1500"/>
              </a:lnSpc>
            </a:pPr>
            <a:r>
              <a:rPr lang="en-US" sz="1000" b="1" dirty="0">
                <a:latin typeface="Segoe UI" panose="020B0502040204020203" pitchFamily="34" charset="0"/>
              </a:rPr>
              <a:t>Data Science Intern – Overactive (2018–2019)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Developed text classification models (scikit-learn) for comment moderation.</a:t>
            </a:r>
          </a:p>
          <a:p>
            <a:pPr fontAlgn="t">
              <a:lnSpc>
                <a:spcPts val="1500"/>
              </a:lnSpc>
            </a:pPr>
            <a:r>
              <a:rPr lang="en-US" sz="1000" b="1" dirty="0">
                <a:latin typeface="Segoe UI" panose="020B0502040204020203" pitchFamily="34" charset="0"/>
              </a:rPr>
              <a:t>Data Science Intern – </a:t>
            </a:r>
            <a:r>
              <a:rPr lang="en-US" sz="1000" b="1" dirty="0" err="1">
                <a:latin typeface="Segoe UI" panose="020B0502040204020203" pitchFamily="34" charset="0"/>
              </a:rPr>
              <a:t>Bizmetriks</a:t>
            </a:r>
            <a:r>
              <a:rPr lang="en-US" sz="1000" b="1" dirty="0">
                <a:latin typeface="Segoe UI" panose="020B0502040204020203" pitchFamily="34" charset="0"/>
              </a:rPr>
              <a:t> (2018)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Performed customer segmentation with K-Means.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Built a Python ETL pipeline consuming a HAL REST API.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Segoe UI" panose="020B0502040204020203" pitchFamily="34" charset="0"/>
              </a:rPr>
              <a:t>Conducted statistical analysis for churn and debt prediction.</a:t>
            </a:r>
          </a:p>
        </p:txBody>
      </p:sp>
    </p:spTree>
    <p:extLst>
      <p:ext uri="{BB962C8B-B14F-4D97-AF65-F5344CB8AC3E}">
        <p14:creationId xmlns:p14="http://schemas.microsoft.com/office/powerpoint/2010/main" val="37651404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Dividers SectionNumber SlideNumber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6_Office Theme">
  <a:themeElements>
    <a:clrScheme name="VISA">
      <a:dk1>
        <a:sysClr val="windowText" lastClr="000000"/>
      </a:dk1>
      <a:lt1>
        <a:sysClr val="window" lastClr="FFFFFF"/>
      </a:lt1>
      <a:dk2>
        <a:srgbClr val="F0F0F0"/>
      </a:dk2>
      <a:lt2>
        <a:srgbClr val="ADADAD"/>
      </a:lt2>
      <a:accent1>
        <a:srgbClr val="1A1F71"/>
      </a:accent1>
      <a:accent2>
        <a:srgbClr val="F7B600"/>
      </a:accent2>
      <a:accent3>
        <a:srgbClr val="5C5C5C"/>
      </a:accent3>
      <a:accent4>
        <a:srgbClr val="003EA9"/>
      </a:accent4>
      <a:accent5>
        <a:srgbClr val="EF8400"/>
      </a:accent5>
      <a:accent6>
        <a:srgbClr val="FFD700"/>
      </a:accent6>
      <a:hlink>
        <a:srgbClr val="1A1F71"/>
      </a:hlink>
      <a:folHlink>
        <a:srgbClr val="ADADAD"/>
      </a:folHlink>
    </a:clrScheme>
    <a:fontScheme name="Custom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bg2">
              <a:lumMod val="9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ACCENtur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CENture" id="{CC97BB4A-B5B4-4409-B17B-7852844FDFFA}" vid="{0BB4CAA1-AE1F-4AF8-B344-62FB55F0150B}"/>
    </a:ext>
  </a:extLst>
</a:theme>
</file>

<file path=ppt/theme/theme3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1adda6-93f2-443e-b0ef-40d6e1dc8c9d" xsi:nil="true"/>
    <lcf76f155ced4ddcb4097134ff3c332f xmlns="9e5dff9b-ec84-400a-8d4d-02e96956639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2" ma:contentTypeDescription="Create a new document." ma:contentTypeScope="" ma:versionID="7a6cc17327f8fd4a1bea693b89822f0e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0fcd0ec4e5a5c37c753411fc93cc8c20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53E4F1-EED6-4251-8956-041C290CBD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47B172E-CD09-404A-9D73-CF6EC1E50CB2}">
  <ds:schemaRefs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www.w3.org/XML/1998/namespace"/>
    <ds:schemaRef ds:uri="http://purl.org/dc/terms/"/>
    <ds:schemaRef ds:uri="0c88877e-19b1-4bb1-9a6e-cfa46a7e2bfe"/>
    <ds:schemaRef ds:uri="http://schemas.microsoft.com/office/infopath/2007/PartnerControls"/>
    <ds:schemaRef ds:uri="http://schemas.microsoft.com/office/2006/documentManagement/types"/>
    <ds:schemaRef ds:uri="6554e7c6-1e7a-4761-a432-d0e1608eb871"/>
    <ds:schemaRef ds:uri="http://purl.org/dc/dcmitype/"/>
    <ds:schemaRef ds:uri="79726371-cff8-4f4e-9632-62e183fd1868"/>
    <ds:schemaRef ds:uri="9e1adda6-93f2-443e-b0ef-40d6e1dc8c9d"/>
    <ds:schemaRef ds:uri="9e5dff9b-ec84-400a-8d4d-02e969566393"/>
  </ds:schemaRefs>
</ds:datastoreItem>
</file>

<file path=customXml/itemProps3.xml><?xml version="1.0" encoding="utf-8"?>
<ds:datastoreItem xmlns:ds="http://schemas.openxmlformats.org/officeDocument/2006/customXml" ds:itemID="{9941E24B-3F32-4420-8219-B0CE07E7BF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5dff9b-ec84-400a-8d4d-02e969566393"/>
    <ds:schemaRef ds:uri="9e1adda6-93f2-443e-b0ef-40d6e1dc8c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bc0f418-96a4-4caf-9d7c-ccc5ec7f9d91}" enabled="1" method="Privileged" siteId="{e0793d39-0939-496d-b129-198edd916fe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963</Words>
  <Application>Microsoft Office PowerPoint</Application>
  <PresentationFormat>Widescreen</PresentationFormat>
  <Paragraphs>127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6_Office Theme</vt:lpstr>
      <vt:lpstr>ThemeACCENture</vt:lpstr>
      <vt:lpstr>ThemeACN2</vt:lpstr>
      <vt:lpstr>PowerPoint Presentation</vt:lpstr>
      <vt:lpstr>PowerPoint Presentation</vt:lpstr>
    </vt:vector>
  </TitlesOfParts>
  <Company>Accenture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Proposal CoE</dc:title>
  <dc:creator>rosana.gonzalez@accenture.com</dc:creator>
  <cp:keywords>Products CV Template</cp:keywords>
  <cp:lastModifiedBy>Bravo, Leandro</cp:lastModifiedBy>
  <cp:revision>73</cp:revision>
  <dcterms:modified xsi:type="dcterms:W3CDTF">2026-03-13T14:34:39Z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Order">
    <vt:r8>390400</vt:r8>
  </property>
  <property fmtid="{D5CDD505-2E9C-101B-9397-08002B2CF9AE}" pid="4" name="xd_ProgID">
    <vt:lpwstr/>
  </property>
  <property fmtid="{D5CDD505-2E9C-101B-9397-08002B2CF9AE}" pid="5" name="_CopySource">
    <vt:lpwstr>https://ts.accenture.com/sites/PRODUCTS_ASG/dcde/Mentoring/PRD Onboarding Deck/ASG_PRD Onboarding Session_2018_01_January_final.pptx</vt:lpwstr>
  </property>
  <property fmtid="{D5CDD505-2E9C-101B-9397-08002B2CF9AE}" pid="6" name="TemplateUrl">
    <vt:lpwstr/>
  </property>
  <property fmtid="{D5CDD505-2E9C-101B-9397-08002B2CF9AE}" pid="7" name="MSIP_Label_1bc0f418-96a4-4caf-9d7c-ccc5ec7f9d91_Enabled">
    <vt:lpwstr>true</vt:lpwstr>
  </property>
  <property fmtid="{D5CDD505-2E9C-101B-9397-08002B2CF9AE}" pid="8" name="MSIP_Label_1bc0f418-96a4-4caf-9d7c-ccc5ec7f9d91_SetDate">
    <vt:lpwstr>2020-04-30T23:14:57Z</vt:lpwstr>
  </property>
  <property fmtid="{D5CDD505-2E9C-101B-9397-08002B2CF9AE}" pid="9" name="MSIP_Label_1bc0f418-96a4-4caf-9d7c-ccc5ec7f9d91_Method">
    <vt:lpwstr>Privileged</vt:lpwstr>
  </property>
  <property fmtid="{D5CDD505-2E9C-101B-9397-08002B2CF9AE}" pid="10" name="MSIP_Label_1bc0f418-96a4-4caf-9d7c-ccc5ec7f9d91_Name">
    <vt:lpwstr>1bc0f418-96a4-4caf-9d7c-ccc5ec7f9d91</vt:lpwstr>
  </property>
  <property fmtid="{D5CDD505-2E9C-101B-9397-08002B2CF9AE}" pid="11" name="MSIP_Label_1bc0f418-96a4-4caf-9d7c-ccc5ec7f9d91_SiteId">
    <vt:lpwstr>e0793d39-0939-496d-b129-198edd916feb</vt:lpwstr>
  </property>
  <property fmtid="{D5CDD505-2E9C-101B-9397-08002B2CF9AE}" pid="12" name="MSIP_Label_1bc0f418-96a4-4caf-9d7c-ccc5ec7f9d91_ActionId">
    <vt:lpwstr>6258137a-c4ad-4877-b5d3-000067d54560</vt:lpwstr>
  </property>
  <property fmtid="{D5CDD505-2E9C-101B-9397-08002B2CF9AE}" pid="13" name="MSIP_Label_1bc0f418-96a4-4caf-9d7c-ccc5ec7f9d91_ContentBits">
    <vt:lpwstr>0</vt:lpwstr>
  </property>
  <property fmtid="{D5CDD505-2E9C-101B-9397-08002B2CF9AE}" pid="14" name="MediaServiceImageTags">
    <vt:lpwstr/>
  </property>
</Properties>
</file>