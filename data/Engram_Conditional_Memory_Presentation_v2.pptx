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2" r:id="rId2"/>
    <p:sldId id="256" r:id="rId3"/>
    <p:sldId id="263" r:id="rId4"/>
    <p:sldId id="262" r:id="rId5"/>
    <p:sldId id="273" r:id="rId6"/>
    <p:sldId id="264" r:id="rId7"/>
    <p:sldId id="257" r:id="rId8"/>
    <p:sldId id="276" r:id="rId9"/>
    <p:sldId id="274" r:id="rId10"/>
    <p:sldId id="269" r:id="rId11"/>
    <p:sldId id="271" r:id="rId12"/>
    <p:sldId id="270" r:id="rId13"/>
    <p:sldId id="265" r:id="rId14"/>
    <p:sldId id="266" r:id="rId15"/>
    <p:sldId id="267" r:id="rId16"/>
    <p:sldId id="268" r:id="rId17"/>
    <p:sldId id="275" r:id="rId18"/>
    <p:sldId id="277" r:id="rId19"/>
    <p:sldId id="26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201" autoAdjust="0"/>
  </p:normalViewPr>
  <p:slideViewPr>
    <p:cSldViewPr snapToGrid="0" snapToObjects="1">
      <p:cViewPr>
        <p:scale>
          <a:sx n="66" d="100"/>
          <a:sy n="66" d="100"/>
        </p:scale>
        <p:origin x="1692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19B26-9517-4C1D-9041-79AC63A0A293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3D70F0-84C2-4166-9A99-C4BEDB219C3B}">
      <dgm:prSet/>
      <dgm:spPr/>
      <dgm:t>
        <a:bodyPr/>
        <a:lstStyle/>
        <a:p>
          <a:r>
            <a:rPr lang="es-ES"/>
            <a:t>Ahorra reconstrucción semántica temprana</a:t>
          </a:r>
          <a:endParaRPr lang="en-US"/>
        </a:p>
      </dgm:t>
    </dgm:pt>
    <dgm:pt modelId="{8AF25BCB-0C4F-4577-82F8-85783F7145DE}" type="parTrans" cxnId="{183D402F-C66F-4D0B-8F12-4FB052ECFDF4}">
      <dgm:prSet/>
      <dgm:spPr/>
      <dgm:t>
        <a:bodyPr/>
        <a:lstStyle/>
        <a:p>
          <a:endParaRPr lang="en-US"/>
        </a:p>
      </dgm:t>
    </dgm:pt>
    <dgm:pt modelId="{0DF9890B-EFFE-44E2-A39B-A5CC4F42C827}" type="sibTrans" cxnId="{183D402F-C66F-4D0B-8F12-4FB052ECFDF4}">
      <dgm:prSet/>
      <dgm:spPr/>
      <dgm:t>
        <a:bodyPr/>
        <a:lstStyle/>
        <a:p>
          <a:endParaRPr lang="en-US"/>
        </a:p>
      </dgm:t>
    </dgm:pt>
    <dgm:pt modelId="{12023F2E-72BB-467D-BE7E-8AA93D7660D1}">
      <dgm:prSet/>
      <dgm:spPr/>
      <dgm:t>
        <a:bodyPr/>
        <a:lstStyle/>
        <a:p>
          <a:r>
            <a:rPr lang="es-ES"/>
            <a:t>Menor KL divergence en capas iniciales</a:t>
          </a:r>
          <a:endParaRPr lang="en-US"/>
        </a:p>
      </dgm:t>
    </dgm:pt>
    <dgm:pt modelId="{E97D9E51-23BA-4B15-8F55-C9B5A11C2232}" type="parTrans" cxnId="{E02ED91A-906B-4E86-8ABD-E1874C7D57E5}">
      <dgm:prSet/>
      <dgm:spPr/>
      <dgm:t>
        <a:bodyPr/>
        <a:lstStyle/>
        <a:p>
          <a:endParaRPr lang="en-US"/>
        </a:p>
      </dgm:t>
    </dgm:pt>
    <dgm:pt modelId="{6F32946E-4EEB-4BF1-A5E1-A84E4C11850F}" type="sibTrans" cxnId="{E02ED91A-906B-4E86-8ABD-E1874C7D57E5}">
      <dgm:prSet/>
      <dgm:spPr/>
      <dgm:t>
        <a:bodyPr/>
        <a:lstStyle/>
        <a:p>
          <a:endParaRPr lang="en-US"/>
        </a:p>
      </dgm:t>
    </dgm:pt>
    <dgm:pt modelId="{5032F8CA-3414-477E-B43F-3DB288B7731F}">
      <dgm:prSet/>
      <dgm:spPr/>
      <dgm:t>
        <a:bodyPr/>
        <a:lstStyle/>
        <a:p>
          <a:r>
            <a:rPr lang="es-ES"/>
            <a:t>CKA muestra desplazamiento de profundidad</a:t>
          </a:r>
          <a:endParaRPr lang="en-US"/>
        </a:p>
      </dgm:t>
    </dgm:pt>
    <dgm:pt modelId="{5454450C-90D5-4768-A71D-DDE8DCE88132}" type="parTrans" cxnId="{BC9DC7C9-8A18-4C6A-BD28-6FFEEAF0FDA2}">
      <dgm:prSet/>
      <dgm:spPr/>
      <dgm:t>
        <a:bodyPr/>
        <a:lstStyle/>
        <a:p>
          <a:endParaRPr lang="en-US"/>
        </a:p>
      </dgm:t>
    </dgm:pt>
    <dgm:pt modelId="{5184E6EF-27D9-409C-B660-DEDFD6983B22}" type="sibTrans" cxnId="{BC9DC7C9-8A18-4C6A-BD28-6FFEEAF0FDA2}">
      <dgm:prSet/>
      <dgm:spPr/>
      <dgm:t>
        <a:bodyPr/>
        <a:lstStyle/>
        <a:p>
          <a:endParaRPr lang="en-US"/>
        </a:p>
      </dgm:t>
    </dgm:pt>
    <dgm:pt modelId="{63D4F428-847E-47AF-9F56-3757C15830D7}">
      <dgm:prSet/>
      <dgm:spPr/>
      <dgm:t>
        <a:bodyPr/>
        <a:lstStyle/>
        <a:p>
          <a:r>
            <a:rPr lang="es-ES"/>
            <a:t>Más capacidad para razonamiento global</a:t>
          </a:r>
          <a:endParaRPr lang="en-US"/>
        </a:p>
      </dgm:t>
    </dgm:pt>
    <dgm:pt modelId="{41DC96BE-9BBC-4229-A8E1-82BCE982B9EC}" type="parTrans" cxnId="{1AD6DB91-FD39-4AF3-9CD3-B5627CB2441C}">
      <dgm:prSet/>
      <dgm:spPr/>
      <dgm:t>
        <a:bodyPr/>
        <a:lstStyle/>
        <a:p>
          <a:endParaRPr lang="en-US"/>
        </a:p>
      </dgm:t>
    </dgm:pt>
    <dgm:pt modelId="{B79AB301-53DF-474D-99DF-14DC45280191}" type="sibTrans" cxnId="{1AD6DB91-FD39-4AF3-9CD3-B5627CB2441C}">
      <dgm:prSet/>
      <dgm:spPr/>
      <dgm:t>
        <a:bodyPr/>
        <a:lstStyle/>
        <a:p>
          <a:endParaRPr lang="en-US"/>
        </a:p>
      </dgm:t>
    </dgm:pt>
    <dgm:pt modelId="{B99C2C4E-EC93-470C-B690-4212AD3806EA}">
      <dgm:prSet/>
      <dgm:spPr/>
      <dgm:t>
        <a:bodyPr/>
        <a:lstStyle/>
        <a:p>
          <a:r>
            <a:rPr lang="es-ES" b="1"/>
            <a:t>Take away:</a:t>
          </a:r>
          <a:r>
            <a:rPr lang="es-ES"/>
            <a:t> Engram adelanta el trabajo semántico.</a:t>
          </a:r>
          <a:endParaRPr lang="en-US"/>
        </a:p>
      </dgm:t>
    </dgm:pt>
    <dgm:pt modelId="{CE301C82-77D1-42B9-8157-4C630DC314CB}" type="parTrans" cxnId="{2D08806A-C7BD-47EA-A81B-033DE5872F70}">
      <dgm:prSet/>
      <dgm:spPr/>
      <dgm:t>
        <a:bodyPr/>
        <a:lstStyle/>
        <a:p>
          <a:endParaRPr lang="en-US"/>
        </a:p>
      </dgm:t>
    </dgm:pt>
    <dgm:pt modelId="{C59EC4F1-0532-4DFC-9C59-134C71EB1732}" type="sibTrans" cxnId="{2D08806A-C7BD-47EA-A81B-033DE5872F70}">
      <dgm:prSet/>
      <dgm:spPr/>
      <dgm:t>
        <a:bodyPr/>
        <a:lstStyle/>
        <a:p>
          <a:endParaRPr lang="en-US"/>
        </a:p>
      </dgm:t>
    </dgm:pt>
    <dgm:pt modelId="{C11A1BE5-B43A-4EB4-B2B2-3A08DD4F8637}" type="pres">
      <dgm:prSet presAssocID="{EBF19B26-9517-4C1D-9041-79AC63A0A293}" presName="Name0" presStyleCnt="0">
        <dgm:presLayoutVars>
          <dgm:dir/>
          <dgm:resizeHandles val="exact"/>
        </dgm:presLayoutVars>
      </dgm:prSet>
      <dgm:spPr/>
    </dgm:pt>
    <dgm:pt modelId="{A8BCD464-FAC2-450D-9E35-272011A07288}" type="pres">
      <dgm:prSet presAssocID="{3D3D70F0-84C2-4166-9A99-C4BEDB219C3B}" presName="node" presStyleLbl="node1" presStyleIdx="0" presStyleCnt="5">
        <dgm:presLayoutVars>
          <dgm:bulletEnabled val="1"/>
        </dgm:presLayoutVars>
      </dgm:prSet>
      <dgm:spPr/>
    </dgm:pt>
    <dgm:pt modelId="{3ECEFFCE-653F-4ABD-8776-B5870496959D}" type="pres">
      <dgm:prSet presAssocID="{0DF9890B-EFFE-44E2-A39B-A5CC4F42C827}" presName="sibTrans" presStyleLbl="sibTrans1D1" presStyleIdx="0" presStyleCnt="4"/>
      <dgm:spPr/>
    </dgm:pt>
    <dgm:pt modelId="{8CAFA763-17D9-4CAE-8B1F-4607AADC98A6}" type="pres">
      <dgm:prSet presAssocID="{0DF9890B-EFFE-44E2-A39B-A5CC4F42C827}" presName="connectorText" presStyleLbl="sibTrans1D1" presStyleIdx="0" presStyleCnt="4"/>
      <dgm:spPr/>
    </dgm:pt>
    <dgm:pt modelId="{F849CFF2-383A-4A34-8640-6FF7524BAE02}" type="pres">
      <dgm:prSet presAssocID="{12023F2E-72BB-467D-BE7E-8AA93D7660D1}" presName="node" presStyleLbl="node1" presStyleIdx="1" presStyleCnt="5">
        <dgm:presLayoutVars>
          <dgm:bulletEnabled val="1"/>
        </dgm:presLayoutVars>
      </dgm:prSet>
      <dgm:spPr/>
    </dgm:pt>
    <dgm:pt modelId="{E486C204-D2B1-40AE-B89E-A96409CB4A89}" type="pres">
      <dgm:prSet presAssocID="{6F32946E-4EEB-4BF1-A5E1-A84E4C11850F}" presName="sibTrans" presStyleLbl="sibTrans1D1" presStyleIdx="1" presStyleCnt="4"/>
      <dgm:spPr/>
    </dgm:pt>
    <dgm:pt modelId="{46D3B84D-4D95-4242-9373-335DAE59A96C}" type="pres">
      <dgm:prSet presAssocID="{6F32946E-4EEB-4BF1-A5E1-A84E4C11850F}" presName="connectorText" presStyleLbl="sibTrans1D1" presStyleIdx="1" presStyleCnt="4"/>
      <dgm:spPr/>
    </dgm:pt>
    <dgm:pt modelId="{947E87FD-693F-4557-BE31-852FEEAA342B}" type="pres">
      <dgm:prSet presAssocID="{5032F8CA-3414-477E-B43F-3DB288B7731F}" presName="node" presStyleLbl="node1" presStyleIdx="2" presStyleCnt="5">
        <dgm:presLayoutVars>
          <dgm:bulletEnabled val="1"/>
        </dgm:presLayoutVars>
      </dgm:prSet>
      <dgm:spPr/>
    </dgm:pt>
    <dgm:pt modelId="{8BEF805D-5468-4F7A-8455-830B702EC831}" type="pres">
      <dgm:prSet presAssocID="{5184E6EF-27D9-409C-B660-DEDFD6983B22}" presName="sibTrans" presStyleLbl="sibTrans1D1" presStyleIdx="2" presStyleCnt="4"/>
      <dgm:spPr/>
    </dgm:pt>
    <dgm:pt modelId="{95260EF4-2323-4034-B0A3-857E2B032302}" type="pres">
      <dgm:prSet presAssocID="{5184E6EF-27D9-409C-B660-DEDFD6983B22}" presName="connectorText" presStyleLbl="sibTrans1D1" presStyleIdx="2" presStyleCnt="4"/>
      <dgm:spPr/>
    </dgm:pt>
    <dgm:pt modelId="{4868A5AF-596B-45A9-AFB8-C3941CC8AC3D}" type="pres">
      <dgm:prSet presAssocID="{63D4F428-847E-47AF-9F56-3757C15830D7}" presName="node" presStyleLbl="node1" presStyleIdx="3" presStyleCnt="5">
        <dgm:presLayoutVars>
          <dgm:bulletEnabled val="1"/>
        </dgm:presLayoutVars>
      </dgm:prSet>
      <dgm:spPr/>
    </dgm:pt>
    <dgm:pt modelId="{DF1F7C00-27D0-4423-BC2C-78E0415E9E5A}" type="pres">
      <dgm:prSet presAssocID="{B79AB301-53DF-474D-99DF-14DC45280191}" presName="sibTrans" presStyleLbl="sibTrans1D1" presStyleIdx="3" presStyleCnt="4"/>
      <dgm:spPr/>
    </dgm:pt>
    <dgm:pt modelId="{07B00372-00E5-46EB-89E0-60D9DB6CF7F3}" type="pres">
      <dgm:prSet presAssocID="{B79AB301-53DF-474D-99DF-14DC45280191}" presName="connectorText" presStyleLbl="sibTrans1D1" presStyleIdx="3" presStyleCnt="4"/>
      <dgm:spPr/>
    </dgm:pt>
    <dgm:pt modelId="{85B478DF-63A4-4EC6-9C6C-49F15AD75E09}" type="pres">
      <dgm:prSet presAssocID="{B99C2C4E-EC93-470C-B690-4212AD3806EA}" presName="node" presStyleLbl="node1" presStyleIdx="4" presStyleCnt="5">
        <dgm:presLayoutVars>
          <dgm:bulletEnabled val="1"/>
        </dgm:presLayoutVars>
      </dgm:prSet>
      <dgm:spPr/>
    </dgm:pt>
  </dgm:ptLst>
  <dgm:cxnLst>
    <dgm:cxn modelId="{E02ED91A-906B-4E86-8ABD-E1874C7D57E5}" srcId="{EBF19B26-9517-4C1D-9041-79AC63A0A293}" destId="{12023F2E-72BB-467D-BE7E-8AA93D7660D1}" srcOrd="1" destOrd="0" parTransId="{E97D9E51-23BA-4B15-8F55-C9B5A11C2232}" sibTransId="{6F32946E-4EEB-4BF1-A5E1-A84E4C11850F}"/>
    <dgm:cxn modelId="{183D402F-C66F-4D0B-8F12-4FB052ECFDF4}" srcId="{EBF19B26-9517-4C1D-9041-79AC63A0A293}" destId="{3D3D70F0-84C2-4166-9A99-C4BEDB219C3B}" srcOrd="0" destOrd="0" parTransId="{8AF25BCB-0C4F-4577-82F8-85783F7145DE}" sibTransId="{0DF9890B-EFFE-44E2-A39B-A5CC4F42C827}"/>
    <dgm:cxn modelId="{4034E73A-1640-47E9-8E88-5570902C8168}" type="presOf" srcId="{B99C2C4E-EC93-470C-B690-4212AD3806EA}" destId="{85B478DF-63A4-4EC6-9C6C-49F15AD75E09}" srcOrd="0" destOrd="0" presId="urn:microsoft.com/office/officeart/2016/7/layout/RepeatingBendingProcessNew"/>
    <dgm:cxn modelId="{28A15169-DB6D-4B14-9449-FE957EF90577}" type="presOf" srcId="{5032F8CA-3414-477E-B43F-3DB288B7731F}" destId="{947E87FD-693F-4557-BE31-852FEEAA342B}" srcOrd="0" destOrd="0" presId="urn:microsoft.com/office/officeart/2016/7/layout/RepeatingBendingProcessNew"/>
    <dgm:cxn modelId="{2D08806A-C7BD-47EA-A81B-033DE5872F70}" srcId="{EBF19B26-9517-4C1D-9041-79AC63A0A293}" destId="{B99C2C4E-EC93-470C-B690-4212AD3806EA}" srcOrd="4" destOrd="0" parTransId="{CE301C82-77D1-42B9-8157-4C630DC314CB}" sibTransId="{C59EC4F1-0532-4DFC-9C59-134C71EB1732}"/>
    <dgm:cxn modelId="{44B8A773-A1B2-4EF0-B24E-C721F8951C7A}" type="presOf" srcId="{6F32946E-4EEB-4BF1-A5E1-A84E4C11850F}" destId="{E486C204-D2B1-40AE-B89E-A96409CB4A89}" srcOrd="0" destOrd="0" presId="urn:microsoft.com/office/officeart/2016/7/layout/RepeatingBendingProcessNew"/>
    <dgm:cxn modelId="{652BC158-EEE7-4630-A710-52BE62F4473E}" type="presOf" srcId="{B79AB301-53DF-474D-99DF-14DC45280191}" destId="{DF1F7C00-27D0-4423-BC2C-78E0415E9E5A}" srcOrd="0" destOrd="0" presId="urn:microsoft.com/office/officeart/2016/7/layout/RepeatingBendingProcessNew"/>
    <dgm:cxn modelId="{FA48D958-CC9F-4237-B346-8793E3ED3533}" type="presOf" srcId="{63D4F428-847E-47AF-9F56-3757C15830D7}" destId="{4868A5AF-596B-45A9-AFB8-C3941CC8AC3D}" srcOrd="0" destOrd="0" presId="urn:microsoft.com/office/officeart/2016/7/layout/RepeatingBendingProcessNew"/>
    <dgm:cxn modelId="{5D9E9A79-A656-4280-80AC-A5903C6588FA}" type="presOf" srcId="{0DF9890B-EFFE-44E2-A39B-A5CC4F42C827}" destId="{8CAFA763-17D9-4CAE-8B1F-4607AADC98A6}" srcOrd="1" destOrd="0" presId="urn:microsoft.com/office/officeart/2016/7/layout/RepeatingBendingProcessNew"/>
    <dgm:cxn modelId="{F7E3B27D-4001-4252-BDC5-FDAD6BA1C8A8}" type="presOf" srcId="{B79AB301-53DF-474D-99DF-14DC45280191}" destId="{07B00372-00E5-46EB-89E0-60D9DB6CF7F3}" srcOrd="1" destOrd="0" presId="urn:microsoft.com/office/officeart/2016/7/layout/RepeatingBendingProcessNew"/>
    <dgm:cxn modelId="{60A93790-5457-4D98-AC80-EE9BCE8B46B5}" type="presOf" srcId="{5184E6EF-27D9-409C-B660-DEDFD6983B22}" destId="{95260EF4-2323-4034-B0A3-857E2B032302}" srcOrd="1" destOrd="0" presId="urn:microsoft.com/office/officeart/2016/7/layout/RepeatingBendingProcessNew"/>
    <dgm:cxn modelId="{1AD6DB91-FD39-4AF3-9CD3-B5627CB2441C}" srcId="{EBF19B26-9517-4C1D-9041-79AC63A0A293}" destId="{63D4F428-847E-47AF-9F56-3757C15830D7}" srcOrd="3" destOrd="0" parTransId="{41DC96BE-9BBC-4229-A8E1-82BCE982B9EC}" sibTransId="{B79AB301-53DF-474D-99DF-14DC45280191}"/>
    <dgm:cxn modelId="{DB9E1D9D-19F7-41DC-B62A-014D0BFCE654}" type="presOf" srcId="{6F32946E-4EEB-4BF1-A5E1-A84E4C11850F}" destId="{46D3B84D-4D95-4242-9373-335DAE59A96C}" srcOrd="1" destOrd="0" presId="urn:microsoft.com/office/officeart/2016/7/layout/RepeatingBendingProcessNew"/>
    <dgm:cxn modelId="{FB21B2BD-AD6D-4C50-BC7E-FD5C822B77EC}" type="presOf" srcId="{5184E6EF-27D9-409C-B660-DEDFD6983B22}" destId="{8BEF805D-5468-4F7A-8455-830B702EC831}" srcOrd="0" destOrd="0" presId="urn:microsoft.com/office/officeart/2016/7/layout/RepeatingBendingProcessNew"/>
    <dgm:cxn modelId="{BC9DC7C9-8A18-4C6A-BD28-6FFEEAF0FDA2}" srcId="{EBF19B26-9517-4C1D-9041-79AC63A0A293}" destId="{5032F8CA-3414-477E-B43F-3DB288B7731F}" srcOrd="2" destOrd="0" parTransId="{5454450C-90D5-4768-A71D-DDE8DCE88132}" sibTransId="{5184E6EF-27D9-409C-B660-DEDFD6983B22}"/>
    <dgm:cxn modelId="{2F222AD9-655A-48DB-946A-B55E6978D12B}" type="presOf" srcId="{0DF9890B-EFFE-44E2-A39B-A5CC4F42C827}" destId="{3ECEFFCE-653F-4ABD-8776-B5870496959D}" srcOrd="0" destOrd="0" presId="urn:microsoft.com/office/officeart/2016/7/layout/RepeatingBendingProcessNew"/>
    <dgm:cxn modelId="{9A6D63ED-C328-499C-B656-4F88E72469C0}" type="presOf" srcId="{3D3D70F0-84C2-4166-9A99-C4BEDB219C3B}" destId="{A8BCD464-FAC2-450D-9E35-272011A07288}" srcOrd="0" destOrd="0" presId="urn:microsoft.com/office/officeart/2016/7/layout/RepeatingBendingProcessNew"/>
    <dgm:cxn modelId="{1288DCEE-826C-4C7E-9630-2102A3CA3EFA}" type="presOf" srcId="{12023F2E-72BB-467D-BE7E-8AA93D7660D1}" destId="{F849CFF2-383A-4A34-8640-6FF7524BAE02}" srcOrd="0" destOrd="0" presId="urn:microsoft.com/office/officeart/2016/7/layout/RepeatingBendingProcessNew"/>
    <dgm:cxn modelId="{895E96EF-E783-4F6B-8897-64609274470C}" type="presOf" srcId="{EBF19B26-9517-4C1D-9041-79AC63A0A293}" destId="{C11A1BE5-B43A-4EB4-B2B2-3A08DD4F8637}" srcOrd="0" destOrd="0" presId="urn:microsoft.com/office/officeart/2016/7/layout/RepeatingBendingProcessNew"/>
    <dgm:cxn modelId="{837CED70-0FB9-4C09-8E3F-5B1B89AA15E6}" type="presParOf" srcId="{C11A1BE5-B43A-4EB4-B2B2-3A08DD4F8637}" destId="{A8BCD464-FAC2-450D-9E35-272011A07288}" srcOrd="0" destOrd="0" presId="urn:microsoft.com/office/officeart/2016/7/layout/RepeatingBendingProcessNew"/>
    <dgm:cxn modelId="{400EB4DD-C9BD-48CE-8F41-516AE579D491}" type="presParOf" srcId="{C11A1BE5-B43A-4EB4-B2B2-3A08DD4F8637}" destId="{3ECEFFCE-653F-4ABD-8776-B5870496959D}" srcOrd="1" destOrd="0" presId="urn:microsoft.com/office/officeart/2016/7/layout/RepeatingBendingProcessNew"/>
    <dgm:cxn modelId="{81CC73F0-60F9-4267-8E08-7939B5399AC3}" type="presParOf" srcId="{3ECEFFCE-653F-4ABD-8776-B5870496959D}" destId="{8CAFA763-17D9-4CAE-8B1F-4607AADC98A6}" srcOrd="0" destOrd="0" presId="urn:microsoft.com/office/officeart/2016/7/layout/RepeatingBendingProcessNew"/>
    <dgm:cxn modelId="{F086FDFD-74B0-4A42-957E-0A5AD097814A}" type="presParOf" srcId="{C11A1BE5-B43A-4EB4-B2B2-3A08DD4F8637}" destId="{F849CFF2-383A-4A34-8640-6FF7524BAE02}" srcOrd="2" destOrd="0" presId="urn:microsoft.com/office/officeart/2016/7/layout/RepeatingBendingProcessNew"/>
    <dgm:cxn modelId="{92F4659D-96AC-436C-92A2-89358810D851}" type="presParOf" srcId="{C11A1BE5-B43A-4EB4-B2B2-3A08DD4F8637}" destId="{E486C204-D2B1-40AE-B89E-A96409CB4A89}" srcOrd="3" destOrd="0" presId="urn:microsoft.com/office/officeart/2016/7/layout/RepeatingBendingProcessNew"/>
    <dgm:cxn modelId="{570BFC02-86D3-4BAA-8494-C09B0779F9E4}" type="presParOf" srcId="{E486C204-D2B1-40AE-B89E-A96409CB4A89}" destId="{46D3B84D-4D95-4242-9373-335DAE59A96C}" srcOrd="0" destOrd="0" presId="urn:microsoft.com/office/officeart/2016/7/layout/RepeatingBendingProcessNew"/>
    <dgm:cxn modelId="{90683B36-118B-4745-8837-75CE0B6840B0}" type="presParOf" srcId="{C11A1BE5-B43A-4EB4-B2B2-3A08DD4F8637}" destId="{947E87FD-693F-4557-BE31-852FEEAA342B}" srcOrd="4" destOrd="0" presId="urn:microsoft.com/office/officeart/2016/7/layout/RepeatingBendingProcessNew"/>
    <dgm:cxn modelId="{0AF59B20-3E02-431A-860B-E899CA7FCA21}" type="presParOf" srcId="{C11A1BE5-B43A-4EB4-B2B2-3A08DD4F8637}" destId="{8BEF805D-5468-4F7A-8455-830B702EC831}" srcOrd="5" destOrd="0" presId="urn:microsoft.com/office/officeart/2016/7/layout/RepeatingBendingProcessNew"/>
    <dgm:cxn modelId="{0CD90B3A-7C78-4734-9527-BB67A11C8F9B}" type="presParOf" srcId="{8BEF805D-5468-4F7A-8455-830B702EC831}" destId="{95260EF4-2323-4034-B0A3-857E2B032302}" srcOrd="0" destOrd="0" presId="urn:microsoft.com/office/officeart/2016/7/layout/RepeatingBendingProcessNew"/>
    <dgm:cxn modelId="{E765C9AC-FA31-42AA-BFC5-4D1BCF3C4FFD}" type="presParOf" srcId="{C11A1BE5-B43A-4EB4-B2B2-3A08DD4F8637}" destId="{4868A5AF-596B-45A9-AFB8-C3941CC8AC3D}" srcOrd="6" destOrd="0" presId="urn:microsoft.com/office/officeart/2016/7/layout/RepeatingBendingProcessNew"/>
    <dgm:cxn modelId="{4B3F663F-1D72-475E-9D04-C1E32FFAA23B}" type="presParOf" srcId="{C11A1BE5-B43A-4EB4-B2B2-3A08DD4F8637}" destId="{DF1F7C00-27D0-4423-BC2C-78E0415E9E5A}" srcOrd="7" destOrd="0" presId="urn:microsoft.com/office/officeart/2016/7/layout/RepeatingBendingProcessNew"/>
    <dgm:cxn modelId="{9A5D3F70-E689-4AE5-B4FE-328FD93F4C5F}" type="presParOf" srcId="{DF1F7C00-27D0-4423-BC2C-78E0415E9E5A}" destId="{07B00372-00E5-46EB-89E0-60D9DB6CF7F3}" srcOrd="0" destOrd="0" presId="urn:microsoft.com/office/officeart/2016/7/layout/RepeatingBendingProcessNew"/>
    <dgm:cxn modelId="{1FC80A68-F010-4182-958A-2EDFA533A0D4}" type="presParOf" srcId="{C11A1BE5-B43A-4EB4-B2B2-3A08DD4F8637}" destId="{85B478DF-63A4-4EC6-9C6C-49F15AD75E09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3EAC42-11E1-42D5-BBEF-44C9B809C30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F52ACD-0C25-40C1-84C6-1DC88872F67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MoE = sparsity en cómputo </a:t>
          </a:r>
          <a:r>
            <a:rPr lang="es-ES">
              <a:sym typeface="Wingdings" panose="05000000000000000000" pitchFamily="2" charset="2"/>
            </a:rPr>
            <a:t></a:t>
          </a:r>
          <a:r>
            <a:rPr lang="es-ES"/>
            <a:t> </a:t>
          </a:r>
          <a:r>
            <a:rPr lang="es-AR"/>
            <a:t>suboptimal</a:t>
          </a:r>
          <a:endParaRPr lang="en-US"/>
        </a:p>
      </dgm:t>
    </dgm:pt>
    <dgm:pt modelId="{E908118F-395A-441B-95CA-C6D655EA8867}" type="parTrans" cxnId="{1C7ECE7E-9EFB-4575-8F04-4BA59A3405E0}">
      <dgm:prSet/>
      <dgm:spPr/>
      <dgm:t>
        <a:bodyPr/>
        <a:lstStyle/>
        <a:p>
          <a:endParaRPr lang="en-US"/>
        </a:p>
      </dgm:t>
    </dgm:pt>
    <dgm:pt modelId="{1F89E1C7-1689-430E-91AC-37B65AC3CDB4}" type="sibTrans" cxnId="{1C7ECE7E-9EFB-4575-8F04-4BA59A3405E0}">
      <dgm:prSet/>
      <dgm:spPr/>
      <dgm:t>
        <a:bodyPr/>
        <a:lstStyle/>
        <a:p>
          <a:endParaRPr lang="en-US"/>
        </a:p>
      </dgm:t>
    </dgm:pt>
    <dgm:pt modelId="{612BFEB2-6BB1-4B7B-A792-CF3556CC4F3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Engram = sparsity en memoria </a:t>
          </a:r>
          <a:r>
            <a:rPr lang="es-ES">
              <a:sym typeface="Wingdings" panose="05000000000000000000" pitchFamily="2" charset="2"/>
            </a:rPr>
            <a:t></a:t>
          </a:r>
          <a:r>
            <a:rPr lang="es-ES"/>
            <a:t> </a:t>
          </a:r>
          <a:r>
            <a:rPr lang="es-AR"/>
            <a:t>suboptimal</a:t>
          </a:r>
          <a:endParaRPr lang="en-US"/>
        </a:p>
      </dgm:t>
    </dgm:pt>
    <dgm:pt modelId="{B384AD52-D647-4237-8A66-2BFAC2D060E7}" type="parTrans" cxnId="{9C65F6D0-7268-41A4-AE88-71AF343C00D8}">
      <dgm:prSet/>
      <dgm:spPr/>
      <dgm:t>
        <a:bodyPr/>
        <a:lstStyle/>
        <a:p>
          <a:endParaRPr lang="en-US"/>
        </a:p>
      </dgm:t>
    </dgm:pt>
    <dgm:pt modelId="{F1D2A5B4-2048-421E-8B5C-A2A227F742F4}" type="sibTrans" cxnId="{9C65F6D0-7268-41A4-AE88-71AF343C00D8}">
      <dgm:prSet/>
      <dgm:spPr/>
      <dgm:t>
        <a:bodyPr/>
        <a:lstStyle/>
        <a:p>
          <a:endParaRPr lang="en-US"/>
        </a:p>
      </dgm:t>
    </dgm:pt>
    <dgm:pt modelId="{E6FC0D14-BC44-4D58-9102-D225B256FF3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Curva en U</a:t>
          </a:r>
          <a:endParaRPr lang="en-US"/>
        </a:p>
      </dgm:t>
    </dgm:pt>
    <dgm:pt modelId="{CCF5AFF4-13D1-46C3-BAFE-62463EBFA417}" type="parTrans" cxnId="{A46F611B-2C16-4B1C-959E-8683591F4D71}">
      <dgm:prSet/>
      <dgm:spPr/>
      <dgm:t>
        <a:bodyPr/>
        <a:lstStyle/>
        <a:p>
          <a:endParaRPr lang="en-US"/>
        </a:p>
      </dgm:t>
    </dgm:pt>
    <dgm:pt modelId="{7F3A47F6-78B4-408D-826F-A0E4D15E8940}" type="sibTrans" cxnId="{A46F611B-2C16-4B1C-959E-8683591F4D71}">
      <dgm:prSet/>
      <dgm:spPr/>
      <dgm:t>
        <a:bodyPr/>
        <a:lstStyle/>
        <a:p>
          <a:endParaRPr lang="en-US"/>
        </a:p>
      </dgm:t>
    </dgm:pt>
    <dgm:pt modelId="{E74A3EFB-E8EA-4EE3-BE85-C3A11B35678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Óptimo </a:t>
          </a:r>
          <a:r>
            <a:rPr lang="es-AR"/>
            <a:t>≈ 75–80% MoE / 20–25% Engram</a:t>
          </a:r>
          <a:endParaRPr lang="en-US"/>
        </a:p>
      </dgm:t>
    </dgm:pt>
    <dgm:pt modelId="{A6D2B5B9-0472-47DF-BE71-1F51EA242647}" type="parTrans" cxnId="{39EAC16E-0CD5-438D-976D-C953AABBE207}">
      <dgm:prSet/>
      <dgm:spPr/>
      <dgm:t>
        <a:bodyPr/>
        <a:lstStyle/>
        <a:p>
          <a:endParaRPr lang="en-US"/>
        </a:p>
      </dgm:t>
    </dgm:pt>
    <dgm:pt modelId="{3B75A144-9AFF-4C32-8BEB-49506B2EA763}" type="sibTrans" cxnId="{39EAC16E-0CD5-438D-976D-C953AABBE207}">
      <dgm:prSet/>
      <dgm:spPr/>
      <dgm:t>
        <a:bodyPr/>
        <a:lstStyle/>
        <a:p>
          <a:endParaRPr lang="en-US"/>
        </a:p>
      </dgm:t>
    </dgm:pt>
    <dgm:pt modelId="{B9BD74C9-BDC4-4A51-A0B0-44B2231C6D5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Memoria y cómputo son ejes complementarios.</a:t>
          </a:r>
          <a:endParaRPr lang="en-US"/>
        </a:p>
      </dgm:t>
    </dgm:pt>
    <dgm:pt modelId="{2AC20DB1-438C-4C26-A00F-7462023FC41F}" type="parTrans" cxnId="{55063DA1-71A7-4374-B74B-312B7B873019}">
      <dgm:prSet/>
      <dgm:spPr/>
      <dgm:t>
        <a:bodyPr/>
        <a:lstStyle/>
        <a:p>
          <a:endParaRPr lang="en-US"/>
        </a:p>
      </dgm:t>
    </dgm:pt>
    <dgm:pt modelId="{C2229833-A14E-44E0-8099-A9F232F9F4E1}" type="sibTrans" cxnId="{55063DA1-71A7-4374-B74B-312B7B873019}">
      <dgm:prSet/>
      <dgm:spPr/>
      <dgm:t>
        <a:bodyPr/>
        <a:lstStyle/>
        <a:p>
          <a:endParaRPr lang="en-US"/>
        </a:p>
      </dgm:t>
    </dgm:pt>
    <dgm:pt modelId="{CA3F75A3-A87A-4927-85FF-190D1AE58741}" type="pres">
      <dgm:prSet presAssocID="{F73EAC42-11E1-42D5-BBEF-44C9B809C30B}" presName="root" presStyleCnt="0">
        <dgm:presLayoutVars>
          <dgm:dir/>
          <dgm:resizeHandles val="exact"/>
        </dgm:presLayoutVars>
      </dgm:prSet>
      <dgm:spPr/>
    </dgm:pt>
    <dgm:pt modelId="{A49A7DF8-38F2-436B-B049-441FDB16B0F6}" type="pres">
      <dgm:prSet presAssocID="{1CF52ACD-0C25-40C1-84C6-1DC88872F67A}" presName="compNode" presStyleCnt="0"/>
      <dgm:spPr/>
    </dgm:pt>
    <dgm:pt modelId="{815E8B21-2AD0-4D59-913C-69B278EEF833}" type="pres">
      <dgm:prSet presAssocID="{1CF52ACD-0C25-40C1-84C6-1DC88872F67A}" presName="bgRect" presStyleLbl="bgShp" presStyleIdx="0" presStyleCnt="5"/>
      <dgm:spPr/>
    </dgm:pt>
    <dgm:pt modelId="{2713F6D4-D8D2-454F-83E9-77DAD585F94D}" type="pres">
      <dgm:prSet presAssocID="{1CF52ACD-0C25-40C1-84C6-1DC88872F67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ápiz"/>
        </a:ext>
      </dgm:extLst>
    </dgm:pt>
    <dgm:pt modelId="{D9FF1DDF-351F-443A-A96D-6543F03B71F4}" type="pres">
      <dgm:prSet presAssocID="{1CF52ACD-0C25-40C1-84C6-1DC88872F67A}" presName="spaceRect" presStyleCnt="0"/>
      <dgm:spPr/>
    </dgm:pt>
    <dgm:pt modelId="{EFC70761-0F91-4886-8A10-6AB4046F8CE0}" type="pres">
      <dgm:prSet presAssocID="{1CF52ACD-0C25-40C1-84C6-1DC88872F67A}" presName="parTx" presStyleLbl="revTx" presStyleIdx="0" presStyleCnt="5">
        <dgm:presLayoutVars>
          <dgm:chMax val="0"/>
          <dgm:chPref val="0"/>
        </dgm:presLayoutVars>
      </dgm:prSet>
      <dgm:spPr/>
    </dgm:pt>
    <dgm:pt modelId="{53329A91-E445-400C-82B9-B1A7B13F4575}" type="pres">
      <dgm:prSet presAssocID="{1F89E1C7-1689-430E-91AC-37B65AC3CDB4}" presName="sibTrans" presStyleCnt="0"/>
      <dgm:spPr/>
    </dgm:pt>
    <dgm:pt modelId="{132F4AA7-D9E8-4A56-BB6C-6CF8E081A457}" type="pres">
      <dgm:prSet presAssocID="{612BFEB2-6BB1-4B7B-A792-CF3556CC4F38}" presName="compNode" presStyleCnt="0"/>
      <dgm:spPr/>
    </dgm:pt>
    <dgm:pt modelId="{E7CFD22F-3DAE-42DB-909B-1A37470A9C0E}" type="pres">
      <dgm:prSet presAssocID="{612BFEB2-6BB1-4B7B-A792-CF3556CC4F38}" presName="bgRect" presStyleLbl="bgShp" presStyleIdx="1" presStyleCnt="5"/>
      <dgm:spPr/>
    </dgm:pt>
    <dgm:pt modelId="{19875AE3-9071-4E29-B5CF-2185A1D88CE0}" type="pres">
      <dgm:prSet presAssocID="{612BFEB2-6BB1-4B7B-A792-CF3556CC4F3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: Slight curve"/>
        </a:ext>
      </dgm:extLst>
    </dgm:pt>
    <dgm:pt modelId="{BAB02E77-E297-46C7-8C05-3DC2ADDDA805}" type="pres">
      <dgm:prSet presAssocID="{612BFEB2-6BB1-4B7B-A792-CF3556CC4F38}" presName="spaceRect" presStyleCnt="0"/>
      <dgm:spPr/>
    </dgm:pt>
    <dgm:pt modelId="{AC908917-6083-4443-B6BB-4752CC8B2E7A}" type="pres">
      <dgm:prSet presAssocID="{612BFEB2-6BB1-4B7B-A792-CF3556CC4F38}" presName="parTx" presStyleLbl="revTx" presStyleIdx="1" presStyleCnt="5">
        <dgm:presLayoutVars>
          <dgm:chMax val="0"/>
          <dgm:chPref val="0"/>
        </dgm:presLayoutVars>
      </dgm:prSet>
      <dgm:spPr/>
    </dgm:pt>
    <dgm:pt modelId="{2309DC34-A87E-4162-B793-B2D489CFDBFF}" type="pres">
      <dgm:prSet presAssocID="{F1D2A5B4-2048-421E-8B5C-A2A227F742F4}" presName="sibTrans" presStyleCnt="0"/>
      <dgm:spPr/>
    </dgm:pt>
    <dgm:pt modelId="{0E68E456-88B5-498B-AAD6-5AE260CEE33E}" type="pres">
      <dgm:prSet presAssocID="{E6FC0D14-BC44-4D58-9102-D225B256FF3C}" presName="compNode" presStyleCnt="0"/>
      <dgm:spPr/>
    </dgm:pt>
    <dgm:pt modelId="{64FFA294-8479-4CBC-9C24-CF0A4DA17D5D}" type="pres">
      <dgm:prSet presAssocID="{E6FC0D14-BC44-4D58-9102-D225B256FF3C}" presName="bgRect" presStyleLbl="bgShp" presStyleIdx="2" presStyleCnt="5"/>
      <dgm:spPr/>
    </dgm:pt>
    <dgm:pt modelId="{38058C01-BCFF-4051-ACF4-2CF96A961441}" type="pres">
      <dgm:prSet presAssocID="{E6FC0D14-BC44-4D58-9102-D225B256FF3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C0C4199A-1D57-46FB-9D5D-9B92DE914CA7}" type="pres">
      <dgm:prSet presAssocID="{E6FC0D14-BC44-4D58-9102-D225B256FF3C}" presName="spaceRect" presStyleCnt="0"/>
      <dgm:spPr/>
    </dgm:pt>
    <dgm:pt modelId="{1A9EFE2B-B53B-46F1-ABE3-EB20DD0B880C}" type="pres">
      <dgm:prSet presAssocID="{E6FC0D14-BC44-4D58-9102-D225B256FF3C}" presName="parTx" presStyleLbl="revTx" presStyleIdx="2" presStyleCnt="5">
        <dgm:presLayoutVars>
          <dgm:chMax val="0"/>
          <dgm:chPref val="0"/>
        </dgm:presLayoutVars>
      </dgm:prSet>
      <dgm:spPr/>
    </dgm:pt>
    <dgm:pt modelId="{A81877DB-EC70-4642-995C-5F630244AF48}" type="pres">
      <dgm:prSet presAssocID="{7F3A47F6-78B4-408D-826F-A0E4D15E8940}" presName="sibTrans" presStyleCnt="0"/>
      <dgm:spPr/>
    </dgm:pt>
    <dgm:pt modelId="{FF4E0BC7-3E72-44B9-9FA1-D574267058AD}" type="pres">
      <dgm:prSet presAssocID="{E74A3EFB-E8EA-4EE3-BE85-C3A11B356784}" presName="compNode" presStyleCnt="0"/>
      <dgm:spPr/>
    </dgm:pt>
    <dgm:pt modelId="{77A2C7EE-84DF-444C-B088-329864023169}" type="pres">
      <dgm:prSet presAssocID="{E74A3EFB-E8EA-4EE3-BE85-C3A11B356784}" presName="bgRect" presStyleLbl="bgShp" presStyleIdx="3" presStyleCnt="5"/>
      <dgm:spPr/>
    </dgm:pt>
    <dgm:pt modelId="{19A9BE33-00EF-47B8-847D-86966E69D880}" type="pres">
      <dgm:prSet presAssocID="{E74A3EFB-E8EA-4EE3-BE85-C3A11B35678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F7BB1A9C-A758-4965-8B2C-2DBCAEDE1F3A}" type="pres">
      <dgm:prSet presAssocID="{E74A3EFB-E8EA-4EE3-BE85-C3A11B356784}" presName="spaceRect" presStyleCnt="0"/>
      <dgm:spPr/>
    </dgm:pt>
    <dgm:pt modelId="{4EBBD1BC-EB9E-4A1C-9888-6BD1D7D09DDD}" type="pres">
      <dgm:prSet presAssocID="{E74A3EFB-E8EA-4EE3-BE85-C3A11B356784}" presName="parTx" presStyleLbl="revTx" presStyleIdx="3" presStyleCnt="5">
        <dgm:presLayoutVars>
          <dgm:chMax val="0"/>
          <dgm:chPref val="0"/>
        </dgm:presLayoutVars>
      </dgm:prSet>
      <dgm:spPr/>
    </dgm:pt>
    <dgm:pt modelId="{1B48F7A3-BC72-43F8-9185-469492DD0515}" type="pres">
      <dgm:prSet presAssocID="{3B75A144-9AFF-4C32-8BEB-49506B2EA763}" presName="sibTrans" presStyleCnt="0"/>
      <dgm:spPr/>
    </dgm:pt>
    <dgm:pt modelId="{205BEE9B-0C97-4DBC-B085-E328BBC61929}" type="pres">
      <dgm:prSet presAssocID="{B9BD74C9-BDC4-4A51-A0B0-44B2231C6D50}" presName="compNode" presStyleCnt="0"/>
      <dgm:spPr/>
    </dgm:pt>
    <dgm:pt modelId="{DD984326-4B06-42B4-A989-86116A309225}" type="pres">
      <dgm:prSet presAssocID="{B9BD74C9-BDC4-4A51-A0B0-44B2231C6D50}" presName="bgRect" presStyleLbl="bgShp" presStyleIdx="4" presStyleCnt="5"/>
      <dgm:spPr/>
    </dgm:pt>
    <dgm:pt modelId="{FDC26C98-A5FE-4C3D-9B0E-4A8BD3426A91}" type="pres">
      <dgm:prSet presAssocID="{B9BD74C9-BDC4-4A51-A0B0-44B2231C6D5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F7A17909-38AD-4EB4-98F0-6AE4FEB52324}" type="pres">
      <dgm:prSet presAssocID="{B9BD74C9-BDC4-4A51-A0B0-44B2231C6D50}" presName="spaceRect" presStyleCnt="0"/>
      <dgm:spPr/>
    </dgm:pt>
    <dgm:pt modelId="{6F6C59B3-6253-414E-872F-743F60B314F6}" type="pres">
      <dgm:prSet presAssocID="{B9BD74C9-BDC4-4A51-A0B0-44B2231C6D5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6327000-1431-4E07-BB13-267404B62379}" type="presOf" srcId="{E6FC0D14-BC44-4D58-9102-D225B256FF3C}" destId="{1A9EFE2B-B53B-46F1-ABE3-EB20DD0B880C}" srcOrd="0" destOrd="0" presId="urn:microsoft.com/office/officeart/2018/2/layout/IconVerticalSolidList"/>
    <dgm:cxn modelId="{FD066505-8AD8-4E7D-8651-8DC9E37BC422}" type="presOf" srcId="{1CF52ACD-0C25-40C1-84C6-1DC88872F67A}" destId="{EFC70761-0F91-4886-8A10-6AB4046F8CE0}" srcOrd="0" destOrd="0" presId="urn:microsoft.com/office/officeart/2018/2/layout/IconVerticalSolidList"/>
    <dgm:cxn modelId="{A46F611B-2C16-4B1C-959E-8683591F4D71}" srcId="{F73EAC42-11E1-42D5-BBEF-44C9B809C30B}" destId="{E6FC0D14-BC44-4D58-9102-D225B256FF3C}" srcOrd="2" destOrd="0" parTransId="{CCF5AFF4-13D1-46C3-BAFE-62463EBFA417}" sibTransId="{7F3A47F6-78B4-408D-826F-A0E4D15E8940}"/>
    <dgm:cxn modelId="{FCA8A95F-8D4C-4C69-9A08-DBF2674ECB87}" type="presOf" srcId="{E74A3EFB-E8EA-4EE3-BE85-C3A11B356784}" destId="{4EBBD1BC-EB9E-4A1C-9888-6BD1D7D09DDD}" srcOrd="0" destOrd="0" presId="urn:microsoft.com/office/officeart/2018/2/layout/IconVerticalSolidList"/>
    <dgm:cxn modelId="{5B35134C-A27D-40FE-B6E5-C41CA17D4C5D}" type="presOf" srcId="{B9BD74C9-BDC4-4A51-A0B0-44B2231C6D50}" destId="{6F6C59B3-6253-414E-872F-743F60B314F6}" srcOrd="0" destOrd="0" presId="urn:microsoft.com/office/officeart/2018/2/layout/IconVerticalSolidList"/>
    <dgm:cxn modelId="{39EAC16E-0CD5-438D-976D-C953AABBE207}" srcId="{F73EAC42-11E1-42D5-BBEF-44C9B809C30B}" destId="{E74A3EFB-E8EA-4EE3-BE85-C3A11B356784}" srcOrd="3" destOrd="0" parTransId="{A6D2B5B9-0472-47DF-BE71-1F51EA242647}" sibTransId="{3B75A144-9AFF-4C32-8BEB-49506B2EA763}"/>
    <dgm:cxn modelId="{1C7ECE7E-9EFB-4575-8F04-4BA59A3405E0}" srcId="{F73EAC42-11E1-42D5-BBEF-44C9B809C30B}" destId="{1CF52ACD-0C25-40C1-84C6-1DC88872F67A}" srcOrd="0" destOrd="0" parTransId="{E908118F-395A-441B-95CA-C6D655EA8867}" sibTransId="{1F89E1C7-1689-430E-91AC-37B65AC3CDB4}"/>
    <dgm:cxn modelId="{4E764E85-409F-47FC-BEBB-B9B62B8D3323}" type="presOf" srcId="{612BFEB2-6BB1-4B7B-A792-CF3556CC4F38}" destId="{AC908917-6083-4443-B6BB-4752CC8B2E7A}" srcOrd="0" destOrd="0" presId="urn:microsoft.com/office/officeart/2018/2/layout/IconVerticalSolidList"/>
    <dgm:cxn modelId="{271DD29C-0328-427C-A9F7-361322987AD3}" type="presOf" srcId="{F73EAC42-11E1-42D5-BBEF-44C9B809C30B}" destId="{CA3F75A3-A87A-4927-85FF-190D1AE58741}" srcOrd="0" destOrd="0" presId="urn:microsoft.com/office/officeart/2018/2/layout/IconVerticalSolidList"/>
    <dgm:cxn modelId="{55063DA1-71A7-4374-B74B-312B7B873019}" srcId="{F73EAC42-11E1-42D5-BBEF-44C9B809C30B}" destId="{B9BD74C9-BDC4-4A51-A0B0-44B2231C6D50}" srcOrd="4" destOrd="0" parTransId="{2AC20DB1-438C-4C26-A00F-7462023FC41F}" sibTransId="{C2229833-A14E-44E0-8099-A9F232F9F4E1}"/>
    <dgm:cxn modelId="{9C65F6D0-7268-41A4-AE88-71AF343C00D8}" srcId="{F73EAC42-11E1-42D5-BBEF-44C9B809C30B}" destId="{612BFEB2-6BB1-4B7B-A792-CF3556CC4F38}" srcOrd="1" destOrd="0" parTransId="{B384AD52-D647-4237-8A66-2BFAC2D060E7}" sibTransId="{F1D2A5B4-2048-421E-8B5C-A2A227F742F4}"/>
    <dgm:cxn modelId="{C3BE700E-0C29-4505-98F6-F85FE68249C7}" type="presParOf" srcId="{CA3F75A3-A87A-4927-85FF-190D1AE58741}" destId="{A49A7DF8-38F2-436B-B049-441FDB16B0F6}" srcOrd="0" destOrd="0" presId="urn:microsoft.com/office/officeart/2018/2/layout/IconVerticalSolidList"/>
    <dgm:cxn modelId="{DAAC6833-88FD-4483-930B-677C649AE7B6}" type="presParOf" srcId="{A49A7DF8-38F2-436B-B049-441FDB16B0F6}" destId="{815E8B21-2AD0-4D59-913C-69B278EEF833}" srcOrd="0" destOrd="0" presId="urn:microsoft.com/office/officeart/2018/2/layout/IconVerticalSolidList"/>
    <dgm:cxn modelId="{A52D52F4-3DB9-4D2D-BE8D-E6525AEA9B22}" type="presParOf" srcId="{A49A7DF8-38F2-436B-B049-441FDB16B0F6}" destId="{2713F6D4-D8D2-454F-83E9-77DAD585F94D}" srcOrd="1" destOrd="0" presId="urn:microsoft.com/office/officeart/2018/2/layout/IconVerticalSolidList"/>
    <dgm:cxn modelId="{EA042F31-6F77-43FB-B39D-230100B7949B}" type="presParOf" srcId="{A49A7DF8-38F2-436B-B049-441FDB16B0F6}" destId="{D9FF1DDF-351F-443A-A96D-6543F03B71F4}" srcOrd="2" destOrd="0" presId="urn:microsoft.com/office/officeart/2018/2/layout/IconVerticalSolidList"/>
    <dgm:cxn modelId="{2C2C87A8-4257-4E2D-9109-7D8E5712239F}" type="presParOf" srcId="{A49A7DF8-38F2-436B-B049-441FDB16B0F6}" destId="{EFC70761-0F91-4886-8A10-6AB4046F8CE0}" srcOrd="3" destOrd="0" presId="urn:microsoft.com/office/officeart/2018/2/layout/IconVerticalSolidList"/>
    <dgm:cxn modelId="{44E9F71E-B2AC-4429-95FB-8696D57C6337}" type="presParOf" srcId="{CA3F75A3-A87A-4927-85FF-190D1AE58741}" destId="{53329A91-E445-400C-82B9-B1A7B13F4575}" srcOrd="1" destOrd="0" presId="urn:microsoft.com/office/officeart/2018/2/layout/IconVerticalSolidList"/>
    <dgm:cxn modelId="{5F597235-335B-4154-A882-7301285B2C8B}" type="presParOf" srcId="{CA3F75A3-A87A-4927-85FF-190D1AE58741}" destId="{132F4AA7-D9E8-4A56-BB6C-6CF8E081A457}" srcOrd="2" destOrd="0" presId="urn:microsoft.com/office/officeart/2018/2/layout/IconVerticalSolidList"/>
    <dgm:cxn modelId="{C973F228-26C5-479E-ADE8-A36483687590}" type="presParOf" srcId="{132F4AA7-D9E8-4A56-BB6C-6CF8E081A457}" destId="{E7CFD22F-3DAE-42DB-909B-1A37470A9C0E}" srcOrd="0" destOrd="0" presId="urn:microsoft.com/office/officeart/2018/2/layout/IconVerticalSolidList"/>
    <dgm:cxn modelId="{52ED9E89-18CB-468B-A06A-772B6074E346}" type="presParOf" srcId="{132F4AA7-D9E8-4A56-BB6C-6CF8E081A457}" destId="{19875AE3-9071-4E29-B5CF-2185A1D88CE0}" srcOrd="1" destOrd="0" presId="urn:microsoft.com/office/officeart/2018/2/layout/IconVerticalSolidList"/>
    <dgm:cxn modelId="{CDDB22B0-3162-4A4F-9BB9-EDB039D21242}" type="presParOf" srcId="{132F4AA7-D9E8-4A56-BB6C-6CF8E081A457}" destId="{BAB02E77-E297-46C7-8C05-3DC2ADDDA805}" srcOrd="2" destOrd="0" presId="urn:microsoft.com/office/officeart/2018/2/layout/IconVerticalSolidList"/>
    <dgm:cxn modelId="{0F510143-FD65-4A4B-AE62-60FDD650DFF5}" type="presParOf" srcId="{132F4AA7-D9E8-4A56-BB6C-6CF8E081A457}" destId="{AC908917-6083-4443-B6BB-4752CC8B2E7A}" srcOrd="3" destOrd="0" presId="urn:microsoft.com/office/officeart/2018/2/layout/IconVerticalSolidList"/>
    <dgm:cxn modelId="{D7F6A5BB-6F67-4172-B388-9549BD2882D1}" type="presParOf" srcId="{CA3F75A3-A87A-4927-85FF-190D1AE58741}" destId="{2309DC34-A87E-4162-B793-B2D489CFDBFF}" srcOrd="3" destOrd="0" presId="urn:microsoft.com/office/officeart/2018/2/layout/IconVerticalSolidList"/>
    <dgm:cxn modelId="{9B444A27-B782-41CE-BE57-C1FD797EB73C}" type="presParOf" srcId="{CA3F75A3-A87A-4927-85FF-190D1AE58741}" destId="{0E68E456-88B5-498B-AAD6-5AE260CEE33E}" srcOrd="4" destOrd="0" presId="urn:microsoft.com/office/officeart/2018/2/layout/IconVerticalSolidList"/>
    <dgm:cxn modelId="{8F1BD62A-7517-4A3F-B879-5026AC895EC7}" type="presParOf" srcId="{0E68E456-88B5-498B-AAD6-5AE260CEE33E}" destId="{64FFA294-8479-4CBC-9C24-CF0A4DA17D5D}" srcOrd="0" destOrd="0" presId="urn:microsoft.com/office/officeart/2018/2/layout/IconVerticalSolidList"/>
    <dgm:cxn modelId="{DED0A676-FDA9-4AB1-8413-185671BD2D77}" type="presParOf" srcId="{0E68E456-88B5-498B-AAD6-5AE260CEE33E}" destId="{38058C01-BCFF-4051-ACF4-2CF96A961441}" srcOrd="1" destOrd="0" presId="urn:microsoft.com/office/officeart/2018/2/layout/IconVerticalSolidList"/>
    <dgm:cxn modelId="{3379B01C-485C-4BF7-8ED0-7CCAE5CFD753}" type="presParOf" srcId="{0E68E456-88B5-498B-AAD6-5AE260CEE33E}" destId="{C0C4199A-1D57-46FB-9D5D-9B92DE914CA7}" srcOrd="2" destOrd="0" presId="urn:microsoft.com/office/officeart/2018/2/layout/IconVerticalSolidList"/>
    <dgm:cxn modelId="{0FAAFA85-6BC2-4765-B3A0-C9A9B9C25707}" type="presParOf" srcId="{0E68E456-88B5-498B-AAD6-5AE260CEE33E}" destId="{1A9EFE2B-B53B-46F1-ABE3-EB20DD0B880C}" srcOrd="3" destOrd="0" presId="urn:microsoft.com/office/officeart/2018/2/layout/IconVerticalSolidList"/>
    <dgm:cxn modelId="{8CCFE7EB-4BBC-4D6D-8A15-B6439B2BFE5C}" type="presParOf" srcId="{CA3F75A3-A87A-4927-85FF-190D1AE58741}" destId="{A81877DB-EC70-4642-995C-5F630244AF48}" srcOrd="5" destOrd="0" presId="urn:microsoft.com/office/officeart/2018/2/layout/IconVerticalSolidList"/>
    <dgm:cxn modelId="{635B8868-9C71-4B72-B603-36A58A33DCF1}" type="presParOf" srcId="{CA3F75A3-A87A-4927-85FF-190D1AE58741}" destId="{FF4E0BC7-3E72-44B9-9FA1-D574267058AD}" srcOrd="6" destOrd="0" presId="urn:microsoft.com/office/officeart/2018/2/layout/IconVerticalSolidList"/>
    <dgm:cxn modelId="{4722DBE2-820C-4BBB-B520-3D639BC360A2}" type="presParOf" srcId="{FF4E0BC7-3E72-44B9-9FA1-D574267058AD}" destId="{77A2C7EE-84DF-444C-B088-329864023169}" srcOrd="0" destOrd="0" presId="urn:microsoft.com/office/officeart/2018/2/layout/IconVerticalSolidList"/>
    <dgm:cxn modelId="{ACEAA5AA-9C5A-4856-B9F7-C2D5A8259E6C}" type="presParOf" srcId="{FF4E0BC7-3E72-44B9-9FA1-D574267058AD}" destId="{19A9BE33-00EF-47B8-847D-86966E69D880}" srcOrd="1" destOrd="0" presId="urn:microsoft.com/office/officeart/2018/2/layout/IconVerticalSolidList"/>
    <dgm:cxn modelId="{39BA236B-9915-4243-8E40-7468ECC33870}" type="presParOf" srcId="{FF4E0BC7-3E72-44B9-9FA1-D574267058AD}" destId="{F7BB1A9C-A758-4965-8B2C-2DBCAEDE1F3A}" srcOrd="2" destOrd="0" presId="urn:microsoft.com/office/officeart/2018/2/layout/IconVerticalSolidList"/>
    <dgm:cxn modelId="{1D1AA0B2-786E-48FC-A723-10E7DAC5DDE6}" type="presParOf" srcId="{FF4E0BC7-3E72-44B9-9FA1-D574267058AD}" destId="{4EBBD1BC-EB9E-4A1C-9888-6BD1D7D09DDD}" srcOrd="3" destOrd="0" presId="urn:microsoft.com/office/officeart/2018/2/layout/IconVerticalSolidList"/>
    <dgm:cxn modelId="{B69FAD29-7833-4056-ACF5-E00B9DFF3C7F}" type="presParOf" srcId="{CA3F75A3-A87A-4927-85FF-190D1AE58741}" destId="{1B48F7A3-BC72-43F8-9185-469492DD0515}" srcOrd="7" destOrd="0" presId="urn:microsoft.com/office/officeart/2018/2/layout/IconVerticalSolidList"/>
    <dgm:cxn modelId="{05338AD0-CEC2-4140-9223-EE6193DAA283}" type="presParOf" srcId="{CA3F75A3-A87A-4927-85FF-190D1AE58741}" destId="{205BEE9B-0C97-4DBC-B085-E328BBC61929}" srcOrd="8" destOrd="0" presId="urn:microsoft.com/office/officeart/2018/2/layout/IconVerticalSolidList"/>
    <dgm:cxn modelId="{76864437-310C-4599-9DC1-2D555860F182}" type="presParOf" srcId="{205BEE9B-0C97-4DBC-B085-E328BBC61929}" destId="{DD984326-4B06-42B4-A989-86116A309225}" srcOrd="0" destOrd="0" presId="urn:microsoft.com/office/officeart/2018/2/layout/IconVerticalSolidList"/>
    <dgm:cxn modelId="{C82CEBB5-0714-4735-8CEE-2BA4135A3A5B}" type="presParOf" srcId="{205BEE9B-0C97-4DBC-B085-E328BBC61929}" destId="{FDC26C98-A5FE-4C3D-9B0E-4A8BD3426A91}" srcOrd="1" destOrd="0" presId="urn:microsoft.com/office/officeart/2018/2/layout/IconVerticalSolidList"/>
    <dgm:cxn modelId="{02D03F60-E005-4E7E-BDAD-A50196BC9B23}" type="presParOf" srcId="{205BEE9B-0C97-4DBC-B085-E328BBC61929}" destId="{F7A17909-38AD-4EB4-98F0-6AE4FEB52324}" srcOrd="2" destOrd="0" presId="urn:microsoft.com/office/officeart/2018/2/layout/IconVerticalSolidList"/>
    <dgm:cxn modelId="{B9F87C2C-A927-483C-B0F2-4D4EF75B9152}" type="presParOf" srcId="{205BEE9B-0C97-4DBC-B085-E328BBC61929}" destId="{6F6C59B3-6253-414E-872F-743F60B314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688F66-179E-4A8B-8891-8DB2316812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AF64F50-7F1D-4737-949C-7F17C5179C56}">
      <dgm:prSet/>
      <dgm:spPr/>
      <dgm:t>
        <a:bodyPr/>
        <a:lstStyle/>
        <a:p>
          <a:r>
            <a:rPr lang="es-ES"/>
            <a:t>Lookup depende solo de tokens</a:t>
          </a:r>
          <a:endParaRPr lang="en-US"/>
        </a:p>
      </dgm:t>
    </dgm:pt>
    <dgm:pt modelId="{3291860B-F1E3-427C-B466-38511D17B214}" type="parTrans" cxnId="{CE20BC82-3378-45D5-8E61-0F0934D67567}">
      <dgm:prSet/>
      <dgm:spPr/>
      <dgm:t>
        <a:bodyPr/>
        <a:lstStyle/>
        <a:p>
          <a:endParaRPr lang="en-US"/>
        </a:p>
      </dgm:t>
    </dgm:pt>
    <dgm:pt modelId="{A0583B79-222A-4CF5-960A-BCCDB48FE2C4}" type="sibTrans" cxnId="{CE20BC82-3378-45D5-8E61-0F0934D67567}">
      <dgm:prSet/>
      <dgm:spPr/>
      <dgm:t>
        <a:bodyPr/>
        <a:lstStyle/>
        <a:p>
          <a:endParaRPr lang="en-US"/>
        </a:p>
      </dgm:t>
    </dgm:pt>
    <dgm:pt modelId="{6A422A23-392B-49B1-A1C0-E5D23748E205}">
      <dgm:prSet/>
      <dgm:spPr/>
      <dgm:t>
        <a:bodyPr/>
        <a:lstStyle/>
        <a:p>
          <a:r>
            <a:rPr lang="es-ES"/>
            <a:t>Prefetch antes de ejecutar la capa</a:t>
          </a:r>
          <a:endParaRPr lang="en-US"/>
        </a:p>
      </dgm:t>
    </dgm:pt>
    <dgm:pt modelId="{3F4B3447-E300-4499-8EE7-F534D3E726AC}" type="parTrans" cxnId="{09D24BC2-A0E6-481D-989F-75CBD67097D3}">
      <dgm:prSet/>
      <dgm:spPr/>
      <dgm:t>
        <a:bodyPr/>
        <a:lstStyle/>
        <a:p>
          <a:endParaRPr lang="en-US"/>
        </a:p>
      </dgm:t>
    </dgm:pt>
    <dgm:pt modelId="{7F96B1A1-E659-4151-AC38-6C2345CDF682}" type="sibTrans" cxnId="{09D24BC2-A0E6-481D-989F-75CBD67097D3}">
      <dgm:prSet/>
      <dgm:spPr/>
      <dgm:t>
        <a:bodyPr/>
        <a:lstStyle/>
        <a:p>
          <a:endParaRPr lang="en-US"/>
        </a:p>
      </dgm:t>
    </dgm:pt>
    <dgm:pt modelId="{32E2EAA4-8892-4C62-A57D-44236558798C}">
      <dgm:prSet/>
      <dgm:spPr/>
      <dgm:t>
        <a:bodyPr/>
        <a:lstStyle/>
        <a:p>
          <a:r>
            <a:rPr lang="es-ES"/>
            <a:t>Offloading con &lt;3% overhead</a:t>
          </a:r>
          <a:endParaRPr lang="en-US"/>
        </a:p>
      </dgm:t>
    </dgm:pt>
    <dgm:pt modelId="{7A054F1D-056F-4320-BAF8-4FFFAE7639D2}" type="parTrans" cxnId="{2277AC64-E5BA-4E69-882C-E563102FF5E7}">
      <dgm:prSet/>
      <dgm:spPr/>
      <dgm:t>
        <a:bodyPr/>
        <a:lstStyle/>
        <a:p>
          <a:endParaRPr lang="en-US"/>
        </a:p>
      </dgm:t>
    </dgm:pt>
    <dgm:pt modelId="{80C14A96-F8A5-42F7-8ECE-2875ED3C93C0}" type="sibTrans" cxnId="{2277AC64-E5BA-4E69-882C-E563102FF5E7}">
      <dgm:prSet/>
      <dgm:spPr/>
      <dgm:t>
        <a:bodyPr/>
        <a:lstStyle/>
        <a:p>
          <a:endParaRPr lang="en-US"/>
        </a:p>
      </dgm:t>
    </dgm:pt>
    <dgm:pt modelId="{A388C8C6-21CE-4552-BB36-090440B45741}">
      <dgm:prSet/>
      <dgm:spPr/>
      <dgm:t>
        <a:bodyPr/>
        <a:lstStyle/>
        <a:p>
          <a:r>
            <a:rPr lang="es-ES" i="1"/>
            <a:t>Escalabilidad masiva de memoria</a:t>
          </a:r>
          <a:endParaRPr lang="en-US"/>
        </a:p>
      </dgm:t>
    </dgm:pt>
    <dgm:pt modelId="{8873CFD6-0F8D-4D20-9E99-0C7C9E938728}" type="parTrans" cxnId="{5ED5903F-7520-4705-AF32-436FBF790E10}">
      <dgm:prSet/>
      <dgm:spPr/>
      <dgm:t>
        <a:bodyPr/>
        <a:lstStyle/>
        <a:p>
          <a:endParaRPr lang="en-US"/>
        </a:p>
      </dgm:t>
    </dgm:pt>
    <dgm:pt modelId="{3A672019-310D-40C8-AE49-57A46CE2F079}" type="sibTrans" cxnId="{5ED5903F-7520-4705-AF32-436FBF790E10}">
      <dgm:prSet/>
      <dgm:spPr/>
      <dgm:t>
        <a:bodyPr/>
        <a:lstStyle/>
        <a:p>
          <a:endParaRPr lang="en-US"/>
        </a:p>
      </dgm:t>
    </dgm:pt>
    <dgm:pt modelId="{2BEE1720-7E4A-4851-A656-A01F44480544}">
      <dgm:prSet/>
      <dgm:spPr/>
      <dgm:t>
        <a:bodyPr/>
        <a:lstStyle/>
        <a:p>
          <a:r>
            <a:rPr lang="es-ES" b="1"/>
            <a:t>Engram desacopla memoria de cómputo.</a:t>
          </a:r>
          <a:endParaRPr lang="en-US"/>
        </a:p>
      </dgm:t>
    </dgm:pt>
    <dgm:pt modelId="{9E4B49F6-A746-4404-859C-67F3DC8DD38D}" type="parTrans" cxnId="{7933E3C3-1B2A-443D-B594-83F2F3147552}">
      <dgm:prSet/>
      <dgm:spPr/>
      <dgm:t>
        <a:bodyPr/>
        <a:lstStyle/>
        <a:p>
          <a:endParaRPr lang="en-US"/>
        </a:p>
      </dgm:t>
    </dgm:pt>
    <dgm:pt modelId="{B23E592E-AB03-4672-BC4E-4E44036EB54D}" type="sibTrans" cxnId="{7933E3C3-1B2A-443D-B594-83F2F3147552}">
      <dgm:prSet/>
      <dgm:spPr/>
      <dgm:t>
        <a:bodyPr/>
        <a:lstStyle/>
        <a:p>
          <a:endParaRPr lang="en-US"/>
        </a:p>
      </dgm:t>
    </dgm:pt>
    <dgm:pt modelId="{CEF50E53-5FB2-4FE2-9410-A93E5AC8FBA0}" type="pres">
      <dgm:prSet presAssocID="{AF688F66-179E-4A8B-8891-8DB231681203}" presName="vert0" presStyleCnt="0">
        <dgm:presLayoutVars>
          <dgm:dir/>
          <dgm:animOne val="branch"/>
          <dgm:animLvl val="lvl"/>
        </dgm:presLayoutVars>
      </dgm:prSet>
      <dgm:spPr/>
    </dgm:pt>
    <dgm:pt modelId="{593B0A27-EC35-4005-8353-DEC7FECC0192}" type="pres">
      <dgm:prSet presAssocID="{CAF64F50-7F1D-4737-949C-7F17C5179C56}" presName="thickLine" presStyleLbl="alignNode1" presStyleIdx="0" presStyleCnt="5"/>
      <dgm:spPr/>
    </dgm:pt>
    <dgm:pt modelId="{3DCE5AC6-B10E-4299-BE5F-15A0BF827B26}" type="pres">
      <dgm:prSet presAssocID="{CAF64F50-7F1D-4737-949C-7F17C5179C56}" presName="horz1" presStyleCnt="0"/>
      <dgm:spPr/>
    </dgm:pt>
    <dgm:pt modelId="{4E67172C-7C8E-49FD-B2CD-6E777875A956}" type="pres">
      <dgm:prSet presAssocID="{CAF64F50-7F1D-4737-949C-7F17C5179C56}" presName="tx1" presStyleLbl="revTx" presStyleIdx="0" presStyleCnt="5"/>
      <dgm:spPr/>
    </dgm:pt>
    <dgm:pt modelId="{81405973-ADF5-4639-BD1D-F07EE744FC51}" type="pres">
      <dgm:prSet presAssocID="{CAF64F50-7F1D-4737-949C-7F17C5179C56}" presName="vert1" presStyleCnt="0"/>
      <dgm:spPr/>
    </dgm:pt>
    <dgm:pt modelId="{D3C47EAD-6D28-4D8E-9EE8-D2F84FD0CC28}" type="pres">
      <dgm:prSet presAssocID="{6A422A23-392B-49B1-A1C0-E5D23748E205}" presName="thickLine" presStyleLbl="alignNode1" presStyleIdx="1" presStyleCnt="5"/>
      <dgm:spPr/>
    </dgm:pt>
    <dgm:pt modelId="{81C3C0C4-65D2-406C-A072-CC25DC3A1D4A}" type="pres">
      <dgm:prSet presAssocID="{6A422A23-392B-49B1-A1C0-E5D23748E205}" presName="horz1" presStyleCnt="0"/>
      <dgm:spPr/>
    </dgm:pt>
    <dgm:pt modelId="{339D6EDF-5B72-49F1-A6AD-3571AF1E84C2}" type="pres">
      <dgm:prSet presAssocID="{6A422A23-392B-49B1-A1C0-E5D23748E205}" presName="tx1" presStyleLbl="revTx" presStyleIdx="1" presStyleCnt="5"/>
      <dgm:spPr/>
    </dgm:pt>
    <dgm:pt modelId="{354BE36E-6B33-4EBD-8BF9-6738F7ECB7A7}" type="pres">
      <dgm:prSet presAssocID="{6A422A23-392B-49B1-A1C0-E5D23748E205}" presName="vert1" presStyleCnt="0"/>
      <dgm:spPr/>
    </dgm:pt>
    <dgm:pt modelId="{D97AB3B5-092B-4662-B3BF-CE571C2937AC}" type="pres">
      <dgm:prSet presAssocID="{32E2EAA4-8892-4C62-A57D-44236558798C}" presName="thickLine" presStyleLbl="alignNode1" presStyleIdx="2" presStyleCnt="5"/>
      <dgm:spPr/>
    </dgm:pt>
    <dgm:pt modelId="{53DB4A62-ABB6-4841-B496-9CC37C197D9D}" type="pres">
      <dgm:prSet presAssocID="{32E2EAA4-8892-4C62-A57D-44236558798C}" presName="horz1" presStyleCnt="0"/>
      <dgm:spPr/>
    </dgm:pt>
    <dgm:pt modelId="{DCD01A7D-DA25-4D79-8D8E-7F1A42DAE3A5}" type="pres">
      <dgm:prSet presAssocID="{32E2EAA4-8892-4C62-A57D-44236558798C}" presName="tx1" presStyleLbl="revTx" presStyleIdx="2" presStyleCnt="5"/>
      <dgm:spPr/>
    </dgm:pt>
    <dgm:pt modelId="{16CFA155-6237-4E3D-8611-302EA6345C07}" type="pres">
      <dgm:prSet presAssocID="{32E2EAA4-8892-4C62-A57D-44236558798C}" presName="vert1" presStyleCnt="0"/>
      <dgm:spPr/>
    </dgm:pt>
    <dgm:pt modelId="{91F45EB6-70CA-4D4B-B520-2B88EA1C3FD9}" type="pres">
      <dgm:prSet presAssocID="{A388C8C6-21CE-4552-BB36-090440B45741}" presName="thickLine" presStyleLbl="alignNode1" presStyleIdx="3" presStyleCnt="5"/>
      <dgm:spPr/>
    </dgm:pt>
    <dgm:pt modelId="{03A75C39-D2B3-4BE3-86FB-4BD5D015E9B7}" type="pres">
      <dgm:prSet presAssocID="{A388C8C6-21CE-4552-BB36-090440B45741}" presName="horz1" presStyleCnt="0"/>
      <dgm:spPr/>
    </dgm:pt>
    <dgm:pt modelId="{D5BDE3A9-BB50-4C9C-9A5D-412DD538AC9C}" type="pres">
      <dgm:prSet presAssocID="{A388C8C6-21CE-4552-BB36-090440B45741}" presName="tx1" presStyleLbl="revTx" presStyleIdx="3" presStyleCnt="5"/>
      <dgm:spPr/>
    </dgm:pt>
    <dgm:pt modelId="{0024CEDD-C54F-4589-9814-8107CE559EA0}" type="pres">
      <dgm:prSet presAssocID="{A388C8C6-21CE-4552-BB36-090440B45741}" presName="vert1" presStyleCnt="0"/>
      <dgm:spPr/>
    </dgm:pt>
    <dgm:pt modelId="{66476258-4E33-4AD5-A80D-3C2FA0DDDACE}" type="pres">
      <dgm:prSet presAssocID="{2BEE1720-7E4A-4851-A656-A01F44480544}" presName="thickLine" presStyleLbl="alignNode1" presStyleIdx="4" presStyleCnt="5"/>
      <dgm:spPr/>
    </dgm:pt>
    <dgm:pt modelId="{C8C9E37D-C0E2-48D3-A1C3-CD509BE36C03}" type="pres">
      <dgm:prSet presAssocID="{2BEE1720-7E4A-4851-A656-A01F44480544}" presName="horz1" presStyleCnt="0"/>
      <dgm:spPr/>
    </dgm:pt>
    <dgm:pt modelId="{0F5CEE93-7D32-4E8E-8B81-781CA802348E}" type="pres">
      <dgm:prSet presAssocID="{2BEE1720-7E4A-4851-A656-A01F44480544}" presName="tx1" presStyleLbl="revTx" presStyleIdx="4" presStyleCnt="5"/>
      <dgm:spPr/>
    </dgm:pt>
    <dgm:pt modelId="{36DB9214-73C0-430B-B8D4-EBD595525DC3}" type="pres">
      <dgm:prSet presAssocID="{2BEE1720-7E4A-4851-A656-A01F44480544}" presName="vert1" presStyleCnt="0"/>
      <dgm:spPr/>
    </dgm:pt>
  </dgm:ptLst>
  <dgm:cxnLst>
    <dgm:cxn modelId="{5ED5903F-7520-4705-AF32-436FBF790E10}" srcId="{AF688F66-179E-4A8B-8891-8DB231681203}" destId="{A388C8C6-21CE-4552-BB36-090440B45741}" srcOrd="3" destOrd="0" parTransId="{8873CFD6-0F8D-4D20-9E99-0C7C9E938728}" sibTransId="{3A672019-310D-40C8-AE49-57A46CE2F079}"/>
    <dgm:cxn modelId="{183EC762-DA1D-4CB4-900C-246A246BEF99}" type="presOf" srcId="{6A422A23-392B-49B1-A1C0-E5D23748E205}" destId="{339D6EDF-5B72-49F1-A6AD-3571AF1E84C2}" srcOrd="0" destOrd="0" presId="urn:microsoft.com/office/officeart/2008/layout/LinedList"/>
    <dgm:cxn modelId="{1C384043-48D3-489C-9812-A77B417C1D2D}" type="presOf" srcId="{A388C8C6-21CE-4552-BB36-090440B45741}" destId="{D5BDE3A9-BB50-4C9C-9A5D-412DD538AC9C}" srcOrd="0" destOrd="0" presId="urn:microsoft.com/office/officeart/2008/layout/LinedList"/>
    <dgm:cxn modelId="{2277AC64-E5BA-4E69-882C-E563102FF5E7}" srcId="{AF688F66-179E-4A8B-8891-8DB231681203}" destId="{32E2EAA4-8892-4C62-A57D-44236558798C}" srcOrd="2" destOrd="0" parTransId="{7A054F1D-056F-4320-BAF8-4FFFAE7639D2}" sibTransId="{80C14A96-F8A5-42F7-8ECE-2875ED3C93C0}"/>
    <dgm:cxn modelId="{CE20BC82-3378-45D5-8E61-0F0934D67567}" srcId="{AF688F66-179E-4A8B-8891-8DB231681203}" destId="{CAF64F50-7F1D-4737-949C-7F17C5179C56}" srcOrd="0" destOrd="0" parTransId="{3291860B-F1E3-427C-B466-38511D17B214}" sibTransId="{A0583B79-222A-4CF5-960A-BCCDB48FE2C4}"/>
    <dgm:cxn modelId="{65D47089-53CA-4EF6-A265-CA48A5AEFA28}" type="presOf" srcId="{CAF64F50-7F1D-4737-949C-7F17C5179C56}" destId="{4E67172C-7C8E-49FD-B2CD-6E777875A956}" srcOrd="0" destOrd="0" presId="urn:microsoft.com/office/officeart/2008/layout/LinedList"/>
    <dgm:cxn modelId="{88BD8AA7-A12F-49A9-BC46-97737B9DA5CE}" type="presOf" srcId="{AF688F66-179E-4A8B-8891-8DB231681203}" destId="{CEF50E53-5FB2-4FE2-9410-A93E5AC8FBA0}" srcOrd="0" destOrd="0" presId="urn:microsoft.com/office/officeart/2008/layout/LinedList"/>
    <dgm:cxn modelId="{61651EB8-ADA5-43EB-A6EE-D4174196E96D}" type="presOf" srcId="{32E2EAA4-8892-4C62-A57D-44236558798C}" destId="{DCD01A7D-DA25-4D79-8D8E-7F1A42DAE3A5}" srcOrd="0" destOrd="0" presId="urn:microsoft.com/office/officeart/2008/layout/LinedList"/>
    <dgm:cxn modelId="{09D24BC2-A0E6-481D-989F-75CBD67097D3}" srcId="{AF688F66-179E-4A8B-8891-8DB231681203}" destId="{6A422A23-392B-49B1-A1C0-E5D23748E205}" srcOrd="1" destOrd="0" parTransId="{3F4B3447-E300-4499-8EE7-F534D3E726AC}" sibTransId="{7F96B1A1-E659-4151-AC38-6C2345CDF682}"/>
    <dgm:cxn modelId="{7933E3C3-1B2A-443D-B594-83F2F3147552}" srcId="{AF688F66-179E-4A8B-8891-8DB231681203}" destId="{2BEE1720-7E4A-4851-A656-A01F44480544}" srcOrd="4" destOrd="0" parTransId="{9E4B49F6-A746-4404-859C-67F3DC8DD38D}" sibTransId="{B23E592E-AB03-4672-BC4E-4E44036EB54D}"/>
    <dgm:cxn modelId="{AA0A15C8-D645-4C5A-9F50-A6169CD244E7}" type="presOf" srcId="{2BEE1720-7E4A-4851-A656-A01F44480544}" destId="{0F5CEE93-7D32-4E8E-8B81-781CA802348E}" srcOrd="0" destOrd="0" presId="urn:microsoft.com/office/officeart/2008/layout/LinedList"/>
    <dgm:cxn modelId="{1EF10428-9328-45C7-9FE1-ED84F6E76670}" type="presParOf" srcId="{CEF50E53-5FB2-4FE2-9410-A93E5AC8FBA0}" destId="{593B0A27-EC35-4005-8353-DEC7FECC0192}" srcOrd="0" destOrd="0" presId="urn:microsoft.com/office/officeart/2008/layout/LinedList"/>
    <dgm:cxn modelId="{CB90AAD8-CD3A-468E-AC40-96946AF15F21}" type="presParOf" srcId="{CEF50E53-5FB2-4FE2-9410-A93E5AC8FBA0}" destId="{3DCE5AC6-B10E-4299-BE5F-15A0BF827B26}" srcOrd="1" destOrd="0" presId="urn:microsoft.com/office/officeart/2008/layout/LinedList"/>
    <dgm:cxn modelId="{63CCD9C8-80DE-407F-884F-D20F948BD248}" type="presParOf" srcId="{3DCE5AC6-B10E-4299-BE5F-15A0BF827B26}" destId="{4E67172C-7C8E-49FD-B2CD-6E777875A956}" srcOrd="0" destOrd="0" presId="urn:microsoft.com/office/officeart/2008/layout/LinedList"/>
    <dgm:cxn modelId="{A1A23044-22E9-4982-97C8-E14BFA1C8A11}" type="presParOf" srcId="{3DCE5AC6-B10E-4299-BE5F-15A0BF827B26}" destId="{81405973-ADF5-4639-BD1D-F07EE744FC51}" srcOrd="1" destOrd="0" presId="urn:microsoft.com/office/officeart/2008/layout/LinedList"/>
    <dgm:cxn modelId="{03F4652E-87D3-4AB2-897F-7CE2D5DB0140}" type="presParOf" srcId="{CEF50E53-5FB2-4FE2-9410-A93E5AC8FBA0}" destId="{D3C47EAD-6D28-4D8E-9EE8-D2F84FD0CC28}" srcOrd="2" destOrd="0" presId="urn:microsoft.com/office/officeart/2008/layout/LinedList"/>
    <dgm:cxn modelId="{73290412-461A-47BE-9681-155C57130646}" type="presParOf" srcId="{CEF50E53-5FB2-4FE2-9410-A93E5AC8FBA0}" destId="{81C3C0C4-65D2-406C-A072-CC25DC3A1D4A}" srcOrd="3" destOrd="0" presId="urn:microsoft.com/office/officeart/2008/layout/LinedList"/>
    <dgm:cxn modelId="{40493361-CD4A-4906-89E7-9C0ED1FB865D}" type="presParOf" srcId="{81C3C0C4-65D2-406C-A072-CC25DC3A1D4A}" destId="{339D6EDF-5B72-49F1-A6AD-3571AF1E84C2}" srcOrd="0" destOrd="0" presId="urn:microsoft.com/office/officeart/2008/layout/LinedList"/>
    <dgm:cxn modelId="{A64C7B63-3EAE-4F27-8DF3-13D893AA6B57}" type="presParOf" srcId="{81C3C0C4-65D2-406C-A072-CC25DC3A1D4A}" destId="{354BE36E-6B33-4EBD-8BF9-6738F7ECB7A7}" srcOrd="1" destOrd="0" presId="urn:microsoft.com/office/officeart/2008/layout/LinedList"/>
    <dgm:cxn modelId="{397CD54C-ACC3-41DC-8493-32A5099297E3}" type="presParOf" srcId="{CEF50E53-5FB2-4FE2-9410-A93E5AC8FBA0}" destId="{D97AB3B5-092B-4662-B3BF-CE571C2937AC}" srcOrd="4" destOrd="0" presId="urn:microsoft.com/office/officeart/2008/layout/LinedList"/>
    <dgm:cxn modelId="{E6203EB9-3101-4810-AFED-96820E7FE208}" type="presParOf" srcId="{CEF50E53-5FB2-4FE2-9410-A93E5AC8FBA0}" destId="{53DB4A62-ABB6-4841-B496-9CC37C197D9D}" srcOrd="5" destOrd="0" presId="urn:microsoft.com/office/officeart/2008/layout/LinedList"/>
    <dgm:cxn modelId="{A8A72F5E-8B1E-4A8C-9563-386908148D17}" type="presParOf" srcId="{53DB4A62-ABB6-4841-B496-9CC37C197D9D}" destId="{DCD01A7D-DA25-4D79-8D8E-7F1A42DAE3A5}" srcOrd="0" destOrd="0" presId="urn:microsoft.com/office/officeart/2008/layout/LinedList"/>
    <dgm:cxn modelId="{06028F8B-AADC-476A-98D1-6180ACD0C6D8}" type="presParOf" srcId="{53DB4A62-ABB6-4841-B496-9CC37C197D9D}" destId="{16CFA155-6237-4E3D-8611-302EA6345C07}" srcOrd="1" destOrd="0" presId="urn:microsoft.com/office/officeart/2008/layout/LinedList"/>
    <dgm:cxn modelId="{AB59F3C6-09B6-4F29-8FD2-E41B20E51631}" type="presParOf" srcId="{CEF50E53-5FB2-4FE2-9410-A93E5AC8FBA0}" destId="{91F45EB6-70CA-4D4B-B520-2B88EA1C3FD9}" srcOrd="6" destOrd="0" presId="urn:microsoft.com/office/officeart/2008/layout/LinedList"/>
    <dgm:cxn modelId="{0F6B50F2-8A21-4904-B717-77B7DD98F7EF}" type="presParOf" srcId="{CEF50E53-5FB2-4FE2-9410-A93E5AC8FBA0}" destId="{03A75C39-D2B3-4BE3-86FB-4BD5D015E9B7}" srcOrd="7" destOrd="0" presId="urn:microsoft.com/office/officeart/2008/layout/LinedList"/>
    <dgm:cxn modelId="{AC8100D1-9725-4EC6-90DA-690CC07DEA13}" type="presParOf" srcId="{03A75C39-D2B3-4BE3-86FB-4BD5D015E9B7}" destId="{D5BDE3A9-BB50-4C9C-9A5D-412DD538AC9C}" srcOrd="0" destOrd="0" presId="urn:microsoft.com/office/officeart/2008/layout/LinedList"/>
    <dgm:cxn modelId="{9B10477B-399D-4C52-BC21-7B712C6C80C2}" type="presParOf" srcId="{03A75C39-D2B3-4BE3-86FB-4BD5D015E9B7}" destId="{0024CEDD-C54F-4589-9814-8107CE559EA0}" srcOrd="1" destOrd="0" presId="urn:microsoft.com/office/officeart/2008/layout/LinedList"/>
    <dgm:cxn modelId="{273EC053-5630-4D55-8918-57D7F37DEF2F}" type="presParOf" srcId="{CEF50E53-5FB2-4FE2-9410-A93E5AC8FBA0}" destId="{66476258-4E33-4AD5-A80D-3C2FA0DDDACE}" srcOrd="8" destOrd="0" presId="urn:microsoft.com/office/officeart/2008/layout/LinedList"/>
    <dgm:cxn modelId="{31C4F893-FEF3-4E05-8B77-3A575E52704E}" type="presParOf" srcId="{CEF50E53-5FB2-4FE2-9410-A93E5AC8FBA0}" destId="{C8C9E37D-C0E2-48D3-A1C3-CD509BE36C03}" srcOrd="9" destOrd="0" presId="urn:microsoft.com/office/officeart/2008/layout/LinedList"/>
    <dgm:cxn modelId="{EEA7FE2D-4B14-41A0-87D7-6A994025FBAB}" type="presParOf" srcId="{C8C9E37D-C0E2-48D3-A1C3-CD509BE36C03}" destId="{0F5CEE93-7D32-4E8E-8B81-781CA802348E}" srcOrd="0" destOrd="0" presId="urn:microsoft.com/office/officeart/2008/layout/LinedList"/>
    <dgm:cxn modelId="{915C0C3C-82C6-40E3-ABE4-2D9AF014FA2A}" type="presParOf" srcId="{C8C9E37D-C0E2-48D3-A1C3-CD509BE36C03}" destId="{36DB9214-73C0-430B-B8D4-EBD595525DC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EFFCE-653F-4ABD-8776-B5870496959D}">
      <dsp:nvSpPr>
        <dsp:cNvPr id="0" name=""/>
        <dsp:cNvSpPr/>
      </dsp:nvSpPr>
      <dsp:spPr>
        <a:xfrm>
          <a:off x="1791810" y="453890"/>
          <a:ext cx="350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092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735" y="497702"/>
        <a:ext cx="19076" cy="3815"/>
      </dsp:txXfrm>
    </dsp:sp>
    <dsp:sp modelId="{A8BCD464-FAC2-450D-9E35-272011A07288}">
      <dsp:nvSpPr>
        <dsp:cNvPr id="0" name=""/>
        <dsp:cNvSpPr/>
      </dsp:nvSpPr>
      <dsp:spPr>
        <a:xfrm>
          <a:off x="134797" y="1966"/>
          <a:ext cx="1658812" cy="99528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1283" tIns="85321" rIns="81283" bIns="8532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Ahorra reconstrucción semántica temprana</a:t>
          </a:r>
          <a:endParaRPr lang="en-US" sz="1400" kern="1200"/>
        </a:p>
      </dsp:txBody>
      <dsp:txXfrm>
        <a:off x="134797" y="1966"/>
        <a:ext cx="1658812" cy="995287"/>
      </dsp:txXfrm>
    </dsp:sp>
    <dsp:sp modelId="{E486C204-D2B1-40AE-B89E-A96409CB4A89}">
      <dsp:nvSpPr>
        <dsp:cNvPr id="0" name=""/>
        <dsp:cNvSpPr/>
      </dsp:nvSpPr>
      <dsp:spPr>
        <a:xfrm>
          <a:off x="964203" y="995454"/>
          <a:ext cx="2040339" cy="350926"/>
        </a:xfrm>
        <a:custGeom>
          <a:avLst/>
          <a:gdLst/>
          <a:ahLst/>
          <a:cxnLst/>
          <a:rect l="0" t="0" r="0" b="0"/>
          <a:pathLst>
            <a:path>
              <a:moveTo>
                <a:pt x="2040339" y="0"/>
              </a:moveTo>
              <a:lnTo>
                <a:pt x="2040339" y="192563"/>
              </a:lnTo>
              <a:lnTo>
                <a:pt x="0" y="192563"/>
              </a:lnTo>
              <a:lnTo>
                <a:pt x="0" y="350926"/>
              </a:lnTo>
            </a:path>
          </a:pathLst>
        </a:custGeom>
        <a:noFill/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32480" y="1169009"/>
        <a:ext cx="103785" cy="3815"/>
      </dsp:txXfrm>
    </dsp:sp>
    <dsp:sp modelId="{F849CFF2-383A-4A34-8640-6FF7524BAE02}">
      <dsp:nvSpPr>
        <dsp:cNvPr id="0" name=""/>
        <dsp:cNvSpPr/>
      </dsp:nvSpPr>
      <dsp:spPr>
        <a:xfrm>
          <a:off x="2175136" y="1966"/>
          <a:ext cx="1658812" cy="995287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1283" tIns="85321" rIns="81283" bIns="8532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Menor KL divergence en capas iniciales</a:t>
          </a:r>
          <a:endParaRPr lang="en-US" sz="1400" kern="1200"/>
        </a:p>
      </dsp:txBody>
      <dsp:txXfrm>
        <a:off x="2175136" y="1966"/>
        <a:ext cx="1658812" cy="995287"/>
      </dsp:txXfrm>
    </dsp:sp>
    <dsp:sp modelId="{8BEF805D-5468-4F7A-8455-830B702EC831}">
      <dsp:nvSpPr>
        <dsp:cNvPr id="0" name=""/>
        <dsp:cNvSpPr/>
      </dsp:nvSpPr>
      <dsp:spPr>
        <a:xfrm>
          <a:off x="1791810" y="1830704"/>
          <a:ext cx="350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0926" y="45720"/>
              </a:lnTo>
            </a:path>
          </a:pathLst>
        </a:custGeom>
        <a:noFill/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735" y="1874516"/>
        <a:ext cx="19076" cy="3815"/>
      </dsp:txXfrm>
    </dsp:sp>
    <dsp:sp modelId="{947E87FD-693F-4557-BE31-852FEEAA342B}">
      <dsp:nvSpPr>
        <dsp:cNvPr id="0" name=""/>
        <dsp:cNvSpPr/>
      </dsp:nvSpPr>
      <dsp:spPr>
        <a:xfrm>
          <a:off x="134797" y="1378780"/>
          <a:ext cx="1658812" cy="995287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1283" tIns="85321" rIns="81283" bIns="8532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CKA muestra desplazamiento de profundidad</a:t>
          </a:r>
          <a:endParaRPr lang="en-US" sz="1400" kern="1200"/>
        </a:p>
      </dsp:txBody>
      <dsp:txXfrm>
        <a:off x="134797" y="1378780"/>
        <a:ext cx="1658812" cy="995287"/>
      </dsp:txXfrm>
    </dsp:sp>
    <dsp:sp modelId="{DF1F7C00-27D0-4423-BC2C-78E0415E9E5A}">
      <dsp:nvSpPr>
        <dsp:cNvPr id="0" name=""/>
        <dsp:cNvSpPr/>
      </dsp:nvSpPr>
      <dsp:spPr>
        <a:xfrm>
          <a:off x="964203" y="2372268"/>
          <a:ext cx="2040339" cy="350926"/>
        </a:xfrm>
        <a:custGeom>
          <a:avLst/>
          <a:gdLst/>
          <a:ahLst/>
          <a:cxnLst/>
          <a:rect l="0" t="0" r="0" b="0"/>
          <a:pathLst>
            <a:path>
              <a:moveTo>
                <a:pt x="2040339" y="0"/>
              </a:moveTo>
              <a:lnTo>
                <a:pt x="2040339" y="192563"/>
              </a:lnTo>
              <a:lnTo>
                <a:pt x="0" y="192563"/>
              </a:lnTo>
              <a:lnTo>
                <a:pt x="0" y="350926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32480" y="2545823"/>
        <a:ext cx="103785" cy="3815"/>
      </dsp:txXfrm>
    </dsp:sp>
    <dsp:sp modelId="{4868A5AF-596B-45A9-AFB8-C3941CC8AC3D}">
      <dsp:nvSpPr>
        <dsp:cNvPr id="0" name=""/>
        <dsp:cNvSpPr/>
      </dsp:nvSpPr>
      <dsp:spPr>
        <a:xfrm>
          <a:off x="2175136" y="1378780"/>
          <a:ext cx="1658812" cy="995287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1283" tIns="85321" rIns="81283" bIns="8532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Más capacidad para razonamiento global</a:t>
          </a:r>
          <a:endParaRPr lang="en-US" sz="1400" kern="1200"/>
        </a:p>
      </dsp:txBody>
      <dsp:txXfrm>
        <a:off x="2175136" y="1378780"/>
        <a:ext cx="1658812" cy="995287"/>
      </dsp:txXfrm>
    </dsp:sp>
    <dsp:sp modelId="{85B478DF-63A4-4EC6-9C6C-49F15AD75E09}">
      <dsp:nvSpPr>
        <dsp:cNvPr id="0" name=""/>
        <dsp:cNvSpPr/>
      </dsp:nvSpPr>
      <dsp:spPr>
        <a:xfrm>
          <a:off x="134797" y="2755594"/>
          <a:ext cx="1658812" cy="995287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1283" tIns="85321" rIns="81283" bIns="8532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Take away:</a:t>
          </a:r>
          <a:r>
            <a:rPr lang="es-ES" sz="1400" kern="1200"/>
            <a:t> Engram adelanta el trabajo semántico.</a:t>
          </a:r>
          <a:endParaRPr lang="en-US" sz="1400" kern="1200"/>
        </a:p>
      </dsp:txBody>
      <dsp:txXfrm>
        <a:off x="134797" y="2755594"/>
        <a:ext cx="1658812" cy="9952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E8B21-2AD0-4D59-913C-69B278EEF833}">
      <dsp:nvSpPr>
        <dsp:cNvPr id="0" name=""/>
        <dsp:cNvSpPr/>
      </dsp:nvSpPr>
      <dsp:spPr>
        <a:xfrm>
          <a:off x="0" y="3382"/>
          <a:ext cx="8229600" cy="7205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3F6D4-D8D2-454F-83E9-77DAD585F94D}">
      <dsp:nvSpPr>
        <dsp:cNvPr id="0" name=""/>
        <dsp:cNvSpPr/>
      </dsp:nvSpPr>
      <dsp:spPr>
        <a:xfrm>
          <a:off x="217964" y="165504"/>
          <a:ext cx="396298" cy="3962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70761-0F91-4886-8A10-6AB4046F8CE0}">
      <dsp:nvSpPr>
        <dsp:cNvPr id="0" name=""/>
        <dsp:cNvSpPr/>
      </dsp:nvSpPr>
      <dsp:spPr>
        <a:xfrm>
          <a:off x="832226" y="3382"/>
          <a:ext cx="7397373" cy="720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57" tIns="76257" rIns="76257" bIns="762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MoE = sparsity en cómputo </a:t>
          </a:r>
          <a:r>
            <a:rPr lang="es-ES" sz="1900" kern="1200">
              <a:sym typeface="Wingdings" panose="05000000000000000000" pitchFamily="2" charset="2"/>
            </a:rPr>
            <a:t></a:t>
          </a:r>
          <a:r>
            <a:rPr lang="es-ES" sz="1900" kern="1200"/>
            <a:t> </a:t>
          </a:r>
          <a:r>
            <a:rPr lang="es-AR" sz="1900" kern="1200"/>
            <a:t>suboptimal</a:t>
          </a:r>
          <a:endParaRPr lang="en-US" sz="1900" kern="1200"/>
        </a:p>
      </dsp:txBody>
      <dsp:txXfrm>
        <a:off x="832226" y="3382"/>
        <a:ext cx="7397373" cy="720542"/>
      </dsp:txXfrm>
    </dsp:sp>
    <dsp:sp modelId="{E7CFD22F-3DAE-42DB-909B-1A37470A9C0E}">
      <dsp:nvSpPr>
        <dsp:cNvPr id="0" name=""/>
        <dsp:cNvSpPr/>
      </dsp:nvSpPr>
      <dsp:spPr>
        <a:xfrm>
          <a:off x="0" y="904060"/>
          <a:ext cx="8229600" cy="7205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875AE3-9071-4E29-B5CF-2185A1D88CE0}">
      <dsp:nvSpPr>
        <dsp:cNvPr id="0" name=""/>
        <dsp:cNvSpPr/>
      </dsp:nvSpPr>
      <dsp:spPr>
        <a:xfrm>
          <a:off x="217964" y="1066182"/>
          <a:ext cx="396298" cy="3962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08917-6083-4443-B6BB-4752CC8B2E7A}">
      <dsp:nvSpPr>
        <dsp:cNvPr id="0" name=""/>
        <dsp:cNvSpPr/>
      </dsp:nvSpPr>
      <dsp:spPr>
        <a:xfrm>
          <a:off x="832226" y="904060"/>
          <a:ext cx="7397373" cy="720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57" tIns="76257" rIns="76257" bIns="762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Engram = sparsity en memoria </a:t>
          </a:r>
          <a:r>
            <a:rPr lang="es-ES" sz="1900" kern="1200">
              <a:sym typeface="Wingdings" panose="05000000000000000000" pitchFamily="2" charset="2"/>
            </a:rPr>
            <a:t></a:t>
          </a:r>
          <a:r>
            <a:rPr lang="es-ES" sz="1900" kern="1200"/>
            <a:t> </a:t>
          </a:r>
          <a:r>
            <a:rPr lang="es-AR" sz="1900" kern="1200"/>
            <a:t>suboptimal</a:t>
          </a:r>
          <a:endParaRPr lang="en-US" sz="1900" kern="1200"/>
        </a:p>
      </dsp:txBody>
      <dsp:txXfrm>
        <a:off x="832226" y="904060"/>
        <a:ext cx="7397373" cy="720542"/>
      </dsp:txXfrm>
    </dsp:sp>
    <dsp:sp modelId="{64FFA294-8479-4CBC-9C24-CF0A4DA17D5D}">
      <dsp:nvSpPr>
        <dsp:cNvPr id="0" name=""/>
        <dsp:cNvSpPr/>
      </dsp:nvSpPr>
      <dsp:spPr>
        <a:xfrm>
          <a:off x="0" y="1804738"/>
          <a:ext cx="8229600" cy="7205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58C01-BCFF-4051-ACF4-2CF96A961441}">
      <dsp:nvSpPr>
        <dsp:cNvPr id="0" name=""/>
        <dsp:cNvSpPr/>
      </dsp:nvSpPr>
      <dsp:spPr>
        <a:xfrm>
          <a:off x="217964" y="1966860"/>
          <a:ext cx="396298" cy="3962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EFE2B-B53B-46F1-ABE3-EB20DD0B880C}">
      <dsp:nvSpPr>
        <dsp:cNvPr id="0" name=""/>
        <dsp:cNvSpPr/>
      </dsp:nvSpPr>
      <dsp:spPr>
        <a:xfrm>
          <a:off x="832226" y="1804738"/>
          <a:ext cx="7397373" cy="720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57" tIns="76257" rIns="76257" bIns="762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Curva en U</a:t>
          </a:r>
          <a:endParaRPr lang="en-US" sz="1900" kern="1200"/>
        </a:p>
      </dsp:txBody>
      <dsp:txXfrm>
        <a:off x="832226" y="1804738"/>
        <a:ext cx="7397373" cy="720542"/>
      </dsp:txXfrm>
    </dsp:sp>
    <dsp:sp modelId="{77A2C7EE-84DF-444C-B088-329864023169}">
      <dsp:nvSpPr>
        <dsp:cNvPr id="0" name=""/>
        <dsp:cNvSpPr/>
      </dsp:nvSpPr>
      <dsp:spPr>
        <a:xfrm>
          <a:off x="0" y="2705416"/>
          <a:ext cx="8229600" cy="7205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9BE33-00EF-47B8-847D-86966E69D880}">
      <dsp:nvSpPr>
        <dsp:cNvPr id="0" name=""/>
        <dsp:cNvSpPr/>
      </dsp:nvSpPr>
      <dsp:spPr>
        <a:xfrm>
          <a:off x="217964" y="2867538"/>
          <a:ext cx="396298" cy="3962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BD1BC-EB9E-4A1C-9888-6BD1D7D09DDD}">
      <dsp:nvSpPr>
        <dsp:cNvPr id="0" name=""/>
        <dsp:cNvSpPr/>
      </dsp:nvSpPr>
      <dsp:spPr>
        <a:xfrm>
          <a:off x="832226" y="2705416"/>
          <a:ext cx="7397373" cy="720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57" tIns="76257" rIns="76257" bIns="762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Óptimo </a:t>
          </a:r>
          <a:r>
            <a:rPr lang="es-AR" sz="1900" kern="1200"/>
            <a:t>≈ 75–80% MoE / 20–25% Engram</a:t>
          </a:r>
          <a:endParaRPr lang="en-US" sz="1900" kern="1200"/>
        </a:p>
      </dsp:txBody>
      <dsp:txXfrm>
        <a:off x="832226" y="2705416"/>
        <a:ext cx="7397373" cy="720542"/>
      </dsp:txXfrm>
    </dsp:sp>
    <dsp:sp modelId="{DD984326-4B06-42B4-A989-86116A309225}">
      <dsp:nvSpPr>
        <dsp:cNvPr id="0" name=""/>
        <dsp:cNvSpPr/>
      </dsp:nvSpPr>
      <dsp:spPr>
        <a:xfrm>
          <a:off x="0" y="3606094"/>
          <a:ext cx="8229600" cy="7205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C26C98-A5FE-4C3D-9B0E-4A8BD3426A91}">
      <dsp:nvSpPr>
        <dsp:cNvPr id="0" name=""/>
        <dsp:cNvSpPr/>
      </dsp:nvSpPr>
      <dsp:spPr>
        <a:xfrm>
          <a:off x="217964" y="3768216"/>
          <a:ext cx="396298" cy="3962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C59B3-6253-414E-872F-743F60B314F6}">
      <dsp:nvSpPr>
        <dsp:cNvPr id="0" name=""/>
        <dsp:cNvSpPr/>
      </dsp:nvSpPr>
      <dsp:spPr>
        <a:xfrm>
          <a:off x="832226" y="3606094"/>
          <a:ext cx="7397373" cy="720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57" tIns="76257" rIns="76257" bIns="762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/>
            <a:t>Memoria y cómputo son ejes complementarios.</a:t>
          </a:r>
          <a:endParaRPr lang="en-US" sz="1900" kern="1200"/>
        </a:p>
      </dsp:txBody>
      <dsp:txXfrm>
        <a:off x="832226" y="3606094"/>
        <a:ext cx="7397373" cy="7205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B0A27-EC35-4005-8353-DEC7FECC0192}">
      <dsp:nvSpPr>
        <dsp:cNvPr id="0" name=""/>
        <dsp:cNvSpPr/>
      </dsp:nvSpPr>
      <dsp:spPr>
        <a:xfrm>
          <a:off x="0" y="440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7172C-7C8E-49FD-B2CD-6E777875A956}">
      <dsp:nvSpPr>
        <dsp:cNvPr id="0" name=""/>
        <dsp:cNvSpPr/>
      </dsp:nvSpPr>
      <dsp:spPr>
        <a:xfrm>
          <a:off x="0" y="440"/>
          <a:ext cx="3815379" cy="721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Lookup depende solo de tokens</a:t>
          </a:r>
          <a:endParaRPr lang="en-US" sz="2000" kern="1200"/>
        </a:p>
      </dsp:txBody>
      <dsp:txXfrm>
        <a:off x="0" y="440"/>
        <a:ext cx="3815379" cy="721706"/>
      </dsp:txXfrm>
    </dsp:sp>
    <dsp:sp modelId="{D3C47EAD-6D28-4D8E-9EE8-D2F84FD0CC28}">
      <dsp:nvSpPr>
        <dsp:cNvPr id="0" name=""/>
        <dsp:cNvSpPr/>
      </dsp:nvSpPr>
      <dsp:spPr>
        <a:xfrm>
          <a:off x="0" y="722147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9D6EDF-5B72-49F1-A6AD-3571AF1E84C2}">
      <dsp:nvSpPr>
        <dsp:cNvPr id="0" name=""/>
        <dsp:cNvSpPr/>
      </dsp:nvSpPr>
      <dsp:spPr>
        <a:xfrm>
          <a:off x="0" y="722147"/>
          <a:ext cx="3815379" cy="721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Prefetch antes de ejecutar la capa</a:t>
          </a:r>
          <a:endParaRPr lang="en-US" sz="2000" kern="1200"/>
        </a:p>
      </dsp:txBody>
      <dsp:txXfrm>
        <a:off x="0" y="722147"/>
        <a:ext cx="3815379" cy="721706"/>
      </dsp:txXfrm>
    </dsp:sp>
    <dsp:sp modelId="{D97AB3B5-092B-4662-B3BF-CE571C2937AC}">
      <dsp:nvSpPr>
        <dsp:cNvPr id="0" name=""/>
        <dsp:cNvSpPr/>
      </dsp:nvSpPr>
      <dsp:spPr>
        <a:xfrm>
          <a:off x="0" y="1443854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01A7D-DA25-4D79-8D8E-7F1A42DAE3A5}">
      <dsp:nvSpPr>
        <dsp:cNvPr id="0" name=""/>
        <dsp:cNvSpPr/>
      </dsp:nvSpPr>
      <dsp:spPr>
        <a:xfrm>
          <a:off x="0" y="1443854"/>
          <a:ext cx="3815379" cy="721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Offloading con &lt;3% overhead</a:t>
          </a:r>
          <a:endParaRPr lang="en-US" sz="2000" kern="1200"/>
        </a:p>
      </dsp:txBody>
      <dsp:txXfrm>
        <a:off x="0" y="1443854"/>
        <a:ext cx="3815379" cy="721706"/>
      </dsp:txXfrm>
    </dsp:sp>
    <dsp:sp modelId="{91F45EB6-70CA-4D4B-B520-2B88EA1C3FD9}">
      <dsp:nvSpPr>
        <dsp:cNvPr id="0" name=""/>
        <dsp:cNvSpPr/>
      </dsp:nvSpPr>
      <dsp:spPr>
        <a:xfrm>
          <a:off x="0" y="2165561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DE3A9-BB50-4C9C-9A5D-412DD538AC9C}">
      <dsp:nvSpPr>
        <dsp:cNvPr id="0" name=""/>
        <dsp:cNvSpPr/>
      </dsp:nvSpPr>
      <dsp:spPr>
        <a:xfrm>
          <a:off x="0" y="2165561"/>
          <a:ext cx="3815379" cy="721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i="1" kern="1200"/>
            <a:t>Escalabilidad masiva de memoria</a:t>
          </a:r>
          <a:endParaRPr lang="en-US" sz="2000" kern="1200"/>
        </a:p>
      </dsp:txBody>
      <dsp:txXfrm>
        <a:off x="0" y="2165561"/>
        <a:ext cx="3815379" cy="721706"/>
      </dsp:txXfrm>
    </dsp:sp>
    <dsp:sp modelId="{66476258-4E33-4AD5-A80D-3C2FA0DDDACE}">
      <dsp:nvSpPr>
        <dsp:cNvPr id="0" name=""/>
        <dsp:cNvSpPr/>
      </dsp:nvSpPr>
      <dsp:spPr>
        <a:xfrm>
          <a:off x="0" y="2887268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CEE93-7D32-4E8E-8B81-781CA802348E}">
      <dsp:nvSpPr>
        <dsp:cNvPr id="0" name=""/>
        <dsp:cNvSpPr/>
      </dsp:nvSpPr>
      <dsp:spPr>
        <a:xfrm>
          <a:off x="0" y="2887268"/>
          <a:ext cx="3815379" cy="721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Engram desacopla memoria de cómputo.</a:t>
          </a:r>
          <a:endParaRPr lang="en-US" sz="2000" kern="1200"/>
        </a:p>
      </dsp:txBody>
      <dsp:txXfrm>
        <a:off x="0" y="2887268"/>
        <a:ext cx="3815379" cy="721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6D364-1073-4136-824F-7F93F921443B}" type="datetimeFigureOut">
              <a:rPr lang="es-AR" smtClean="0"/>
              <a:t>22/2/2026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CD204-3F87-4A87-9FAB-0DBF478A56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25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6105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modelo usa computación profunda para simular un diccionario.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74812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 es una palabra, hecho o etiqueta. Es una </a:t>
            </a:r>
            <a:r>
              <a:rPr lang="es-ES" b="1" dirty="0"/>
              <a:t>configuración geométrica</a:t>
            </a:r>
            <a:r>
              <a:rPr lang="es-ES" dirty="0"/>
              <a:t> en el espacio de representación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2258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 err="1"/>
              <a:t>Engram</a:t>
            </a:r>
            <a:r>
              <a:rPr lang="es-ES" b="1" dirty="0"/>
              <a:t> no predice tokens, cambia el </a:t>
            </a:r>
            <a:r>
              <a:rPr lang="es-ES" b="1" i="1" dirty="0"/>
              <a:t>estado interno</a:t>
            </a:r>
            <a:r>
              <a:rPr lang="es-ES" b="1" dirty="0"/>
              <a:t> desde el cual se predice</a:t>
            </a:r>
            <a:r>
              <a:rPr lang="es-ES" dirty="0"/>
              <a:t>.</a:t>
            </a:r>
          </a:p>
          <a:p>
            <a:r>
              <a:rPr lang="es-ES" b="1" dirty="0"/>
              <a:t>Modifica la representación latente</a:t>
            </a:r>
            <a:r>
              <a:rPr lang="es-ES" dirty="0"/>
              <a:t> </a:t>
            </a:r>
            <a:r>
              <a:rPr lang="es-ES" i="1" dirty="0"/>
              <a:t>antes</a:t>
            </a:r>
            <a:r>
              <a:rPr lang="es-ES" dirty="0"/>
              <a:t> de que el modelo razone y prediga.</a:t>
            </a:r>
          </a:p>
          <a:p>
            <a:endParaRPr lang="es-ES" dirty="0"/>
          </a:p>
          <a:p>
            <a:r>
              <a:rPr lang="es-ES" dirty="0"/>
              <a:t>El </a:t>
            </a:r>
            <a:r>
              <a:rPr lang="es-ES" dirty="0" err="1"/>
              <a:t>embedding</a:t>
            </a:r>
            <a:r>
              <a:rPr lang="es-ES" dirty="0"/>
              <a:t> de </a:t>
            </a:r>
            <a:r>
              <a:rPr lang="es-ES" dirty="0" err="1"/>
              <a:t>Engram</a:t>
            </a:r>
            <a:r>
              <a:rPr lang="es-ES" dirty="0"/>
              <a:t> </a:t>
            </a:r>
            <a:r>
              <a:rPr lang="es-ES" b="1" dirty="0"/>
              <a:t>inyecta información semántica ya compuesta </a:t>
            </a:r>
            <a:r>
              <a:rPr lang="es-ES" dirty="0"/>
              <a:t>que el </a:t>
            </a:r>
            <a:r>
              <a:rPr lang="es-ES" dirty="0" err="1"/>
              <a:t>Transformer</a:t>
            </a:r>
            <a:r>
              <a:rPr lang="es-ES" dirty="0"/>
              <a:t>, sin </a:t>
            </a:r>
            <a:r>
              <a:rPr lang="es-ES" dirty="0" err="1"/>
              <a:t>Engram</a:t>
            </a:r>
            <a:r>
              <a:rPr lang="es-ES" dirty="0"/>
              <a:t>, tendría que </a:t>
            </a:r>
            <a:r>
              <a:rPr lang="es-ES" i="1" dirty="0"/>
              <a:t>reconstruir capa por capa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b="1" dirty="0"/>
              <a:t>Lo que hace es deformar el vector latente</a:t>
            </a:r>
            <a:r>
              <a:rPr lang="es-ES" dirty="0"/>
              <a:t> hacia una región del espacio semántico.</a:t>
            </a:r>
          </a:p>
          <a:p>
            <a:r>
              <a:rPr lang="es-ES" dirty="0"/>
              <a:t>Si el </a:t>
            </a:r>
            <a:r>
              <a:rPr lang="es-ES" dirty="0" err="1"/>
              <a:t>gating</a:t>
            </a:r>
            <a:r>
              <a:rPr lang="es-ES" dirty="0"/>
              <a:t> dice “esto no encaja”, el vector es casi cero y no pasa nada.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0739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En un </a:t>
            </a:r>
            <a:r>
              <a:rPr lang="es-AR" dirty="0" err="1"/>
              <a:t>Transformer</a:t>
            </a:r>
            <a:r>
              <a:rPr lang="es-AR" dirty="0"/>
              <a:t> normal:</a:t>
            </a:r>
          </a:p>
          <a:p>
            <a:r>
              <a:rPr lang="es-AR" dirty="0"/>
              <a:t>Capa 1–2:</a:t>
            </a:r>
          </a:p>
          <a:p>
            <a:pPr lvl="1"/>
            <a:r>
              <a:rPr lang="es-AR" dirty="0"/>
              <a:t>“</a:t>
            </a:r>
            <a:r>
              <a:rPr lang="es-AR" dirty="0" err="1"/>
              <a:t>Wales</a:t>
            </a:r>
            <a:r>
              <a:rPr lang="es-AR" dirty="0"/>
              <a:t>” ≈ país</a:t>
            </a:r>
          </a:p>
          <a:p>
            <a:r>
              <a:rPr lang="es-AR" dirty="0"/>
              <a:t>Capa 3–4:</a:t>
            </a:r>
          </a:p>
          <a:p>
            <a:pPr lvl="1"/>
            <a:r>
              <a:rPr lang="es-AR" dirty="0"/>
              <a:t>“</a:t>
            </a:r>
            <a:r>
              <a:rPr lang="es-AR" dirty="0" err="1"/>
              <a:t>Princess</a:t>
            </a:r>
            <a:r>
              <a:rPr lang="es-AR" dirty="0"/>
              <a:t> </a:t>
            </a:r>
            <a:r>
              <a:rPr lang="es-AR" dirty="0" err="1"/>
              <a:t>of</a:t>
            </a:r>
            <a:r>
              <a:rPr lang="es-AR" dirty="0"/>
              <a:t> </a:t>
            </a:r>
            <a:r>
              <a:rPr lang="es-AR" dirty="0" err="1"/>
              <a:t>Wales</a:t>
            </a:r>
            <a:r>
              <a:rPr lang="es-AR" dirty="0"/>
              <a:t>” ≈ título</a:t>
            </a:r>
          </a:p>
          <a:p>
            <a:r>
              <a:rPr lang="es-AR" dirty="0"/>
              <a:t>Capa 5–6:</a:t>
            </a:r>
          </a:p>
          <a:p>
            <a:pPr lvl="1"/>
            <a:r>
              <a:rPr lang="es-AR" dirty="0"/>
              <a:t>“Diana, </a:t>
            </a:r>
            <a:r>
              <a:rPr lang="es-AR" dirty="0" err="1"/>
              <a:t>Princess</a:t>
            </a:r>
            <a:r>
              <a:rPr lang="es-AR" dirty="0"/>
              <a:t> </a:t>
            </a:r>
            <a:r>
              <a:rPr lang="es-AR" dirty="0" err="1"/>
              <a:t>of</a:t>
            </a:r>
            <a:r>
              <a:rPr lang="es-AR" dirty="0"/>
              <a:t> </a:t>
            </a:r>
            <a:r>
              <a:rPr lang="es-AR" dirty="0" err="1"/>
              <a:t>Wales</a:t>
            </a:r>
            <a:r>
              <a:rPr lang="es-AR" dirty="0"/>
              <a:t>” ≈ persona histórica</a:t>
            </a:r>
          </a:p>
          <a:p>
            <a:r>
              <a:rPr lang="es-AR" dirty="0"/>
              <a:t>👉 Eso </a:t>
            </a:r>
            <a:r>
              <a:rPr lang="es-AR" b="1" dirty="0"/>
              <a:t>consume profundidad</a:t>
            </a:r>
            <a:br>
              <a:rPr lang="es-AR" dirty="0"/>
            </a:br>
            <a:r>
              <a:rPr lang="es-AR" dirty="0"/>
              <a:t>👉 Cada capa gasta atención + FFN en </a:t>
            </a:r>
            <a:r>
              <a:rPr lang="es-AR" i="1" dirty="0"/>
              <a:t>reconstruir algo estático</a:t>
            </a:r>
          </a:p>
          <a:p>
            <a:endParaRPr lang="es-AR" i="1" dirty="0"/>
          </a:p>
          <a:p>
            <a:endParaRPr lang="es-AR" i="1" dirty="0"/>
          </a:p>
          <a:p>
            <a:r>
              <a:rPr lang="es-ES" b="1" dirty="0"/>
              <a:t>El mismo caso con </a:t>
            </a:r>
            <a:r>
              <a:rPr lang="es-ES" b="1" dirty="0" err="1"/>
              <a:t>Engram</a:t>
            </a:r>
            <a:endParaRPr lang="es-ES" b="1" dirty="0"/>
          </a:p>
          <a:p>
            <a:r>
              <a:rPr lang="es-ES" dirty="0"/>
              <a:t>Cuando llega al token 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Wales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s-ES" dirty="0"/>
              <a:t>:</a:t>
            </a:r>
          </a:p>
          <a:p>
            <a:r>
              <a:rPr lang="es-ES" dirty="0"/>
              <a:t>El 3-gram 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Princess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Wales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Se </a:t>
            </a:r>
            <a:r>
              <a:rPr lang="es-ES" dirty="0" err="1"/>
              <a:t>hashea</a:t>
            </a:r>
            <a:endParaRPr lang="es-ES" dirty="0"/>
          </a:p>
          <a:p>
            <a:pPr lvl="1"/>
            <a:r>
              <a:rPr lang="es-ES" dirty="0"/>
              <a:t>Recupera un </a:t>
            </a:r>
            <a:r>
              <a:rPr lang="es-ES" dirty="0" err="1"/>
              <a:t>embedding</a:t>
            </a:r>
            <a:r>
              <a:rPr lang="es-ES" dirty="0"/>
              <a:t> </a:t>
            </a:r>
            <a:r>
              <a:rPr lang="es-ES" b="1" dirty="0"/>
              <a:t>que ya representa esa entidad (una representación vectorial ya colapsada</a:t>
            </a:r>
            <a:r>
              <a:rPr lang="es-ES" dirty="0"/>
              <a:t> que </a:t>
            </a:r>
            <a:r>
              <a:rPr lang="es-ES" i="1" dirty="0"/>
              <a:t>corresponde</a:t>
            </a:r>
            <a:r>
              <a:rPr lang="es-ES" dirty="0"/>
              <a:t> a ese concepto.)</a:t>
            </a:r>
          </a:p>
          <a:p>
            <a:r>
              <a:rPr lang="es-ES" dirty="0"/>
              <a:t>El </a:t>
            </a:r>
            <a:r>
              <a:rPr lang="es-ES" dirty="0" err="1"/>
              <a:t>gating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Evalúa si </a:t>
            </a:r>
            <a:r>
              <a:rPr lang="es-ES" i="1" dirty="0"/>
              <a:t>encaja con el contexto global</a:t>
            </a:r>
            <a:endParaRPr lang="es-ES" dirty="0"/>
          </a:p>
          <a:p>
            <a:pPr lvl="1"/>
            <a:r>
              <a:rPr lang="es-ES" dirty="0"/>
              <a:t>Si sí → lo inyecta</a:t>
            </a:r>
          </a:p>
          <a:p>
            <a:pPr lvl="1"/>
            <a:r>
              <a:rPr lang="es-ES" dirty="0"/>
              <a:t>Si no → lo anula</a:t>
            </a:r>
          </a:p>
          <a:p>
            <a:r>
              <a:rPr lang="es-ES" dirty="0"/>
              <a:t>Resultado:</a:t>
            </a:r>
          </a:p>
          <a:p>
            <a:r>
              <a:rPr lang="es-ES" dirty="0"/>
              <a:t>👉 El estado oculto </a:t>
            </a:r>
            <a:r>
              <a:rPr lang="es-ES" b="1" dirty="0"/>
              <a:t>ya sabe</a:t>
            </a:r>
            <a:r>
              <a:rPr lang="es-ES" dirty="0"/>
              <a:t> que está en una entidad concreta</a:t>
            </a:r>
            <a:br>
              <a:rPr lang="es-ES" dirty="0"/>
            </a:br>
            <a:r>
              <a:rPr lang="es-ES" dirty="0"/>
              <a:t>👉 No necesita “descubrirlo” en capas posteriores</a:t>
            </a:r>
          </a:p>
          <a:p>
            <a:endParaRPr lang="es-AR" dirty="0"/>
          </a:p>
          <a:p>
            <a:endParaRPr lang="es-AR" dirty="0"/>
          </a:p>
          <a:p>
            <a:r>
              <a:rPr lang="es-ES" b="1" dirty="0"/>
              <a:t>Entonces, ¿por qué eso ayuda si igual se predice el token siguiente?</a:t>
            </a:r>
          </a:p>
          <a:p>
            <a:r>
              <a:rPr lang="es-ES" dirty="0"/>
              <a:t>Porque </a:t>
            </a:r>
            <a:r>
              <a:rPr lang="es-ES" b="1" dirty="0"/>
              <a:t>la predicción depende críticamente del estado latente</a:t>
            </a:r>
            <a:r>
              <a:rPr lang="es-ES" dirty="0"/>
              <a:t>, no solo del LM head.</a:t>
            </a:r>
          </a:p>
          <a:p>
            <a:r>
              <a:rPr lang="es-ES" dirty="0" err="1"/>
              <a:t>Pensalo</a:t>
            </a:r>
            <a:r>
              <a:rPr lang="es-ES" dirty="0"/>
              <a:t> así:</a:t>
            </a:r>
          </a:p>
          <a:p>
            <a:r>
              <a:rPr lang="es-ES" dirty="0"/>
              <a:t>El LM head es casi lineal</a:t>
            </a:r>
          </a:p>
          <a:p>
            <a:r>
              <a:rPr lang="es-ES" dirty="0"/>
              <a:t>El “trabajo pesado” está en construir </a:t>
            </a:r>
            <a:r>
              <a:rPr lang="es-ES" b="1" dirty="0"/>
              <a:t>la representación correcta</a:t>
            </a:r>
            <a:endParaRPr lang="es-ES" dirty="0"/>
          </a:p>
          <a:p>
            <a:r>
              <a:rPr lang="es-ES" dirty="0" err="1"/>
              <a:t>Engram</a:t>
            </a:r>
            <a:r>
              <a:rPr lang="es-ES" dirty="0"/>
              <a:t> mejora </a:t>
            </a:r>
            <a:r>
              <a:rPr lang="es-ES" b="1" dirty="0"/>
              <a:t>la calidad semántica temprana</a:t>
            </a:r>
            <a:r>
              <a:rPr lang="es-ES" dirty="0"/>
              <a:t> del estado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h_t</a:t>
            </a:r>
            <a:r>
              <a:rPr lang="es-ES" dirty="0"/>
              <a:t>.</a:t>
            </a:r>
          </a:p>
          <a:p>
            <a:endParaRPr lang="es-AR" dirty="0"/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1813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“cuando veo este patrón, suelen pasar estas cosas después”</a:t>
            </a:r>
          </a:p>
          <a:p>
            <a:endParaRPr lang="es-ES" dirty="0"/>
          </a:p>
          <a:p>
            <a:r>
              <a:rPr lang="es-ES" dirty="0"/>
              <a:t>El modelo no almacena el hecho, sino una representación geométrica que, por cómo fue entrenada, se comporta como lo hacen las personas en lenguaje.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9670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Engram</a:t>
            </a:r>
            <a:r>
              <a:rPr lang="es-ES" dirty="0"/>
              <a:t> hace esto:</a:t>
            </a:r>
          </a:p>
          <a:p>
            <a:r>
              <a:rPr lang="es-ES" dirty="0"/>
              <a:t>Toma </a:t>
            </a:r>
            <a:r>
              <a:rPr lang="es-ES" b="1" dirty="0"/>
              <a:t>N-</a:t>
            </a:r>
            <a:r>
              <a:rPr lang="es-ES" b="1" dirty="0" err="1"/>
              <a:t>grams</a:t>
            </a:r>
            <a:r>
              <a:rPr lang="es-ES" b="1" dirty="0"/>
              <a:t> locales</a:t>
            </a:r>
            <a:r>
              <a:rPr lang="es-ES" dirty="0"/>
              <a:t> (2–3 tokens)</a:t>
            </a:r>
          </a:p>
          <a:p>
            <a:r>
              <a:rPr lang="es-ES" dirty="0"/>
              <a:t>Los </a:t>
            </a:r>
            <a:r>
              <a:rPr lang="es-ES" dirty="0" err="1"/>
              <a:t>hashea</a:t>
            </a:r>
            <a:r>
              <a:rPr lang="es-ES" dirty="0"/>
              <a:t> → índice</a:t>
            </a:r>
          </a:p>
          <a:p>
            <a:r>
              <a:rPr lang="es-ES" dirty="0"/>
              <a:t>Hace </a:t>
            </a:r>
            <a:r>
              <a:rPr lang="es-ES" b="1" dirty="0" err="1"/>
              <a:t>lookup</a:t>
            </a:r>
            <a:r>
              <a:rPr lang="es-ES" b="1" dirty="0"/>
              <a:t> directo</a:t>
            </a:r>
            <a:r>
              <a:rPr lang="es-ES" dirty="0"/>
              <a:t> a una tabla gigante</a:t>
            </a:r>
          </a:p>
          <a:p>
            <a:r>
              <a:rPr lang="es-ES" dirty="0"/>
              <a:t>Recupera un </a:t>
            </a:r>
            <a:r>
              <a:rPr lang="es-ES" dirty="0" err="1"/>
              <a:t>embedding</a:t>
            </a:r>
            <a:r>
              <a:rPr lang="es-ES" dirty="0"/>
              <a:t> estático</a:t>
            </a:r>
          </a:p>
          <a:p>
            <a:r>
              <a:rPr lang="es-ES" dirty="0"/>
              <a:t>Lo </a:t>
            </a:r>
            <a:r>
              <a:rPr lang="es-ES" b="1" dirty="0"/>
              <a:t>gatea</a:t>
            </a:r>
            <a:r>
              <a:rPr lang="es-ES" dirty="0"/>
              <a:t> con el estado contextual del modelo (para no meter ruido)</a:t>
            </a:r>
          </a:p>
          <a:p>
            <a:r>
              <a:rPr lang="es-ES" dirty="0"/>
              <a:t>Todo eso cuesta </a:t>
            </a:r>
            <a:r>
              <a:rPr lang="es-ES" b="1" dirty="0"/>
              <a:t>O(1)</a:t>
            </a:r>
            <a:r>
              <a:rPr lang="es-ES" dirty="0"/>
              <a:t> por token, no escala con el tamaño de la tabla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9835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Por qué eso mejora razonamiento (y no solo </a:t>
            </a:r>
            <a:r>
              <a:rPr lang="es-ES" b="1" dirty="0" err="1"/>
              <a:t>facts</a:t>
            </a:r>
            <a:r>
              <a:rPr lang="es-ES" b="1" dirty="0"/>
              <a:t>)</a:t>
            </a:r>
          </a:p>
          <a:p>
            <a:r>
              <a:rPr lang="es-ES" dirty="0"/>
              <a:t>Una vez que:</a:t>
            </a:r>
          </a:p>
          <a:p>
            <a:r>
              <a:rPr lang="es-ES" dirty="0"/>
              <a:t>Entidades</a:t>
            </a:r>
          </a:p>
          <a:p>
            <a:r>
              <a:rPr lang="es-ES" dirty="0"/>
              <a:t>Expresiones fijas</a:t>
            </a:r>
          </a:p>
          <a:p>
            <a:r>
              <a:rPr lang="es-ES" dirty="0"/>
              <a:t>Dependencias locales</a:t>
            </a:r>
          </a:p>
          <a:p>
            <a:r>
              <a:rPr lang="es-ES" dirty="0"/>
              <a:t>se resuelven </a:t>
            </a:r>
            <a:r>
              <a:rPr lang="es-ES" b="1" dirty="0"/>
              <a:t>por </a:t>
            </a:r>
            <a:r>
              <a:rPr lang="es-ES" b="1" dirty="0" err="1"/>
              <a:t>lookup</a:t>
            </a:r>
            <a:r>
              <a:rPr lang="es-ES" dirty="0"/>
              <a:t>…</a:t>
            </a:r>
          </a:p>
          <a:p>
            <a:r>
              <a:rPr lang="es-ES" dirty="0"/>
              <a:t>👉 La atención y los </a:t>
            </a:r>
            <a:r>
              <a:rPr lang="es-ES" dirty="0" err="1"/>
              <a:t>FFNs</a:t>
            </a:r>
            <a:r>
              <a:rPr lang="es-ES" dirty="0"/>
              <a:t> pueden dedicarse a:</a:t>
            </a:r>
          </a:p>
          <a:p>
            <a:r>
              <a:rPr lang="es-ES" dirty="0"/>
              <a:t>Composición lógica</a:t>
            </a:r>
          </a:p>
          <a:p>
            <a:r>
              <a:rPr lang="es-ES" dirty="0"/>
              <a:t>Razonamiento </a:t>
            </a:r>
            <a:r>
              <a:rPr lang="es-ES" dirty="0" err="1"/>
              <a:t>multi-hop</a:t>
            </a:r>
            <a:endParaRPr lang="es-ES" dirty="0"/>
          </a:p>
          <a:p>
            <a:r>
              <a:rPr lang="es-ES" dirty="0"/>
              <a:t>Seguimiento de variables</a:t>
            </a:r>
          </a:p>
          <a:p>
            <a:r>
              <a:rPr lang="es-ES" dirty="0"/>
              <a:t>Contexto largo</a:t>
            </a:r>
          </a:p>
          <a:p>
            <a:endParaRPr lang="es-ES" dirty="0"/>
          </a:p>
          <a:p>
            <a:r>
              <a:rPr lang="es-ES" b="1" dirty="0"/>
              <a:t>Analogía mental (muy útil)</a:t>
            </a:r>
          </a:p>
          <a:p>
            <a:r>
              <a:rPr lang="es-ES" dirty="0" err="1"/>
              <a:t>Pensalo</a:t>
            </a:r>
            <a:r>
              <a:rPr lang="es-ES" dirty="0"/>
              <a:t> así:</a:t>
            </a:r>
          </a:p>
          <a:p>
            <a:r>
              <a:rPr lang="es-ES" b="1" dirty="0"/>
              <a:t>LLM clásico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Cada vez que ve “</a:t>
            </a:r>
            <a:r>
              <a:rPr lang="es-ES" dirty="0" err="1"/>
              <a:t>Princess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Wales</a:t>
            </a:r>
            <a:r>
              <a:rPr lang="es-ES" dirty="0"/>
              <a:t>”</a:t>
            </a:r>
            <a:br>
              <a:rPr lang="es-ES" dirty="0"/>
            </a:br>
            <a:r>
              <a:rPr lang="es-ES" dirty="0"/>
              <a:t>👉 vuelve a </a:t>
            </a:r>
            <a:r>
              <a:rPr lang="es-ES" i="1" dirty="0"/>
              <a:t>reaprender</a:t>
            </a:r>
            <a:r>
              <a:rPr lang="es-ES" dirty="0"/>
              <a:t> qué es</a:t>
            </a:r>
          </a:p>
          <a:p>
            <a:r>
              <a:rPr lang="es-ES" b="1" dirty="0"/>
              <a:t>LLM + </a:t>
            </a:r>
            <a:r>
              <a:rPr lang="es-ES" b="1" dirty="0" err="1"/>
              <a:t>Engram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👉 lo </a:t>
            </a:r>
            <a:r>
              <a:rPr lang="es-ES" i="1" dirty="0"/>
              <a:t>recupera</a:t>
            </a:r>
            <a:br>
              <a:rPr lang="es-ES" dirty="0"/>
            </a:br>
            <a:r>
              <a:rPr lang="es-ES" dirty="0"/>
              <a:t>👉 y sigue pensando</a:t>
            </a:r>
          </a:p>
          <a:p>
            <a:r>
              <a:rPr lang="es-ES" dirty="0"/>
              <a:t>Es la diferencia entre:</a:t>
            </a:r>
          </a:p>
          <a:p>
            <a:r>
              <a:rPr lang="es-ES" dirty="0"/>
              <a:t>Recalcular 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sin(π/2)</a:t>
            </a:r>
            <a:r>
              <a:rPr lang="es-ES" dirty="0"/>
              <a:t> cada vez</a:t>
            </a:r>
          </a:p>
          <a:p>
            <a:r>
              <a:rPr lang="es-ES" dirty="0"/>
              <a:t>Tenerlo en una tabla</a:t>
            </a:r>
          </a:p>
          <a:p>
            <a:endParaRPr lang="es-ES" dirty="0"/>
          </a:p>
          <a:p>
            <a:r>
              <a:rPr lang="es-ES" b="1" dirty="0"/>
              <a:t>En una frase final (</a:t>
            </a:r>
            <a:r>
              <a:rPr lang="es-ES" b="1" dirty="0" err="1"/>
              <a:t>takeaway</a:t>
            </a:r>
            <a:r>
              <a:rPr lang="es-ES" b="1" dirty="0"/>
              <a:t> fuerte)</a:t>
            </a:r>
          </a:p>
          <a:p>
            <a:r>
              <a:rPr lang="es-ES" b="1" dirty="0" err="1"/>
              <a:t>Engram</a:t>
            </a:r>
            <a:r>
              <a:rPr lang="es-ES" b="1" dirty="0"/>
              <a:t> no hace al modelo más “sabio”, lo hace menos torpe.</a:t>
            </a:r>
            <a:br>
              <a:rPr lang="es-ES" dirty="0"/>
            </a:br>
            <a:r>
              <a:rPr lang="es-ES" dirty="0"/>
              <a:t>Le quita trabajo mecánico y le devuelve profundidad para pensar.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1622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Divergencia de </a:t>
            </a:r>
            <a:r>
              <a:rPr lang="es-E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Kullback-Leibler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(KL </a:t>
            </a:r>
            <a:r>
              <a:rPr lang="es-E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Divergence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también llamada entropía relativa, es una medida estadística que cuantifica qué tan diferente es una distribución de probabilidad (que llamaremos $Q$) respecto a una segunda distribución de probabilidad de referencia (que llamaremos $P$).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el contexto de la Inteligencia Artificial y el Machine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utiliza para medir la "pérdida de información" cuando usamos una distribución aproximada en lugar de la real.</a:t>
            </a:r>
          </a:p>
          <a:p>
            <a:endParaRPr lang="es-AR" dirty="0"/>
          </a:p>
          <a:p>
            <a:r>
              <a:rPr lang="es-ES" dirty="0"/>
              <a:t>Imagina que tienes un dado real (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$P$</a:t>
            </a:r>
            <a:r>
              <a:rPr lang="es-ES" dirty="0"/>
              <a:t>) que está cargado y favorece el número 6. Si tú asumes que el dado es justo (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$Q$</a:t>
            </a:r>
            <a:r>
              <a:rPr lang="es-ES" dirty="0"/>
              <a:t>, donde todos los números tienen 1/6 de probabilidad), la 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Divergencia KL</a:t>
            </a:r>
            <a:r>
              <a:rPr lang="es-ES" dirty="0"/>
              <a:t> medirá cuánta "sorpresa" o error cometes al usar tu suposición (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$Q$</a:t>
            </a:r>
            <a:r>
              <a:rPr lang="es-ES" dirty="0"/>
              <a:t>) para predecir los resultados del dado real (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$P$</a:t>
            </a:r>
            <a:r>
              <a:rPr lang="es-ES" dirty="0"/>
              <a:t>).</a:t>
            </a:r>
          </a:p>
          <a:p>
            <a:endParaRPr lang="es-ES" dirty="0"/>
          </a:p>
          <a:p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Resumen rápido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$P$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la verdad y 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$Q$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tu teoría, la 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Divergencia KL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 dice cuántos "bits" extra de información necesitas para explicar 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$P$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 solo conoces 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$Q$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Cuanto menor sea el número, mejor es tu modelo.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33659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8094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17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49610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5235E-3951-0670-E74D-BA96E0478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8DDBCC-1D73-B493-AC3B-1AAB03985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EF7F585-3561-D0B2-FB8B-8DECA0D03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703764-BE6C-E70A-5919-1CB6E37F2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CD204-3F87-4A87-9FAB-0DBF478A562E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482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2AD4BB7-E823-6BF9-2AEC-D794B5367DC4}"/>
              </a:ext>
            </a:extLst>
          </p:cNvPr>
          <p:cNvSpPr txBox="1"/>
          <p:nvPr/>
        </p:nvSpPr>
        <p:spPr>
          <a:xfrm>
            <a:off x="1143000" y="5143501"/>
            <a:ext cx="6858000" cy="7573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00" b="1" i="0" u="none" strike="noStrike" baseline="0" dirty="0">
                <a:latin typeface="+mj-lt"/>
                <a:ea typeface="+mj-ea"/>
                <a:cs typeface="+mj-cs"/>
              </a:rPr>
              <a:t>Conditional Memory via Scalable Lookup: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100" b="1" i="0" u="none" strike="noStrike" baseline="0" dirty="0"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00" b="1" i="0" u="none" strike="noStrike" baseline="0" dirty="0">
                <a:latin typeface="+mj-lt"/>
                <a:ea typeface="+mj-ea"/>
                <a:cs typeface="+mj-cs"/>
              </a:rPr>
              <a:t>A New Axis of Sparsity for Large Language Models</a:t>
            </a:r>
            <a:endParaRPr lang="en-US" sz="1100" dirty="0">
              <a:latin typeface="+mj-lt"/>
              <a:ea typeface="+mj-ea"/>
              <a:cs typeface="+mj-cs"/>
            </a:endParaRPr>
          </a:p>
        </p:txBody>
      </p:sp>
      <p:pic>
        <p:nvPicPr>
          <p:cNvPr id="2" name="Imagen 1" descr="Gráfico&#10;&#10;El contenido generado por IA puede ser incorrecto.">
            <a:extLst>
              <a:ext uri="{FF2B5EF4-FFF2-40B4-BE49-F238E27FC236}">
                <a16:creationId xmlns:a16="http://schemas.microsoft.com/office/drawing/2014/main" id="{548B426B-8C09-8C0C-C932-BA61722C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319"/>
          <a:stretch>
            <a:fillRect/>
          </a:stretch>
        </p:blipFill>
        <p:spPr>
          <a:xfrm>
            <a:off x="658060" y="886767"/>
            <a:ext cx="7828421" cy="400693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E6E7D98-3D55-80C4-C8EA-40EC70EB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7519" y="4888672"/>
            <a:ext cx="7829255" cy="123363"/>
            <a:chOff x="876692" y="4888672"/>
            <a:chExt cx="10439007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306F60-DCBC-4BDA-A680-F76005620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515" y="-269151"/>
              <a:ext cx="123362" cy="10439007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26A085-CFBC-6FED-8A8F-E9371A3A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719273" y="2415609"/>
              <a:ext cx="123362" cy="5069490"/>
            </a:xfrm>
            <a:prstGeom prst="rect">
              <a:avLst/>
            </a:prstGeom>
            <a:gradFill>
              <a:gsLst>
                <a:gs pos="30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0074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3507"/>
            <a:ext cx="2620771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1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Conditional Memory in LLMs – The Core Problem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022" y="963507"/>
            <a:ext cx="4688205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/>
              <a:t>Los transformadores carecen de una primitiva de búsqueda de conocimiento nativa.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/>
              <a:t>Las entidades semánticas se reconstruyen capa por capa.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/>
              <a:t>Ejemplo: «Diana, Princesa de Gales» converge progresivamente.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/>
              <a:t>MoE escala la computación, pero no la recuperación de memoria estructurada.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/>
              <a:t>Pregunta: ¿Puede la memoria ser un segundo eje condicional?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8861FA-DD36-B99E-77A7-F8158974C23B}"/>
              </a:ext>
            </a:extLst>
          </p:cNvPr>
          <p:cNvSpPr txBox="1"/>
          <p:nvPr/>
        </p:nvSpPr>
        <p:spPr>
          <a:xfrm>
            <a:off x="3732022" y="3589866"/>
            <a:ext cx="4688205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Problema estructural en Transformers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C2551B-031B-16E9-A5CB-7BA8E681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26720"/>
            <a:ext cx="7879842" cy="19191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5200" kern="1200">
                <a:latin typeface="+mj-lt"/>
                <a:ea typeface="+mj-ea"/>
                <a:cs typeface="+mj-cs"/>
              </a:rPr>
              <a:t>Conditional Memory: A New Axis of Sparsity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1B6F99-DB6B-7455-5CDA-B24705B93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3337269"/>
            <a:ext cx="7882128" cy="290568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900" dirty="0"/>
              <a:t>Transformers no </a:t>
            </a:r>
            <a:r>
              <a:rPr lang="en-US" sz="1900"/>
              <a:t>tienen</a:t>
            </a:r>
            <a:r>
              <a:rPr lang="en-US" sz="1900" dirty="0"/>
              <a:t> lookup </a:t>
            </a:r>
            <a:r>
              <a:rPr lang="en-US" sz="1900"/>
              <a:t>nativo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900"/>
              <a:t>Reconstruyen</a:t>
            </a:r>
            <a:r>
              <a:rPr lang="en-US" sz="1900" dirty="0"/>
              <a:t> </a:t>
            </a:r>
            <a:r>
              <a:rPr lang="en-US" sz="1900"/>
              <a:t>entidades</a:t>
            </a:r>
            <a:r>
              <a:rPr lang="en-US" sz="1900" dirty="0"/>
              <a:t> </a:t>
            </a:r>
            <a:r>
              <a:rPr lang="en-US" sz="1900"/>
              <a:t>capa</a:t>
            </a:r>
            <a:r>
              <a:rPr lang="en-US" sz="1900" dirty="0"/>
              <a:t> </a:t>
            </a:r>
            <a:r>
              <a:rPr lang="en-US" sz="1900"/>
              <a:t>por</a:t>
            </a:r>
            <a:r>
              <a:rPr lang="en-US" sz="1900" dirty="0"/>
              <a:t> </a:t>
            </a:r>
            <a:r>
              <a:rPr lang="en-US" sz="1900"/>
              <a:t>capa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900" dirty="0"/>
              <a:t>Uso </a:t>
            </a:r>
            <a:r>
              <a:rPr lang="en-US" sz="1900"/>
              <a:t>ineficiente</a:t>
            </a:r>
            <a:r>
              <a:rPr lang="en-US" sz="1900" dirty="0"/>
              <a:t> de </a:t>
            </a:r>
            <a:r>
              <a:rPr lang="en-US" sz="1900"/>
              <a:t>profundidad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900"/>
              <a:t>MoE</a:t>
            </a:r>
            <a:r>
              <a:rPr lang="en-US" sz="1900" dirty="0"/>
              <a:t> </a:t>
            </a:r>
            <a:r>
              <a:rPr lang="en-US" sz="1900"/>
              <a:t>escala</a:t>
            </a:r>
            <a:r>
              <a:rPr lang="en-US" sz="1900" dirty="0"/>
              <a:t> </a:t>
            </a:r>
            <a:r>
              <a:rPr lang="en-US" sz="1900"/>
              <a:t>cómputo</a:t>
            </a:r>
            <a:r>
              <a:rPr lang="en-US" sz="1900" dirty="0"/>
              <a:t>, no memoria</a:t>
            </a:r>
            <a:endParaRPr lang="en-US" sz="1900"/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900" b="1" dirty="0"/>
              <a:t>Idea central:</a:t>
            </a:r>
            <a:br>
              <a:rPr lang="en-US" sz="1900" dirty="0"/>
            </a:br>
            <a:r>
              <a:rPr lang="en-US" sz="1900" dirty="0"/>
              <a:t>Falta </a:t>
            </a:r>
            <a:r>
              <a:rPr lang="en-US" sz="1900"/>
              <a:t>una</a:t>
            </a:r>
            <a:r>
              <a:rPr lang="en-US" sz="1900" dirty="0"/>
              <a:t> </a:t>
            </a:r>
            <a:r>
              <a:rPr lang="en-US" sz="1900"/>
              <a:t>primitiva</a:t>
            </a:r>
            <a:r>
              <a:rPr lang="en-US" sz="1900" dirty="0"/>
              <a:t> de memoria </a:t>
            </a:r>
            <a:r>
              <a:rPr lang="en-US" sz="1900"/>
              <a:t>estática</a:t>
            </a:r>
            <a:r>
              <a:rPr lang="en-US" sz="1900" dirty="0"/>
              <a:t>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494078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3507"/>
            <a:ext cx="2620771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400" b="1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Qué es exactamente el “estado latente” del modelo</a:t>
            </a:r>
            <a:endParaRPr lang="en-US" sz="3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022" y="963507"/>
            <a:ext cx="4688205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El estado latente</a:t>
            </a:r>
            <a:r>
              <a:rPr lang="en-US" sz="1700"/>
              <a:t> es el vector interno </a:t>
            </a:r>
            <a:r>
              <a:rPr lang="en-US" sz="1700" b="1"/>
              <a:t>h_t^ℓ</a:t>
            </a:r>
            <a:r>
              <a:rPr lang="en-US" sz="1700"/>
              <a:t> que representa </a:t>
            </a:r>
            <a:r>
              <a:rPr lang="en-US" sz="1700" i="1"/>
              <a:t>“todo lo que el modelo cree que sabe hasta ahora sobre el token t, dado el contexto, en la capa ℓ”</a:t>
            </a:r>
            <a:r>
              <a:rPr lang="en-US" sz="1700"/>
              <a:t>.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b="1" i="1"/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i="1"/>
              <a:t>Formalmente: h_t^ℓ ∈ ℝ^d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8191839-7093-EFF8-A3EC-18186A1D3A50}"/>
              </a:ext>
            </a:extLst>
          </p:cNvPr>
          <p:cNvSpPr txBox="1"/>
          <p:nvPr/>
        </p:nvSpPr>
        <p:spPr>
          <a:xfrm>
            <a:off x="3732022" y="3589866"/>
            <a:ext cx="4688205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No es una palabra, hecho o etiqueta. Es una </a:t>
            </a:r>
            <a:r>
              <a:rPr lang="en-US" sz="1700" b="1"/>
              <a:t>configuración geométrica</a:t>
            </a:r>
            <a:r>
              <a:rPr lang="en-US" sz="1700"/>
              <a:t> en el espacio de representación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D10134-B83E-27B8-3374-8F1F4019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s-ES" sz="3500"/>
              <a:t>¿Qué contiene ese estado latente?</a:t>
            </a:r>
            <a:endParaRPr lang="es-AR" sz="35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5DD830-36D6-6A13-B85F-3942BE4AD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081" y="2091378"/>
            <a:ext cx="7813838" cy="40785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600" dirty="0"/>
              <a:t>Un estado latente mezcla </a:t>
            </a:r>
            <a:r>
              <a:rPr lang="es-ES" sz="1600" b="1" dirty="0"/>
              <a:t>muchas cosas al mismo tiempo</a:t>
            </a:r>
            <a:r>
              <a:rPr lang="es-ES" sz="1600" dirty="0"/>
              <a:t>: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significado del token actual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entidades activas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relaciones implícitas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expectativas sobre lo que sigue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estructura sintáctica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señales de tarea (</a:t>
            </a:r>
            <a:r>
              <a:rPr lang="es-ES" sz="1600" dirty="0" err="1"/>
              <a:t>ej</a:t>
            </a:r>
            <a:r>
              <a:rPr lang="es-ES" sz="1600" dirty="0"/>
              <a:t>: “estoy respondiendo una pregunta”)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Para el ejemplo de Diana:</a:t>
            </a:r>
          </a:p>
          <a:p>
            <a:pPr lvl="1">
              <a:lnSpc>
                <a:spcPct val="90000"/>
              </a:lnSpc>
            </a:pPr>
            <a:endParaRPr lang="es-ES" sz="1600" dirty="0"/>
          </a:p>
          <a:p>
            <a:pPr>
              <a:lnSpc>
                <a:spcPct val="90000"/>
              </a:lnSpc>
            </a:pPr>
            <a:r>
              <a:rPr lang="es-ES" sz="1600" dirty="0"/>
              <a:t>En una capa profunda, el estado latente puede codificar cosas como: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“estoy en una entidad persona”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“es una figura pública”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“probablemente siguen datos biográficos”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“no es un país ni un lugar”</a:t>
            </a:r>
          </a:p>
          <a:p>
            <a:pPr lvl="1">
              <a:lnSpc>
                <a:spcPct val="90000"/>
              </a:lnSpc>
            </a:pPr>
            <a:r>
              <a:rPr lang="es-ES" sz="1600" dirty="0"/>
              <a:t>Todo eso </a:t>
            </a:r>
            <a:r>
              <a:rPr lang="es-ES" sz="1600" b="1" dirty="0"/>
              <a:t>sin que exista una variable explícita para cada cosa</a:t>
            </a:r>
            <a:r>
              <a:rPr lang="es-ES" sz="1600" dirty="0"/>
              <a:t>.</a:t>
            </a:r>
          </a:p>
          <a:p>
            <a:pPr>
              <a:lnSpc>
                <a:spcPct val="90000"/>
              </a:lnSpc>
            </a:pPr>
            <a:endParaRPr lang="es-AR" sz="1300" dirty="0"/>
          </a:p>
        </p:txBody>
      </p:sp>
    </p:spTree>
    <p:extLst>
      <p:ext uri="{BB962C8B-B14F-4D97-AF65-F5344CB8AC3E}">
        <p14:creationId xmlns:p14="http://schemas.microsoft.com/office/powerpoint/2010/main" val="27554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Objetos de aprendizaje de matemática coloridos">
            <a:extLst>
              <a:ext uri="{FF2B5EF4-FFF2-40B4-BE49-F238E27FC236}">
                <a16:creationId xmlns:a16="http://schemas.microsoft.com/office/drawing/2014/main" id="{05E542B3-2A34-B1E9-2E23-F108BA73B6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EF949D-5557-E489-89AB-644EE720C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/>
              <a:t>Qué es Engram?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D4FB5B-2ADA-AA46-9216-7D76AE176B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AR" sz="2500" b="0" i="0" u="none" strike="noStrike" cap="none" normalizeH="0" baseline="0">
                <a:ln>
                  <a:noFill/>
                </a:ln>
                <a:effectLst/>
              </a:rPr>
              <a:t>Hash </a:t>
            </a:r>
            <a:r>
              <a:rPr kumimoji="0" lang="en-US" altLang="es-AR" sz="2500" b="0" i="0" u="none" strike="noStrike" cap="none" normalizeH="0" baseline="0" err="1">
                <a:ln>
                  <a:noFill/>
                </a:ln>
                <a:effectLst/>
              </a:rPr>
              <a:t>determinístico</a:t>
            </a:r>
            <a:r>
              <a:rPr kumimoji="0" lang="en-US" altLang="es-AR" sz="2500" b="0" i="0" u="none" strike="noStrike" cap="none" normalizeH="0" baseline="0">
                <a:ln>
                  <a:noFill/>
                </a:ln>
                <a:effectLst/>
              </a:rPr>
              <a:t> de N-grams</a:t>
            </a:r>
          </a:p>
          <a:p>
            <a:pPr marL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/>
              <a:t>Sparsity </a:t>
            </a:r>
            <a:r>
              <a:rPr lang="en-US" sz="2500" err="1"/>
              <a:t>en</a:t>
            </a:r>
            <a:r>
              <a:rPr lang="en-US" sz="2500"/>
              <a:t> </a:t>
            </a:r>
            <a:r>
              <a:rPr lang="en-US" sz="2500" b="1"/>
              <a:t>memoria</a:t>
            </a:r>
          </a:p>
          <a:p>
            <a:pPr marL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/>
              <a:t>Decide </a:t>
            </a:r>
            <a:r>
              <a:rPr lang="en-US" sz="2500" i="1" err="1"/>
              <a:t>qué</a:t>
            </a:r>
            <a:r>
              <a:rPr lang="en-US" sz="2500" i="1"/>
              <a:t> embeddings </a:t>
            </a:r>
            <a:r>
              <a:rPr lang="en-US" sz="2500" i="1" err="1"/>
              <a:t>traer</a:t>
            </a:r>
            <a:r>
              <a:rPr lang="en-US" sz="2500" i="1"/>
              <a:t> </a:t>
            </a:r>
            <a:r>
              <a:rPr lang="en-US" sz="2500" i="1">
                <a:sym typeface="Wingdings" panose="05000000000000000000" pitchFamily="2" charset="2"/>
              </a:rPr>
              <a:t> </a:t>
            </a:r>
            <a:r>
              <a:rPr kumimoji="0" lang="en-US" altLang="es-AR" sz="2500" b="0" i="0" u="none" strike="noStrike" cap="none" normalizeH="0" baseline="0">
                <a:ln>
                  <a:noFill/>
                </a:ln>
                <a:effectLst/>
              </a:rPr>
              <a:t>Lookup O(1)</a:t>
            </a:r>
          </a:p>
          <a:p>
            <a:pPr marL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s-AR" sz="2500" b="0" i="0" u="none" strike="noStrike" cap="none" normalizeH="0" baseline="0">
                <a:ln>
                  <a:noFill/>
                </a:ln>
                <a:effectLst/>
              </a:rPr>
              <a:t>Gating contextual </a:t>
            </a:r>
            <a:r>
              <a:rPr kumimoji="0" lang="en-US" altLang="es-AR" sz="2500" b="0" i="0" u="none" strike="noStrike" cap="none" normalizeH="0" baseline="0">
                <a:ln>
                  <a:noFill/>
                </a:ln>
                <a:effectLst/>
                <a:sym typeface="Wingdings" panose="05000000000000000000" pitchFamily="2" charset="2"/>
              </a:rPr>
              <a:t> </a:t>
            </a:r>
            <a:r>
              <a:rPr lang="en-US" sz="2500"/>
              <a:t>Ideal para </a:t>
            </a:r>
            <a:r>
              <a:rPr lang="en-US" sz="2500" err="1"/>
              <a:t>patrones</a:t>
            </a:r>
            <a:r>
              <a:rPr lang="en-US" sz="2500"/>
              <a:t> </a:t>
            </a:r>
            <a:r>
              <a:rPr lang="en-US" sz="2500" err="1"/>
              <a:t>estáticos</a:t>
            </a:r>
            <a:endParaRPr kumimoji="0" lang="en-US" altLang="es-AR" sz="2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AR" sz="2500" b="0" i="0" u="none" strike="noStrike" cap="none" normalizeH="0" baseline="0" err="1">
                <a:ln>
                  <a:noFill/>
                </a:ln>
                <a:effectLst/>
              </a:rPr>
              <a:t>Integración</a:t>
            </a:r>
            <a:r>
              <a:rPr kumimoji="0" lang="en-US" altLang="es-AR" sz="2500" b="0" i="0" u="none" strike="noStrike" cap="none" normalizeH="0" baseline="0">
                <a:ln>
                  <a:noFill/>
                </a:ln>
                <a:effectLst/>
              </a:rPr>
              <a:t> residual </a:t>
            </a:r>
            <a:r>
              <a:rPr kumimoji="0" lang="en-US" altLang="es-AR" sz="2500" b="0" i="0" u="none" strike="noStrike" cap="none" normalizeH="0" baseline="0" err="1">
                <a:ln>
                  <a:noFill/>
                </a:ln>
                <a:effectLst/>
              </a:rPr>
              <a:t>en</a:t>
            </a:r>
            <a:r>
              <a:rPr kumimoji="0" lang="en-US" altLang="es-AR" sz="25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s-AR" sz="2500" b="0" i="0" u="none" strike="noStrike" cap="none" normalizeH="0" baseline="0" err="1">
                <a:ln>
                  <a:noFill/>
                </a:ln>
                <a:effectLst/>
              </a:rPr>
              <a:t>capas</a:t>
            </a:r>
            <a:r>
              <a:rPr kumimoji="0" lang="en-US" altLang="es-AR" sz="25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s-AR" sz="2500" b="0" i="0" u="none" strike="noStrike" cap="none" normalizeH="0" baseline="0" err="1">
                <a:ln>
                  <a:noFill/>
                </a:ln>
                <a:effectLst/>
              </a:rPr>
              <a:t>intermedias</a:t>
            </a:r>
            <a:endParaRPr kumimoji="0" lang="en-US" altLang="es-AR" sz="2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s-AR" sz="2500"/>
          </a:p>
          <a:p>
            <a:pPr marL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b="1"/>
              <a:t>Clave: </a:t>
            </a:r>
            <a:r>
              <a:rPr lang="en-US" sz="2500" i="1"/>
              <a:t>Engram </a:t>
            </a:r>
            <a:r>
              <a:rPr lang="en-US" sz="2500" i="1" err="1"/>
              <a:t>modifica</a:t>
            </a:r>
            <a:r>
              <a:rPr lang="en-US" sz="2500" i="1"/>
              <a:t> </a:t>
            </a:r>
            <a:r>
              <a:rPr lang="en-US" sz="2500" i="1" err="1"/>
              <a:t>el</a:t>
            </a:r>
            <a:r>
              <a:rPr lang="en-US" sz="2500" i="1"/>
              <a:t> </a:t>
            </a:r>
            <a:r>
              <a:rPr lang="en-US" sz="2500" i="1" err="1"/>
              <a:t>estado</a:t>
            </a:r>
            <a:r>
              <a:rPr lang="en-US" sz="2500" i="1"/>
              <a:t> </a:t>
            </a:r>
            <a:r>
              <a:rPr lang="en-US" sz="2500" i="1" err="1"/>
              <a:t>latente</a:t>
            </a:r>
            <a:r>
              <a:rPr lang="en-US" sz="2500" i="1"/>
              <a:t>, no la </a:t>
            </a:r>
            <a:r>
              <a:rPr lang="en-US" sz="2500" i="1" err="1"/>
              <a:t>predicción</a:t>
            </a:r>
            <a:r>
              <a:rPr lang="en-US" sz="2500" i="1"/>
              <a:t> del </a:t>
            </a:r>
            <a:r>
              <a:rPr lang="en-US" sz="2500" i="1" err="1"/>
              <a:t>siguiente</a:t>
            </a:r>
            <a:r>
              <a:rPr lang="en-US" sz="2500" i="1"/>
              <a:t> token </a:t>
            </a:r>
            <a:r>
              <a:rPr lang="en-US" sz="2500" i="1" err="1"/>
              <a:t>directamente</a:t>
            </a:r>
            <a:r>
              <a:rPr lang="en-US" sz="2500" i="1"/>
              <a:t>.</a:t>
            </a:r>
          </a:p>
          <a:p>
            <a:pPr marL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500"/>
          </a:p>
          <a:p>
            <a:pPr marL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s-AR" sz="2500"/>
              <a:t>H(ℓ) ← H(ℓ) + Engram(H(ℓ), n-gram(x))</a:t>
            </a:r>
            <a:endParaRPr kumimoji="0" lang="en-US" altLang="es-AR" sz="2500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9267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19C052EA-05E2-403D-965E-52D1BFFA2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947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N-gram Lookup</a:t>
            </a:r>
          </a:p>
        </p:txBody>
      </p:sp>
      <p:sp useBgFill="1">
        <p:nvSpPr>
          <p:cNvPr id="15" name="Rectangle 11">
            <a:extLst>
              <a:ext uri="{FF2B5EF4-FFF2-40B4-BE49-F238E27FC236}">
                <a16:creationId xmlns:a16="http://schemas.microsoft.com/office/drawing/2014/main" id="{4C1936B8-2FFB-4F78-8388-B8C282B8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9144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07" y="2100579"/>
            <a:ext cx="8262984" cy="40763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N-</a:t>
            </a:r>
            <a:r>
              <a:rPr lang="en-US" sz="1700" dirty="0" err="1"/>
              <a:t>gramas</a:t>
            </a:r>
            <a:r>
              <a:rPr lang="en-US" sz="1700" dirty="0"/>
              <a:t> de </a:t>
            </a:r>
            <a:r>
              <a:rPr lang="en-US" sz="1700" dirty="0" err="1"/>
              <a:t>sufijo</a:t>
            </a:r>
            <a:r>
              <a:rPr lang="en-US" sz="1700" dirty="0"/>
              <a:t> → hash </a:t>
            </a:r>
            <a:r>
              <a:rPr lang="en-US" sz="1700" dirty="0" err="1"/>
              <a:t>determinista</a:t>
            </a:r>
            <a:r>
              <a:rPr lang="en-US" sz="1700" dirty="0"/>
              <a:t> → </a:t>
            </a:r>
            <a:r>
              <a:rPr lang="en-US" sz="1700" dirty="0" err="1"/>
              <a:t>búsqueda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la </a:t>
            </a:r>
            <a:r>
              <a:rPr lang="en-US" sz="1700" dirty="0" err="1"/>
              <a:t>tabla</a:t>
            </a:r>
            <a:r>
              <a:rPr lang="en-US" sz="1700" dirty="0"/>
              <a:t> de </a:t>
            </a:r>
            <a:r>
              <a:rPr lang="en-US" sz="1700" dirty="0" err="1"/>
              <a:t>incrustación</a:t>
            </a:r>
            <a:r>
              <a:rPr lang="en-US" sz="1700" dirty="0"/>
              <a:t> (O(1)).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La ​​</a:t>
            </a:r>
            <a:r>
              <a:rPr lang="en-US" sz="1700" dirty="0" err="1"/>
              <a:t>selección</a:t>
            </a:r>
            <a:r>
              <a:rPr lang="en-US" sz="1700" dirty="0"/>
              <a:t> contextual </a:t>
            </a:r>
            <a:r>
              <a:rPr lang="en-US" sz="1700" dirty="0" err="1"/>
              <a:t>determina</a:t>
            </a:r>
            <a:r>
              <a:rPr lang="en-US" sz="1700" dirty="0"/>
              <a:t> la </a:t>
            </a:r>
            <a:r>
              <a:rPr lang="en-US" sz="1700" dirty="0" err="1"/>
              <a:t>relevancia</a:t>
            </a:r>
            <a:r>
              <a:rPr lang="en-US" sz="1700" dirty="0"/>
              <a:t> (α ∈ [0,1]).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Se </a:t>
            </a:r>
            <a:r>
              <a:rPr lang="en-US" sz="1700" dirty="0" err="1"/>
              <a:t>inyecta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</a:t>
            </a:r>
            <a:r>
              <a:rPr lang="en-US" sz="1700" dirty="0" err="1"/>
              <a:t>capas</a:t>
            </a:r>
            <a:r>
              <a:rPr lang="en-US" sz="1700" dirty="0"/>
              <a:t> </a:t>
            </a:r>
            <a:r>
              <a:rPr lang="en-US" sz="1700" dirty="0" err="1"/>
              <a:t>intermedias</a:t>
            </a:r>
            <a:r>
              <a:rPr lang="en-US" sz="1700" dirty="0"/>
              <a:t> </a:t>
            </a:r>
            <a:r>
              <a:rPr lang="en-US" sz="1700" dirty="0" err="1"/>
              <a:t>mediante</a:t>
            </a:r>
            <a:r>
              <a:rPr lang="en-US" sz="1700" dirty="0"/>
              <a:t> </a:t>
            </a:r>
            <a:r>
              <a:rPr lang="en-US" sz="1700" dirty="0" err="1"/>
              <a:t>conexión</a:t>
            </a:r>
            <a:r>
              <a:rPr lang="en-US" sz="1700" dirty="0"/>
              <a:t> residual.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El </a:t>
            </a:r>
            <a:r>
              <a:rPr lang="en-US" sz="1700" dirty="0" err="1"/>
              <a:t>engrama</a:t>
            </a:r>
            <a:r>
              <a:rPr lang="en-US" sz="1700" dirty="0"/>
              <a:t> </a:t>
            </a:r>
            <a:r>
              <a:rPr lang="en-US" sz="1700" dirty="0" err="1"/>
              <a:t>modifica</a:t>
            </a:r>
            <a:r>
              <a:rPr lang="en-US" sz="1700" dirty="0"/>
              <a:t> </a:t>
            </a:r>
            <a:r>
              <a:rPr lang="en-US" sz="1700" dirty="0" err="1"/>
              <a:t>el</a:t>
            </a:r>
            <a:r>
              <a:rPr lang="en-US" sz="1700" dirty="0"/>
              <a:t> </a:t>
            </a:r>
            <a:r>
              <a:rPr lang="en-US" sz="1700" dirty="0" err="1"/>
              <a:t>estado</a:t>
            </a:r>
            <a:r>
              <a:rPr lang="en-US" sz="1700" dirty="0"/>
              <a:t> </a:t>
            </a:r>
            <a:r>
              <a:rPr lang="en-US" sz="1700" dirty="0" err="1"/>
              <a:t>latente</a:t>
            </a:r>
            <a:r>
              <a:rPr lang="en-US" sz="1700" dirty="0"/>
              <a:t>, no la </a:t>
            </a:r>
            <a:r>
              <a:rPr lang="en-US" sz="1700" dirty="0" err="1"/>
              <a:t>predicción</a:t>
            </a:r>
            <a:r>
              <a:rPr lang="en-US" sz="1700" dirty="0"/>
              <a:t> final.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“Si </a:t>
            </a:r>
            <a:r>
              <a:rPr lang="en-US" sz="1700" b="1" dirty="0" err="1"/>
              <a:t>el</a:t>
            </a:r>
            <a:r>
              <a:rPr lang="en-US" sz="1700" b="1" dirty="0"/>
              <a:t> </a:t>
            </a:r>
            <a:r>
              <a:rPr lang="en-US" sz="1700" b="1" dirty="0" err="1"/>
              <a:t>modelo</a:t>
            </a:r>
            <a:r>
              <a:rPr lang="en-US" sz="1700" b="1" dirty="0"/>
              <a:t> </a:t>
            </a:r>
            <a:r>
              <a:rPr lang="en-US" sz="1700" b="1" dirty="0" err="1"/>
              <a:t>igual</a:t>
            </a:r>
            <a:r>
              <a:rPr lang="en-US" sz="1700" b="1" dirty="0"/>
              <a:t> </a:t>
            </a:r>
            <a:r>
              <a:rPr lang="en-US" sz="1700" b="1" dirty="0" err="1"/>
              <a:t>predice</a:t>
            </a:r>
            <a:r>
              <a:rPr lang="en-US" sz="1700" b="1" dirty="0"/>
              <a:t> </a:t>
            </a:r>
            <a:r>
              <a:rPr lang="en-US" sz="1700" b="1" dirty="0" err="1"/>
              <a:t>el</a:t>
            </a:r>
            <a:r>
              <a:rPr lang="en-US" sz="1700" b="1" dirty="0"/>
              <a:t> </a:t>
            </a:r>
            <a:r>
              <a:rPr lang="en-US" sz="1700" b="1" dirty="0" err="1"/>
              <a:t>siguiente</a:t>
            </a:r>
            <a:r>
              <a:rPr lang="en-US" sz="1700" b="1" dirty="0"/>
              <a:t> token, ¿</a:t>
            </a:r>
            <a:r>
              <a:rPr lang="en-US" sz="1700" b="1" dirty="0" err="1"/>
              <a:t>qué</a:t>
            </a:r>
            <a:r>
              <a:rPr lang="en-US" sz="1700" b="1" dirty="0"/>
              <a:t> </a:t>
            </a:r>
            <a:r>
              <a:rPr lang="en-US" sz="1700" b="1" dirty="0" err="1"/>
              <a:t>agrega</a:t>
            </a:r>
            <a:r>
              <a:rPr lang="en-US" sz="1700" b="1" dirty="0"/>
              <a:t> Engram?”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 err="1"/>
              <a:t>Agrega</a:t>
            </a:r>
            <a:r>
              <a:rPr lang="en-US" sz="1700" dirty="0"/>
              <a:t> </a:t>
            </a:r>
            <a:r>
              <a:rPr lang="en-US" sz="1700" dirty="0" err="1"/>
              <a:t>esto</a:t>
            </a:r>
            <a:r>
              <a:rPr lang="en-US" sz="1700" dirty="0"/>
              <a:t>: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 err="1"/>
              <a:t>Desplaza</a:t>
            </a:r>
            <a:r>
              <a:rPr lang="en-US" sz="1700" b="1" dirty="0"/>
              <a:t> </a:t>
            </a:r>
            <a:r>
              <a:rPr lang="en-US" sz="1700" b="1" dirty="0" err="1"/>
              <a:t>conocimiento</a:t>
            </a:r>
            <a:r>
              <a:rPr lang="en-US" sz="1700" b="1" dirty="0"/>
              <a:t> </a:t>
            </a:r>
            <a:r>
              <a:rPr lang="en-US" sz="1700" b="1" dirty="0" err="1"/>
              <a:t>estático</a:t>
            </a:r>
            <a:r>
              <a:rPr lang="en-US" sz="1700" b="1" dirty="0"/>
              <a:t> fuera del </a:t>
            </a:r>
            <a:r>
              <a:rPr lang="en-US" sz="1700" b="1" dirty="0" err="1"/>
              <a:t>cómputo</a:t>
            </a:r>
            <a:endParaRPr lang="en-US" sz="1700" dirty="0"/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 err="1"/>
              <a:t>Inyecta</a:t>
            </a:r>
            <a:r>
              <a:rPr lang="en-US" sz="1700" b="1" dirty="0"/>
              <a:t> </a:t>
            </a:r>
            <a:r>
              <a:rPr lang="en-US" sz="1700" b="1" dirty="0" err="1"/>
              <a:t>significado</a:t>
            </a:r>
            <a:r>
              <a:rPr lang="en-US" sz="1700" b="1" dirty="0"/>
              <a:t> </a:t>
            </a:r>
            <a:r>
              <a:rPr lang="en-US" sz="1700" b="1" dirty="0" err="1"/>
              <a:t>ya</a:t>
            </a:r>
            <a:r>
              <a:rPr lang="en-US" sz="1700" b="1" dirty="0"/>
              <a:t> </a:t>
            </a:r>
            <a:r>
              <a:rPr lang="en-US" sz="1700" b="1" dirty="0" err="1"/>
              <a:t>compuesto</a:t>
            </a:r>
            <a:endParaRPr lang="en-US" sz="1700" dirty="0"/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Libera </a:t>
            </a:r>
            <a:r>
              <a:rPr lang="en-US" sz="1700" b="1" dirty="0" err="1"/>
              <a:t>capas</a:t>
            </a:r>
            <a:r>
              <a:rPr lang="en-US" sz="1700" b="1" dirty="0"/>
              <a:t> para </a:t>
            </a:r>
            <a:r>
              <a:rPr lang="en-US" sz="1700" b="1" dirty="0" err="1"/>
              <a:t>razonamiento</a:t>
            </a:r>
            <a:r>
              <a:rPr lang="en-US" sz="1700" b="1" dirty="0"/>
              <a:t> real</a:t>
            </a:r>
            <a:endParaRPr lang="en-US" sz="1700" dirty="0"/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 err="1"/>
              <a:t>Mejora</a:t>
            </a:r>
            <a:r>
              <a:rPr lang="en-US" sz="1700" b="1" dirty="0"/>
              <a:t> </a:t>
            </a:r>
            <a:r>
              <a:rPr lang="en-US" sz="1700" b="1" dirty="0" err="1"/>
              <a:t>el</a:t>
            </a:r>
            <a:r>
              <a:rPr lang="en-US" sz="1700" b="1" dirty="0"/>
              <a:t> </a:t>
            </a:r>
            <a:r>
              <a:rPr lang="en-US" sz="1700" b="1" dirty="0" err="1"/>
              <a:t>estado</a:t>
            </a:r>
            <a:r>
              <a:rPr lang="en-US" sz="1700" b="1" dirty="0"/>
              <a:t> </a:t>
            </a:r>
            <a:r>
              <a:rPr lang="en-US" sz="1700" b="1" dirty="0" err="1"/>
              <a:t>latente</a:t>
            </a:r>
            <a:r>
              <a:rPr lang="en-US" sz="1700" b="1" dirty="0"/>
              <a:t> </a:t>
            </a:r>
            <a:r>
              <a:rPr lang="en-US" sz="1700" b="1" dirty="0" err="1"/>
              <a:t>desde</a:t>
            </a:r>
            <a:r>
              <a:rPr lang="en-US" sz="1700" b="1" dirty="0"/>
              <a:t> </a:t>
            </a:r>
            <a:r>
              <a:rPr lang="en-US" sz="1700" b="1" dirty="0" err="1"/>
              <a:t>el</a:t>
            </a:r>
            <a:r>
              <a:rPr lang="en-US" sz="1700" b="1" dirty="0"/>
              <a:t> </a:t>
            </a:r>
            <a:r>
              <a:rPr lang="en-US" sz="1700" b="1" dirty="0" err="1"/>
              <a:t>cual</a:t>
            </a:r>
            <a:r>
              <a:rPr lang="en-US" sz="1700" b="1" dirty="0"/>
              <a:t> se </a:t>
            </a:r>
            <a:r>
              <a:rPr lang="en-US" sz="1700" b="1" dirty="0" err="1"/>
              <a:t>predice</a:t>
            </a:r>
            <a:endParaRPr lang="en-US" sz="1700" dirty="0"/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No cambia </a:t>
            </a:r>
            <a:r>
              <a:rPr lang="en-US" sz="1700" i="1" dirty="0" err="1"/>
              <a:t>qué</a:t>
            </a:r>
            <a:r>
              <a:rPr lang="en-US" sz="1700" dirty="0"/>
              <a:t> </a:t>
            </a:r>
            <a:r>
              <a:rPr lang="en-US" sz="1700" dirty="0" err="1"/>
              <a:t>mecanismo</a:t>
            </a:r>
            <a:r>
              <a:rPr lang="en-US" sz="1700" dirty="0"/>
              <a:t> </a:t>
            </a:r>
            <a:r>
              <a:rPr lang="en-US" sz="1700" dirty="0" err="1"/>
              <a:t>predice</a:t>
            </a:r>
            <a:r>
              <a:rPr lang="en-US" sz="1700" dirty="0"/>
              <a:t>, cambia </a:t>
            </a:r>
            <a:r>
              <a:rPr lang="en-US" sz="1700" b="1" dirty="0" err="1"/>
              <a:t>desde</a:t>
            </a:r>
            <a:r>
              <a:rPr lang="en-US" sz="1700" b="1" dirty="0"/>
              <a:t> </a:t>
            </a:r>
            <a:r>
              <a:rPr lang="en-US" sz="1700" b="1" dirty="0" err="1"/>
              <a:t>dónde</a:t>
            </a:r>
            <a:r>
              <a:rPr lang="en-US" sz="1700" dirty="0"/>
              <a:t> se </a:t>
            </a:r>
            <a:r>
              <a:rPr lang="en-US" sz="1700" dirty="0" err="1"/>
              <a:t>predice</a:t>
            </a:r>
            <a:r>
              <a:rPr lang="en-US" sz="1700" dirty="0"/>
              <a:t>.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10C1F55-2772-4114-DC90-C0DF19223D17}"/>
              </a:ext>
            </a:extLst>
          </p:cNvPr>
          <p:cNvSpPr txBox="1"/>
          <p:nvPr/>
        </p:nvSpPr>
        <p:spPr>
          <a:xfrm>
            <a:off x="178708" y="6176962"/>
            <a:ext cx="8675006" cy="588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00B0F0"/>
                </a:solidFill>
              </a:rPr>
              <a:t>Engram </a:t>
            </a:r>
            <a:r>
              <a:rPr lang="en-US" sz="2400" b="1" dirty="0">
                <a:solidFill>
                  <a:srgbClr val="00B0F0"/>
                </a:solidFill>
              </a:rPr>
              <a:t>no </a:t>
            </a:r>
            <a:r>
              <a:rPr lang="en-US" sz="2400" b="1" dirty="0" err="1">
                <a:solidFill>
                  <a:srgbClr val="00B0F0"/>
                </a:solidFill>
              </a:rPr>
              <a:t>razona</a:t>
            </a:r>
            <a:r>
              <a:rPr lang="en-US" sz="2400" dirty="0">
                <a:solidFill>
                  <a:srgbClr val="00B0F0"/>
                </a:solidFill>
              </a:rPr>
              <a:t> → </a:t>
            </a:r>
            <a:r>
              <a:rPr lang="en-US" sz="2400" b="1" dirty="0" err="1">
                <a:solidFill>
                  <a:srgbClr val="00B0F0"/>
                </a:solidFill>
              </a:rPr>
              <a:t>inyecta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 err="1">
                <a:solidFill>
                  <a:srgbClr val="00B0F0"/>
                </a:solidFill>
              </a:rPr>
              <a:t>estructura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 err="1">
                <a:solidFill>
                  <a:srgbClr val="00B0F0"/>
                </a:solidFill>
              </a:rPr>
              <a:t>semántica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 err="1">
                <a:solidFill>
                  <a:srgbClr val="00B0F0"/>
                </a:solidFill>
              </a:rPr>
              <a:t>ya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 err="1">
                <a:solidFill>
                  <a:srgbClr val="00B0F0"/>
                </a:solidFill>
              </a:rPr>
              <a:t>aprendida</a:t>
            </a:r>
            <a:r>
              <a:rPr lang="en-US" sz="2400" dirty="0">
                <a:solidFill>
                  <a:srgbClr val="00B0F0"/>
                </a:solidFill>
              </a:rPr>
              <a:t>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D43DA8-83C7-4032-6C86-2400563A1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5530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Step-by-Step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A94F18-CA0A-D19B-86C7-1AF0B644C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41" y="1531126"/>
            <a:ext cx="5827459" cy="379574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 = Embedding("Princess of Wales")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vector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ya</a:t>
            </a:r>
            <a:r>
              <a:rPr lang="en-US" sz="2000" dirty="0"/>
              <a:t> </a:t>
            </a:r>
            <a:r>
              <a:rPr lang="en-US" sz="2000" dirty="0" err="1"/>
              <a:t>vive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la </a:t>
            </a:r>
            <a:r>
              <a:rPr lang="en-US" sz="2000" dirty="0" err="1"/>
              <a:t>región</a:t>
            </a:r>
            <a:r>
              <a:rPr lang="en-US" sz="2000" dirty="0"/>
              <a:t> “</a:t>
            </a:r>
            <a:r>
              <a:rPr lang="en-US" sz="2000" dirty="0" err="1"/>
              <a:t>entidad</a:t>
            </a:r>
            <a:r>
              <a:rPr lang="en-US" sz="2000" dirty="0"/>
              <a:t>-persona” del </a:t>
            </a:r>
            <a:r>
              <a:rPr lang="en-US" sz="2000" dirty="0" err="1"/>
              <a:t>espacio</a:t>
            </a:r>
            <a:r>
              <a:rPr lang="en-US" sz="2000" dirty="0"/>
              <a:t> </a:t>
            </a:r>
            <a:r>
              <a:rPr lang="en-US" sz="2000" dirty="0" err="1"/>
              <a:t>semántico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h_t</a:t>
            </a:r>
            <a:r>
              <a:rPr lang="en-US" sz="2000" dirty="0"/>
              <a:t>^ℓ ← </a:t>
            </a:r>
            <a:r>
              <a:rPr lang="en-US" sz="2000" dirty="0" err="1"/>
              <a:t>h_t</a:t>
            </a:r>
            <a:r>
              <a:rPr lang="en-US" sz="2000" dirty="0"/>
              <a:t>^ℓ + α · Wv · e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2000" dirty="0"/>
              <a:t>	e = embedding </a:t>
            </a:r>
            <a:r>
              <a:rPr lang="en-US" sz="2000" dirty="0" err="1"/>
              <a:t>recuperado</a:t>
            </a:r>
            <a:endParaRPr lang="en-US" sz="2000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2000" dirty="0"/>
              <a:t>	α = gate (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contexto</a:t>
            </a:r>
            <a:r>
              <a:rPr lang="en-US" sz="2000" dirty="0"/>
              <a:t> no </a:t>
            </a:r>
            <a:r>
              <a:rPr lang="en-US" sz="2000" dirty="0" err="1"/>
              <a:t>encaja</a:t>
            </a:r>
            <a:r>
              <a:rPr lang="en-US" sz="2000" dirty="0"/>
              <a:t> → α ≈ 0)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2000" dirty="0"/>
              <a:t>			</a:t>
            </a:r>
            <a:r>
              <a:rPr lang="en-US" sz="2000" b="1" i="1" dirty="0"/>
              <a:t>α = σ( ⟨ </a:t>
            </a:r>
            <a:r>
              <a:rPr lang="en-US" sz="2000" b="1" i="1" dirty="0" err="1"/>
              <a:t>h_t</a:t>
            </a:r>
            <a:r>
              <a:rPr lang="en-US" sz="2000" b="1" i="1" dirty="0"/>
              <a:t> , k(e) ⟩ 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2000" dirty="0" err="1">
                <a:solidFill>
                  <a:srgbClr val="FF0000"/>
                </a:solidFill>
              </a:rPr>
              <a:t>h_t</a:t>
            </a:r>
            <a:r>
              <a:rPr lang="en-US" sz="2000" dirty="0">
                <a:solidFill>
                  <a:srgbClr val="FF0000"/>
                </a:solidFill>
              </a:rPr>
              <a:t>^ℓ ≈ "Wales" </a:t>
            </a:r>
            <a:r>
              <a:rPr lang="en-US" sz="2000" dirty="0" err="1">
                <a:solidFill>
                  <a:srgbClr val="FF0000"/>
                </a:solidFill>
              </a:rPr>
              <a:t>ambiguo</a:t>
            </a:r>
            <a:r>
              <a:rPr lang="en-US" sz="2000" dirty="0">
                <a:solidFill>
                  <a:srgbClr val="FF0000"/>
                </a:solidFill>
              </a:rPr>
              <a:t> (</a:t>
            </a:r>
            <a:r>
              <a:rPr lang="en-US" sz="2000" dirty="0" err="1">
                <a:solidFill>
                  <a:srgbClr val="FF0000"/>
                </a:solidFill>
              </a:rPr>
              <a:t>país</a:t>
            </a:r>
            <a:r>
              <a:rPr lang="en-US" sz="2000" dirty="0">
                <a:solidFill>
                  <a:srgbClr val="FF0000"/>
                </a:solidFill>
              </a:rPr>
              <a:t> / </a:t>
            </a:r>
            <a:r>
              <a:rPr lang="en-US" sz="2000" dirty="0" err="1">
                <a:solidFill>
                  <a:srgbClr val="FF0000"/>
                </a:solidFill>
              </a:rPr>
              <a:t>lugar</a:t>
            </a:r>
            <a:r>
              <a:rPr lang="en-US" sz="2000" dirty="0">
                <a:solidFill>
                  <a:srgbClr val="FF0000"/>
                </a:solidFill>
              </a:rPr>
              <a:t> / </a:t>
            </a:r>
            <a:r>
              <a:rPr lang="en-US" sz="2000" dirty="0" err="1">
                <a:solidFill>
                  <a:srgbClr val="FF0000"/>
                </a:solidFill>
              </a:rPr>
              <a:t>título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2000" dirty="0" err="1">
                <a:solidFill>
                  <a:srgbClr val="00B050"/>
                </a:solidFill>
              </a:rPr>
              <a:t>h_t</a:t>
            </a:r>
            <a:r>
              <a:rPr lang="en-US" sz="2000" dirty="0">
                <a:solidFill>
                  <a:srgbClr val="00B050"/>
                </a:solidFill>
              </a:rPr>
              <a:t>^ℓ ≈ </a:t>
            </a:r>
            <a:r>
              <a:rPr lang="en-US" sz="2000" dirty="0" err="1">
                <a:solidFill>
                  <a:srgbClr val="00B050"/>
                </a:solidFill>
              </a:rPr>
              <a:t>entidad</a:t>
            </a:r>
            <a:r>
              <a:rPr lang="en-US" sz="2000" dirty="0">
                <a:solidFill>
                  <a:srgbClr val="00B050"/>
                </a:solidFill>
              </a:rPr>
              <a:t>-persona-royalty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DE3F92-9E99-286A-9C97-A57544471A46}"/>
              </a:ext>
            </a:extLst>
          </p:cNvPr>
          <p:cNvSpPr txBox="1"/>
          <p:nvPr/>
        </p:nvSpPr>
        <p:spPr>
          <a:xfrm>
            <a:off x="241173" y="5794775"/>
            <a:ext cx="8661654" cy="728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El </a:t>
            </a:r>
            <a:r>
              <a:rPr lang="en-US" b="1" dirty="0" err="1"/>
              <a:t>estado</a:t>
            </a:r>
            <a:r>
              <a:rPr lang="en-US" b="1" dirty="0"/>
              <a:t> </a:t>
            </a:r>
            <a:r>
              <a:rPr lang="en-US" b="1" dirty="0" err="1"/>
              <a:t>latente</a:t>
            </a:r>
            <a:r>
              <a:rPr lang="en-US" b="1" dirty="0"/>
              <a:t> </a:t>
            </a:r>
            <a:r>
              <a:rPr lang="en-US" b="1" dirty="0" err="1"/>
              <a:t>ya</a:t>
            </a:r>
            <a:r>
              <a:rPr lang="en-US" b="1" dirty="0"/>
              <a:t> </a:t>
            </a:r>
            <a:r>
              <a:rPr lang="en-US" b="1" dirty="0" err="1"/>
              <a:t>está</a:t>
            </a:r>
            <a:r>
              <a:rPr lang="en-US" b="1" dirty="0"/>
              <a:t> </a:t>
            </a:r>
            <a:r>
              <a:rPr lang="en-US" b="1" dirty="0" err="1"/>
              <a:t>sesgado</a:t>
            </a:r>
            <a:r>
              <a:rPr lang="en-US" b="1" dirty="0"/>
              <a:t> </a:t>
            </a:r>
            <a:r>
              <a:rPr lang="en-US" b="1" dirty="0" err="1"/>
              <a:t>hacia</a:t>
            </a:r>
            <a:r>
              <a:rPr lang="en-US" b="1" dirty="0"/>
              <a:t> “persona”, no </a:t>
            </a:r>
            <a:r>
              <a:rPr lang="en-US" b="1" dirty="0" err="1"/>
              <a:t>necesita</a:t>
            </a:r>
            <a:r>
              <a:rPr lang="en-US" b="1" dirty="0"/>
              <a:t> </a:t>
            </a:r>
            <a:r>
              <a:rPr lang="en-US" b="1" dirty="0" err="1"/>
              <a:t>descubrirlo</a:t>
            </a:r>
            <a:r>
              <a:rPr lang="en-US" b="1" dirty="0"/>
              <a:t> </a:t>
            </a:r>
            <a:r>
              <a:rPr lang="en-US" b="1" dirty="0" err="1"/>
              <a:t>capa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capa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7603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47BFB4-696C-D7CE-41F5-C789BDC46B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CF7536-5796-7534-50E8-2CE0191F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AR" dirty="0"/>
              <a:t>Que valor agrega </a:t>
            </a:r>
            <a:r>
              <a:rPr lang="es-AR" dirty="0" err="1"/>
              <a:t>Engram</a:t>
            </a:r>
            <a:r>
              <a:rPr lang="es-AR" dirty="0"/>
              <a:t>?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ACDBF3-835B-9458-4919-25EDA484F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i="1"/>
              <a:t>Inyecta en el estado latente una representación vectorial que codifica patrones lingüísticos locales y estables, aprendidos estadísticamente durante el entrenamiento, y los hace disponibles antes de que el </a:t>
            </a:r>
            <a:r>
              <a:rPr lang="es-ES" b="1" i="1" err="1"/>
              <a:t>Transformer</a:t>
            </a:r>
            <a:r>
              <a:rPr lang="es-ES" b="1" i="1"/>
              <a:t> tenga que reconstruirlos por cómputo.</a:t>
            </a:r>
            <a:endParaRPr lang="es-AR" b="1" i="1"/>
          </a:p>
        </p:txBody>
      </p:sp>
    </p:spTree>
    <p:extLst>
      <p:ext uri="{BB962C8B-B14F-4D97-AF65-F5344CB8AC3E}">
        <p14:creationId xmlns:p14="http://schemas.microsoft.com/office/powerpoint/2010/main" val="770305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2CD7DD-592E-2CFE-55CE-9FA7294EA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Engram Architecture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n 4" descr="Diagrama">
            <a:extLst>
              <a:ext uri="{FF2B5EF4-FFF2-40B4-BE49-F238E27FC236}">
                <a16:creationId xmlns:a16="http://schemas.microsoft.com/office/drawing/2014/main" id="{17B7D2F1-7516-45E9-BE2B-95E1693FF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26" y="1966293"/>
            <a:ext cx="7578146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758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EB2926-8564-F453-50E6-E52A1FC6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AR" altLang="es-AR" sz="2700" b="1">
                <a:solidFill>
                  <a:srgbClr val="FFFFFF"/>
                </a:solidFill>
                <a:latin typeface="Arial" panose="020B0604020202020204" pitchFamily="34" charset="0"/>
              </a:rPr>
              <a:t>El beneficio real: </a:t>
            </a:r>
            <a:r>
              <a:rPr lang="es-AR" altLang="es-AR" sz="2700" b="1" i="1">
                <a:solidFill>
                  <a:srgbClr val="FFFFFF"/>
                </a:solidFill>
                <a:latin typeface="Arial" panose="020B0604020202020204" pitchFamily="34" charset="0"/>
              </a:rPr>
              <a:t>profundidad efectiva</a:t>
            </a:r>
            <a:br>
              <a:rPr lang="es-AR" altLang="es-AR" sz="2700" b="1">
                <a:solidFill>
                  <a:srgbClr val="FFFFFF"/>
                </a:solidFill>
                <a:latin typeface="Arial" panose="020B0604020202020204" pitchFamily="34" charset="0"/>
              </a:rPr>
            </a:br>
            <a:endParaRPr lang="es-AR" sz="270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13607B-6AFE-6481-97F9-561973F4FF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7694" y="649480"/>
            <a:ext cx="4916510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AR" altLang="es-AR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Las capas tempranas de Engram producen representaciones equivalentes a capas más profundas del MoE baseline.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¿Cómo lo prueban?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s-AR" altLang="es-AR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LogitLens</a:t>
            </a:r>
            <a:endParaRPr kumimoji="0" lang="es-AR" altLang="es-AR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Las predicciones “convergen” antes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Menor KL divergence en capas tempranas</a:t>
            </a:r>
            <a:b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→ el modelo </a:t>
            </a:r>
            <a:r>
              <a:rPr kumimoji="0" lang="es-AR" altLang="es-AR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ya entendió</a:t>
            </a: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antes qué está viendo 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AR" altLang="es-AR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CKA (representational alignment)</a:t>
            </a:r>
            <a:endParaRPr kumimoji="0" lang="es-AR" altLang="es-AR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Capa 5 de Engram ≈ capa 12 del MoE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Hay un </a:t>
            </a:r>
            <a:r>
              <a:rPr kumimoji="0" lang="es-AR" altLang="es-AR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shift diagonal</a:t>
            </a: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claro</a:t>
            </a:r>
            <a:b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→ </a:t>
            </a:r>
            <a:r>
              <a:rPr kumimoji="0" lang="es-AR" altLang="es-AR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Engram adelanta el trabajo semántico</a:t>
            </a: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📌 Interpretación clave: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Engram </a:t>
            </a:r>
            <a:r>
              <a:rPr kumimoji="0" lang="es-AR" altLang="es-AR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ahorra capas</a:t>
            </a: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que antes se usaban para reconocer patrones locales. Es como si el modelo tuviera </a:t>
            </a:r>
            <a:r>
              <a:rPr kumimoji="0" lang="es-AR" altLang="es-AR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más profundidad gratis</a:t>
            </a:r>
            <a:r>
              <a:rPr kumimoji="0" lang="es-AR" altLang="es-A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pero sin más FLOPs.</a:t>
            </a:r>
          </a:p>
        </p:txBody>
      </p:sp>
    </p:spTree>
    <p:extLst>
      <p:ext uri="{BB962C8B-B14F-4D97-AF65-F5344CB8AC3E}">
        <p14:creationId xmlns:p14="http://schemas.microsoft.com/office/powerpoint/2010/main" val="279361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9611D3-4077-CC7E-BF62-22CC0551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implementation of Engram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n 4" descr="Diagrama">
            <a:extLst>
              <a:ext uri="{FF2B5EF4-FFF2-40B4-BE49-F238E27FC236}">
                <a16:creationId xmlns:a16="http://schemas.microsoft.com/office/drawing/2014/main" id="{A2589AE6-6506-E357-B471-62C5B0A2A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26" y="1966293"/>
            <a:ext cx="7578146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261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985D2-3759-1E36-98D8-5B8CE04E2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299" y="490537"/>
            <a:ext cx="3968748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/>
              <a:t>Effective Depth &amp; Representation Efficiency</a:t>
            </a:r>
          </a:p>
        </p:txBody>
      </p:sp>
      <p:pic>
        <p:nvPicPr>
          <p:cNvPr id="9" name="Picture 8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287CBCC6-4E2B-CB1F-B6FE-8C81232061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18" r="28475" b="1"/>
          <a:stretch>
            <a:fillRect/>
          </a:stretch>
        </p:blipFill>
        <p:spPr>
          <a:xfrm>
            <a:off x="1" y="1587"/>
            <a:ext cx="4571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08371B7-4A32-96D8-EF6A-53F12A3C5C12}"/>
              </a:ext>
            </a:extLst>
          </p:cNvPr>
          <p:cNvSpPr txBox="1"/>
          <p:nvPr/>
        </p:nvSpPr>
        <p:spPr>
          <a:xfrm>
            <a:off x="457199" y="1614362"/>
            <a:ext cx="3345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AR" sz="2400" b="1" dirty="0"/>
              <a:t>Qué aporta realmente?</a:t>
            </a:r>
            <a:endParaRPr lang="es-AR" sz="2400" b="1"/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E03F1E3F-59A9-0217-0215-A5FBD5E0B5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8575258"/>
              </p:ext>
            </p:extLst>
          </p:nvPr>
        </p:nvGraphicFramePr>
        <p:xfrm>
          <a:off x="4813300" y="2614612"/>
          <a:ext cx="3968747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34533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5F066-6D2C-587B-11FA-C096F821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Sparsity Allocation – The U-Shaped Tradeoff</a:t>
            </a:r>
            <a:endParaRPr lang="es-AR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4470FCED-0491-C8CF-A9EC-FE982D3F0B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796143"/>
          <a:ext cx="8229600" cy="4330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9958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335A262-7106-4571-BE09-CFA60A9DB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6F043C-2A2A-4ECE-99FC-9670FAF95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600200" y="685800"/>
            <a:ext cx="75438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F20B77-DD6E-F6D3-B00A-2240A581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85800"/>
            <a:ext cx="3815379" cy="16928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700"/>
              <a:t>Deterministic Retrieval Enables Prefetch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6FE5A8-8C9A-4D97-A7C4-21492965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823" y="685797"/>
            <a:ext cx="89154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38CBC8-765E-5EF0-0839-7DD64484DEFB}"/>
              </a:ext>
            </a:extLst>
          </p:cNvPr>
          <p:cNvSpPr txBox="1"/>
          <p:nvPr/>
        </p:nvSpPr>
        <p:spPr>
          <a:xfrm>
            <a:off x="6411686" y="6398696"/>
            <a:ext cx="2634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AR"/>
              <a:t>System-Level Implications</a:t>
            </a:r>
          </a:p>
        </p:txBody>
      </p:sp>
      <p:pic>
        <p:nvPicPr>
          <p:cNvPr id="25" name="Picture 8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431AA201-065B-C902-CC55-C6A460F7A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05" r="9897" b="2"/>
          <a:stretch>
            <a:fillRect/>
          </a:stretch>
        </p:blipFill>
        <p:spPr>
          <a:xfrm>
            <a:off x="5145741" y="1048447"/>
            <a:ext cx="3603812" cy="480508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6297F2B-78AD-4022-83A4-78FC55E11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6172201"/>
            <a:ext cx="89154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5E065735-AEC8-16E5-3A14-163451E23C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486054"/>
              </p:ext>
            </p:extLst>
          </p:nvPr>
        </p:nvGraphicFramePr>
        <p:xfrm>
          <a:off x="1097280" y="2562784"/>
          <a:ext cx="3815379" cy="360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6288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8DCF64-F627-0A6C-F387-6C94B6BFE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AR" sz="3500">
                <a:solidFill>
                  <a:srgbClr val="FFFFFF"/>
                </a:solidFill>
              </a:rPr>
              <a:t>Pros, Cons &amp; Open Questions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D0AC33-F5DB-B781-E941-581E402B1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1700" b="1"/>
              <a:t>Pros</a:t>
            </a:r>
            <a:endParaRPr lang="es-ES" sz="1700"/>
          </a:p>
          <a:p>
            <a:r>
              <a:rPr lang="es-ES" sz="1700"/>
              <a:t>Mejor reasoning</a:t>
            </a:r>
          </a:p>
          <a:p>
            <a:r>
              <a:rPr lang="es-ES" sz="1700"/>
              <a:t>Mejor long-context</a:t>
            </a:r>
          </a:p>
          <a:p>
            <a:r>
              <a:rPr lang="es-ES" sz="1700"/>
              <a:t>Escalado eficiente</a:t>
            </a:r>
          </a:p>
          <a:p>
            <a:endParaRPr lang="es-ES" sz="1700" b="1"/>
          </a:p>
          <a:p>
            <a:r>
              <a:rPr lang="es-ES" sz="1700" b="1"/>
              <a:t>Contras</a:t>
            </a:r>
            <a:endParaRPr lang="es-ES" sz="1700"/>
          </a:p>
          <a:p>
            <a:r>
              <a:rPr lang="es-ES" sz="1700"/>
              <a:t>Complejidad de sistema</a:t>
            </a:r>
          </a:p>
          <a:p>
            <a:r>
              <a:rPr lang="es-ES" sz="1700"/>
              <a:t>Dependencia de patrones frecuentes</a:t>
            </a:r>
          </a:p>
          <a:p>
            <a:r>
              <a:rPr lang="es-ES" sz="1700"/>
              <a:t>No reemplaza RAG</a:t>
            </a:r>
          </a:p>
          <a:p>
            <a:endParaRPr lang="es-ES" sz="1700"/>
          </a:p>
          <a:p>
            <a:r>
              <a:rPr lang="es-ES" sz="1700" b="1"/>
              <a:t>Open Questions</a:t>
            </a:r>
            <a:endParaRPr lang="es-ES" sz="1700"/>
          </a:p>
          <a:p>
            <a:r>
              <a:rPr lang="es-ES" sz="1700"/>
              <a:t>¿Escala indefinidamente?</a:t>
            </a:r>
          </a:p>
          <a:p>
            <a:r>
              <a:rPr lang="es-ES" sz="1700"/>
              <a:t>¿Mejora en dominios no lingüísticos?</a:t>
            </a:r>
          </a:p>
          <a:p>
            <a:r>
              <a:rPr lang="es-ES" sz="1700"/>
              <a:t>¿Interacción con retrieval externo?</a:t>
            </a:r>
          </a:p>
        </p:txBody>
      </p:sp>
    </p:spTree>
    <p:extLst>
      <p:ext uri="{BB962C8B-B14F-4D97-AF65-F5344CB8AC3E}">
        <p14:creationId xmlns:p14="http://schemas.microsoft.com/office/powerpoint/2010/main" val="4089528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E0DEE-178E-9217-1529-294CD34E4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DA572A-947B-372D-1757-2C92B822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s-AR" sz="3700" b="1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38ABB5-FF1A-E058-6F76-BEF1440D1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ES" sz="2500" b="1" err="1"/>
              <a:t>Engram</a:t>
            </a:r>
            <a:r>
              <a:rPr lang="es-ES" sz="2500" b="1"/>
              <a:t> provee señales semánticas implícitas sobre el token actual, derivadas de patrones locales y estables aprendidos durante el entrenamiento, que permiten al modelo evitar reconstrucción temprana de significado y dedicar más capacidad al razonamiento.</a:t>
            </a:r>
          </a:p>
        </p:txBody>
      </p:sp>
    </p:spTree>
    <p:extLst>
      <p:ext uri="{BB962C8B-B14F-4D97-AF65-F5344CB8AC3E}">
        <p14:creationId xmlns:p14="http://schemas.microsoft.com/office/powerpoint/2010/main" val="2822679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8FAF0-D48D-20A4-C1CB-23D3D6D7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2BF27A5-E89E-5E25-F92D-63C2F3E5F042}"/>
              </a:ext>
            </a:extLst>
          </p:cNvPr>
          <p:cNvSpPr txBox="1"/>
          <p:nvPr/>
        </p:nvSpPr>
        <p:spPr>
          <a:xfrm>
            <a:off x="1143000" y="5143501"/>
            <a:ext cx="6858000" cy="7573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00" b="1" i="0" u="none" strike="noStrike" baseline="0" dirty="0">
                <a:latin typeface="+mj-lt"/>
                <a:ea typeface="+mj-ea"/>
                <a:cs typeface="+mj-cs"/>
              </a:rPr>
              <a:t>Conditional Memory via Scalable Lookup: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100" b="1" i="0" u="none" strike="noStrike" baseline="0" dirty="0"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00" b="1" i="0" u="none" strike="noStrike" baseline="0" dirty="0">
                <a:latin typeface="+mj-lt"/>
                <a:ea typeface="+mj-ea"/>
                <a:cs typeface="+mj-cs"/>
              </a:rPr>
              <a:t>A New Axis of Sparsity for Large Language Models</a:t>
            </a:r>
            <a:endParaRPr lang="en-US" sz="1100" dirty="0"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FBE499-8C67-CFD8-1B37-766C3F6EA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7519" y="4888672"/>
            <a:ext cx="7829255" cy="123363"/>
            <a:chOff x="876692" y="4888672"/>
            <a:chExt cx="10439007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CDFA3C-3318-A9C9-311A-DCAFA3132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515" y="-269151"/>
              <a:ext cx="123362" cy="10439007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B35805D-6546-6012-D717-AB2E71841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719273" y="2415609"/>
              <a:ext cx="123362" cy="5069490"/>
            </a:xfrm>
            <a:prstGeom prst="rect">
              <a:avLst/>
            </a:prstGeom>
            <a:gradFill>
              <a:gsLst>
                <a:gs pos="30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52190E0A-CD28-38DD-7091-9E469FD2B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19" y="0"/>
            <a:ext cx="685800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B15B74C-F0B8-1868-7AD3-4D399AE06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627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Engram Enables Prefetch (Temporal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Engram: tokens → hash → memory indices known early.</a:t>
            </a:r>
          </a:p>
          <a:p>
            <a:pPr lvl="1"/>
            <a:r>
              <a:t>Memory can be prefetched while GPU computes previous layers.</a:t>
            </a:r>
          </a:p>
          <a:p>
            <a:pPr lvl="1"/>
            <a:endParaRPr/>
          </a:p>
          <a:p>
            <a:pPr lvl="1"/>
            <a:r>
              <a:t>MoE: routing depends on hidden state → no early decision.</a:t>
            </a:r>
          </a:p>
          <a:p>
            <a:pPr lvl="1"/>
            <a:endParaRPr/>
          </a:p>
          <a:p>
            <a:pPr lvl="1"/>
            <a:r>
              <a:t>Key Insight: Engram decouples memory from compute.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1785</Words>
  <Application>Microsoft Office PowerPoint</Application>
  <PresentationFormat>Presentación en pantalla (4:3)</PresentationFormat>
  <Paragraphs>227</Paragraphs>
  <Slides>19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Helvetica Neue Medium</vt:lpstr>
      <vt:lpstr>Wingdings</vt:lpstr>
      <vt:lpstr>Office Theme</vt:lpstr>
      <vt:lpstr>Presentación de PowerPoint</vt:lpstr>
      <vt:lpstr>Conditional Memory in LLMs – The Core Problem</vt:lpstr>
      <vt:lpstr>Conditional Memory: A New Axis of Sparsity</vt:lpstr>
      <vt:lpstr>Qué es exactamente el “estado latente” del modelo</vt:lpstr>
      <vt:lpstr>¿Qué contiene ese estado latente?</vt:lpstr>
      <vt:lpstr>Qué es Engram?</vt:lpstr>
      <vt:lpstr>N-gram Lookup</vt:lpstr>
      <vt:lpstr>Step-by-Step</vt:lpstr>
      <vt:lpstr>Que valor agrega Engram?</vt:lpstr>
      <vt:lpstr>The Engram Architecture</vt:lpstr>
      <vt:lpstr>El beneficio real: profundidad efectiva </vt:lpstr>
      <vt:lpstr>System implementation of Engram</vt:lpstr>
      <vt:lpstr>Effective Depth &amp; Representation Efficiency</vt:lpstr>
      <vt:lpstr>Sparsity Allocation – The U-Shaped Tradeoff</vt:lpstr>
      <vt:lpstr>Deterministic Retrieval Enables Prefetch</vt:lpstr>
      <vt:lpstr>Pros, Cons &amp; Open Questions</vt:lpstr>
      <vt:lpstr>Conclusión</vt:lpstr>
      <vt:lpstr>Presentación de PowerPoint</vt:lpstr>
      <vt:lpstr>Why Engram Enables Prefetch (Temporal View)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Negro, Pablo Ariel</cp:lastModifiedBy>
  <cp:revision>94</cp:revision>
  <dcterms:created xsi:type="dcterms:W3CDTF">2013-01-27T09:14:16Z</dcterms:created>
  <dcterms:modified xsi:type="dcterms:W3CDTF">2026-02-22T19:46:00Z</dcterms:modified>
  <cp:category/>
</cp:coreProperties>
</file>