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076136191" r:id="rId5"/>
    <p:sldId id="207613619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102FE1-3524-E350-46C1-EAA013A61796}" v="30" dt="2026-04-15T12:23:51.6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ulfon, Nicolás" userId="S::nicolas.bulfon@accenture.com::e469c701-870f-413f-adde-acf427f60207" providerId="AD" clId="Web-{8C102FE1-3524-E350-46C1-EAA013A61796}"/>
    <pc:docChg chg="modSld">
      <pc:chgData name="Bulfon, Nicolás" userId="S::nicolas.bulfon@accenture.com::e469c701-870f-413f-adde-acf427f60207" providerId="AD" clId="Web-{8C102FE1-3524-E350-46C1-EAA013A61796}" dt="2026-04-15T12:23:51.609" v="28" actId="20577"/>
      <pc:docMkLst>
        <pc:docMk/>
      </pc:docMkLst>
      <pc:sldChg chg="modSp">
        <pc:chgData name="Bulfon, Nicolás" userId="S::nicolas.bulfon@accenture.com::e469c701-870f-413f-adde-acf427f60207" providerId="AD" clId="Web-{8C102FE1-3524-E350-46C1-EAA013A61796}" dt="2026-04-15T12:23:45.297" v="25" actId="20577"/>
        <pc:sldMkLst>
          <pc:docMk/>
          <pc:sldMk cId="521239612" sldId="2076136191"/>
        </pc:sldMkLst>
        <pc:spChg chg="mod">
          <ac:chgData name="Bulfon, Nicolás" userId="S::nicolas.bulfon@accenture.com::e469c701-870f-413f-adde-acf427f60207" providerId="AD" clId="Web-{8C102FE1-3524-E350-46C1-EAA013A61796}" dt="2026-04-15T12:22:36.547" v="22" actId="20577"/>
          <ac:spMkLst>
            <pc:docMk/>
            <pc:sldMk cId="521239612" sldId="2076136191"/>
            <ac:spMk id="10" creationId="{C3265563-7E7C-4DBB-AF77-CDEA802FB0B2}"/>
          </ac:spMkLst>
        </pc:spChg>
        <pc:spChg chg="mod">
          <ac:chgData name="Bulfon, Nicolás" userId="S::nicolas.bulfon@accenture.com::e469c701-870f-413f-adde-acf427f60207" providerId="AD" clId="Web-{8C102FE1-3524-E350-46C1-EAA013A61796}" dt="2026-04-15T12:21:42.093" v="11" actId="20577"/>
          <ac:spMkLst>
            <pc:docMk/>
            <pc:sldMk cId="521239612" sldId="2076136191"/>
            <ac:spMk id="12" creationId="{2134980F-833A-4CEA-B193-B68AFF606610}"/>
          </ac:spMkLst>
        </pc:spChg>
        <pc:spChg chg="mod">
          <ac:chgData name="Bulfon, Nicolás" userId="S::nicolas.bulfon@accenture.com::e469c701-870f-413f-adde-acf427f60207" providerId="AD" clId="Web-{8C102FE1-3524-E350-46C1-EAA013A61796}" dt="2026-04-15T12:23:45.297" v="25" actId="20577"/>
          <ac:spMkLst>
            <pc:docMk/>
            <pc:sldMk cId="521239612" sldId="2076136191"/>
            <ac:spMk id="31" creationId="{3658CBF4-BCD4-4FE7-976F-59FAEC664190}"/>
          </ac:spMkLst>
        </pc:spChg>
      </pc:sldChg>
      <pc:sldChg chg="modSp">
        <pc:chgData name="Bulfon, Nicolás" userId="S::nicolas.bulfon@accenture.com::e469c701-870f-413f-adde-acf427f60207" providerId="AD" clId="Web-{8C102FE1-3524-E350-46C1-EAA013A61796}" dt="2026-04-15T12:23:51.609" v="28" actId="20577"/>
        <pc:sldMkLst>
          <pc:docMk/>
          <pc:sldMk cId="1962599123" sldId="2076136192"/>
        </pc:sldMkLst>
        <pc:spChg chg="mod">
          <ac:chgData name="Bulfon, Nicolás" userId="S::nicolas.bulfon@accenture.com::e469c701-870f-413f-adde-acf427f60207" providerId="AD" clId="Web-{8C102FE1-3524-E350-46C1-EAA013A61796}" dt="2026-04-15T12:21:27.234" v="9" actId="20577"/>
          <ac:spMkLst>
            <pc:docMk/>
            <pc:sldMk cId="1962599123" sldId="2076136192"/>
            <ac:spMk id="12" creationId="{F8CEAD43-C914-DB46-187D-47FD93AA6BBB}"/>
          </ac:spMkLst>
        </pc:spChg>
        <pc:spChg chg="mod">
          <ac:chgData name="Bulfon, Nicolás" userId="S::nicolas.bulfon@accenture.com::e469c701-870f-413f-adde-acf427f60207" providerId="AD" clId="Web-{8C102FE1-3524-E350-46C1-EAA013A61796}" dt="2026-04-15T12:23:51.609" v="28" actId="20577"/>
          <ac:spMkLst>
            <pc:docMk/>
            <pc:sldMk cId="1962599123" sldId="2076136192"/>
            <ac:spMk id="31" creationId="{4E31DA8B-0248-1383-59D3-21748D20D5CE}"/>
          </ac:spMkLst>
        </pc:spChg>
      </pc:sldChg>
    </pc:docChg>
  </pc:docChgLst>
  <pc:docChgLst>
    <pc:chgData name="Bulfon, Nicolás" userId="S::nicolas.bulfon@accenture.com::e469c701-870f-413f-adde-acf427f60207" providerId="AD" clId="Web-{24473C43-1EB5-7BED-13F0-6BE9FDD3F1EF}"/>
    <pc:docChg chg="modSld">
      <pc:chgData name="Bulfon, Nicolás" userId="S::nicolas.bulfon@accenture.com::e469c701-870f-413f-adde-acf427f60207" providerId="AD" clId="Web-{24473C43-1EB5-7BED-13F0-6BE9FDD3F1EF}" dt="2026-04-10T14:10:33.676" v="97" actId="20577"/>
      <pc:docMkLst>
        <pc:docMk/>
      </pc:docMkLst>
      <pc:sldChg chg="modSp">
        <pc:chgData name="Bulfon, Nicolás" userId="S::nicolas.bulfon@accenture.com::e469c701-870f-413f-adde-acf427f60207" providerId="AD" clId="Web-{24473C43-1EB5-7BED-13F0-6BE9FDD3F1EF}" dt="2026-04-10T14:09:46.597" v="94" actId="20577"/>
        <pc:sldMkLst>
          <pc:docMk/>
          <pc:sldMk cId="521239612" sldId="2076136191"/>
        </pc:sldMkLst>
        <pc:spChg chg="mod">
          <ac:chgData name="Bulfon, Nicolás" userId="S::nicolas.bulfon@accenture.com::e469c701-870f-413f-adde-acf427f60207" providerId="AD" clId="Web-{24473C43-1EB5-7BED-13F0-6BE9FDD3F1EF}" dt="2026-04-10T14:09:46.597" v="94" actId="20577"/>
          <ac:spMkLst>
            <pc:docMk/>
            <pc:sldMk cId="521239612" sldId="2076136191"/>
            <ac:spMk id="10" creationId="{C3265563-7E7C-4DBB-AF77-CDEA802FB0B2}"/>
          </ac:spMkLst>
        </pc:spChg>
      </pc:sldChg>
      <pc:sldChg chg="modSp">
        <pc:chgData name="Bulfon, Nicolás" userId="S::nicolas.bulfon@accenture.com::e469c701-870f-413f-adde-acf427f60207" providerId="AD" clId="Web-{24473C43-1EB5-7BED-13F0-6BE9FDD3F1EF}" dt="2026-04-10T14:10:33.676" v="97" actId="20577"/>
        <pc:sldMkLst>
          <pc:docMk/>
          <pc:sldMk cId="1962599123" sldId="2076136192"/>
        </pc:sldMkLst>
        <pc:spChg chg="mod">
          <ac:chgData name="Bulfon, Nicolás" userId="S::nicolas.bulfon@accenture.com::e469c701-870f-413f-adde-acf427f60207" providerId="AD" clId="Web-{24473C43-1EB5-7BED-13F0-6BE9FDD3F1EF}" dt="2026-04-10T14:10:33.676" v="97" actId="20577"/>
          <ac:spMkLst>
            <pc:docMk/>
            <pc:sldMk cId="1962599123" sldId="2076136192"/>
            <ac:spMk id="10" creationId="{A3CB3C79-6AA5-BFE6-FC8A-ABA662D42118}"/>
          </ac:spMkLst>
        </pc:spChg>
      </pc:sldChg>
    </pc:docChg>
  </pc:docChgLst>
  <pc:docChgLst>
    <pc:chgData name="Bulfon, Nicolás" userId="S::nicolas.bulfon@accenture.com::e469c701-870f-413f-adde-acf427f60207" providerId="AD" clId="Web-{C922C281-8EED-67D5-A00C-CAF640298854}"/>
    <pc:docChg chg="modSld">
      <pc:chgData name="Bulfon, Nicolás" userId="S::nicolas.bulfon@accenture.com::e469c701-870f-413f-adde-acf427f60207" providerId="AD" clId="Web-{C922C281-8EED-67D5-A00C-CAF640298854}" dt="2026-04-10T14:17:01.530" v="23" actId="20577"/>
      <pc:docMkLst>
        <pc:docMk/>
      </pc:docMkLst>
      <pc:sldChg chg="modSp">
        <pc:chgData name="Bulfon, Nicolás" userId="S::nicolas.bulfon@accenture.com::e469c701-870f-413f-adde-acf427f60207" providerId="AD" clId="Web-{C922C281-8EED-67D5-A00C-CAF640298854}" dt="2026-04-10T14:17:01.530" v="23" actId="20577"/>
        <pc:sldMkLst>
          <pc:docMk/>
          <pc:sldMk cId="521239612" sldId="2076136191"/>
        </pc:sldMkLst>
        <pc:spChg chg="mod">
          <ac:chgData name="Bulfon, Nicolás" userId="S::nicolas.bulfon@accenture.com::e469c701-870f-413f-adde-acf427f60207" providerId="AD" clId="Web-{C922C281-8EED-67D5-A00C-CAF640298854}" dt="2026-04-10T14:17:01.530" v="23" actId="20577"/>
          <ac:spMkLst>
            <pc:docMk/>
            <pc:sldMk cId="521239612" sldId="2076136191"/>
            <ac:spMk id="11" creationId="{1B95D3D0-EDF6-4D74-965C-4B25FEDFCCC5}"/>
          </ac:spMkLst>
        </pc:spChg>
      </pc:sldChg>
      <pc:sldChg chg="modSp">
        <pc:chgData name="Bulfon, Nicolás" userId="S::nicolas.bulfon@accenture.com::e469c701-870f-413f-adde-acf427f60207" providerId="AD" clId="Web-{C922C281-8EED-67D5-A00C-CAF640298854}" dt="2026-04-10T14:16:59.655" v="22" actId="20577"/>
        <pc:sldMkLst>
          <pc:docMk/>
          <pc:sldMk cId="1962599123" sldId="2076136192"/>
        </pc:sldMkLst>
        <pc:spChg chg="mod">
          <ac:chgData name="Bulfon, Nicolás" userId="S::nicolas.bulfon@accenture.com::e469c701-870f-413f-adde-acf427f60207" providerId="AD" clId="Web-{C922C281-8EED-67D5-A00C-CAF640298854}" dt="2026-04-10T14:16:59.655" v="22" actId="20577"/>
          <ac:spMkLst>
            <pc:docMk/>
            <pc:sldMk cId="1962599123" sldId="2076136192"/>
            <ac:spMk id="11" creationId="{25D2AFD1-8269-99A0-7375-F4266E1FB42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hort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7877665F-10BD-4C6C-AC32-89F087D69A7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9" y="1588"/>
          <a:ext cx="1588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0" imgH="531" progId="TCLayout.ActiveDocument.1">
                  <p:embed/>
                </p:oleObj>
              </mc:Choice>
              <mc:Fallback>
                <p:oleObj name="think-cell Slide" r:id="rId3" imgW="530" imgH="53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7877665F-10BD-4C6C-AC32-89F087D69A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Copyright © 2018 Accenture. All rights reserved.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>
          <a:xfrm>
            <a:off x="381000" y="1828803"/>
            <a:ext cx="5715000" cy="4689475"/>
          </a:xfrm>
        </p:spPr>
        <p:txBody>
          <a:bodyPr>
            <a:normAutofit/>
          </a:bodyPr>
          <a:lstStyle>
            <a:lvl1pPr>
              <a:defRPr sz="2399"/>
            </a:lvl1pPr>
            <a:lvl2pPr>
              <a:spcAft>
                <a:spcPts val="1200"/>
              </a:spcAft>
              <a:defRPr sz="1999"/>
            </a:lvl2pPr>
            <a:lvl3pPr marL="514029" indent="-230044">
              <a:buFont typeface="Graphik" panose="020B0503030202060203" pitchFamily="34" charset="0"/>
              <a:buChar char="–"/>
              <a:defRPr sz="1599"/>
            </a:lvl3pPr>
            <a:lvl5pPr marL="856715" indent="-177689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381000" y="381000"/>
            <a:ext cx="5715000" cy="9906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sz="quarter" idx="19"/>
          </p:nvPr>
        </p:nvSpPr>
        <p:spPr>
          <a:xfrm>
            <a:off x="6096000" y="1828803"/>
            <a:ext cx="5715000" cy="4689475"/>
          </a:xfrm>
        </p:spPr>
        <p:txBody>
          <a:bodyPr>
            <a:normAutofit/>
          </a:bodyPr>
          <a:lstStyle>
            <a:lvl1pPr>
              <a:defRPr sz="2399"/>
            </a:lvl1pPr>
            <a:lvl2pPr>
              <a:spcAft>
                <a:spcPts val="1200"/>
              </a:spcAft>
              <a:defRPr sz="1999"/>
            </a:lvl2pPr>
            <a:lvl3pPr marL="514029" indent="-230044">
              <a:buFont typeface="Graphik" panose="020B0503030202060203" pitchFamily="34" charset="0"/>
              <a:buChar char="–"/>
              <a:defRPr sz="1599"/>
            </a:lvl3pPr>
            <a:lvl5pPr marL="856715" indent="-177689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62059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mplat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CDBE22B4-94C9-441A-996E-23DF1FFB52FB}"/>
              </a:ext>
            </a:extLst>
          </p:cNvPr>
          <p:cNvSpPr/>
          <p:nvPr userDrawn="1"/>
        </p:nvSpPr>
        <p:spPr>
          <a:xfrm>
            <a:off x="3791" y="-46505"/>
            <a:ext cx="12184418" cy="19390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1CC0BF-8C69-48FA-9821-905B5B8FAEB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42938" y="88223"/>
            <a:ext cx="1336675" cy="1673225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Footer Placeholder 7">
            <a:extLst>
              <a:ext uri="{FF2B5EF4-FFF2-40B4-BE49-F238E27FC236}">
                <a16:creationId xmlns:a16="http://schemas.microsoft.com/office/drawing/2014/main" id="{B8AF3E59-7034-4140-8A44-78141E815021}"/>
              </a:ext>
            </a:extLst>
          </p:cNvPr>
          <p:cNvSpPr txBox="1">
            <a:spLocks/>
          </p:cNvSpPr>
          <p:nvPr userDrawn="1"/>
        </p:nvSpPr>
        <p:spPr>
          <a:xfrm>
            <a:off x="384558" y="6517088"/>
            <a:ext cx="5711445" cy="206246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Copyright © 2020 Accenture. All rights reserved.</a:t>
            </a:r>
          </a:p>
        </p:txBody>
      </p:sp>
      <p:sp>
        <p:nvSpPr>
          <p:cNvPr id="16" name="Slide Number Placeholder 9">
            <a:extLst>
              <a:ext uri="{FF2B5EF4-FFF2-40B4-BE49-F238E27FC236}">
                <a16:creationId xmlns:a16="http://schemas.microsoft.com/office/drawing/2014/main" id="{AEE8CA5D-8B85-43BD-926A-533776C7D0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312" y="6490741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 kumimoji="0" lang="en-US" sz="1000" b="0" i="0" u="none" strike="noStrike" kern="1200" cap="none" spc="0" normalizeH="0" baseline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D66BAD1-5A09-4097-906B-2A706FC0E505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394130" y="-36778"/>
            <a:ext cx="1946341" cy="1673225"/>
          </a:xfrm>
          <a:custGeom>
            <a:avLst/>
            <a:gdLst>
              <a:gd name="connsiteX0" fmla="*/ 0 w 2211700"/>
              <a:gd name="connsiteY0" fmla="*/ 0 h 1901348"/>
              <a:gd name="connsiteX1" fmla="*/ 960881 w 2211700"/>
              <a:gd name="connsiteY1" fmla="*/ 0 h 1901348"/>
              <a:gd name="connsiteX2" fmla="*/ 2211700 w 2211700"/>
              <a:gd name="connsiteY2" fmla="*/ 506353 h 1901348"/>
              <a:gd name="connsiteX3" fmla="*/ 2211700 w 2211700"/>
              <a:gd name="connsiteY3" fmla="*/ 1006015 h 1901348"/>
              <a:gd name="connsiteX4" fmla="*/ 0 w 2211700"/>
              <a:gd name="connsiteY4" fmla="*/ 1901348 h 1901348"/>
              <a:gd name="connsiteX5" fmla="*/ 0 w 2211700"/>
              <a:gd name="connsiteY5" fmla="*/ 1401686 h 1901348"/>
              <a:gd name="connsiteX6" fmla="*/ 1595366 w 2211700"/>
              <a:gd name="connsiteY6" fmla="*/ 754915 h 1901348"/>
              <a:gd name="connsiteX7" fmla="*/ 0 w 2211700"/>
              <a:gd name="connsiteY7" fmla="*/ 110681 h 1901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11700" h="1901348">
                <a:moveTo>
                  <a:pt x="0" y="0"/>
                </a:moveTo>
                <a:lnTo>
                  <a:pt x="960881" y="0"/>
                </a:lnTo>
                <a:lnTo>
                  <a:pt x="2211700" y="506353"/>
                </a:lnTo>
                <a:lnTo>
                  <a:pt x="2211700" y="1006015"/>
                </a:lnTo>
                <a:lnTo>
                  <a:pt x="0" y="1901348"/>
                </a:lnTo>
                <a:lnTo>
                  <a:pt x="0" y="1401686"/>
                </a:lnTo>
                <a:lnTo>
                  <a:pt x="1595366" y="754915"/>
                </a:lnTo>
                <a:lnTo>
                  <a:pt x="0" y="110681"/>
                </a:lnTo>
                <a:close/>
              </a:path>
            </a:pathLst>
          </a:custGeom>
          <a:solidFill>
            <a:srgbClr val="CC99FF"/>
          </a:solidFill>
          <a:ln>
            <a:noFill/>
          </a:ln>
        </p:spPr>
        <p:txBody>
          <a:bodyPr vert="horz" wrap="square" lIns="91383" tIns="45691" rIns="91383" bIns="45691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7" name="Rectangle 12">
            <a:extLst>
              <a:ext uri="{FF2B5EF4-FFF2-40B4-BE49-F238E27FC236}">
                <a16:creationId xmlns:a16="http://schemas.microsoft.com/office/drawing/2014/main" id="{1418F404-19B5-4B57-A040-19AD40173BF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299975" y="2132513"/>
            <a:ext cx="2679306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AREAS OF EXPERTISE</a:t>
            </a:r>
          </a:p>
        </p:txBody>
      </p:sp>
      <p:sp>
        <p:nvSpPr>
          <p:cNvPr id="38" name="Rectangle 12">
            <a:extLst>
              <a:ext uri="{FF2B5EF4-FFF2-40B4-BE49-F238E27FC236}">
                <a16:creationId xmlns:a16="http://schemas.microsoft.com/office/drawing/2014/main" id="{13DDC02B-51EE-44E0-BEDD-AE88AE5888A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252944" y="2132513"/>
            <a:ext cx="5408559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SELECTED EXPERIENCE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891B2A9-4B3C-4A70-9C20-306568572CF4}"/>
              </a:ext>
            </a:extLst>
          </p:cNvPr>
          <p:cNvSpPr/>
          <p:nvPr userDrawn="1"/>
        </p:nvSpPr>
        <p:spPr>
          <a:xfrm>
            <a:off x="248824" y="2132513"/>
            <a:ext cx="26677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en-US" sz="1200" b="1" i="0" u="none" strike="noStrike" kern="1200" cap="none" spc="0" normalizeH="0" baseline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PROFESSIONAL BACKGROUND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F4863CF-A9CF-4E25-8C24-C00A183C18E3}"/>
              </a:ext>
            </a:extLst>
          </p:cNvPr>
          <p:cNvGrpSpPr/>
          <p:nvPr userDrawn="1"/>
        </p:nvGrpSpPr>
        <p:grpSpPr>
          <a:xfrm>
            <a:off x="237237" y="2237951"/>
            <a:ext cx="5074087" cy="4252790"/>
            <a:chOff x="470702" y="2490873"/>
            <a:chExt cx="5074087" cy="4252790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67A9885D-A32A-4F6C-952D-566AFC7BC7B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70702" y="2490873"/>
              <a:ext cx="0" cy="3319272"/>
            </a:xfrm>
            <a:prstGeom prst="line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3C22190-B227-49DD-8F11-48D76E075E9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312947" y="2490875"/>
              <a:ext cx="0" cy="3319272"/>
            </a:xfrm>
            <a:prstGeom prst="line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27EE7479-6552-4B10-8999-F9FFF684DA7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5544788" y="2518340"/>
              <a:ext cx="1" cy="4225323"/>
            </a:xfrm>
            <a:prstGeom prst="line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ext Placeholder 31">
            <a:extLst>
              <a:ext uri="{FF2B5EF4-FFF2-40B4-BE49-F238E27FC236}">
                <a16:creationId xmlns:a16="http://schemas.microsoft.com/office/drawing/2014/main" id="{F3D691ED-AD26-4C5B-A0B8-F0E39B64E48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69005" y="59040"/>
            <a:ext cx="6541532" cy="471774"/>
          </a:xfrm>
        </p:spPr>
        <p:txBody>
          <a:bodyPr/>
          <a:lstStyle>
            <a:lvl1pPr marL="0" indent="0">
              <a:buNone/>
              <a:defRPr sz="3600" b="1">
                <a:solidFill>
                  <a:srgbClr val="7030A0"/>
                </a:solidFill>
                <a:latin typeface="Graphik" panose="020B0503030202060203" pitchFamily="34" charset="0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n-US"/>
              <a:t>Name Last Name</a:t>
            </a:r>
          </a:p>
        </p:txBody>
      </p:sp>
      <p:sp>
        <p:nvSpPr>
          <p:cNvPr id="46" name="Text Placeholder 31">
            <a:extLst>
              <a:ext uri="{FF2B5EF4-FFF2-40B4-BE49-F238E27FC236}">
                <a16:creationId xmlns:a16="http://schemas.microsoft.com/office/drawing/2014/main" id="{0DC117CF-F328-48B8-9236-47C84E0A3FA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69005" y="504446"/>
            <a:ext cx="6541532" cy="317045"/>
          </a:xfrm>
        </p:spPr>
        <p:txBody>
          <a:bodyPr>
            <a:normAutofit/>
          </a:bodyPr>
          <a:lstStyle>
            <a:lvl1pPr marL="0" indent="0">
              <a:buNone/>
              <a:defRPr kumimoji="0" lang="en-US" sz="24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n-US"/>
              <a:t>Role</a:t>
            </a:r>
          </a:p>
        </p:txBody>
      </p:sp>
      <p:sp>
        <p:nvSpPr>
          <p:cNvPr id="47" name="Text Placeholder 31">
            <a:extLst>
              <a:ext uri="{FF2B5EF4-FFF2-40B4-BE49-F238E27FC236}">
                <a16:creationId xmlns:a16="http://schemas.microsoft.com/office/drawing/2014/main" id="{FC7E85F2-52A4-4511-88B0-F2C73442A44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69005" y="1202219"/>
            <a:ext cx="6541532" cy="310896"/>
          </a:xfrm>
        </p:spPr>
        <p:txBody>
          <a:bodyPr anchor="ctr">
            <a:noAutofit/>
          </a:bodyPr>
          <a:lstStyle>
            <a:lvl1pPr marL="0" indent="0">
              <a:buNone/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n-US"/>
              <a:t>Email address</a:t>
            </a:r>
          </a:p>
        </p:txBody>
      </p:sp>
      <p:sp>
        <p:nvSpPr>
          <p:cNvPr id="48" name="Text Placeholder 31">
            <a:extLst>
              <a:ext uri="{FF2B5EF4-FFF2-40B4-BE49-F238E27FC236}">
                <a16:creationId xmlns:a16="http://schemas.microsoft.com/office/drawing/2014/main" id="{FC8802FF-03E3-4495-BE0C-83F0545077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69005" y="1517216"/>
            <a:ext cx="6541532" cy="310896"/>
          </a:xfrm>
        </p:spPr>
        <p:txBody>
          <a:bodyPr anchor="ctr">
            <a:noAutofit/>
          </a:bodyPr>
          <a:lstStyle>
            <a:lvl1pPr marL="0" indent="0">
              <a:buNone/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n-US"/>
              <a:t>Home location: City, Country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E78606-7DF7-4ECE-BFD6-9805E216A9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1211" y="2421646"/>
            <a:ext cx="2586918" cy="2983301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24ABDA-AF82-4D3F-B9B8-924763598D4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31099" y="2739487"/>
            <a:ext cx="2012108" cy="1132124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 sz="1200">
                <a:latin typeface="Graphik" panose="020B050303020206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7D6F9E4-2287-45A1-9D25-09DDA8C090D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7750" y="2437520"/>
            <a:ext cx="6524747" cy="3916033"/>
          </a:xfrm>
        </p:spPr>
        <p:txBody>
          <a:bodyPr/>
          <a:lstStyle>
            <a:lvl1pPr>
              <a:defRPr sz="1200" b="1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9" name="Text Placeholder 56">
            <a:extLst>
              <a:ext uri="{FF2B5EF4-FFF2-40B4-BE49-F238E27FC236}">
                <a16:creationId xmlns:a16="http://schemas.microsoft.com/office/drawing/2014/main" id="{908FC9C2-4A4A-4293-B184-158C9D2DD04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369005" y="887223"/>
            <a:ext cx="6541532" cy="310896"/>
          </a:xfrm>
        </p:spPr>
        <p:txBody>
          <a:bodyPr anchor="ctr"/>
          <a:lstStyle>
            <a:lvl1pPr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defRPr>
            </a:lvl1pPr>
          </a:lstStyle>
          <a:p>
            <a:r>
              <a:rPr lang="es-ES" err="1"/>
              <a:t>Major</a:t>
            </a:r>
            <a:r>
              <a:rPr lang="es-ES"/>
              <a:t> </a:t>
            </a:r>
            <a:endParaRPr lang="en-US"/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3BBBEA3D-ACAB-4B7B-8EF3-C7C27964A6B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55677" y="4272823"/>
            <a:ext cx="2012108" cy="1132124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 sz="1200">
                <a:latin typeface="Graphik" panose="020B050303020206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Rectangle 12">
            <a:extLst>
              <a:ext uri="{FF2B5EF4-FFF2-40B4-BE49-F238E27FC236}">
                <a16:creationId xmlns:a16="http://schemas.microsoft.com/office/drawing/2014/main" id="{DF81F04B-AB69-4A8B-A7F9-39A43C1B7AE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66510" y="2421103"/>
            <a:ext cx="2176694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FUNCTIONAL</a:t>
            </a:r>
          </a:p>
        </p:txBody>
      </p:sp>
      <p:sp>
        <p:nvSpPr>
          <p:cNvPr id="54" name="Rectangle 12">
            <a:extLst>
              <a:ext uri="{FF2B5EF4-FFF2-40B4-BE49-F238E27FC236}">
                <a16:creationId xmlns:a16="http://schemas.microsoft.com/office/drawing/2014/main" id="{6C494296-126C-42D3-943D-AC2F5E54E59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66510" y="3926442"/>
            <a:ext cx="2176694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INDUSTRY</a:t>
            </a:r>
          </a:p>
        </p:txBody>
      </p:sp>
    </p:spTree>
    <p:extLst>
      <p:ext uri="{BB962C8B-B14F-4D97-AF65-F5344CB8AC3E}">
        <p14:creationId xmlns:p14="http://schemas.microsoft.com/office/powerpoint/2010/main" val="2733187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FD2A40-219B-4A42-BDCD-91ED10167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2AC728-5E8B-42F7-9F39-F04825FAA4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B3194B-FBE7-4F5A-BBFD-20B6E0DC0B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C56486-13E7-424D-BC87-91F135AC867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166AE-AC75-490C-A610-1035733518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249CD1-69FD-462A-8C84-A583CCA694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859B2-4A9A-4F64-9661-9DC88835B7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38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8BDC1-E9F8-4EEF-9FAB-00FC58FA9F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4BFBA5-6622-4657-A915-630FEC1BA0AA}" type="slidenum">
              <a:rPr kumimoji="0" lang="es-E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0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B597F7-1063-46BB-A5C6-BD69CD4624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Nicolás </a:t>
            </a:r>
            <a:r>
              <a:rPr lang="en-US" err="1"/>
              <a:t>Bulfón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43080F5-2607-4F7B-9264-C5041032336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/>
              <a:t>AI LLM Technology Architecture Analyst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52E9116-884D-487E-A1F6-B67499333E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nicolas.bulfon@accenture.com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54985B-72FF-41C6-B083-F11D3DDEF40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69005" y="1496937"/>
            <a:ext cx="6541532" cy="310896"/>
          </a:xfrm>
        </p:spPr>
        <p:txBody>
          <a:bodyPr/>
          <a:lstStyle/>
          <a:p>
            <a:r>
              <a:rPr lang="en-US"/>
              <a:t>La Plata, Buenos Aires, Argentina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3265563-7E7C-4DBB-AF77-CDEA802FB0B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1211" y="2421647"/>
            <a:ext cx="2650385" cy="29191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lvl="0" indent="0" algn="just">
              <a:lnSpc>
                <a:spcPct val="100000"/>
              </a:lnSpc>
              <a:spcBef>
                <a:spcPts val="300"/>
              </a:spcBef>
              <a:buClr>
                <a:srgbClr val="549E39"/>
              </a:buClr>
              <a:buNone/>
              <a:defRPr/>
            </a:pPr>
            <a:r>
              <a:rPr lang="en-US" sz="1050">
                <a:solidFill>
                  <a:prstClr val="black"/>
                </a:solidFill>
              </a:rPr>
              <a:t>Economist (UCALP 2020-2025) with 6 years as Backend Engineer (C#, Python, SQL). Self-taught in ML/Deep Learning (Stanford Specialization). Experience in API development, automation, and data analysis. Combining economic thinking with software engineering for AI/LLM solutions</a:t>
            </a:r>
          </a:p>
          <a:p>
            <a:pPr marL="0" lvl="0" indent="0" algn="just">
              <a:lnSpc>
                <a:spcPct val="100000"/>
              </a:lnSpc>
              <a:spcBef>
                <a:spcPts val="300"/>
              </a:spcBef>
              <a:buClr>
                <a:srgbClr val="549E39"/>
              </a:buClr>
              <a:buNone/>
              <a:defRPr/>
            </a:pPr>
            <a:r>
              <a:rPr lang="en-US" sz="1050"/>
              <a:t>Currently working on agent development.</a:t>
            </a:r>
          </a:p>
          <a:p>
            <a:pPr marL="0" indent="0" algn="just">
              <a:lnSpc>
                <a:spcPct val="100000"/>
              </a:lnSpc>
              <a:spcBef>
                <a:spcPts val="300"/>
              </a:spcBef>
              <a:buNone/>
              <a:defRPr/>
            </a:pPr>
            <a:endParaRPr lang="en-US" sz="1050" dirty="0">
              <a:ea typeface="+mn-lt"/>
              <a:cs typeface="+mn-lt"/>
            </a:endParaRPr>
          </a:p>
          <a:p>
            <a:pPr marL="0" indent="0" algn="just"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sz="1050" dirty="0">
                <a:ea typeface="+mn-lt"/>
                <a:cs typeface="+mn-lt"/>
              </a:rPr>
              <a:t>Engaged with </a:t>
            </a:r>
            <a:r>
              <a:rPr lang="en-US" sz="1050" dirty="0" err="1">
                <a:ea typeface="+mn-lt"/>
                <a:cs typeface="+mn-lt"/>
              </a:rPr>
              <a:t>Anthropic's</a:t>
            </a:r>
            <a:r>
              <a:rPr lang="en-US" sz="1050" dirty="0">
                <a:ea typeface="+mn-lt"/>
                <a:cs typeface="+mn-lt"/>
              </a:rPr>
              <a:t> Claude ecosystem – currently working forward Claude Architect certification.</a:t>
            </a:r>
          </a:p>
          <a:p>
            <a:pPr marL="0" indent="0" algn="just">
              <a:lnSpc>
                <a:spcPct val="100000"/>
              </a:lnSpc>
              <a:spcBef>
                <a:spcPts val="300"/>
              </a:spcBef>
              <a:buNone/>
              <a:defRPr/>
            </a:pPr>
            <a:endParaRPr lang="en-US" sz="1050" dirty="0">
              <a:ea typeface="+mn-lt"/>
              <a:cs typeface="+mn-lt"/>
            </a:endParaRPr>
          </a:p>
          <a:p>
            <a:pPr marL="0" lvl="0" indent="0" algn="just">
              <a:lnSpc>
                <a:spcPct val="100000"/>
              </a:lnSpc>
              <a:spcBef>
                <a:spcPts val="300"/>
              </a:spcBef>
              <a:buClr>
                <a:srgbClr val="549E39"/>
              </a:buClr>
              <a:buNone/>
              <a:defRPr/>
            </a:pPr>
            <a:r>
              <a:rPr lang="en-US" sz="1050"/>
              <a:t>Spanish (Native)</a:t>
            </a:r>
          </a:p>
          <a:p>
            <a:pPr marL="0" lvl="0" indent="0" algn="just">
              <a:lnSpc>
                <a:spcPct val="100000"/>
              </a:lnSpc>
              <a:spcBef>
                <a:spcPts val="300"/>
              </a:spcBef>
              <a:buClr>
                <a:srgbClr val="549E39"/>
              </a:buClr>
              <a:buNone/>
              <a:defRPr/>
            </a:pPr>
            <a:r>
              <a:rPr lang="en-US" sz="1050"/>
              <a:t>English (B2+)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B95D3D0-EDF6-4D74-965C-4B25FEDFCCC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149172" y="2671910"/>
            <a:ext cx="2121001" cy="130575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170180" lvl="0" indent="-170180">
              <a:lnSpc>
                <a:spcPct val="100000"/>
              </a:lnSpc>
              <a:spcBef>
                <a:spcPts val="450"/>
              </a:spcBef>
              <a:tabLst>
                <a:tab pos="133270" algn="l"/>
              </a:tabLst>
              <a:defRPr/>
            </a:pPr>
            <a:r>
              <a:rPr lang="en-US" altLang="en-US" sz="800">
                <a:solidFill>
                  <a:prstClr val="black"/>
                </a:solidFill>
                <a:latin typeface="Calibri" panose="020F0502020204030204"/>
                <a:cs typeface="Arial"/>
              </a:rPr>
              <a:t>Economic problems</a:t>
            </a:r>
            <a:endParaRPr lang="en-US"/>
          </a:p>
          <a:p>
            <a:pPr marL="170180" indent="-170180">
              <a:lnSpc>
                <a:spcPct val="100000"/>
              </a:lnSpc>
              <a:spcBef>
                <a:spcPts val="450"/>
              </a:spcBef>
              <a:tabLst>
                <a:tab pos="133270" algn="l"/>
              </a:tabLst>
              <a:defRPr/>
            </a:pPr>
            <a:r>
              <a:rPr lang="en-US" altLang="en-US" sz="800">
                <a:solidFill>
                  <a:prstClr val="black"/>
                </a:solidFill>
                <a:latin typeface="Calibri" panose="020F0502020204030204"/>
                <a:cs typeface="Arial"/>
              </a:rPr>
              <a:t>Machine &amp; Deep Learning </a:t>
            </a:r>
            <a:endParaRPr lang="en-US" altLang="en-US" sz="800">
              <a:solidFill>
                <a:prstClr val="black"/>
              </a:solidFill>
              <a:latin typeface="Calibri" panose="020F0502020204030204"/>
              <a:ea typeface="Calibri"/>
              <a:cs typeface="Arial"/>
            </a:endParaRPr>
          </a:p>
          <a:p>
            <a:pPr marL="170180" indent="-170180">
              <a:lnSpc>
                <a:spcPct val="100000"/>
              </a:lnSpc>
              <a:spcBef>
                <a:spcPts val="450"/>
              </a:spcBef>
              <a:tabLst>
                <a:tab pos="133270" algn="l"/>
              </a:tabLst>
              <a:defRPr/>
            </a:pPr>
            <a:r>
              <a:rPr lang="en-US" sz="800">
                <a:solidFill>
                  <a:prstClr val="black"/>
                </a:solidFill>
                <a:latin typeface="Calibri" panose="020F0502020204030204"/>
                <a:cs typeface="Calibri"/>
              </a:rPr>
              <a:t>Claude (Anthropic) Ecosystem</a:t>
            </a:r>
            <a:endParaRPr lang="en-US" altLang="en-US" sz="800">
              <a:solidFill>
                <a:prstClr val="black"/>
              </a:solidFill>
              <a:latin typeface="Calibri" panose="020F0502020204030204"/>
              <a:ea typeface="Calibri"/>
              <a:cs typeface="Arial"/>
            </a:endParaRPr>
          </a:p>
          <a:p>
            <a:pPr>
              <a:lnSpc>
                <a:spcPct val="100000"/>
              </a:lnSpc>
              <a:spcBef>
                <a:spcPts val="450"/>
              </a:spcBef>
              <a:tabLst>
                <a:tab pos="133270" algn="l"/>
              </a:tabLst>
              <a:defRPr/>
            </a:pPr>
            <a:r>
              <a:rPr lang="en-US" altLang="en-US" sz="800" dirty="0">
                <a:solidFill>
                  <a:prstClr val="black"/>
                </a:solidFill>
                <a:latin typeface="Calibri" panose="020F0502020204030204"/>
                <a:cs typeface="Arial"/>
              </a:rPr>
              <a:t>Data </a:t>
            </a:r>
            <a:r>
              <a:rPr lang="en-US" altLang="en-US" sz="800" dirty="0" err="1">
                <a:solidFill>
                  <a:prstClr val="black"/>
                </a:solidFill>
                <a:latin typeface="Calibri" panose="020F0502020204030204"/>
                <a:cs typeface="Arial"/>
              </a:rPr>
              <a:t>Science,</a:t>
            </a:r>
            <a:r>
              <a:rPr lang="en-US" sz="800" dirty="0" err="1">
                <a:solidFill>
                  <a:prstClr val="black"/>
                </a:solidFill>
                <a:latin typeface="Calibri" panose="020F0502020204030204"/>
                <a:cs typeface="Calibri"/>
              </a:rPr>
              <a:t>Power</a:t>
            </a:r>
            <a:r>
              <a:rPr lang="en-US" sz="800" dirty="0">
                <a:solidFill>
                  <a:prstClr val="black"/>
                </a:solidFill>
                <a:latin typeface="Calibri" panose="020F0502020204030204"/>
                <a:cs typeface="Calibri"/>
              </a:rPr>
              <a:t> BI</a:t>
            </a:r>
            <a:endParaRPr lang="en-US" sz="800" dirty="0">
              <a:solidFill>
                <a:prstClr val="black"/>
              </a:solidFill>
              <a:latin typeface="Calibri" panose="020F0502020204030204"/>
              <a:ea typeface="Calibri"/>
              <a:cs typeface="Calibri"/>
            </a:endParaRPr>
          </a:p>
          <a:p>
            <a:pPr marL="170180" lvl="0" indent="-170180">
              <a:lnSpc>
                <a:spcPct val="100000"/>
              </a:lnSpc>
              <a:spcBef>
                <a:spcPts val="450"/>
              </a:spcBef>
              <a:tabLst>
                <a:tab pos="133270" algn="l"/>
              </a:tabLst>
              <a:defRPr/>
            </a:pPr>
            <a:r>
              <a:rPr lang="en-US" altLang="en-US" sz="800">
                <a:solidFill>
                  <a:prstClr val="black"/>
                </a:solidFill>
                <a:latin typeface="Calibri" panose="020F0502020204030204"/>
                <a:cs typeface="Arial"/>
              </a:rPr>
              <a:t>Python, C#, TypeScript, JavaScript</a:t>
            </a:r>
            <a:endParaRPr lang="en-US" altLang="en-US" sz="800">
              <a:solidFill>
                <a:prstClr val="black"/>
              </a:solidFill>
              <a:latin typeface="Calibri" panose="020F0502020204030204"/>
              <a:ea typeface="Calibri" panose="020F0502020204030204"/>
              <a:cs typeface="Arial"/>
            </a:endParaRPr>
          </a:p>
          <a:p>
            <a:pPr marL="170180" lvl="0" indent="-170180">
              <a:lnSpc>
                <a:spcPct val="100000"/>
              </a:lnSpc>
              <a:spcBef>
                <a:spcPts val="450"/>
              </a:spcBef>
              <a:tabLst>
                <a:tab pos="133270" algn="l"/>
              </a:tabLst>
              <a:defRPr/>
            </a:pPr>
            <a:r>
              <a:rPr lang="en-US" altLang="en-US" sz="800" dirty="0">
                <a:solidFill>
                  <a:prstClr val="black"/>
                </a:solidFill>
                <a:latin typeface="Calibri" panose="020F0502020204030204"/>
                <a:cs typeface="Arial"/>
              </a:rPr>
              <a:t>BD SQL y No-SQL (</a:t>
            </a:r>
            <a:r>
              <a:rPr lang="en-US" altLang="en-US" sz="800" dirty="0" err="1">
                <a:solidFill>
                  <a:prstClr val="black"/>
                </a:solidFill>
                <a:latin typeface="Calibri" panose="020F0502020204030204"/>
                <a:cs typeface="Arial"/>
              </a:rPr>
              <a:t>MondoDB</a:t>
            </a:r>
            <a:r>
              <a:rPr lang="en-US" altLang="en-US" sz="800" dirty="0">
                <a:solidFill>
                  <a:prstClr val="black"/>
                </a:solidFill>
                <a:latin typeface="Calibri" panose="020F0502020204030204"/>
                <a:cs typeface="Arial"/>
              </a:rPr>
              <a:t>)</a:t>
            </a:r>
            <a:endParaRPr lang="en-US" altLang="en-US" sz="800" dirty="0">
              <a:solidFill>
                <a:prstClr val="black"/>
              </a:solidFill>
              <a:latin typeface="Calibri" panose="020F0502020204030204"/>
              <a:ea typeface="Calibri" panose="020F0502020204030204"/>
              <a:cs typeface="Arial"/>
            </a:endParaRPr>
          </a:p>
          <a:p>
            <a:pPr marL="170180" lvl="0" indent="-170180">
              <a:lnSpc>
                <a:spcPct val="100000"/>
              </a:lnSpc>
              <a:spcBef>
                <a:spcPts val="450"/>
              </a:spcBef>
              <a:tabLst>
                <a:tab pos="133270" algn="l"/>
              </a:tabLst>
              <a:defRPr/>
            </a:pPr>
            <a:r>
              <a:rPr lang="en-US" altLang="en-US" sz="800">
                <a:solidFill>
                  <a:prstClr val="black"/>
                </a:solidFill>
                <a:latin typeface="Calibri" panose="020F0502020204030204"/>
                <a:cs typeface="Arial"/>
              </a:rPr>
              <a:t>N8n, Docker (basic)</a:t>
            </a:r>
            <a:endParaRPr lang="en-US" altLang="en-US" sz="800">
              <a:solidFill>
                <a:prstClr val="black"/>
              </a:solidFill>
              <a:latin typeface="Calibri" panose="020F0502020204030204"/>
              <a:ea typeface="Calibri" panose="020F0502020204030204"/>
              <a:cs typeface="Arial"/>
            </a:endParaRPr>
          </a:p>
          <a:p>
            <a:pPr marL="0" lvl="0" indent="0">
              <a:lnSpc>
                <a:spcPct val="100000"/>
              </a:lnSpc>
              <a:spcBef>
                <a:spcPts val="450"/>
              </a:spcBef>
              <a:buNone/>
              <a:tabLst>
                <a:tab pos="133270" algn="l"/>
              </a:tabLst>
              <a:defRPr/>
            </a:pPr>
            <a:endParaRPr lang="en-US" altLang="en-US" sz="900">
              <a:solidFill>
                <a:prstClr val="black"/>
              </a:solidFill>
              <a:latin typeface="Calibri" panose="020F0502020204030204"/>
              <a:ea typeface="Calibri"/>
              <a:cs typeface="Arial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134980F-833A-4CEA-B193-B68AFF60661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7750" y="2425645"/>
            <a:ext cx="6524747" cy="405322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lvl="0" indent="0" defTabSz="912813">
              <a:lnSpc>
                <a:spcPct val="100000"/>
              </a:lnSpc>
              <a:spcBef>
                <a:spcPts val="0"/>
              </a:spcBef>
              <a:buNone/>
              <a:tabLst>
                <a:tab pos="917575" algn="l"/>
              </a:tabLst>
              <a:defRPr/>
            </a:pPr>
            <a:r>
              <a:rPr lang="es-AR" sz="1000">
                <a:solidFill>
                  <a:prstClr val="black"/>
                </a:solidFill>
              </a:rPr>
              <a:t>Accenture SRL</a:t>
            </a:r>
            <a:endParaRPr lang="en-US" sz="1000">
              <a:solidFill>
                <a:prstClr val="black"/>
              </a:solidFill>
            </a:endParaRPr>
          </a:p>
          <a:p>
            <a:pPr marL="0" lvl="0" indent="0" defTabSz="912813">
              <a:lnSpc>
                <a:spcPct val="100000"/>
              </a:lnSpc>
              <a:spcBef>
                <a:spcPts val="0"/>
              </a:spcBef>
              <a:buNone/>
              <a:tabLst>
                <a:tab pos="917575" algn="l"/>
              </a:tabLst>
              <a:defRPr/>
            </a:pPr>
            <a:endParaRPr lang="en-US" sz="1000">
              <a:solidFill>
                <a:prstClr val="black"/>
              </a:solidFill>
            </a:endParaRPr>
          </a:p>
          <a:p>
            <a:pPr defTabSz="912813">
              <a:lnSpc>
                <a:spcPct val="100000"/>
              </a:lnSpc>
              <a:spcBef>
                <a:spcPts val="0"/>
              </a:spcBef>
              <a:tabLst>
                <a:tab pos="917575" algn="l"/>
              </a:tabLst>
              <a:defRPr/>
            </a:pPr>
            <a:r>
              <a:rPr lang="en-US" sz="1000" b="0" dirty="0">
                <a:solidFill>
                  <a:prstClr val="black"/>
                </a:solidFill>
              </a:rPr>
              <a:t>AI LLM Technology Architecture Analyst | FEB 2026 – Present</a:t>
            </a:r>
            <a:br>
              <a:rPr lang="en-US" sz="1000" b="0" dirty="0"/>
            </a:br>
            <a:r>
              <a:rPr lang="en-US" sz="1000" b="0" dirty="0">
                <a:solidFill>
                  <a:prstClr val="black"/>
                </a:solidFill>
              </a:rPr>
              <a:t>Currently undergoing intensive AI Academy training (6 weeks) in Agentic AI, RAG systems, </a:t>
            </a:r>
            <a:r>
              <a:rPr lang="en-US" sz="1000" b="0" dirty="0" err="1">
                <a:solidFill>
                  <a:prstClr val="black"/>
                </a:solidFill>
              </a:rPr>
              <a:t>LangChain</a:t>
            </a:r>
            <a:r>
              <a:rPr lang="en-US" sz="1000" b="0" dirty="0">
                <a:solidFill>
                  <a:prstClr val="black"/>
                </a:solidFill>
              </a:rPr>
              <a:t>, and LLM orchestration. Preparing for client project assignment in AI/LLM implementation. Focus areas: multi-agent systems</a:t>
            </a:r>
            <a:endParaRPr lang="en-US" sz="1000" b="0" dirty="0">
              <a:solidFill>
                <a:prstClr val="black"/>
              </a:solidFill>
              <a:ea typeface="Calibri"/>
              <a:cs typeface="Calibri"/>
            </a:endParaRPr>
          </a:p>
          <a:p>
            <a:pPr defTabSz="912813">
              <a:lnSpc>
                <a:spcPct val="100000"/>
              </a:lnSpc>
              <a:spcBef>
                <a:spcPts val="0"/>
              </a:spcBef>
              <a:tabLst>
                <a:tab pos="917575" algn="l"/>
              </a:tabLst>
              <a:defRPr/>
            </a:pPr>
            <a:r>
              <a:rPr lang="en-US" sz="1000" b="0" dirty="0">
                <a:solidFill>
                  <a:prstClr val="black"/>
                </a:solidFill>
                <a:ea typeface="+mn-lt"/>
                <a:cs typeface="+mn-lt"/>
              </a:rPr>
              <a:t>Contributing to a strategic internal A2A initiative, leveraging multi-agent system architecture expertise with proficiency in Python, Google ADK, vector database integration, and API management across multiple leading LLM providers.</a:t>
            </a:r>
          </a:p>
          <a:p>
            <a:pPr marL="0" indent="0" defTabSz="912813">
              <a:lnSpc>
                <a:spcPct val="100000"/>
              </a:lnSpc>
              <a:spcBef>
                <a:spcPts val="0"/>
              </a:spcBef>
              <a:buNone/>
              <a:tabLst>
                <a:tab pos="917575" algn="l"/>
              </a:tabLst>
              <a:defRPr/>
            </a:pPr>
            <a:endParaRPr lang="es-AR" sz="1000">
              <a:solidFill>
                <a:prstClr val="black"/>
              </a:solidFill>
            </a:endParaRPr>
          </a:p>
          <a:p>
            <a:pPr marL="0" lvl="0" indent="0" defTabSz="912813">
              <a:lnSpc>
                <a:spcPct val="100000"/>
              </a:lnSpc>
              <a:spcBef>
                <a:spcPts val="0"/>
              </a:spcBef>
              <a:buNone/>
              <a:tabLst>
                <a:tab pos="917575" algn="l"/>
              </a:tabLst>
              <a:defRPr/>
            </a:pPr>
            <a:r>
              <a:rPr lang="es-AR" sz="1000" dirty="0" err="1">
                <a:solidFill>
                  <a:prstClr val="black"/>
                </a:solidFill>
              </a:rPr>
              <a:t>DoTech</a:t>
            </a:r>
            <a:r>
              <a:rPr lang="es-AR" sz="1000" dirty="0">
                <a:solidFill>
                  <a:prstClr val="black"/>
                </a:solidFill>
              </a:rPr>
              <a:t> SA</a:t>
            </a:r>
            <a:endParaRPr lang="en-US" sz="1000" dirty="0">
              <a:solidFill>
                <a:prstClr val="black"/>
              </a:solidFill>
            </a:endParaRPr>
          </a:p>
          <a:p>
            <a:pPr marL="0" lvl="0" indent="0" defTabSz="912813">
              <a:lnSpc>
                <a:spcPct val="100000"/>
              </a:lnSpc>
              <a:spcBef>
                <a:spcPts val="0"/>
              </a:spcBef>
              <a:buNone/>
              <a:tabLst>
                <a:tab pos="917575" algn="l"/>
              </a:tabLst>
              <a:defRPr/>
            </a:pPr>
            <a:endParaRPr lang="en-US" sz="1000">
              <a:solidFill>
                <a:prstClr val="black"/>
              </a:solidFill>
            </a:endParaRPr>
          </a:p>
          <a:p>
            <a:pPr defTabSz="912813">
              <a:lnSpc>
                <a:spcPct val="100000"/>
              </a:lnSpc>
              <a:spcBef>
                <a:spcPts val="0"/>
              </a:spcBef>
              <a:tabLst>
                <a:tab pos="917575" algn="l"/>
              </a:tabLst>
              <a:defRPr/>
            </a:pPr>
            <a:r>
              <a:rPr lang="en-US" sz="1000" dirty="0">
                <a:solidFill>
                  <a:prstClr val="black"/>
                </a:solidFill>
              </a:rPr>
              <a:t>Backend Software Engineer | 2020 – 2026.</a:t>
            </a:r>
            <a:r>
              <a:rPr lang="es-AR" sz="1000" dirty="0">
                <a:solidFill>
                  <a:prstClr val="black"/>
                </a:solidFill>
              </a:rPr>
              <a:t> </a:t>
            </a:r>
            <a:br>
              <a:rPr lang="es-AR" sz="1000" b="0" dirty="0"/>
            </a:br>
            <a:r>
              <a:rPr lang="es-AR" sz="1000" b="0" dirty="0" err="1">
                <a:solidFill>
                  <a:prstClr val="black"/>
                </a:solidFill>
              </a:rPr>
              <a:t>Developed</a:t>
            </a:r>
            <a:r>
              <a:rPr lang="es-AR" sz="1000" b="0" dirty="0">
                <a:solidFill>
                  <a:prstClr val="black"/>
                </a:solidFill>
              </a:rPr>
              <a:t> REST </a:t>
            </a:r>
            <a:r>
              <a:rPr lang="es-AR" sz="1000" b="0" dirty="0" err="1">
                <a:solidFill>
                  <a:prstClr val="black"/>
                </a:solidFill>
              </a:rPr>
              <a:t>APIs</a:t>
            </a:r>
            <a:r>
              <a:rPr lang="es-AR" sz="1000" b="0" dirty="0">
                <a:solidFill>
                  <a:prstClr val="black"/>
                </a:solidFill>
              </a:rPr>
              <a:t> </a:t>
            </a:r>
            <a:r>
              <a:rPr lang="es-AR" sz="1000" b="0" dirty="0" err="1">
                <a:solidFill>
                  <a:prstClr val="black"/>
                </a:solidFill>
              </a:rPr>
              <a:t>using</a:t>
            </a:r>
            <a:r>
              <a:rPr lang="es-AR" sz="1000" b="0" dirty="0">
                <a:solidFill>
                  <a:prstClr val="black"/>
                </a:solidFill>
              </a:rPr>
              <a:t> C# (.NET Framework &amp; .NET Core) </a:t>
            </a:r>
            <a:r>
              <a:rPr lang="es-AR" sz="1000" b="0" dirty="0" err="1">
                <a:solidFill>
                  <a:prstClr val="black"/>
                </a:solidFill>
              </a:rPr>
              <a:t>for</a:t>
            </a:r>
            <a:r>
              <a:rPr lang="es-AR" sz="1000" b="0" dirty="0">
                <a:solidFill>
                  <a:prstClr val="black"/>
                </a:solidFill>
              </a:rPr>
              <a:t> web and </a:t>
            </a:r>
            <a:r>
              <a:rPr lang="es-AR" sz="1000" b="0" dirty="0" err="1">
                <a:solidFill>
                  <a:prstClr val="black"/>
                </a:solidFill>
              </a:rPr>
              <a:t>mobile</a:t>
            </a:r>
            <a:r>
              <a:rPr lang="es-AR" sz="1000" b="0" dirty="0">
                <a:solidFill>
                  <a:prstClr val="black"/>
                </a:solidFill>
              </a:rPr>
              <a:t> </a:t>
            </a:r>
            <a:r>
              <a:rPr lang="es-AR" sz="1000" b="0" dirty="0" err="1">
                <a:solidFill>
                  <a:prstClr val="black"/>
                </a:solidFill>
              </a:rPr>
              <a:t>applications</a:t>
            </a:r>
            <a:r>
              <a:rPr lang="es-AR" sz="1000" b="0" dirty="0">
                <a:solidFill>
                  <a:prstClr val="black"/>
                </a:solidFill>
              </a:rPr>
              <a:t>.</a:t>
            </a:r>
            <a:br>
              <a:rPr lang="es-AR" sz="1000" b="0" dirty="0"/>
            </a:br>
            <a:r>
              <a:rPr lang="es-AR" sz="1000" b="0" dirty="0" err="1">
                <a:solidFill>
                  <a:prstClr val="black"/>
                </a:solidFill>
              </a:rPr>
              <a:t>Managed</a:t>
            </a:r>
            <a:r>
              <a:rPr lang="es-AR" sz="1000" b="0" dirty="0">
                <a:solidFill>
                  <a:prstClr val="black"/>
                </a:solidFill>
              </a:rPr>
              <a:t> </a:t>
            </a:r>
            <a:r>
              <a:rPr lang="es-AR" sz="1000" b="0" dirty="0" err="1">
                <a:solidFill>
                  <a:prstClr val="black"/>
                </a:solidFill>
              </a:rPr>
              <a:t>relational</a:t>
            </a:r>
            <a:r>
              <a:rPr lang="es-AR" sz="1000" b="0" dirty="0">
                <a:solidFill>
                  <a:prstClr val="black"/>
                </a:solidFill>
              </a:rPr>
              <a:t> </a:t>
            </a:r>
            <a:r>
              <a:rPr lang="es-AR" sz="1000" b="0" dirty="0" err="1">
                <a:solidFill>
                  <a:prstClr val="black"/>
                </a:solidFill>
              </a:rPr>
              <a:t>databases</a:t>
            </a:r>
            <a:r>
              <a:rPr lang="es-AR" sz="1000" b="0" dirty="0">
                <a:solidFill>
                  <a:prstClr val="black"/>
                </a:solidFill>
              </a:rPr>
              <a:t> (SQL Server, MySQL, PostgreSQL) and NoSQL (MongoDB). </a:t>
            </a:r>
            <a:br>
              <a:rPr lang="es-AR" sz="1000" b="0" dirty="0">
                <a:ea typeface="Calibri"/>
                <a:cs typeface="Calibri"/>
              </a:rPr>
            </a:br>
            <a:r>
              <a:rPr lang="es-AR" sz="1000" b="0" dirty="0">
                <a:solidFill>
                  <a:prstClr val="black"/>
                </a:solidFill>
                <a:ea typeface="Calibri"/>
                <a:cs typeface="Calibri"/>
              </a:rPr>
              <a:t>Web, Mobile and </a:t>
            </a:r>
            <a:r>
              <a:rPr lang="es-AR" sz="1000" b="0" dirty="0" err="1">
                <a:solidFill>
                  <a:prstClr val="black"/>
                </a:solidFill>
                <a:ea typeface="Calibri"/>
                <a:cs typeface="Calibri"/>
              </a:rPr>
              <a:t>external</a:t>
            </a:r>
            <a:r>
              <a:rPr lang="es-AR" sz="1000" b="0" dirty="0">
                <a:solidFill>
                  <a:prstClr val="black"/>
                </a:solidFill>
                <a:ea typeface="Calibri"/>
                <a:cs typeface="Calibri"/>
              </a:rPr>
              <a:t> </a:t>
            </a:r>
            <a:r>
              <a:rPr lang="es-AR" sz="1000" b="0" dirty="0" err="1">
                <a:solidFill>
                  <a:prstClr val="black"/>
                </a:solidFill>
                <a:ea typeface="Calibri"/>
                <a:cs typeface="Calibri"/>
              </a:rPr>
              <a:t>services</a:t>
            </a:r>
            <a:r>
              <a:rPr lang="es-AR" sz="1000" b="0" dirty="0">
                <a:solidFill>
                  <a:prstClr val="black"/>
                </a:solidFill>
                <a:ea typeface="Calibri"/>
                <a:cs typeface="Calibri"/>
              </a:rPr>
              <a:t> </a:t>
            </a:r>
            <a:r>
              <a:rPr lang="es-AR" sz="1000" b="0" dirty="0" err="1">
                <a:solidFill>
                  <a:prstClr val="black"/>
                </a:solidFill>
                <a:ea typeface="Calibri"/>
                <a:cs typeface="Calibri"/>
              </a:rPr>
              <a:t>development</a:t>
            </a:r>
            <a:r>
              <a:rPr lang="es-AR" sz="1000" b="0" dirty="0">
                <a:solidFill>
                  <a:prstClr val="black"/>
                </a:solidFill>
                <a:ea typeface="Calibri"/>
                <a:cs typeface="Calibri"/>
              </a:rPr>
              <a:t> </a:t>
            </a:r>
            <a:r>
              <a:rPr lang="es-AR" sz="1000" b="0" dirty="0" err="1">
                <a:solidFill>
                  <a:prstClr val="black"/>
                </a:solidFill>
                <a:ea typeface="Calibri"/>
                <a:cs typeface="Calibri"/>
              </a:rPr>
              <a:t>on</a:t>
            </a:r>
            <a:r>
              <a:rPr lang="es-AR" sz="1000" b="0" dirty="0">
                <a:solidFill>
                  <a:prstClr val="black"/>
                </a:solidFill>
                <a:ea typeface="Calibri"/>
                <a:cs typeface="Calibri"/>
              </a:rPr>
              <a:t> </a:t>
            </a:r>
            <a:r>
              <a:rPr lang="es-AR" sz="1000" b="0" dirty="0" err="1">
                <a:solidFill>
                  <a:prstClr val="black"/>
                </a:solidFill>
                <a:ea typeface="Calibri"/>
                <a:cs typeface="Calibri"/>
              </a:rPr>
              <a:t>production</a:t>
            </a:r>
            <a:r>
              <a:rPr lang="es-AR" sz="1000" b="0" dirty="0">
                <a:solidFill>
                  <a:prstClr val="black"/>
                </a:solidFill>
                <a:ea typeface="Calibri"/>
                <a:cs typeface="Calibri"/>
              </a:rPr>
              <a:t> </a:t>
            </a:r>
            <a:r>
              <a:rPr lang="es-AR" sz="1000" b="0" dirty="0" err="1">
                <a:solidFill>
                  <a:prstClr val="black"/>
                </a:solidFill>
                <a:ea typeface="Calibri"/>
                <a:cs typeface="Calibri"/>
              </a:rPr>
              <a:t>enviroments</a:t>
            </a:r>
            <a:r>
              <a:rPr lang="es-AR" sz="1000" b="0" dirty="0">
                <a:solidFill>
                  <a:prstClr val="black"/>
                </a:solidFill>
                <a:ea typeface="Calibri"/>
                <a:cs typeface="Calibri"/>
              </a:rPr>
              <a:t>.</a:t>
            </a:r>
            <a:br>
              <a:rPr lang="es-AR" sz="1000" b="0" dirty="0"/>
            </a:br>
            <a:r>
              <a:rPr lang="es-AR" sz="1000" b="0" dirty="0" err="1">
                <a:solidFill>
                  <a:prstClr val="black"/>
                </a:solidFill>
              </a:rPr>
              <a:t>Implemented</a:t>
            </a:r>
            <a:r>
              <a:rPr lang="es-AR" sz="1000" b="0" dirty="0">
                <a:solidFill>
                  <a:prstClr val="black"/>
                </a:solidFill>
              </a:rPr>
              <a:t> Python scripts </a:t>
            </a:r>
            <a:r>
              <a:rPr lang="es-AR" sz="1000" b="0" dirty="0" err="1">
                <a:solidFill>
                  <a:prstClr val="black"/>
                </a:solidFill>
              </a:rPr>
              <a:t>for</a:t>
            </a:r>
            <a:r>
              <a:rPr lang="es-AR" sz="1000" b="0" dirty="0">
                <a:solidFill>
                  <a:prstClr val="black"/>
                </a:solidFill>
              </a:rPr>
              <a:t> log </a:t>
            </a:r>
            <a:r>
              <a:rPr lang="es-AR" sz="1000" b="0" dirty="0" err="1">
                <a:solidFill>
                  <a:prstClr val="black"/>
                </a:solidFill>
              </a:rPr>
              <a:t>analysis</a:t>
            </a:r>
            <a:r>
              <a:rPr lang="es-AR" sz="1000" b="0" dirty="0">
                <a:solidFill>
                  <a:prstClr val="black"/>
                </a:solidFill>
              </a:rPr>
              <a:t>, data </a:t>
            </a:r>
            <a:r>
              <a:rPr lang="es-AR" sz="1000" b="0" dirty="0" err="1">
                <a:solidFill>
                  <a:prstClr val="black"/>
                </a:solidFill>
              </a:rPr>
              <a:t>processing</a:t>
            </a:r>
            <a:r>
              <a:rPr lang="es-AR" sz="1000" b="0" dirty="0">
                <a:solidFill>
                  <a:prstClr val="black"/>
                </a:solidFill>
              </a:rPr>
              <a:t>, and </a:t>
            </a:r>
            <a:r>
              <a:rPr lang="es-AR" sz="1000" b="0" dirty="0" err="1">
                <a:solidFill>
                  <a:prstClr val="black"/>
                </a:solidFill>
              </a:rPr>
              <a:t>workflow</a:t>
            </a:r>
            <a:r>
              <a:rPr lang="es-AR" sz="1000" b="0" dirty="0">
                <a:solidFill>
                  <a:prstClr val="black"/>
                </a:solidFill>
              </a:rPr>
              <a:t> </a:t>
            </a:r>
            <a:r>
              <a:rPr lang="es-AR" sz="1000" b="0" dirty="0" err="1">
                <a:solidFill>
                  <a:prstClr val="black"/>
                </a:solidFill>
              </a:rPr>
              <a:t>automation</a:t>
            </a:r>
            <a:r>
              <a:rPr lang="es-AR" sz="1000" b="0" dirty="0">
                <a:solidFill>
                  <a:prstClr val="black"/>
                </a:solidFill>
              </a:rPr>
              <a:t>.</a:t>
            </a:r>
            <a:br>
              <a:rPr lang="es-AR" sz="1000" b="0" dirty="0"/>
            </a:br>
            <a:r>
              <a:rPr lang="es-AR" sz="1000" b="0" dirty="0" err="1">
                <a:solidFill>
                  <a:prstClr val="black"/>
                </a:solidFill>
              </a:rPr>
              <a:t>Optimized</a:t>
            </a:r>
            <a:r>
              <a:rPr lang="es-AR" sz="1000" b="0" dirty="0">
                <a:solidFill>
                  <a:prstClr val="black"/>
                </a:solidFill>
              </a:rPr>
              <a:t> </a:t>
            </a:r>
            <a:r>
              <a:rPr lang="es-AR" sz="1000" b="0" dirty="0" err="1">
                <a:solidFill>
                  <a:prstClr val="black"/>
                </a:solidFill>
              </a:rPr>
              <a:t>system</a:t>
            </a:r>
            <a:r>
              <a:rPr lang="es-AR" sz="1000" b="0" dirty="0">
                <a:solidFill>
                  <a:prstClr val="black"/>
                </a:solidFill>
              </a:rPr>
              <a:t> performance and </a:t>
            </a:r>
            <a:r>
              <a:rPr lang="es-AR" sz="1000" b="0" dirty="0" err="1">
                <a:solidFill>
                  <a:prstClr val="black"/>
                </a:solidFill>
              </a:rPr>
              <a:t>automated</a:t>
            </a:r>
            <a:r>
              <a:rPr lang="es-AR" sz="1000" b="0" dirty="0">
                <a:solidFill>
                  <a:prstClr val="black"/>
                </a:solidFill>
              </a:rPr>
              <a:t> </a:t>
            </a:r>
            <a:r>
              <a:rPr lang="es-AR" sz="1000" b="0" dirty="0" err="1">
                <a:solidFill>
                  <a:prstClr val="black"/>
                </a:solidFill>
              </a:rPr>
              <a:t>internal</a:t>
            </a:r>
            <a:r>
              <a:rPr lang="es-AR" sz="1000" b="0" dirty="0">
                <a:solidFill>
                  <a:prstClr val="black"/>
                </a:solidFill>
              </a:rPr>
              <a:t> </a:t>
            </a:r>
            <a:r>
              <a:rPr lang="es-AR" sz="1000" b="0" dirty="0" err="1">
                <a:solidFill>
                  <a:prstClr val="black"/>
                </a:solidFill>
              </a:rPr>
              <a:t>processes</a:t>
            </a:r>
            <a:r>
              <a:rPr lang="es-AR" sz="1000" b="0" dirty="0">
                <a:solidFill>
                  <a:prstClr val="black"/>
                </a:solidFill>
              </a:rPr>
              <a:t>.</a:t>
            </a:r>
            <a:br>
              <a:rPr lang="es-AR" sz="1000" b="0" dirty="0"/>
            </a:br>
            <a:r>
              <a:rPr lang="es-AR" sz="1000" b="0" dirty="0" err="1">
                <a:solidFill>
                  <a:prstClr val="black"/>
                </a:solidFill>
              </a:rPr>
              <a:t>Built</a:t>
            </a:r>
            <a:r>
              <a:rPr lang="es-AR" sz="1000" b="0" dirty="0">
                <a:solidFill>
                  <a:prstClr val="black"/>
                </a:solidFill>
              </a:rPr>
              <a:t> and </a:t>
            </a:r>
            <a:r>
              <a:rPr lang="es-AR" sz="1000" b="0" dirty="0" err="1">
                <a:solidFill>
                  <a:prstClr val="black"/>
                </a:solidFill>
              </a:rPr>
              <a:t>maintained</a:t>
            </a:r>
            <a:r>
              <a:rPr lang="es-AR" sz="1000" b="0" dirty="0">
                <a:solidFill>
                  <a:prstClr val="black"/>
                </a:solidFill>
              </a:rPr>
              <a:t> </a:t>
            </a:r>
            <a:r>
              <a:rPr lang="es-AR" sz="1000" b="0" dirty="0" err="1">
                <a:solidFill>
                  <a:prstClr val="black"/>
                </a:solidFill>
              </a:rPr>
              <a:t>scalable</a:t>
            </a:r>
            <a:r>
              <a:rPr lang="es-AR" sz="1000" b="0" dirty="0">
                <a:solidFill>
                  <a:prstClr val="black"/>
                </a:solidFill>
              </a:rPr>
              <a:t> </a:t>
            </a:r>
            <a:r>
              <a:rPr lang="es-AR" sz="1000" b="0" dirty="0" err="1">
                <a:solidFill>
                  <a:prstClr val="black"/>
                </a:solidFill>
              </a:rPr>
              <a:t>backend</a:t>
            </a:r>
            <a:r>
              <a:rPr lang="es-AR" sz="1000" b="0" dirty="0">
                <a:solidFill>
                  <a:prstClr val="black"/>
                </a:solidFill>
              </a:rPr>
              <a:t> </a:t>
            </a:r>
            <a:r>
              <a:rPr lang="es-AR" sz="1000" b="0" dirty="0" err="1">
                <a:solidFill>
                  <a:prstClr val="black"/>
                </a:solidFill>
              </a:rPr>
              <a:t>architectures</a:t>
            </a:r>
            <a:r>
              <a:rPr lang="es-AR" sz="1000" b="0" dirty="0">
                <a:solidFill>
                  <a:prstClr val="black"/>
                </a:solidFill>
              </a:rPr>
              <a:t> </a:t>
            </a:r>
            <a:r>
              <a:rPr lang="es-AR" sz="1000" b="0" dirty="0" err="1">
                <a:solidFill>
                  <a:prstClr val="black"/>
                </a:solidFill>
              </a:rPr>
              <a:t>for</a:t>
            </a:r>
            <a:r>
              <a:rPr lang="es-AR" sz="1000" b="0" dirty="0">
                <a:solidFill>
                  <a:prstClr val="black"/>
                </a:solidFill>
              </a:rPr>
              <a:t> </a:t>
            </a:r>
            <a:r>
              <a:rPr lang="es-AR" sz="1000" b="0" dirty="0" err="1">
                <a:solidFill>
                  <a:prstClr val="black"/>
                </a:solidFill>
              </a:rPr>
              <a:t>production</a:t>
            </a:r>
            <a:r>
              <a:rPr lang="es-AR" sz="1000" b="0" dirty="0">
                <a:solidFill>
                  <a:prstClr val="black"/>
                </a:solidFill>
              </a:rPr>
              <a:t> </a:t>
            </a:r>
            <a:r>
              <a:rPr lang="es-AR" sz="1000" b="0" dirty="0" err="1">
                <a:solidFill>
                  <a:prstClr val="black"/>
                </a:solidFill>
              </a:rPr>
              <a:t>environments</a:t>
            </a:r>
            <a:endParaRPr lang="es-AR" sz="1000" b="0" dirty="0">
              <a:solidFill>
                <a:prstClr val="black"/>
              </a:solidFill>
            </a:endParaRPr>
          </a:p>
          <a:p>
            <a:pPr defTabSz="912813">
              <a:lnSpc>
                <a:spcPct val="100000"/>
              </a:lnSpc>
              <a:spcBef>
                <a:spcPts val="0"/>
              </a:spcBef>
              <a:tabLst>
                <a:tab pos="917575" algn="l"/>
              </a:tabLst>
              <a:defRPr/>
            </a:pPr>
            <a:endParaRPr lang="en-US" sz="1000" b="0">
              <a:solidFill>
                <a:prstClr val="black"/>
              </a:solidFill>
            </a:endParaRPr>
          </a:p>
          <a:p>
            <a:pPr defTabSz="912813">
              <a:lnSpc>
                <a:spcPct val="100000"/>
              </a:lnSpc>
              <a:spcBef>
                <a:spcPts val="0"/>
              </a:spcBef>
              <a:tabLst>
                <a:tab pos="917575" algn="l"/>
              </a:tabLst>
              <a:defRPr/>
            </a:pPr>
            <a:endParaRPr lang="it-IT" sz="1000">
              <a:solidFill>
                <a:prstClr val="black"/>
              </a:solidFill>
            </a:endParaRPr>
          </a:p>
          <a:p>
            <a:pPr marL="0" indent="0" defTabSz="912813">
              <a:lnSpc>
                <a:spcPct val="100000"/>
              </a:lnSpc>
              <a:spcBef>
                <a:spcPts val="0"/>
              </a:spcBef>
              <a:buNone/>
              <a:tabLst>
                <a:tab pos="917575" algn="l"/>
              </a:tabLst>
              <a:defRPr/>
            </a:pPr>
            <a:endParaRPr lang="it-IT" sz="1000">
              <a:solidFill>
                <a:prstClr val="black"/>
              </a:solidFill>
            </a:endParaRPr>
          </a:p>
          <a:p>
            <a:pPr marL="0" indent="0" defTabSz="912813">
              <a:lnSpc>
                <a:spcPct val="100000"/>
              </a:lnSpc>
              <a:spcBef>
                <a:spcPts val="0"/>
              </a:spcBef>
              <a:buNone/>
              <a:tabLst>
                <a:tab pos="917575" algn="l"/>
              </a:tabLst>
              <a:defRPr/>
            </a:pPr>
            <a:endParaRPr lang="it-IT" sz="1000">
              <a:solidFill>
                <a:prstClr val="black"/>
              </a:solidFill>
            </a:endParaRPr>
          </a:p>
          <a:p>
            <a:pPr lvl="0" defTabSz="912813">
              <a:lnSpc>
                <a:spcPct val="100000"/>
              </a:lnSpc>
              <a:spcBef>
                <a:spcPts val="0"/>
              </a:spcBef>
              <a:buFontTx/>
              <a:buChar char="-"/>
              <a:tabLst>
                <a:tab pos="917575" algn="l"/>
              </a:tabLst>
              <a:defRPr/>
            </a:pPr>
            <a:endParaRPr lang="en-US" sz="1000">
              <a:solidFill>
                <a:prstClr val="black"/>
              </a:solidFill>
            </a:endParaRPr>
          </a:p>
          <a:p>
            <a:pPr marL="0" lvl="0" indent="0" defTabSz="912813">
              <a:lnSpc>
                <a:spcPct val="100000"/>
              </a:lnSpc>
              <a:spcBef>
                <a:spcPts val="0"/>
              </a:spcBef>
              <a:buNone/>
              <a:tabLst>
                <a:tab pos="917575" algn="l"/>
              </a:tabLst>
              <a:defRPr/>
            </a:pPr>
            <a:endParaRPr lang="en-US" sz="1000">
              <a:solidFill>
                <a:prstClr val="black"/>
              </a:solidFill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AB44894-8232-41D9-A194-2698685863B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/>
              <a:t>AI &amp; Data &gt; AI LLM Technology Architecture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D966CF-FD9C-4253-80B3-E3B4151511A0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8077200" y="6492875"/>
            <a:ext cx="4114800" cy="2286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© 2021 Accenture. </a:t>
            </a:r>
            <a:r>
              <a:rPr kumimoji="0" lang="es-ES" sz="1200" b="0" i="0" u="none" strike="noStrike" kern="1200" cap="none" spc="0" normalizeH="0" baseline="0" noProof="0" err="1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s-ES" sz="1200" b="0" i="0" u="none" strike="noStrike" kern="1200" cap="none" spc="0" normalizeH="0" baseline="0" noProof="0" err="1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rights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s-ES" sz="1200" b="0" i="0" u="none" strike="noStrike" kern="1200" cap="none" spc="0" normalizeH="0" baseline="0" noProof="0" err="1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reserved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pic>
        <p:nvPicPr>
          <p:cNvPr id="27" name="Picture Placeholder 26">
            <a:extLst>
              <a:ext uri="{FF2B5EF4-FFF2-40B4-BE49-F238E27FC236}">
                <a16:creationId xmlns:a16="http://schemas.microsoft.com/office/drawing/2014/main" id="{C6332352-5514-4374-8288-6E713209780A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83" b="14383"/>
          <a:stretch/>
        </p:blipFill>
        <p:spPr/>
      </p:pic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D8EBDDCE-48D7-4534-8057-F03D089029E4}"/>
              </a:ext>
            </a:extLst>
          </p:cNvPr>
          <p:cNvSpPr txBox="1">
            <a:spLocks/>
          </p:cNvSpPr>
          <p:nvPr/>
        </p:nvSpPr>
        <p:spPr>
          <a:xfrm>
            <a:off x="3176139" y="4272380"/>
            <a:ext cx="2012108" cy="1159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0781" indent="-170781">
              <a:lnSpc>
                <a:spcPct val="100000"/>
              </a:lnSpc>
              <a:spcBef>
                <a:spcPts val="450"/>
              </a:spcBef>
              <a:tabLst>
                <a:tab pos="133270" algn="l"/>
              </a:tabLst>
              <a:defRPr/>
            </a:pPr>
            <a:endParaRPr lang="en-US" altLang="en-US" sz="800">
              <a:solidFill>
                <a:prstClr val="black"/>
              </a:solidFill>
              <a:latin typeface="Calibri" panose="020F0502020204030204"/>
              <a:cs typeface="Arial"/>
            </a:endParaRPr>
          </a:p>
          <a:p>
            <a:pPr marL="170781" indent="-170781">
              <a:lnSpc>
                <a:spcPct val="100000"/>
              </a:lnSpc>
              <a:spcBef>
                <a:spcPts val="450"/>
              </a:spcBef>
              <a:tabLst>
                <a:tab pos="133270" algn="l"/>
              </a:tabLst>
              <a:defRPr/>
            </a:pPr>
            <a:endParaRPr lang="en-US" altLang="en-US" sz="800">
              <a:solidFill>
                <a:prstClr val="black"/>
              </a:solidFill>
              <a:latin typeface="Calibri" panose="020F0502020204030204"/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450"/>
              </a:spcBef>
              <a:buFont typeface="Arial" panose="020B0604020202020204" pitchFamily="34" charset="0"/>
              <a:buNone/>
              <a:tabLst>
                <a:tab pos="133270" algn="l"/>
              </a:tabLst>
              <a:defRPr/>
            </a:pPr>
            <a:endParaRPr lang="en-US" altLang="en-US" sz="800">
              <a:solidFill>
                <a:prstClr val="black"/>
              </a:solidFill>
              <a:latin typeface="Calibri" panose="020F0502020204030204"/>
              <a:cs typeface="Arial"/>
            </a:endParaRP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3658CBF4-BCD4-4FE7-976F-59FAEC664190}"/>
              </a:ext>
            </a:extLst>
          </p:cNvPr>
          <p:cNvSpPr txBox="1">
            <a:spLocks/>
          </p:cNvSpPr>
          <p:nvPr/>
        </p:nvSpPr>
        <p:spPr>
          <a:xfrm>
            <a:off x="3176124" y="4408128"/>
            <a:ext cx="2012108" cy="10181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0180" indent="-170180">
              <a:lnSpc>
                <a:spcPct val="100000"/>
              </a:lnSpc>
              <a:spcBef>
                <a:spcPts val="450"/>
              </a:spcBef>
              <a:tabLst>
                <a:tab pos="133270" algn="l"/>
              </a:tabLst>
              <a:defRPr/>
            </a:pPr>
            <a:r>
              <a:rPr lang="es-AR" altLang="en-US" sz="900" dirty="0">
                <a:solidFill>
                  <a:prstClr val="black"/>
                </a:solidFill>
                <a:latin typeface="Calibri" panose="020F0502020204030204"/>
                <a:cs typeface="Arial"/>
              </a:rPr>
              <a:t>S</a:t>
            </a:r>
            <a:r>
              <a:rPr lang="en-US" altLang="en-US" sz="900" dirty="0" err="1">
                <a:solidFill>
                  <a:prstClr val="black"/>
                </a:solidFill>
                <a:latin typeface="Calibri" panose="020F0502020204030204"/>
                <a:cs typeface="Arial"/>
              </a:rPr>
              <a:t>oftware</a:t>
            </a:r>
            <a:r>
              <a:rPr lang="en-US" altLang="en-US" sz="900" dirty="0">
                <a:solidFill>
                  <a:prstClr val="black"/>
                </a:solidFill>
                <a:latin typeface="Calibri" panose="020F0502020204030204"/>
                <a:cs typeface="Arial"/>
              </a:rPr>
              <a:t> and Technology</a:t>
            </a:r>
            <a:endParaRPr lang="en-US" dirty="0">
              <a:solidFill>
                <a:prstClr val="black"/>
              </a:solidFill>
            </a:endParaRPr>
          </a:p>
          <a:p>
            <a:pPr marL="170180" indent="-170180">
              <a:lnSpc>
                <a:spcPct val="100000"/>
              </a:lnSpc>
              <a:spcBef>
                <a:spcPts val="450"/>
              </a:spcBef>
              <a:tabLst>
                <a:tab pos="133270" algn="l"/>
              </a:tabLst>
              <a:defRPr/>
            </a:pPr>
            <a:r>
              <a:rPr lang="en-US" sz="900">
                <a:solidFill>
                  <a:prstClr val="black"/>
                </a:solidFill>
                <a:latin typeface="Graphik"/>
                <a:ea typeface="Calibri"/>
                <a:cs typeface="Arial"/>
              </a:rPr>
              <a:t>AI &amp; Data Solutions</a:t>
            </a:r>
            <a:r>
              <a:rPr lang="en-US" sz="900" dirty="0">
                <a:solidFill>
                  <a:prstClr val="black"/>
                </a:solidFill>
                <a:latin typeface="Calibri" panose="020F0502020204030204"/>
                <a:ea typeface="Calibri"/>
                <a:cs typeface="Calibri"/>
              </a:rPr>
              <a:t> </a:t>
            </a:r>
            <a:endParaRPr lang="en-US" altLang="en-US" sz="900" dirty="0">
              <a:solidFill>
                <a:prstClr val="black"/>
              </a:solidFill>
              <a:latin typeface="Calibri" panose="020F0502020204030204"/>
              <a:ea typeface="Calibri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8D3015-BB46-4C76-ABE0-1D7F99BFFC21}"/>
              </a:ext>
            </a:extLst>
          </p:cNvPr>
          <p:cNvSpPr txBox="1"/>
          <p:nvPr/>
        </p:nvSpPr>
        <p:spPr>
          <a:xfrm>
            <a:off x="239503" y="5295438"/>
            <a:ext cx="23426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100" b="1">
                <a:solidFill>
                  <a:srgbClr val="7030A0"/>
                </a:solidFill>
                <a:latin typeface="Graphik" panose="020B0503030202060203" pitchFamily="34" charset="0"/>
              </a:rPr>
              <a:t>CERTIFICATIONS</a:t>
            </a:r>
            <a:endParaRPr lang="en-US" sz="1100" b="1">
              <a:solidFill>
                <a:srgbClr val="7030A0"/>
              </a:solidFill>
              <a:latin typeface="Graphik" panose="020B050303020206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C9E137-957C-3A35-467E-838DA660A245}"/>
              </a:ext>
            </a:extLst>
          </p:cNvPr>
          <p:cNvSpPr txBox="1"/>
          <p:nvPr/>
        </p:nvSpPr>
        <p:spPr>
          <a:xfrm>
            <a:off x="341211" y="5571483"/>
            <a:ext cx="27810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sz="1000">
                <a:solidFill>
                  <a:prstClr val="black"/>
                </a:solidFill>
              </a:rPr>
              <a:t>AI </a:t>
            </a:r>
            <a:r>
              <a:rPr lang="es-AR" sz="1000" err="1">
                <a:solidFill>
                  <a:prstClr val="black"/>
                </a:solidFill>
              </a:rPr>
              <a:t>Academy</a:t>
            </a:r>
            <a:r>
              <a:rPr lang="es-AR" sz="1000">
                <a:solidFill>
                  <a:prstClr val="black"/>
                </a:solidFill>
              </a:rPr>
              <a:t> –Accenture (2026 – in </a:t>
            </a:r>
            <a:r>
              <a:rPr lang="es-AR" sz="1000" err="1">
                <a:solidFill>
                  <a:prstClr val="black"/>
                </a:solidFill>
              </a:rPr>
              <a:t>progress</a:t>
            </a:r>
            <a:r>
              <a:rPr lang="es-AR" sz="1000">
                <a:solidFill>
                  <a:prstClr val="black"/>
                </a:solidFill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prstClr val="black"/>
                </a:solidFill>
              </a:rPr>
              <a:t>Machine Learning Specialization – Standford University (DeepLearning.ai – Coursera)</a:t>
            </a:r>
          </a:p>
          <a:p>
            <a:endParaRPr lang="en-US" sz="10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1239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D1C3B-E064-DB1F-1AB1-92B2BE652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899BC6-36F1-E6BC-AEF8-BF693ECEA5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4BFBA5-6622-4657-A915-630FEC1BA0AA}" type="slidenum">
              <a:rPr kumimoji="0" lang="es-E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ES" sz="10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B353ED-5E5A-A38F-60C8-51A7D767F1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Nicolás </a:t>
            </a:r>
            <a:r>
              <a:rPr lang="en-US" err="1"/>
              <a:t>Bulfón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4F4CDDA-2F66-2340-3062-DB1B340CF0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/>
              <a:t>AI LLM Technology Architecture Analyst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4DCBD00-ABF7-4B6E-99A3-FFD117E076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nicolas.bulfon@accenture.com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A7CC97C-0BDE-B2C4-2C3F-C31E1CA3651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69005" y="1496937"/>
            <a:ext cx="6541532" cy="310896"/>
          </a:xfrm>
        </p:spPr>
        <p:txBody>
          <a:bodyPr/>
          <a:lstStyle/>
          <a:p>
            <a:r>
              <a:rPr lang="en-US"/>
              <a:t>La Plata, Buenos Aires, Argentina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3CB3C79-6AA5-BFE6-FC8A-ABA662D4211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1211" y="2421647"/>
            <a:ext cx="2650385" cy="291913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 algn="just">
              <a:spcBef>
                <a:spcPts val="300"/>
              </a:spcBef>
              <a:buNone/>
              <a:defRPr/>
            </a:pPr>
            <a:r>
              <a:rPr lang="en-US" sz="1050" err="1">
                <a:solidFill>
                  <a:prstClr val="black"/>
                </a:solidFill>
              </a:rPr>
              <a:t>Economista</a:t>
            </a:r>
            <a:r>
              <a:rPr lang="en-US" sz="1050">
                <a:solidFill>
                  <a:prstClr val="black"/>
                </a:solidFill>
              </a:rPr>
              <a:t> (UCALP 2020–2025) con 6 </a:t>
            </a:r>
            <a:r>
              <a:rPr lang="en-US" sz="1050" err="1">
                <a:solidFill>
                  <a:prstClr val="black"/>
                </a:solidFill>
              </a:rPr>
              <a:t>años</a:t>
            </a:r>
            <a:r>
              <a:rPr lang="en-US" sz="1050">
                <a:solidFill>
                  <a:prstClr val="black"/>
                </a:solidFill>
              </a:rPr>
              <a:t> de </a:t>
            </a:r>
            <a:r>
              <a:rPr lang="en-US" sz="1050" err="1">
                <a:solidFill>
                  <a:prstClr val="black"/>
                </a:solidFill>
              </a:rPr>
              <a:t>experiencia</a:t>
            </a:r>
            <a:r>
              <a:rPr lang="en-US" sz="1050">
                <a:solidFill>
                  <a:prstClr val="black"/>
                </a:solidFill>
              </a:rPr>
              <a:t> </a:t>
            </a:r>
            <a:r>
              <a:rPr lang="en-US" sz="1050" err="1">
                <a:solidFill>
                  <a:prstClr val="black"/>
                </a:solidFill>
              </a:rPr>
              <a:t>como</a:t>
            </a:r>
            <a:r>
              <a:rPr lang="en-US" sz="1050">
                <a:solidFill>
                  <a:prstClr val="black"/>
                </a:solidFill>
              </a:rPr>
              <a:t> Backend Engineer (C#, Python, SQL). </a:t>
            </a:r>
            <a:r>
              <a:rPr lang="en-US" sz="1050" err="1">
                <a:solidFill>
                  <a:prstClr val="black"/>
                </a:solidFill>
              </a:rPr>
              <a:t>Autodidacta</a:t>
            </a:r>
            <a:r>
              <a:rPr lang="en-US" sz="1050">
                <a:solidFill>
                  <a:prstClr val="black"/>
                </a:solidFill>
              </a:rPr>
              <a:t> </a:t>
            </a:r>
            <a:r>
              <a:rPr lang="en-US" sz="1050" err="1">
                <a:solidFill>
                  <a:prstClr val="black"/>
                </a:solidFill>
              </a:rPr>
              <a:t>en</a:t>
            </a:r>
            <a:r>
              <a:rPr lang="en-US" sz="1050">
                <a:solidFill>
                  <a:prstClr val="black"/>
                </a:solidFill>
              </a:rPr>
              <a:t> ML/Deep Learning (</a:t>
            </a:r>
            <a:r>
              <a:rPr lang="en-US" sz="1050" err="1">
                <a:solidFill>
                  <a:prstClr val="black"/>
                </a:solidFill>
              </a:rPr>
              <a:t>especialización</a:t>
            </a:r>
            <a:r>
              <a:rPr lang="en-US" sz="1050">
                <a:solidFill>
                  <a:prstClr val="black"/>
                </a:solidFill>
              </a:rPr>
              <a:t> de Stanford). </a:t>
            </a:r>
            <a:r>
              <a:rPr lang="en-US" sz="1050" err="1">
                <a:solidFill>
                  <a:prstClr val="black"/>
                </a:solidFill>
              </a:rPr>
              <a:t>Experiencia</a:t>
            </a:r>
            <a:r>
              <a:rPr lang="en-US" sz="1050">
                <a:solidFill>
                  <a:prstClr val="black"/>
                </a:solidFill>
              </a:rPr>
              <a:t> </a:t>
            </a:r>
            <a:r>
              <a:rPr lang="en-US" sz="1050" err="1">
                <a:solidFill>
                  <a:prstClr val="black"/>
                </a:solidFill>
              </a:rPr>
              <a:t>en</a:t>
            </a:r>
            <a:r>
              <a:rPr lang="en-US" sz="1050">
                <a:solidFill>
                  <a:prstClr val="black"/>
                </a:solidFill>
              </a:rPr>
              <a:t> </a:t>
            </a:r>
            <a:r>
              <a:rPr lang="en-US" sz="1050" err="1">
                <a:solidFill>
                  <a:prstClr val="black"/>
                </a:solidFill>
              </a:rPr>
              <a:t>desarrollo</a:t>
            </a:r>
            <a:r>
              <a:rPr lang="en-US" sz="1050">
                <a:solidFill>
                  <a:prstClr val="black"/>
                </a:solidFill>
              </a:rPr>
              <a:t> de APIs, </a:t>
            </a:r>
            <a:r>
              <a:rPr lang="en-US" sz="1050" err="1">
                <a:solidFill>
                  <a:prstClr val="black"/>
                </a:solidFill>
              </a:rPr>
              <a:t>automatización</a:t>
            </a:r>
            <a:r>
              <a:rPr lang="en-US" sz="1050">
                <a:solidFill>
                  <a:prstClr val="black"/>
                </a:solidFill>
              </a:rPr>
              <a:t> y </a:t>
            </a:r>
            <a:r>
              <a:rPr lang="en-US" sz="1050" err="1">
                <a:solidFill>
                  <a:prstClr val="black"/>
                </a:solidFill>
              </a:rPr>
              <a:t>análisis</a:t>
            </a:r>
            <a:r>
              <a:rPr lang="en-US" sz="1050">
                <a:solidFill>
                  <a:prstClr val="black"/>
                </a:solidFill>
              </a:rPr>
              <a:t> de </a:t>
            </a:r>
            <a:r>
              <a:rPr lang="en-US" sz="1050" err="1">
                <a:solidFill>
                  <a:prstClr val="black"/>
                </a:solidFill>
              </a:rPr>
              <a:t>datos</a:t>
            </a:r>
            <a:r>
              <a:rPr lang="en-US" sz="1050">
                <a:solidFill>
                  <a:prstClr val="black"/>
                </a:solidFill>
              </a:rPr>
              <a:t>. </a:t>
            </a:r>
            <a:r>
              <a:rPr lang="en-US" sz="1050" err="1">
                <a:solidFill>
                  <a:prstClr val="black"/>
                </a:solidFill>
              </a:rPr>
              <a:t>Combinando</a:t>
            </a:r>
            <a:r>
              <a:rPr lang="en-US" sz="1050">
                <a:solidFill>
                  <a:prstClr val="black"/>
                </a:solidFill>
              </a:rPr>
              <a:t> </a:t>
            </a:r>
            <a:r>
              <a:rPr lang="en-US" sz="1050" err="1">
                <a:solidFill>
                  <a:prstClr val="black"/>
                </a:solidFill>
              </a:rPr>
              <a:t>el</a:t>
            </a:r>
            <a:r>
              <a:rPr lang="en-US" sz="1050">
                <a:solidFill>
                  <a:prstClr val="black"/>
                </a:solidFill>
              </a:rPr>
              <a:t> </a:t>
            </a:r>
            <a:r>
              <a:rPr lang="en-US" sz="1050" err="1">
                <a:solidFill>
                  <a:prstClr val="black"/>
                </a:solidFill>
              </a:rPr>
              <a:t>pensamiento</a:t>
            </a:r>
            <a:r>
              <a:rPr lang="en-US" sz="1050">
                <a:solidFill>
                  <a:prstClr val="black"/>
                </a:solidFill>
              </a:rPr>
              <a:t> </a:t>
            </a:r>
            <a:r>
              <a:rPr lang="en-US" sz="1050" err="1">
                <a:solidFill>
                  <a:prstClr val="black"/>
                </a:solidFill>
              </a:rPr>
              <a:t>económico</a:t>
            </a:r>
            <a:r>
              <a:rPr lang="en-US" sz="1050">
                <a:solidFill>
                  <a:prstClr val="black"/>
                </a:solidFill>
              </a:rPr>
              <a:t> con la </a:t>
            </a:r>
            <a:r>
              <a:rPr lang="en-US" sz="1050" err="1">
                <a:solidFill>
                  <a:prstClr val="black"/>
                </a:solidFill>
              </a:rPr>
              <a:t>ingeniería</a:t>
            </a:r>
            <a:r>
              <a:rPr lang="en-US" sz="1050">
                <a:solidFill>
                  <a:prstClr val="black"/>
                </a:solidFill>
              </a:rPr>
              <a:t> de software para </a:t>
            </a:r>
            <a:r>
              <a:rPr lang="en-US" sz="1050" err="1">
                <a:solidFill>
                  <a:prstClr val="black"/>
                </a:solidFill>
              </a:rPr>
              <a:t>soluciones</a:t>
            </a:r>
            <a:r>
              <a:rPr lang="en-US" sz="1050">
                <a:solidFill>
                  <a:prstClr val="black"/>
                </a:solidFill>
              </a:rPr>
              <a:t> de IA/LLM.</a:t>
            </a:r>
            <a:endParaRPr lang="en-US">
              <a:solidFill>
                <a:prstClr val="black"/>
              </a:solidFill>
            </a:endParaRPr>
          </a:p>
          <a:p>
            <a:pPr marL="0" indent="0" algn="just">
              <a:spcBef>
                <a:spcPts val="300"/>
              </a:spcBef>
              <a:buNone/>
              <a:defRPr/>
            </a:pPr>
            <a:r>
              <a:rPr lang="en-US" sz="1050" err="1">
                <a:solidFill>
                  <a:prstClr val="black"/>
                </a:solidFill>
              </a:rPr>
              <a:t>Actualmente</a:t>
            </a:r>
            <a:r>
              <a:rPr lang="en-US" sz="1050">
                <a:solidFill>
                  <a:prstClr val="black"/>
                </a:solidFill>
              </a:rPr>
              <a:t> </a:t>
            </a:r>
            <a:r>
              <a:rPr lang="en-US" sz="1050" err="1">
                <a:solidFill>
                  <a:prstClr val="black"/>
                </a:solidFill>
              </a:rPr>
              <a:t>trabajando</a:t>
            </a:r>
            <a:r>
              <a:rPr lang="en-US" sz="1050">
                <a:solidFill>
                  <a:prstClr val="black"/>
                </a:solidFill>
              </a:rPr>
              <a:t> </a:t>
            </a:r>
            <a:r>
              <a:rPr lang="en-US" sz="1050" err="1">
                <a:solidFill>
                  <a:prstClr val="black"/>
                </a:solidFill>
              </a:rPr>
              <a:t>en</a:t>
            </a:r>
            <a:r>
              <a:rPr lang="en-US" sz="1050">
                <a:solidFill>
                  <a:prstClr val="black"/>
                </a:solidFill>
              </a:rPr>
              <a:t> </a:t>
            </a:r>
            <a:r>
              <a:rPr lang="en-US" sz="1050" err="1">
                <a:solidFill>
                  <a:prstClr val="black"/>
                </a:solidFill>
              </a:rPr>
              <a:t>desarrollo</a:t>
            </a:r>
            <a:r>
              <a:rPr lang="en-US" sz="1050">
                <a:solidFill>
                  <a:prstClr val="black"/>
                </a:solidFill>
              </a:rPr>
              <a:t> de </a:t>
            </a:r>
            <a:r>
              <a:rPr lang="en-US" sz="1050" err="1">
                <a:solidFill>
                  <a:prstClr val="black"/>
                </a:solidFill>
              </a:rPr>
              <a:t>agentes</a:t>
            </a:r>
            <a:r>
              <a:rPr lang="en-US" sz="1050">
                <a:solidFill>
                  <a:prstClr val="black"/>
                </a:solidFill>
              </a:rPr>
              <a:t>.</a:t>
            </a:r>
            <a:endParaRPr lang="en-US">
              <a:solidFill>
                <a:prstClr val="black"/>
              </a:solidFill>
            </a:endParaRPr>
          </a:p>
          <a:p>
            <a:pPr marL="0" lvl="0" indent="0" algn="just">
              <a:lnSpc>
                <a:spcPct val="100000"/>
              </a:lnSpc>
              <a:spcBef>
                <a:spcPts val="300"/>
              </a:spcBef>
              <a:buNone/>
              <a:defRPr/>
            </a:pPr>
            <a:endParaRPr lang="en-US" sz="1050">
              <a:solidFill>
                <a:prstClr val="black"/>
              </a:solidFill>
              <a:ea typeface="Calibri"/>
              <a:cs typeface="Calibri"/>
            </a:endParaRPr>
          </a:p>
          <a:p>
            <a:pPr marL="0" indent="0" algn="just"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sz="1050">
                <a:solidFill>
                  <a:prstClr val="black"/>
                </a:solidFill>
                <a:ea typeface="+mn-lt"/>
                <a:cs typeface="+mn-lt"/>
              </a:rPr>
              <a:t>involucrado en el ecosistema Claude de Anthropic — actualmente trabajando hacia la certificación de Claude Architect.</a:t>
            </a:r>
            <a:endParaRPr lang="en-US"/>
          </a:p>
          <a:p>
            <a:pPr marL="0" indent="0" algn="just">
              <a:lnSpc>
                <a:spcPct val="100000"/>
              </a:lnSpc>
              <a:spcBef>
                <a:spcPts val="300"/>
              </a:spcBef>
              <a:buClr>
                <a:srgbClr val="549E39"/>
              </a:buClr>
              <a:buNone/>
              <a:defRPr/>
            </a:pPr>
            <a:endParaRPr lang="en-US" sz="1050"/>
          </a:p>
          <a:p>
            <a:pPr marL="0" indent="0" algn="just">
              <a:lnSpc>
                <a:spcPct val="100000"/>
              </a:lnSpc>
              <a:spcBef>
                <a:spcPts val="300"/>
              </a:spcBef>
              <a:buClr>
                <a:srgbClr val="549E39"/>
              </a:buClr>
              <a:buNone/>
              <a:defRPr/>
            </a:pPr>
            <a:r>
              <a:rPr lang="en-US" sz="1050"/>
              <a:t>Español (Nativo)</a:t>
            </a:r>
            <a:endParaRPr lang="en-US" sz="1050">
              <a:ea typeface="Calibri"/>
              <a:cs typeface="Calibri"/>
            </a:endParaRPr>
          </a:p>
          <a:p>
            <a:pPr marL="0" indent="0" algn="just">
              <a:lnSpc>
                <a:spcPct val="100000"/>
              </a:lnSpc>
              <a:spcBef>
                <a:spcPts val="300"/>
              </a:spcBef>
              <a:buClr>
                <a:srgbClr val="549E39"/>
              </a:buClr>
              <a:buNone/>
              <a:defRPr/>
            </a:pPr>
            <a:r>
              <a:rPr lang="en-US" sz="1050"/>
              <a:t>Inglés (B2+)</a:t>
            </a:r>
            <a:endParaRPr lang="en-US" sz="105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5D2AFD1-8269-99A0-7375-F4266E1FB4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149172" y="2671910"/>
            <a:ext cx="2121001" cy="130575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170180" indent="-170180">
              <a:lnSpc>
                <a:spcPct val="100000"/>
              </a:lnSpc>
              <a:spcBef>
                <a:spcPts val="450"/>
              </a:spcBef>
              <a:tabLst>
                <a:tab pos="133270" algn="l"/>
              </a:tabLst>
              <a:defRPr/>
            </a:pPr>
            <a:r>
              <a:rPr lang="en-US" altLang="en-US" sz="800" dirty="0" err="1">
                <a:solidFill>
                  <a:prstClr val="black"/>
                </a:solidFill>
                <a:latin typeface="Calibri" panose="020F0502020204030204"/>
                <a:cs typeface="Arial"/>
              </a:rPr>
              <a:t>Problemas</a:t>
            </a:r>
            <a:r>
              <a:rPr lang="en-US" altLang="en-US" sz="800" dirty="0">
                <a:solidFill>
                  <a:prstClr val="black"/>
                </a:solidFill>
                <a:latin typeface="Calibri" panose="020F0502020204030204"/>
                <a:cs typeface="Arial"/>
              </a:rPr>
              <a:t> </a:t>
            </a:r>
            <a:r>
              <a:rPr lang="en-US" altLang="en-US" sz="800" dirty="0" err="1">
                <a:solidFill>
                  <a:prstClr val="black"/>
                </a:solidFill>
                <a:latin typeface="Calibri" panose="020F0502020204030204"/>
                <a:cs typeface="Arial"/>
              </a:rPr>
              <a:t>económicos</a:t>
            </a:r>
            <a:endParaRPr lang="en-US" altLang="en-US" sz="800" dirty="0" err="1">
              <a:solidFill>
                <a:prstClr val="black"/>
              </a:solidFill>
              <a:latin typeface="Calibri"/>
              <a:ea typeface="Calibri"/>
              <a:cs typeface="Arial"/>
            </a:endParaRPr>
          </a:p>
          <a:p>
            <a:pPr marL="170180" indent="-170180">
              <a:lnSpc>
                <a:spcPct val="100000"/>
              </a:lnSpc>
              <a:spcBef>
                <a:spcPts val="450"/>
              </a:spcBef>
              <a:tabLst>
                <a:tab pos="133270" algn="l"/>
              </a:tabLst>
              <a:defRPr/>
            </a:pPr>
            <a:r>
              <a:rPr lang="en-US" altLang="en-US" sz="800">
                <a:solidFill>
                  <a:prstClr val="black"/>
                </a:solidFill>
                <a:latin typeface="Calibri" panose="020F0502020204030204"/>
                <a:cs typeface="Arial"/>
              </a:rPr>
              <a:t>Machine &amp; Deep Learning </a:t>
            </a:r>
            <a:endParaRPr lang="en-US" altLang="en-US" sz="800">
              <a:solidFill>
                <a:prstClr val="black"/>
              </a:solidFill>
              <a:latin typeface="Calibri" panose="020F0502020204030204"/>
              <a:ea typeface="Calibri"/>
              <a:cs typeface="Arial"/>
            </a:endParaRPr>
          </a:p>
          <a:p>
            <a:pPr marL="170180" indent="-170180">
              <a:lnSpc>
                <a:spcPct val="100000"/>
              </a:lnSpc>
              <a:spcBef>
                <a:spcPts val="450"/>
              </a:spcBef>
              <a:tabLst>
                <a:tab pos="133270" algn="l"/>
              </a:tabLst>
              <a:defRPr/>
            </a:pPr>
            <a:r>
              <a:rPr lang="en-US" altLang="en-US" sz="800">
                <a:solidFill>
                  <a:prstClr val="black"/>
                </a:solidFill>
                <a:latin typeface="Calibri" panose="020F0502020204030204"/>
                <a:cs typeface="Arial"/>
              </a:rPr>
              <a:t>Claude (Anthropic) Ecosystem</a:t>
            </a:r>
            <a:endParaRPr lang="en-US" altLang="en-US" sz="800">
              <a:solidFill>
                <a:prstClr val="black"/>
              </a:solidFill>
              <a:latin typeface="Calibri" panose="020F0502020204030204"/>
              <a:ea typeface="Calibri"/>
              <a:cs typeface="Arial"/>
            </a:endParaRPr>
          </a:p>
          <a:p>
            <a:pPr marL="170180" indent="-170180">
              <a:lnSpc>
                <a:spcPct val="100000"/>
              </a:lnSpc>
              <a:spcBef>
                <a:spcPts val="450"/>
              </a:spcBef>
              <a:tabLst>
                <a:tab pos="133270" algn="l"/>
              </a:tabLst>
              <a:defRPr/>
            </a:pPr>
            <a:r>
              <a:rPr lang="en-US" altLang="en-US" sz="800">
                <a:solidFill>
                  <a:prstClr val="black"/>
                </a:solidFill>
                <a:latin typeface="Calibri" panose="020F0502020204030204"/>
                <a:cs typeface="Arial"/>
              </a:rPr>
              <a:t>Data Science, Power BI</a:t>
            </a:r>
            <a:endParaRPr lang="en-US" altLang="en-US" sz="800">
              <a:solidFill>
                <a:prstClr val="black"/>
              </a:solidFill>
              <a:latin typeface="Calibri" panose="020F0502020204030204"/>
              <a:ea typeface="Calibri"/>
              <a:cs typeface="Arial"/>
            </a:endParaRPr>
          </a:p>
          <a:p>
            <a:pPr marL="170180" lvl="0" indent="-170180">
              <a:lnSpc>
                <a:spcPct val="100000"/>
              </a:lnSpc>
              <a:spcBef>
                <a:spcPts val="450"/>
              </a:spcBef>
              <a:tabLst>
                <a:tab pos="133270" algn="l"/>
              </a:tabLst>
              <a:defRPr/>
            </a:pPr>
            <a:r>
              <a:rPr lang="en-US" altLang="en-US" sz="800">
                <a:solidFill>
                  <a:prstClr val="black"/>
                </a:solidFill>
                <a:latin typeface="Calibri" panose="020F0502020204030204"/>
                <a:cs typeface="Arial"/>
              </a:rPr>
              <a:t>Python, C#, TypeScript, JavaScript</a:t>
            </a:r>
            <a:endParaRPr lang="en-US" altLang="en-US" sz="800">
              <a:solidFill>
                <a:prstClr val="black"/>
              </a:solidFill>
              <a:latin typeface="Calibri" panose="020F0502020204030204"/>
              <a:ea typeface="Calibri" panose="020F0502020204030204"/>
              <a:cs typeface="Arial"/>
            </a:endParaRPr>
          </a:p>
          <a:p>
            <a:pPr marL="170180" lvl="0" indent="-170180">
              <a:lnSpc>
                <a:spcPct val="100000"/>
              </a:lnSpc>
              <a:spcBef>
                <a:spcPts val="450"/>
              </a:spcBef>
              <a:tabLst>
                <a:tab pos="133270" algn="l"/>
              </a:tabLst>
              <a:defRPr/>
            </a:pPr>
            <a:r>
              <a:rPr lang="en-US" altLang="en-US" sz="800" dirty="0">
                <a:solidFill>
                  <a:prstClr val="black"/>
                </a:solidFill>
                <a:latin typeface="Calibri" panose="020F0502020204030204"/>
                <a:cs typeface="Arial"/>
              </a:rPr>
              <a:t>BD SQL y No-SQL (</a:t>
            </a:r>
            <a:r>
              <a:rPr lang="en-US" altLang="en-US" sz="800" dirty="0" err="1">
                <a:solidFill>
                  <a:prstClr val="black"/>
                </a:solidFill>
                <a:latin typeface="Calibri" panose="020F0502020204030204"/>
                <a:cs typeface="Arial"/>
              </a:rPr>
              <a:t>MondoDB</a:t>
            </a:r>
            <a:r>
              <a:rPr lang="en-US" altLang="en-US" sz="800" dirty="0">
                <a:solidFill>
                  <a:prstClr val="black"/>
                </a:solidFill>
                <a:latin typeface="Calibri" panose="020F0502020204030204"/>
                <a:cs typeface="Arial"/>
              </a:rPr>
              <a:t>)</a:t>
            </a:r>
            <a:endParaRPr lang="en-US" altLang="en-US" sz="800" dirty="0">
              <a:solidFill>
                <a:prstClr val="black"/>
              </a:solidFill>
              <a:latin typeface="Calibri" panose="020F0502020204030204"/>
              <a:ea typeface="Calibri" panose="020F0502020204030204"/>
              <a:cs typeface="Arial"/>
            </a:endParaRPr>
          </a:p>
          <a:p>
            <a:pPr marL="170180" lvl="0" indent="-170180">
              <a:lnSpc>
                <a:spcPct val="100000"/>
              </a:lnSpc>
              <a:spcBef>
                <a:spcPts val="450"/>
              </a:spcBef>
              <a:tabLst>
                <a:tab pos="133270" algn="l"/>
              </a:tabLst>
              <a:defRPr/>
            </a:pPr>
            <a:r>
              <a:rPr lang="en-US" altLang="en-US" sz="800">
                <a:solidFill>
                  <a:prstClr val="black"/>
                </a:solidFill>
                <a:latin typeface="Calibri" panose="020F0502020204030204"/>
                <a:cs typeface="Arial"/>
              </a:rPr>
              <a:t>N8n, Docker (basic)</a:t>
            </a:r>
            <a:endParaRPr lang="en-US" altLang="en-US" sz="800">
              <a:solidFill>
                <a:prstClr val="black"/>
              </a:solidFill>
              <a:latin typeface="Calibri" panose="020F0502020204030204"/>
              <a:ea typeface="Calibri" panose="020F0502020204030204"/>
              <a:cs typeface="Arial"/>
            </a:endParaRPr>
          </a:p>
          <a:p>
            <a:pPr marL="0" lvl="0" indent="0">
              <a:lnSpc>
                <a:spcPct val="100000"/>
              </a:lnSpc>
              <a:spcBef>
                <a:spcPts val="450"/>
              </a:spcBef>
              <a:buNone/>
              <a:tabLst>
                <a:tab pos="133270" algn="l"/>
              </a:tabLst>
              <a:defRPr/>
            </a:pPr>
            <a:endParaRPr lang="en-US" altLang="en-US" sz="900">
              <a:solidFill>
                <a:prstClr val="black"/>
              </a:solidFill>
              <a:latin typeface="Calibri" panose="020F0502020204030204"/>
              <a:cs typeface="Arial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8CEAD43-C914-DB46-187D-47FD93AA6BB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7750" y="2425645"/>
            <a:ext cx="6524747" cy="405322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lvl="0" indent="0" defTabSz="912813">
              <a:lnSpc>
                <a:spcPct val="100000"/>
              </a:lnSpc>
              <a:spcBef>
                <a:spcPts val="0"/>
              </a:spcBef>
              <a:buNone/>
              <a:tabLst>
                <a:tab pos="917575" algn="l"/>
              </a:tabLst>
              <a:defRPr/>
            </a:pPr>
            <a:r>
              <a:rPr lang="es-AR" sz="1000">
                <a:solidFill>
                  <a:prstClr val="black"/>
                </a:solidFill>
              </a:rPr>
              <a:t>Accenture SRL</a:t>
            </a:r>
            <a:endParaRPr lang="en-US" sz="1000">
              <a:solidFill>
                <a:prstClr val="black"/>
              </a:solidFill>
            </a:endParaRPr>
          </a:p>
          <a:p>
            <a:pPr marL="0" lvl="0" indent="0" defTabSz="912813">
              <a:lnSpc>
                <a:spcPct val="100000"/>
              </a:lnSpc>
              <a:spcBef>
                <a:spcPts val="0"/>
              </a:spcBef>
              <a:buNone/>
              <a:tabLst>
                <a:tab pos="917575" algn="l"/>
              </a:tabLst>
              <a:defRPr/>
            </a:pPr>
            <a:endParaRPr lang="en-US" sz="1000">
              <a:solidFill>
                <a:prstClr val="black"/>
              </a:solidFill>
            </a:endParaRPr>
          </a:p>
          <a:p>
            <a:pPr defTabSz="912813">
              <a:lnSpc>
                <a:spcPct val="100000"/>
              </a:lnSpc>
              <a:spcBef>
                <a:spcPts val="0"/>
              </a:spcBef>
              <a:tabLst>
                <a:tab pos="917575" algn="l"/>
              </a:tabLst>
              <a:defRPr/>
            </a:pPr>
            <a:r>
              <a:rPr lang="en-US" sz="1100" b="0" dirty="0" err="1">
                <a:solidFill>
                  <a:prstClr val="black"/>
                </a:solidFill>
                <a:latin typeface="Segoe UI"/>
                <a:cs typeface="Segoe UI"/>
              </a:rPr>
              <a:t>Actualmente</a:t>
            </a:r>
            <a:r>
              <a:rPr lang="en-US" sz="1100" b="0" dirty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1100" b="0" dirty="0" err="1">
                <a:solidFill>
                  <a:prstClr val="black"/>
                </a:solidFill>
                <a:latin typeface="Segoe UI"/>
                <a:cs typeface="Segoe UI"/>
              </a:rPr>
              <a:t>cursando</a:t>
            </a:r>
            <a:r>
              <a:rPr lang="en-US" sz="1100" b="0" dirty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1100" b="0" dirty="0" err="1">
                <a:solidFill>
                  <a:prstClr val="black"/>
                </a:solidFill>
                <a:latin typeface="Segoe UI"/>
                <a:cs typeface="Segoe UI"/>
              </a:rPr>
              <a:t>una</a:t>
            </a:r>
            <a:r>
              <a:rPr lang="en-US" sz="1100" b="0" dirty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1100" b="0" dirty="0" err="1">
                <a:solidFill>
                  <a:prstClr val="black"/>
                </a:solidFill>
                <a:latin typeface="Segoe UI"/>
                <a:cs typeface="Segoe UI"/>
              </a:rPr>
              <a:t>formación</a:t>
            </a:r>
            <a:r>
              <a:rPr lang="en-US" sz="1100" b="0" dirty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1100" b="0" dirty="0" err="1">
                <a:solidFill>
                  <a:prstClr val="black"/>
                </a:solidFill>
                <a:latin typeface="Segoe UI"/>
                <a:cs typeface="Segoe UI"/>
              </a:rPr>
              <a:t>intensiva</a:t>
            </a:r>
            <a:r>
              <a:rPr lang="en-US" sz="1100" b="0" dirty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1100" b="0" dirty="0" err="1">
                <a:solidFill>
                  <a:prstClr val="black"/>
                </a:solidFill>
                <a:latin typeface="Segoe UI"/>
                <a:cs typeface="Segoe UI"/>
              </a:rPr>
              <a:t>en</a:t>
            </a:r>
            <a:r>
              <a:rPr lang="en-US" sz="1100" b="0" dirty="0">
                <a:solidFill>
                  <a:prstClr val="black"/>
                </a:solidFill>
                <a:latin typeface="Segoe UI"/>
                <a:cs typeface="Segoe UI"/>
              </a:rPr>
              <a:t> la Academia de IA (6 </a:t>
            </a:r>
            <a:r>
              <a:rPr lang="en-US" sz="1100" b="0" dirty="0" err="1">
                <a:solidFill>
                  <a:prstClr val="black"/>
                </a:solidFill>
                <a:latin typeface="Segoe UI"/>
                <a:cs typeface="Segoe UI"/>
              </a:rPr>
              <a:t>semanas</a:t>
            </a:r>
            <a:r>
              <a:rPr lang="en-US" sz="1100" b="0" dirty="0">
                <a:solidFill>
                  <a:prstClr val="black"/>
                </a:solidFill>
                <a:latin typeface="Segoe UI"/>
                <a:cs typeface="Segoe UI"/>
              </a:rPr>
              <a:t>) </a:t>
            </a:r>
            <a:r>
              <a:rPr lang="en-US" sz="1100" b="0" dirty="0" err="1">
                <a:solidFill>
                  <a:prstClr val="black"/>
                </a:solidFill>
                <a:latin typeface="Segoe UI"/>
                <a:cs typeface="Segoe UI"/>
              </a:rPr>
              <a:t>en</a:t>
            </a:r>
            <a:r>
              <a:rPr lang="en-US" sz="1100" b="0" dirty="0">
                <a:solidFill>
                  <a:prstClr val="black"/>
                </a:solidFill>
                <a:latin typeface="Segoe UI"/>
                <a:cs typeface="Segoe UI"/>
              </a:rPr>
              <a:t> IA </a:t>
            </a:r>
            <a:r>
              <a:rPr lang="en-US" sz="1100" b="0" dirty="0" err="1">
                <a:solidFill>
                  <a:prstClr val="black"/>
                </a:solidFill>
                <a:latin typeface="Segoe UI"/>
                <a:cs typeface="Segoe UI"/>
              </a:rPr>
              <a:t>agéntica</a:t>
            </a:r>
            <a:r>
              <a:rPr lang="en-US" sz="1100" b="0" dirty="0">
                <a:solidFill>
                  <a:prstClr val="black"/>
                </a:solidFill>
                <a:latin typeface="Segoe UI"/>
                <a:cs typeface="Segoe UI"/>
              </a:rPr>
              <a:t>, </a:t>
            </a:r>
            <a:r>
              <a:rPr lang="en-US" sz="1100" b="0" dirty="0" err="1">
                <a:solidFill>
                  <a:prstClr val="black"/>
                </a:solidFill>
                <a:latin typeface="Segoe UI"/>
                <a:cs typeface="Segoe UI"/>
              </a:rPr>
              <a:t>sistemas</a:t>
            </a:r>
            <a:r>
              <a:rPr lang="en-US" sz="1100" b="0" dirty="0">
                <a:solidFill>
                  <a:prstClr val="black"/>
                </a:solidFill>
                <a:latin typeface="Segoe UI"/>
                <a:cs typeface="Segoe UI"/>
              </a:rPr>
              <a:t> RAG, </a:t>
            </a:r>
            <a:r>
              <a:rPr lang="en-US" sz="1100" b="0" dirty="0" err="1">
                <a:solidFill>
                  <a:prstClr val="black"/>
                </a:solidFill>
                <a:latin typeface="Segoe UI"/>
                <a:cs typeface="Segoe UI"/>
              </a:rPr>
              <a:t>LangChain</a:t>
            </a:r>
            <a:r>
              <a:rPr lang="en-US" sz="1100" b="0" dirty="0">
                <a:solidFill>
                  <a:prstClr val="black"/>
                </a:solidFill>
                <a:latin typeface="Segoe UI"/>
                <a:cs typeface="Segoe UI"/>
              </a:rPr>
              <a:t> y </a:t>
            </a:r>
            <a:r>
              <a:rPr lang="en-US" sz="1100" b="0" dirty="0" err="1">
                <a:solidFill>
                  <a:prstClr val="black"/>
                </a:solidFill>
                <a:latin typeface="Segoe UI"/>
                <a:cs typeface="Segoe UI"/>
              </a:rPr>
              <a:t>orquestación</a:t>
            </a:r>
            <a:r>
              <a:rPr lang="en-US" sz="1100" b="0" dirty="0">
                <a:solidFill>
                  <a:prstClr val="black"/>
                </a:solidFill>
                <a:latin typeface="Segoe UI"/>
                <a:cs typeface="Segoe UI"/>
              </a:rPr>
              <a:t> de LLMs. </a:t>
            </a:r>
            <a:r>
              <a:rPr lang="en-US" sz="1100" b="0" dirty="0" err="1">
                <a:solidFill>
                  <a:prstClr val="black"/>
                </a:solidFill>
                <a:latin typeface="Segoe UI"/>
                <a:cs typeface="Segoe UI"/>
              </a:rPr>
              <a:t>Preparándose</a:t>
            </a:r>
            <a:r>
              <a:rPr lang="en-US" sz="1100" b="0" dirty="0">
                <a:solidFill>
                  <a:prstClr val="black"/>
                </a:solidFill>
                <a:latin typeface="Segoe UI"/>
                <a:cs typeface="Segoe UI"/>
              </a:rPr>
              <a:t> para </a:t>
            </a:r>
            <a:r>
              <a:rPr lang="en-US" sz="1100" b="0" dirty="0" err="1">
                <a:solidFill>
                  <a:prstClr val="black"/>
                </a:solidFill>
                <a:latin typeface="Segoe UI"/>
                <a:cs typeface="Segoe UI"/>
              </a:rPr>
              <a:t>asignación</a:t>
            </a:r>
            <a:r>
              <a:rPr lang="en-US" sz="1100" b="0" dirty="0">
                <a:solidFill>
                  <a:prstClr val="black"/>
                </a:solidFill>
                <a:latin typeface="Segoe UI"/>
                <a:cs typeface="Segoe UI"/>
              </a:rPr>
              <a:t> a </a:t>
            </a:r>
            <a:r>
              <a:rPr lang="en-US" sz="1100" b="0" dirty="0" err="1">
                <a:solidFill>
                  <a:prstClr val="black"/>
                </a:solidFill>
                <a:latin typeface="Segoe UI"/>
                <a:cs typeface="Segoe UI"/>
              </a:rPr>
              <a:t>proyectos</a:t>
            </a:r>
            <a:r>
              <a:rPr lang="en-US" sz="1100" b="0" dirty="0">
                <a:solidFill>
                  <a:prstClr val="black"/>
                </a:solidFill>
                <a:latin typeface="Segoe UI"/>
                <a:cs typeface="Segoe UI"/>
              </a:rPr>
              <a:t> con </a:t>
            </a:r>
            <a:r>
              <a:rPr lang="en-US" sz="1100" b="0" dirty="0" err="1">
                <a:solidFill>
                  <a:prstClr val="black"/>
                </a:solidFill>
                <a:latin typeface="Segoe UI"/>
                <a:cs typeface="Segoe UI"/>
              </a:rPr>
              <a:t>clientes</a:t>
            </a:r>
            <a:r>
              <a:rPr lang="en-US" sz="1100" b="0" dirty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1100" b="0" dirty="0" err="1">
                <a:solidFill>
                  <a:prstClr val="black"/>
                </a:solidFill>
                <a:latin typeface="Segoe UI"/>
                <a:cs typeface="Segoe UI"/>
              </a:rPr>
              <a:t>en</a:t>
            </a:r>
            <a:r>
              <a:rPr lang="en-US" sz="1100" b="0" dirty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1100" b="0" dirty="0" err="1">
                <a:solidFill>
                  <a:prstClr val="black"/>
                </a:solidFill>
                <a:latin typeface="Segoe UI"/>
                <a:cs typeface="Segoe UI"/>
              </a:rPr>
              <a:t>implementación</a:t>
            </a:r>
            <a:r>
              <a:rPr lang="en-US" sz="1100" b="0" dirty="0">
                <a:solidFill>
                  <a:prstClr val="black"/>
                </a:solidFill>
                <a:latin typeface="Segoe UI"/>
                <a:cs typeface="Segoe UI"/>
              </a:rPr>
              <a:t> de </a:t>
            </a:r>
            <a:r>
              <a:rPr lang="en-US" sz="1100" b="0" dirty="0" err="1">
                <a:solidFill>
                  <a:prstClr val="black"/>
                </a:solidFill>
                <a:latin typeface="Segoe UI"/>
                <a:cs typeface="Segoe UI"/>
              </a:rPr>
              <a:t>soluciones</a:t>
            </a:r>
            <a:r>
              <a:rPr lang="en-US" sz="1100" b="0" dirty="0">
                <a:solidFill>
                  <a:prstClr val="black"/>
                </a:solidFill>
                <a:latin typeface="Segoe UI"/>
                <a:cs typeface="Segoe UI"/>
              </a:rPr>
              <a:t> de IA/LLM. </a:t>
            </a:r>
            <a:r>
              <a:rPr lang="en-US" sz="1100" b="0" dirty="0" err="1">
                <a:solidFill>
                  <a:prstClr val="black"/>
                </a:solidFill>
                <a:latin typeface="Segoe UI"/>
                <a:cs typeface="Segoe UI"/>
              </a:rPr>
              <a:t>Áreas</a:t>
            </a:r>
            <a:r>
              <a:rPr lang="en-US" sz="1100" b="0" dirty="0">
                <a:solidFill>
                  <a:prstClr val="black"/>
                </a:solidFill>
                <a:latin typeface="Segoe UI"/>
                <a:cs typeface="Segoe UI"/>
              </a:rPr>
              <a:t> de </a:t>
            </a:r>
            <a:r>
              <a:rPr lang="en-US" sz="1100" b="0" dirty="0" err="1">
                <a:solidFill>
                  <a:prstClr val="black"/>
                </a:solidFill>
                <a:latin typeface="Segoe UI"/>
                <a:cs typeface="Segoe UI"/>
              </a:rPr>
              <a:t>enfoque</a:t>
            </a:r>
            <a:r>
              <a:rPr lang="en-US" sz="1100" b="0" dirty="0">
                <a:solidFill>
                  <a:prstClr val="black"/>
                </a:solidFill>
                <a:latin typeface="Segoe UI"/>
                <a:cs typeface="Segoe UI"/>
              </a:rPr>
              <a:t>: </a:t>
            </a:r>
            <a:r>
              <a:rPr lang="en-US" sz="1100" b="0" dirty="0" err="1">
                <a:solidFill>
                  <a:prstClr val="black"/>
                </a:solidFill>
                <a:latin typeface="Segoe UI"/>
                <a:cs typeface="Segoe UI"/>
              </a:rPr>
              <a:t>sistemas</a:t>
            </a:r>
            <a:r>
              <a:rPr lang="en-US" sz="1100" b="0" dirty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1100" b="0" dirty="0" err="1">
                <a:solidFill>
                  <a:prstClr val="black"/>
                </a:solidFill>
                <a:latin typeface="Segoe UI"/>
                <a:cs typeface="Segoe UI"/>
              </a:rPr>
              <a:t>multiagente</a:t>
            </a:r>
            <a:endParaRPr lang="en-US" dirty="0" err="1">
              <a:solidFill>
                <a:prstClr val="black"/>
              </a:solidFill>
            </a:endParaRPr>
          </a:p>
          <a:p>
            <a:pPr defTabSz="912813">
              <a:lnSpc>
                <a:spcPct val="100000"/>
              </a:lnSpc>
              <a:spcBef>
                <a:spcPts val="0"/>
              </a:spcBef>
              <a:tabLst>
                <a:tab pos="917575" algn="l"/>
              </a:tabLst>
              <a:defRPr/>
            </a:pPr>
            <a:r>
              <a:rPr lang="en-US" sz="1100" b="0" dirty="0" err="1">
                <a:solidFill>
                  <a:prstClr val="black"/>
                </a:solidFill>
                <a:ea typeface="+mn-lt"/>
                <a:cs typeface="+mn-lt"/>
              </a:rPr>
              <a:t>Contribuyendo</a:t>
            </a:r>
            <a:r>
              <a:rPr lang="en-US" sz="1100" b="0" dirty="0">
                <a:solidFill>
                  <a:prstClr val="black"/>
                </a:solidFill>
                <a:ea typeface="+mn-lt"/>
                <a:cs typeface="+mn-lt"/>
              </a:rPr>
              <a:t> a </a:t>
            </a:r>
            <a:r>
              <a:rPr lang="en-US" sz="1100" b="0" dirty="0" err="1">
                <a:solidFill>
                  <a:prstClr val="black"/>
                </a:solidFill>
                <a:ea typeface="+mn-lt"/>
                <a:cs typeface="+mn-lt"/>
              </a:rPr>
              <a:t>una</a:t>
            </a:r>
            <a:r>
              <a:rPr lang="en-US" sz="1100" b="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1100" b="0" dirty="0" err="1">
                <a:solidFill>
                  <a:prstClr val="black"/>
                </a:solidFill>
                <a:ea typeface="+mn-lt"/>
                <a:cs typeface="+mn-lt"/>
              </a:rPr>
              <a:t>iniciativa</a:t>
            </a:r>
            <a:r>
              <a:rPr lang="en-US" sz="1100" b="0" dirty="0">
                <a:solidFill>
                  <a:prstClr val="black"/>
                </a:solidFill>
                <a:ea typeface="+mn-lt"/>
                <a:cs typeface="+mn-lt"/>
              </a:rPr>
              <a:t> interna </a:t>
            </a:r>
            <a:r>
              <a:rPr lang="en-US" sz="1100" b="0" dirty="0" err="1">
                <a:solidFill>
                  <a:prstClr val="black"/>
                </a:solidFill>
                <a:ea typeface="+mn-lt"/>
                <a:cs typeface="+mn-lt"/>
              </a:rPr>
              <a:t>estratégica</a:t>
            </a:r>
            <a:r>
              <a:rPr lang="en-US" sz="1100" b="0" dirty="0">
                <a:solidFill>
                  <a:prstClr val="black"/>
                </a:solidFill>
                <a:ea typeface="+mn-lt"/>
                <a:cs typeface="+mn-lt"/>
              </a:rPr>
              <a:t> A2A, </a:t>
            </a:r>
            <a:r>
              <a:rPr lang="en-US" sz="1100" b="0" dirty="0" err="1">
                <a:solidFill>
                  <a:prstClr val="black"/>
                </a:solidFill>
                <a:ea typeface="+mn-lt"/>
                <a:cs typeface="+mn-lt"/>
              </a:rPr>
              <a:t>aprovechando</a:t>
            </a:r>
            <a:r>
              <a:rPr lang="en-US" sz="1100" b="0" dirty="0">
                <a:solidFill>
                  <a:prstClr val="black"/>
                </a:solidFill>
                <a:ea typeface="+mn-lt"/>
                <a:cs typeface="+mn-lt"/>
              </a:rPr>
              <a:t> expertise </a:t>
            </a:r>
            <a:r>
              <a:rPr lang="en-US" sz="1100" b="0" dirty="0" err="1">
                <a:solidFill>
                  <a:prstClr val="black"/>
                </a:solidFill>
                <a:ea typeface="+mn-lt"/>
                <a:cs typeface="+mn-lt"/>
              </a:rPr>
              <a:t>en</a:t>
            </a:r>
            <a:r>
              <a:rPr lang="en-US" sz="1100" b="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1100" b="0" dirty="0" err="1">
                <a:solidFill>
                  <a:prstClr val="black"/>
                </a:solidFill>
                <a:ea typeface="+mn-lt"/>
                <a:cs typeface="+mn-lt"/>
              </a:rPr>
              <a:t>arquitectura</a:t>
            </a:r>
            <a:r>
              <a:rPr lang="en-US" sz="1100" b="0" dirty="0">
                <a:solidFill>
                  <a:prstClr val="black"/>
                </a:solidFill>
                <a:ea typeface="+mn-lt"/>
                <a:cs typeface="+mn-lt"/>
              </a:rPr>
              <a:t> de </a:t>
            </a:r>
            <a:r>
              <a:rPr lang="en-US" sz="1100" b="0" dirty="0" err="1">
                <a:solidFill>
                  <a:prstClr val="black"/>
                </a:solidFill>
                <a:ea typeface="+mn-lt"/>
                <a:cs typeface="+mn-lt"/>
              </a:rPr>
              <a:t>sistemas</a:t>
            </a:r>
            <a:r>
              <a:rPr lang="en-US" sz="1100" b="0" dirty="0">
                <a:solidFill>
                  <a:prstClr val="black"/>
                </a:solidFill>
                <a:ea typeface="+mn-lt"/>
                <a:cs typeface="+mn-lt"/>
              </a:rPr>
              <a:t> multi-</a:t>
            </a:r>
            <a:r>
              <a:rPr lang="en-US" sz="1100" b="0" dirty="0" err="1">
                <a:solidFill>
                  <a:prstClr val="black"/>
                </a:solidFill>
                <a:ea typeface="+mn-lt"/>
                <a:cs typeface="+mn-lt"/>
              </a:rPr>
              <a:t>agente</a:t>
            </a:r>
            <a:r>
              <a:rPr lang="en-US" sz="1100" b="0" dirty="0">
                <a:solidFill>
                  <a:prstClr val="black"/>
                </a:solidFill>
                <a:ea typeface="+mn-lt"/>
                <a:cs typeface="+mn-lt"/>
              </a:rPr>
              <a:t> con </a:t>
            </a:r>
            <a:r>
              <a:rPr lang="en-US" sz="1100" b="0" dirty="0" err="1">
                <a:solidFill>
                  <a:prstClr val="black"/>
                </a:solidFill>
                <a:ea typeface="+mn-lt"/>
                <a:cs typeface="+mn-lt"/>
              </a:rPr>
              <a:t>dominio</a:t>
            </a:r>
            <a:r>
              <a:rPr lang="en-US" sz="1100" b="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1100" b="0" dirty="0" err="1">
                <a:solidFill>
                  <a:prstClr val="black"/>
                </a:solidFill>
                <a:ea typeface="+mn-lt"/>
                <a:cs typeface="+mn-lt"/>
              </a:rPr>
              <a:t>en</a:t>
            </a:r>
            <a:r>
              <a:rPr lang="en-US" sz="1100" b="0" dirty="0">
                <a:solidFill>
                  <a:prstClr val="black"/>
                </a:solidFill>
                <a:ea typeface="+mn-lt"/>
                <a:cs typeface="+mn-lt"/>
              </a:rPr>
              <a:t> Python, Google ADK, </a:t>
            </a:r>
            <a:r>
              <a:rPr lang="en-US" sz="1100" b="0" dirty="0" err="1">
                <a:solidFill>
                  <a:prstClr val="black"/>
                </a:solidFill>
                <a:ea typeface="+mn-lt"/>
                <a:cs typeface="+mn-lt"/>
              </a:rPr>
              <a:t>integración</a:t>
            </a:r>
            <a:r>
              <a:rPr lang="en-US" sz="1100" b="0" dirty="0">
                <a:solidFill>
                  <a:prstClr val="black"/>
                </a:solidFill>
                <a:ea typeface="+mn-lt"/>
                <a:cs typeface="+mn-lt"/>
              </a:rPr>
              <a:t> de bases de </a:t>
            </a:r>
            <a:r>
              <a:rPr lang="en-US" sz="1100" b="0" dirty="0" err="1">
                <a:solidFill>
                  <a:prstClr val="black"/>
                </a:solidFill>
                <a:ea typeface="+mn-lt"/>
                <a:cs typeface="+mn-lt"/>
              </a:rPr>
              <a:t>datos</a:t>
            </a:r>
            <a:r>
              <a:rPr lang="en-US" sz="1100" b="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1100" b="0" dirty="0" err="1">
                <a:solidFill>
                  <a:prstClr val="black"/>
                </a:solidFill>
                <a:ea typeface="+mn-lt"/>
                <a:cs typeface="+mn-lt"/>
              </a:rPr>
              <a:t>vectoriales</a:t>
            </a:r>
            <a:r>
              <a:rPr lang="en-US" sz="1100" b="0" dirty="0">
                <a:solidFill>
                  <a:prstClr val="black"/>
                </a:solidFill>
                <a:ea typeface="+mn-lt"/>
                <a:cs typeface="+mn-lt"/>
              </a:rPr>
              <a:t> y </a:t>
            </a:r>
            <a:r>
              <a:rPr lang="en-US" sz="1100" b="0" dirty="0" err="1">
                <a:solidFill>
                  <a:prstClr val="black"/>
                </a:solidFill>
                <a:ea typeface="+mn-lt"/>
                <a:cs typeface="+mn-lt"/>
              </a:rPr>
              <a:t>gestión</a:t>
            </a:r>
            <a:r>
              <a:rPr lang="en-US" sz="1100" b="0" dirty="0">
                <a:solidFill>
                  <a:prstClr val="black"/>
                </a:solidFill>
                <a:ea typeface="+mn-lt"/>
                <a:cs typeface="+mn-lt"/>
              </a:rPr>
              <a:t> de APIs con </a:t>
            </a:r>
            <a:r>
              <a:rPr lang="en-US" sz="1100" b="0" dirty="0" err="1">
                <a:solidFill>
                  <a:prstClr val="black"/>
                </a:solidFill>
                <a:ea typeface="+mn-lt"/>
                <a:cs typeface="+mn-lt"/>
              </a:rPr>
              <a:t>múltiples</a:t>
            </a:r>
            <a:r>
              <a:rPr lang="en-US" sz="1100" b="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1100" b="0" dirty="0" err="1">
                <a:solidFill>
                  <a:prstClr val="black"/>
                </a:solidFill>
                <a:ea typeface="+mn-lt"/>
                <a:cs typeface="+mn-lt"/>
              </a:rPr>
              <a:t>proveedores</a:t>
            </a:r>
            <a:r>
              <a:rPr lang="en-US" sz="1100" b="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1100" b="0" dirty="0" err="1">
                <a:solidFill>
                  <a:prstClr val="black"/>
                </a:solidFill>
                <a:ea typeface="+mn-lt"/>
                <a:cs typeface="+mn-lt"/>
              </a:rPr>
              <a:t>líderes</a:t>
            </a:r>
            <a:r>
              <a:rPr lang="en-US" sz="1100" b="0" dirty="0">
                <a:solidFill>
                  <a:prstClr val="black"/>
                </a:solidFill>
                <a:ea typeface="+mn-lt"/>
                <a:cs typeface="+mn-lt"/>
              </a:rPr>
              <a:t> de LLM.</a:t>
            </a:r>
            <a:endParaRPr lang="en-US" sz="1100" b="0" dirty="0">
              <a:solidFill>
                <a:prstClr val="black"/>
              </a:solidFill>
              <a:latin typeface="Segoe UI"/>
              <a:cs typeface="Segoe UI"/>
            </a:endParaRPr>
          </a:p>
          <a:p>
            <a:pPr marL="0" indent="0" defTabSz="912813">
              <a:lnSpc>
                <a:spcPct val="100000"/>
              </a:lnSpc>
              <a:spcBef>
                <a:spcPts val="0"/>
              </a:spcBef>
              <a:buNone/>
              <a:tabLst>
                <a:tab pos="917575" algn="l"/>
              </a:tabLst>
              <a:defRPr/>
            </a:pPr>
            <a:endParaRPr lang="en-US" sz="1100" b="0" dirty="0">
              <a:solidFill>
                <a:prstClr val="black"/>
              </a:solidFill>
              <a:ea typeface="Calibri"/>
              <a:cs typeface="Calibri"/>
            </a:endParaRPr>
          </a:p>
          <a:p>
            <a:pPr marL="0" lvl="0" indent="0" defTabSz="912813">
              <a:lnSpc>
                <a:spcPct val="100000"/>
              </a:lnSpc>
              <a:spcBef>
                <a:spcPts val="0"/>
              </a:spcBef>
              <a:buNone/>
              <a:tabLst>
                <a:tab pos="917575" algn="l"/>
              </a:tabLst>
              <a:defRPr/>
            </a:pPr>
            <a:r>
              <a:rPr lang="es-AR" sz="1000" dirty="0" err="1">
                <a:solidFill>
                  <a:prstClr val="black"/>
                </a:solidFill>
              </a:rPr>
              <a:t>DoTech</a:t>
            </a:r>
            <a:r>
              <a:rPr lang="es-AR" sz="1000" dirty="0">
                <a:solidFill>
                  <a:prstClr val="black"/>
                </a:solidFill>
              </a:rPr>
              <a:t> SA</a:t>
            </a:r>
            <a:endParaRPr lang="en-US" sz="1000" dirty="0">
              <a:solidFill>
                <a:prstClr val="black"/>
              </a:solidFill>
            </a:endParaRPr>
          </a:p>
          <a:p>
            <a:pPr marL="0" indent="0" defTabSz="912813">
              <a:lnSpc>
                <a:spcPct val="100000"/>
              </a:lnSpc>
              <a:buNone/>
              <a:tabLst>
                <a:tab pos="917575" algn="l"/>
              </a:tabLst>
              <a:defRPr/>
            </a:pPr>
            <a:r>
              <a:rPr lang="en-US" sz="1000" dirty="0" err="1">
                <a:solidFill>
                  <a:prstClr val="black"/>
                </a:solidFill>
              </a:rPr>
              <a:t>Ingeniero</a:t>
            </a:r>
            <a:r>
              <a:rPr lang="en-US" sz="1000" dirty="0">
                <a:solidFill>
                  <a:prstClr val="black"/>
                </a:solidFill>
              </a:rPr>
              <a:t> de Software Backend | 2020 – 2026</a:t>
            </a:r>
            <a:endParaRPr lang="en-US" dirty="0">
              <a:solidFill>
                <a:prstClr val="black"/>
              </a:solidFill>
            </a:endParaRPr>
          </a:p>
          <a:p>
            <a:pPr marL="171450" indent="-171450" defTabSz="912813">
              <a:lnSpc>
                <a:spcPct val="100000"/>
              </a:lnSpc>
              <a:tabLst>
                <a:tab pos="917575" algn="l"/>
              </a:tabLst>
              <a:defRPr/>
            </a:pPr>
            <a:r>
              <a:rPr lang="en-US" sz="1000" b="0" dirty="0">
                <a:solidFill>
                  <a:prstClr val="black"/>
                </a:solidFill>
              </a:rPr>
              <a:t>Desarrollo de APIs REST </a:t>
            </a:r>
            <a:r>
              <a:rPr lang="en-US" sz="1000" b="0" dirty="0" err="1">
                <a:solidFill>
                  <a:prstClr val="black"/>
                </a:solidFill>
              </a:rPr>
              <a:t>utilizando</a:t>
            </a:r>
            <a:r>
              <a:rPr lang="en-US" sz="1000" b="0" dirty="0">
                <a:solidFill>
                  <a:prstClr val="black"/>
                </a:solidFill>
              </a:rPr>
              <a:t> C# (.NET Framework y .NET Core) para </a:t>
            </a:r>
            <a:r>
              <a:rPr lang="en-US" sz="1000" b="0" dirty="0" err="1">
                <a:solidFill>
                  <a:prstClr val="black"/>
                </a:solidFill>
              </a:rPr>
              <a:t>aplicaciones</a:t>
            </a:r>
            <a:r>
              <a:rPr lang="en-US" sz="1000" b="0" dirty="0">
                <a:solidFill>
                  <a:prstClr val="black"/>
                </a:solidFill>
              </a:rPr>
              <a:t> web y </a:t>
            </a:r>
            <a:r>
              <a:rPr lang="en-US" sz="1000" b="0" dirty="0" err="1">
                <a:solidFill>
                  <a:prstClr val="black"/>
                </a:solidFill>
              </a:rPr>
              <a:t>móviles</a:t>
            </a:r>
            <a:r>
              <a:rPr lang="en-US" sz="1000" b="0" dirty="0">
                <a:solidFill>
                  <a:prstClr val="black"/>
                </a:solidFill>
              </a:rPr>
              <a:t>.</a:t>
            </a:r>
            <a:br>
              <a:rPr lang="en-US" sz="1000" b="0" dirty="0"/>
            </a:br>
            <a:r>
              <a:rPr lang="en-US" sz="1000" b="0" dirty="0">
                <a:solidFill>
                  <a:prstClr val="black"/>
                </a:solidFill>
              </a:rPr>
              <a:t> </a:t>
            </a:r>
            <a:r>
              <a:rPr lang="en-US" sz="1000" b="0" dirty="0" err="1">
                <a:solidFill>
                  <a:prstClr val="black"/>
                </a:solidFill>
              </a:rPr>
              <a:t>Gestión</a:t>
            </a:r>
            <a:r>
              <a:rPr lang="en-US" sz="1000" b="0" dirty="0">
                <a:solidFill>
                  <a:prstClr val="black"/>
                </a:solidFill>
              </a:rPr>
              <a:t> de bases de </a:t>
            </a:r>
            <a:r>
              <a:rPr lang="en-US" sz="1000" b="0" dirty="0" err="1">
                <a:solidFill>
                  <a:prstClr val="black"/>
                </a:solidFill>
              </a:rPr>
              <a:t>datos</a:t>
            </a:r>
            <a:r>
              <a:rPr lang="en-US" sz="1000" b="0" dirty="0">
                <a:solidFill>
                  <a:prstClr val="black"/>
                </a:solidFill>
              </a:rPr>
              <a:t> </a:t>
            </a:r>
            <a:r>
              <a:rPr lang="en-US" sz="1000" b="0" dirty="0" err="1">
                <a:solidFill>
                  <a:prstClr val="black"/>
                </a:solidFill>
              </a:rPr>
              <a:t>relacionales</a:t>
            </a:r>
            <a:r>
              <a:rPr lang="en-US" sz="1000" b="0" dirty="0">
                <a:solidFill>
                  <a:prstClr val="black"/>
                </a:solidFill>
              </a:rPr>
              <a:t> (SQL Server, MySQL, PostgreSQL) y NoSQL (MongoDB).</a:t>
            </a:r>
            <a:br>
              <a:rPr lang="en-US" sz="1000" b="0" dirty="0">
                <a:ea typeface="Calibri"/>
                <a:cs typeface="Calibri"/>
              </a:rPr>
            </a:br>
            <a:r>
              <a:rPr lang="en-US" sz="1000" b="0" dirty="0">
                <a:solidFill>
                  <a:prstClr val="black"/>
                </a:solidFill>
                <a:ea typeface="Calibri"/>
                <a:cs typeface="Calibri"/>
              </a:rPr>
              <a:t>Desarrollo de </a:t>
            </a:r>
            <a:r>
              <a:rPr lang="en-US" sz="1000" b="0" dirty="0" err="1">
                <a:solidFill>
                  <a:prstClr val="black"/>
                </a:solidFill>
                <a:ea typeface="Calibri"/>
                <a:cs typeface="Calibri"/>
              </a:rPr>
              <a:t>aplicaciones</a:t>
            </a:r>
            <a:r>
              <a:rPr lang="en-US" sz="1000" b="0" dirty="0">
                <a:solidFill>
                  <a:prstClr val="black"/>
                </a:solidFill>
                <a:ea typeface="Calibri"/>
                <a:cs typeface="Calibri"/>
              </a:rPr>
              <a:t> </a:t>
            </a:r>
            <a:r>
              <a:rPr lang="en-US" sz="1000" b="0" dirty="0" err="1">
                <a:solidFill>
                  <a:prstClr val="black"/>
                </a:solidFill>
                <a:ea typeface="Calibri"/>
                <a:cs typeface="Calibri"/>
              </a:rPr>
              <a:t>web,móviles</a:t>
            </a:r>
            <a:r>
              <a:rPr lang="en-US" sz="1000" b="0" dirty="0">
                <a:solidFill>
                  <a:prstClr val="black"/>
                </a:solidFill>
                <a:ea typeface="Calibri"/>
                <a:cs typeface="Calibri"/>
              </a:rPr>
              <a:t> y </a:t>
            </a:r>
            <a:r>
              <a:rPr lang="en-US" sz="1000" b="0" dirty="0" err="1">
                <a:solidFill>
                  <a:prstClr val="black"/>
                </a:solidFill>
                <a:ea typeface="Calibri"/>
                <a:cs typeface="Calibri"/>
              </a:rPr>
              <a:t>servicios</a:t>
            </a:r>
            <a:r>
              <a:rPr lang="en-US" sz="1000" b="0" dirty="0">
                <a:solidFill>
                  <a:prstClr val="black"/>
                </a:solidFill>
                <a:ea typeface="Calibri"/>
                <a:cs typeface="Calibri"/>
              </a:rPr>
              <a:t> </a:t>
            </a:r>
            <a:r>
              <a:rPr lang="en-US" sz="1000" b="0" dirty="0" err="1">
                <a:solidFill>
                  <a:prstClr val="black"/>
                </a:solidFill>
                <a:ea typeface="Calibri"/>
                <a:cs typeface="Calibri"/>
              </a:rPr>
              <a:t>externos</a:t>
            </a:r>
            <a:r>
              <a:rPr lang="en-US" sz="1000" b="0" dirty="0">
                <a:solidFill>
                  <a:prstClr val="black"/>
                </a:solidFill>
                <a:ea typeface="Calibri"/>
                <a:cs typeface="Calibri"/>
              </a:rPr>
              <a:t> </a:t>
            </a:r>
            <a:r>
              <a:rPr lang="en-US" sz="1000" b="0" dirty="0" err="1">
                <a:solidFill>
                  <a:prstClr val="black"/>
                </a:solidFill>
                <a:ea typeface="Calibri"/>
                <a:cs typeface="Calibri"/>
              </a:rPr>
              <a:t>en</a:t>
            </a:r>
            <a:r>
              <a:rPr lang="en-US" sz="1000" b="0" dirty="0">
                <a:solidFill>
                  <a:prstClr val="black"/>
                </a:solidFill>
                <a:ea typeface="Calibri"/>
                <a:cs typeface="Calibri"/>
              </a:rPr>
              <a:t> ambientes </a:t>
            </a:r>
            <a:r>
              <a:rPr lang="en-US" sz="1000" b="0" dirty="0" err="1">
                <a:solidFill>
                  <a:prstClr val="black"/>
                </a:solidFill>
                <a:ea typeface="Calibri"/>
                <a:cs typeface="Calibri"/>
              </a:rPr>
              <a:t>productivos</a:t>
            </a:r>
            <a:r>
              <a:rPr lang="en-US" sz="1000" b="0" dirty="0">
                <a:solidFill>
                  <a:prstClr val="black"/>
                </a:solidFill>
                <a:ea typeface="Calibri"/>
                <a:cs typeface="Calibri"/>
              </a:rPr>
              <a:t>.</a:t>
            </a:r>
            <a:br>
              <a:rPr lang="en-US" sz="1000" b="0" dirty="0"/>
            </a:br>
            <a:r>
              <a:rPr lang="en-US" sz="1000" b="0" dirty="0">
                <a:solidFill>
                  <a:prstClr val="black"/>
                </a:solidFill>
              </a:rPr>
              <a:t> </a:t>
            </a:r>
            <a:r>
              <a:rPr lang="en-US" sz="1000" b="0" dirty="0" err="1">
                <a:solidFill>
                  <a:prstClr val="black"/>
                </a:solidFill>
              </a:rPr>
              <a:t>Implementación</a:t>
            </a:r>
            <a:r>
              <a:rPr lang="en-US" sz="1000" b="0" dirty="0">
                <a:solidFill>
                  <a:prstClr val="black"/>
                </a:solidFill>
              </a:rPr>
              <a:t> de scripts </a:t>
            </a:r>
            <a:r>
              <a:rPr lang="en-US" sz="1000" b="0" dirty="0" err="1">
                <a:solidFill>
                  <a:prstClr val="black"/>
                </a:solidFill>
              </a:rPr>
              <a:t>en</a:t>
            </a:r>
            <a:r>
              <a:rPr lang="en-US" sz="1000" b="0" dirty="0">
                <a:solidFill>
                  <a:prstClr val="black"/>
                </a:solidFill>
              </a:rPr>
              <a:t> Python para </a:t>
            </a:r>
            <a:r>
              <a:rPr lang="en-US" sz="1000" b="0" dirty="0" err="1">
                <a:solidFill>
                  <a:prstClr val="black"/>
                </a:solidFill>
              </a:rPr>
              <a:t>análisis</a:t>
            </a:r>
            <a:r>
              <a:rPr lang="en-US" sz="1000" b="0" dirty="0">
                <a:solidFill>
                  <a:prstClr val="black"/>
                </a:solidFill>
              </a:rPr>
              <a:t> de logs, </a:t>
            </a:r>
            <a:r>
              <a:rPr lang="en-US" sz="1000" b="0" dirty="0" err="1">
                <a:solidFill>
                  <a:prstClr val="black"/>
                </a:solidFill>
              </a:rPr>
              <a:t>procesamiento</a:t>
            </a:r>
            <a:r>
              <a:rPr lang="en-US" sz="1000" b="0" dirty="0">
                <a:solidFill>
                  <a:prstClr val="black"/>
                </a:solidFill>
              </a:rPr>
              <a:t> de </a:t>
            </a:r>
            <a:r>
              <a:rPr lang="en-US" sz="1000" b="0" dirty="0" err="1">
                <a:solidFill>
                  <a:prstClr val="black"/>
                </a:solidFill>
              </a:rPr>
              <a:t>datos</a:t>
            </a:r>
            <a:r>
              <a:rPr lang="en-US" sz="1000" b="0" dirty="0">
                <a:solidFill>
                  <a:prstClr val="black"/>
                </a:solidFill>
              </a:rPr>
              <a:t> y </a:t>
            </a:r>
            <a:r>
              <a:rPr lang="en-US" sz="1000" b="0" dirty="0" err="1">
                <a:solidFill>
                  <a:prstClr val="black"/>
                </a:solidFill>
              </a:rPr>
              <a:t>automatización</a:t>
            </a:r>
            <a:r>
              <a:rPr lang="en-US" sz="1000" b="0" dirty="0">
                <a:solidFill>
                  <a:prstClr val="black"/>
                </a:solidFill>
              </a:rPr>
              <a:t> de </a:t>
            </a:r>
            <a:r>
              <a:rPr lang="en-US" sz="1000" b="0" dirty="0" err="1">
                <a:solidFill>
                  <a:prstClr val="black"/>
                </a:solidFill>
              </a:rPr>
              <a:t>flujos</a:t>
            </a:r>
            <a:r>
              <a:rPr lang="en-US" sz="1000" b="0" dirty="0">
                <a:solidFill>
                  <a:prstClr val="black"/>
                </a:solidFill>
              </a:rPr>
              <a:t> de </a:t>
            </a:r>
            <a:r>
              <a:rPr lang="en-US" sz="1000" b="0" dirty="0" err="1">
                <a:solidFill>
                  <a:prstClr val="black"/>
                </a:solidFill>
              </a:rPr>
              <a:t>trabajo</a:t>
            </a:r>
            <a:r>
              <a:rPr lang="en-US" sz="1000" b="0" dirty="0">
                <a:solidFill>
                  <a:prstClr val="black"/>
                </a:solidFill>
              </a:rPr>
              <a:t>.</a:t>
            </a:r>
            <a:br>
              <a:rPr lang="en-US" sz="1000" b="0" dirty="0"/>
            </a:br>
            <a:r>
              <a:rPr lang="en-US" sz="1000" b="0" dirty="0">
                <a:solidFill>
                  <a:prstClr val="black"/>
                </a:solidFill>
              </a:rPr>
              <a:t> </a:t>
            </a:r>
            <a:r>
              <a:rPr lang="en-US" sz="1000" b="0" dirty="0" err="1">
                <a:solidFill>
                  <a:prstClr val="black"/>
                </a:solidFill>
              </a:rPr>
              <a:t>Optimización</a:t>
            </a:r>
            <a:r>
              <a:rPr lang="en-US" sz="1000" b="0" dirty="0">
                <a:solidFill>
                  <a:prstClr val="black"/>
                </a:solidFill>
              </a:rPr>
              <a:t> del </a:t>
            </a:r>
            <a:r>
              <a:rPr lang="en-US" sz="1000" b="0" dirty="0" err="1">
                <a:solidFill>
                  <a:prstClr val="black"/>
                </a:solidFill>
              </a:rPr>
              <a:t>rendimiento</a:t>
            </a:r>
            <a:r>
              <a:rPr lang="en-US" sz="1000" b="0" dirty="0">
                <a:solidFill>
                  <a:prstClr val="black"/>
                </a:solidFill>
              </a:rPr>
              <a:t> de </a:t>
            </a:r>
            <a:r>
              <a:rPr lang="en-US" sz="1000" b="0" dirty="0" err="1">
                <a:solidFill>
                  <a:prstClr val="black"/>
                </a:solidFill>
              </a:rPr>
              <a:t>sistemas</a:t>
            </a:r>
            <a:r>
              <a:rPr lang="en-US" sz="1000" b="0" dirty="0">
                <a:solidFill>
                  <a:prstClr val="black"/>
                </a:solidFill>
              </a:rPr>
              <a:t> y </a:t>
            </a:r>
            <a:r>
              <a:rPr lang="en-US" sz="1000" b="0" dirty="0" err="1">
                <a:solidFill>
                  <a:prstClr val="black"/>
                </a:solidFill>
              </a:rPr>
              <a:t>automatización</a:t>
            </a:r>
            <a:r>
              <a:rPr lang="en-US" sz="1000" b="0" dirty="0">
                <a:solidFill>
                  <a:prstClr val="black"/>
                </a:solidFill>
              </a:rPr>
              <a:t> de </a:t>
            </a:r>
            <a:r>
              <a:rPr lang="en-US" sz="1000" b="0" dirty="0" err="1">
                <a:solidFill>
                  <a:prstClr val="black"/>
                </a:solidFill>
              </a:rPr>
              <a:t>procesos</a:t>
            </a:r>
            <a:r>
              <a:rPr lang="en-US" sz="1000" b="0" dirty="0">
                <a:solidFill>
                  <a:prstClr val="black"/>
                </a:solidFill>
              </a:rPr>
              <a:t> </a:t>
            </a:r>
            <a:r>
              <a:rPr lang="en-US" sz="1000" b="0" dirty="0" err="1">
                <a:solidFill>
                  <a:prstClr val="black"/>
                </a:solidFill>
              </a:rPr>
              <a:t>internos</a:t>
            </a:r>
            <a:r>
              <a:rPr lang="en-US" sz="1000" b="0" dirty="0">
                <a:solidFill>
                  <a:prstClr val="black"/>
                </a:solidFill>
              </a:rPr>
              <a:t>.</a:t>
            </a:r>
            <a:br>
              <a:rPr lang="en-US" sz="1000" b="0" dirty="0"/>
            </a:br>
            <a:r>
              <a:rPr lang="en-US" sz="1000" b="0" dirty="0">
                <a:solidFill>
                  <a:prstClr val="black"/>
                </a:solidFill>
              </a:rPr>
              <a:t> </a:t>
            </a:r>
            <a:r>
              <a:rPr lang="en-US" sz="1000" b="0" dirty="0" err="1">
                <a:solidFill>
                  <a:prstClr val="black"/>
                </a:solidFill>
              </a:rPr>
              <a:t>Diseño</a:t>
            </a:r>
            <a:r>
              <a:rPr lang="en-US" sz="1000" b="0" dirty="0">
                <a:solidFill>
                  <a:prstClr val="black"/>
                </a:solidFill>
              </a:rPr>
              <a:t>, </a:t>
            </a:r>
            <a:r>
              <a:rPr lang="en-US" sz="1000" b="0" dirty="0" err="1">
                <a:solidFill>
                  <a:prstClr val="black"/>
                </a:solidFill>
              </a:rPr>
              <a:t>construcción</a:t>
            </a:r>
            <a:r>
              <a:rPr lang="en-US" sz="1000" b="0" dirty="0">
                <a:solidFill>
                  <a:prstClr val="black"/>
                </a:solidFill>
              </a:rPr>
              <a:t> y </a:t>
            </a:r>
            <a:r>
              <a:rPr lang="en-US" sz="1000" b="0" dirty="0" err="1">
                <a:solidFill>
                  <a:prstClr val="black"/>
                </a:solidFill>
              </a:rPr>
              <a:t>mantenimiento</a:t>
            </a:r>
            <a:r>
              <a:rPr lang="en-US" sz="1000" b="0" dirty="0">
                <a:solidFill>
                  <a:prstClr val="black"/>
                </a:solidFill>
              </a:rPr>
              <a:t> de </a:t>
            </a:r>
            <a:r>
              <a:rPr lang="en-US" sz="1000" b="0" dirty="0" err="1">
                <a:solidFill>
                  <a:prstClr val="black"/>
                </a:solidFill>
              </a:rPr>
              <a:t>arquitecturas</a:t>
            </a:r>
            <a:r>
              <a:rPr lang="en-US" sz="1000" b="0" dirty="0">
                <a:solidFill>
                  <a:prstClr val="black"/>
                </a:solidFill>
              </a:rPr>
              <a:t> backend </a:t>
            </a:r>
            <a:r>
              <a:rPr lang="en-US" sz="1000" b="0" dirty="0" err="1">
                <a:solidFill>
                  <a:prstClr val="black"/>
                </a:solidFill>
              </a:rPr>
              <a:t>escalables</a:t>
            </a:r>
            <a:r>
              <a:rPr lang="en-US" sz="1000" b="0" dirty="0">
                <a:solidFill>
                  <a:prstClr val="black"/>
                </a:solidFill>
              </a:rPr>
              <a:t> para </a:t>
            </a:r>
            <a:r>
              <a:rPr lang="en-US" sz="1000" b="0" dirty="0" err="1">
                <a:solidFill>
                  <a:prstClr val="black"/>
                </a:solidFill>
              </a:rPr>
              <a:t>entornos</a:t>
            </a:r>
            <a:r>
              <a:rPr lang="en-US" sz="1000" b="0" dirty="0">
                <a:solidFill>
                  <a:prstClr val="black"/>
                </a:solidFill>
              </a:rPr>
              <a:t> </a:t>
            </a:r>
            <a:r>
              <a:rPr lang="en-US" sz="1000" b="0" dirty="0" err="1">
                <a:solidFill>
                  <a:prstClr val="black"/>
                </a:solidFill>
              </a:rPr>
              <a:t>productivos</a:t>
            </a:r>
            <a:r>
              <a:rPr lang="en-US" sz="1000" b="0" dirty="0">
                <a:solidFill>
                  <a:prstClr val="black"/>
                </a:solidFill>
              </a:rPr>
              <a:t>.</a:t>
            </a:r>
            <a:endParaRPr lang="es-AR" b="0" dirty="0">
              <a:solidFill>
                <a:prstClr val="black"/>
              </a:solidFill>
              <a:ea typeface="Calibri" panose="020F0502020204030204"/>
              <a:cs typeface="Calibri" panose="020F0502020204030204"/>
            </a:endParaRPr>
          </a:p>
          <a:p>
            <a:pPr marL="171450" indent="-171450" defTabSz="912813">
              <a:lnSpc>
                <a:spcPct val="100000"/>
              </a:lnSpc>
              <a:spcBef>
                <a:spcPts val="0"/>
              </a:spcBef>
              <a:tabLst>
                <a:tab pos="917575" algn="l"/>
              </a:tabLst>
              <a:defRPr/>
            </a:pPr>
            <a:endParaRPr lang="en-US" sz="1000">
              <a:solidFill>
                <a:prstClr val="black"/>
              </a:solidFill>
              <a:ea typeface="Calibri"/>
              <a:cs typeface="Calibri"/>
            </a:endParaRPr>
          </a:p>
          <a:p>
            <a:pPr defTabSz="912813">
              <a:lnSpc>
                <a:spcPct val="100000"/>
              </a:lnSpc>
              <a:spcBef>
                <a:spcPts val="0"/>
              </a:spcBef>
              <a:tabLst>
                <a:tab pos="917575" algn="l"/>
              </a:tabLst>
              <a:defRPr/>
            </a:pPr>
            <a:endParaRPr lang="en-US" sz="1000" b="0">
              <a:solidFill>
                <a:prstClr val="black"/>
              </a:solidFill>
            </a:endParaRPr>
          </a:p>
          <a:p>
            <a:pPr defTabSz="912813">
              <a:lnSpc>
                <a:spcPct val="100000"/>
              </a:lnSpc>
              <a:spcBef>
                <a:spcPts val="0"/>
              </a:spcBef>
              <a:tabLst>
                <a:tab pos="917575" algn="l"/>
              </a:tabLst>
              <a:defRPr/>
            </a:pPr>
            <a:endParaRPr lang="it-IT" sz="1000">
              <a:solidFill>
                <a:prstClr val="black"/>
              </a:solidFill>
            </a:endParaRPr>
          </a:p>
          <a:p>
            <a:pPr marL="0" indent="0" defTabSz="912813">
              <a:lnSpc>
                <a:spcPct val="100000"/>
              </a:lnSpc>
              <a:spcBef>
                <a:spcPts val="0"/>
              </a:spcBef>
              <a:buNone/>
              <a:tabLst>
                <a:tab pos="917575" algn="l"/>
              </a:tabLst>
              <a:defRPr/>
            </a:pPr>
            <a:endParaRPr lang="it-IT" sz="1000">
              <a:solidFill>
                <a:prstClr val="black"/>
              </a:solidFill>
            </a:endParaRPr>
          </a:p>
          <a:p>
            <a:pPr marL="0" indent="0" defTabSz="912813">
              <a:lnSpc>
                <a:spcPct val="100000"/>
              </a:lnSpc>
              <a:spcBef>
                <a:spcPts val="0"/>
              </a:spcBef>
              <a:buNone/>
              <a:tabLst>
                <a:tab pos="917575" algn="l"/>
              </a:tabLst>
              <a:defRPr/>
            </a:pPr>
            <a:endParaRPr lang="it-IT" sz="1000">
              <a:solidFill>
                <a:prstClr val="black"/>
              </a:solidFill>
            </a:endParaRPr>
          </a:p>
          <a:p>
            <a:pPr lvl="0" defTabSz="912813">
              <a:lnSpc>
                <a:spcPct val="100000"/>
              </a:lnSpc>
              <a:spcBef>
                <a:spcPts val="0"/>
              </a:spcBef>
              <a:buFont typeface="Arial"/>
              <a:buChar char="•"/>
              <a:tabLst>
                <a:tab pos="917575" algn="l"/>
              </a:tabLst>
              <a:defRPr/>
            </a:pPr>
            <a:endParaRPr lang="en-US" sz="1000">
              <a:solidFill>
                <a:prstClr val="black"/>
              </a:solidFill>
              <a:ea typeface="Calibri" panose="020F0502020204030204"/>
              <a:cs typeface="Calibri" panose="020F0502020204030204"/>
            </a:endParaRPr>
          </a:p>
          <a:p>
            <a:pPr marL="0" lvl="0" indent="0" defTabSz="912813">
              <a:lnSpc>
                <a:spcPct val="100000"/>
              </a:lnSpc>
              <a:spcBef>
                <a:spcPts val="0"/>
              </a:spcBef>
              <a:buNone/>
              <a:tabLst>
                <a:tab pos="917575" algn="l"/>
              </a:tabLst>
              <a:defRPr/>
            </a:pPr>
            <a:endParaRPr lang="en-US" sz="1000">
              <a:solidFill>
                <a:prstClr val="black"/>
              </a:solidFill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1284409-9F7E-B999-331B-A6B760BF4A6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/>
              <a:t>AI &amp; Data &gt; AI LLM Technology Architecture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8422A9-E0CB-E517-E571-49453E6C098F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8077200" y="6492875"/>
            <a:ext cx="4114800" cy="2286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© 2021 Accenture. </a:t>
            </a:r>
            <a:r>
              <a:rPr kumimoji="0" lang="es-ES" sz="1200" b="0" i="0" u="none" strike="noStrike" kern="1200" cap="none" spc="0" normalizeH="0" baseline="0" noProof="0" err="1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s-ES" sz="1200" b="0" i="0" u="none" strike="noStrike" kern="1200" cap="none" spc="0" normalizeH="0" baseline="0" noProof="0" err="1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rights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s-ES" sz="1200" b="0" i="0" u="none" strike="noStrike" kern="1200" cap="none" spc="0" normalizeH="0" baseline="0" noProof="0" err="1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reserved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pic>
        <p:nvPicPr>
          <p:cNvPr id="27" name="Picture Placeholder 26">
            <a:extLst>
              <a:ext uri="{FF2B5EF4-FFF2-40B4-BE49-F238E27FC236}">
                <a16:creationId xmlns:a16="http://schemas.microsoft.com/office/drawing/2014/main" id="{A165EE54-802C-C3D5-6BA2-F78B374865F7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83" b="14383"/>
          <a:stretch/>
        </p:blipFill>
        <p:spPr/>
      </p:pic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0376BD4A-1CA6-B68C-7CC9-3879E92011BF}"/>
              </a:ext>
            </a:extLst>
          </p:cNvPr>
          <p:cNvSpPr txBox="1">
            <a:spLocks/>
          </p:cNvSpPr>
          <p:nvPr/>
        </p:nvSpPr>
        <p:spPr>
          <a:xfrm>
            <a:off x="3176139" y="4272380"/>
            <a:ext cx="2012108" cy="1159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0781" indent="-170781">
              <a:lnSpc>
                <a:spcPct val="100000"/>
              </a:lnSpc>
              <a:spcBef>
                <a:spcPts val="450"/>
              </a:spcBef>
              <a:tabLst>
                <a:tab pos="133270" algn="l"/>
              </a:tabLst>
              <a:defRPr/>
            </a:pPr>
            <a:endParaRPr lang="en-US" altLang="en-US" sz="800">
              <a:solidFill>
                <a:prstClr val="black"/>
              </a:solidFill>
              <a:latin typeface="Calibri" panose="020F0502020204030204"/>
              <a:cs typeface="Arial"/>
            </a:endParaRPr>
          </a:p>
          <a:p>
            <a:pPr marL="170781" indent="-170781">
              <a:lnSpc>
                <a:spcPct val="100000"/>
              </a:lnSpc>
              <a:spcBef>
                <a:spcPts val="450"/>
              </a:spcBef>
              <a:tabLst>
                <a:tab pos="133270" algn="l"/>
              </a:tabLst>
              <a:defRPr/>
            </a:pPr>
            <a:endParaRPr lang="en-US" altLang="en-US" sz="800">
              <a:solidFill>
                <a:prstClr val="black"/>
              </a:solidFill>
              <a:latin typeface="Calibri" panose="020F0502020204030204"/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450"/>
              </a:spcBef>
              <a:buFont typeface="Arial" panose="020B0604020202020204" pitchFamily="34" charset="0"/>
              <a:buNone/>
              <a:tabLst>
                <a:tab pos="133270" algn="l"/>
              </a:tabLst>
              <a:defRPr/>
            </a:pPr>
            <a:endParaRPr lang="en-US" altLang="en-US" sz="800">
              <a:solidFill>
                <a:prstClr val="black"/>
              </a:solidFill>
              <a:latin typeface="Calibri" panose="020F0502020204030204"/>
              <a:cs typeface="Arial"/>
            </a:endParaRP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4E31DA8B-0248-1383-59D3-21748D20D5CE}"/>
              </a:ext>
            </a:extLst>
          </p:cNvPr>
          <p:cNvSpPr txBox="1">
            <a:spLocks/>
          </p:cNvSpPr>
          <p:nvPr/>
        </p:nvSpPr>
        <p:spPr>
          <a:xfrm>
            <a:off x="3176124" y="4408128"/>
            <a:ext cx="2012108" cy="10181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0180" indent="-170180">
              <a:lnSpc>
                <a:spcPct val="100000"/>
              </a:lnSpc>
              <a:spcBef>
                <a:spcPts val="450"/>
              </a:spcBef>
              <a:tabLst>
                <a:tab pos="133270" algn="l"/>
              </a:tabLst>
              <a:defRPr/>
            </a:pPr>
            <a:r>
              <a:rPr lang="es-AR" altLang="en-US" sz="900" dirty="0">
                <a:solidFill>
                  <a:prstClr val="black"/>
                </a:solidFill>
                <a:latin typeface="Calibri" panose="020F0502020204030204"/>
                <a:cs typeface="Arial"/>
              </a:rPr>
              <a:t>S</a:t>
            </a:r>
            <a:r>
              <a:rPr lang="en-US" altLang="en-US" sz="900" dirty="0" err="1">
                <a:solidFill>
                  <a:prstClr val="black"/>
                </a:solidFill>
                <a:latin typeface="Calibri" panose="020F0502020204030204"/>
                <a:cs typeface="Arial"/>
              </a:rPr>
              <a:t>oftware</a:t>
            </a:r>
            <a:r>
              <a:rPr lang="en-US" altLang="en-US" sz="900" dirty="0">
                <a:solidFill>
                  <a:prstClr val="black"/>
                </a:solidFill>
                <a:latin typeface="Calibri" panose="020F0502020204030204"/>
                <a:cs typeface="Arial"/>
              </a:rPr>
              <a:t> y </a:t>
            </a:r>
            <a:r>
              <a:rPr lang="en-US" altLang="en-US" sz="900" dirty="0" err="1">
                <a:solidFill>
                  <a:prstClr val="black"/>
                </a:solidFill>
                <a:latin typeface="Calibri" panose="020F0502020204030204"/>
                <a:cs typeface="Arial"/>
              </a:rPr>
              <a:t>Tecnología</a:t>
            </a:r>
            <a:endParaRPr lang="en-US" altLang="en-US" sz="900">
              <a:solidFill>
                <a:prstClr val="black"/>
              </a:solidFill>
              <a:latin typeface="Calibri" panose="020F0502020204030204"/>
              <a:ea typeface="Calibri"/>
              <a:cs typeface="Arial"/>
            </a:endParaRPr>
          </a:p>
          <a:p>
            <a:pPr marL="170180" indent="-170180">
              <a:lnSpc>
                <a:spcPct val="100000"/>
              </a:lnSpc>
              <a:spcBef>
                <a:spcPts val="450"/>
              </a:spcBef>
              <a:tabLst>
                <a:tab pos="133270" algn="l"/>
              </a:tabLst>
              <a:defRPr/>
            </a:pPr>
            <a:r>
              <a:rPr lang="en-US" sz="900">
                <a:solidFill>
                  <a:prstClr val="black"/>
                </a:solidFill>
                <a:latin typeface="Graphik"/>
                <a:ea typeface="Calibri" panose="020F0502020204030204"/>
                <a:cs typeface="Arial"/>
              </a:rPr>
              <a:t>AI &amp; Data Solutions</a:t>
            </a:r>
            <a:r>
              <a:rPr lang="en-US" sz="900" dirty="0">
                <a:solidFill>
                  <a:prstClr val="black"/>
                </a:solidFill>
                <a:latin typeface="Calibri" panose="020F0502020204030204"/>
                <a:ea typeface="Calibri" panose="020F0502020204030204"/>
                <a:cs typeface="Calibri"/>
              </a:rPr>
              <a:t> </a:t>
            </a:r>
            <a:endParaRPr lang="en-US" altLang="en-US" sz="900" dirty="0">
              <a:solidFill>
                <a:prstClr val="black"/>
              </a:solidFill>
              <a:latin typeface="Calibri" panose="020F0502020204030204"/>
              <a:ea typeface="Calibri" panose="020F0502020204030204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CFD168-758C-7F5A-CBD0-03EFE0EBA595}"/>
              </a:ext>
            </a:extLst>
          </p:cNvPr>
          <p:cNvSpPr txBox="1"/>
          <p:nvPr/>
        </p:nvSpPr>
        <p:spPr>
          <a:xfrm>
            <a:off x="239503" y="5295438"/>
            <a:ext cx="23426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100" b="1">
                <a:solidFill>
                  <a:srgbClr val="7030A0"/>
                </a:solidFill>
                <a:latin typeface="Graphik" panose="020B0503030202060203" pitchFamily="34" charset="0"/>
              </a:rPr>
              <a:t>CERTIFICATIONS</a:t>
            </a:r>
            <a:endParaRPr lang="en-US" sz="1100" b="1">
              <a:solidFill>
                <a:srgbClr val="7030A0"/>
              </a:solidFill>
              <a:latin typeface="Graphik" panose="020B050303020206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766BB2-D1BC-3D85-B0BF-ECC95067BCA3}"/>
              </a:ext>
            </a:extLst>
          </p:cNvPr>
          <p:cNvSpPr txBox="1"/>
          <p:nvPr/>
        </p:nvSpPr>
        <p:spPr>
          <a:xfrm>
            <a:off x="341211" y="5571483"/>
            <a:ext cx="2781010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sz="1000">
                <a:solidFill>
                  <a:prstClr val="black"/>
                </a:solidFill>
              </a:rPr>
              <a:t>AI </a:t>
            </a:r>
            <a:r>
              <a:rPr lang="es-AR" sz="1000" err="1">
                <a:solidFill>
                  <a:prstClr val="black"/>
                </a:solidFill>
              </a:rPr>
              <a:t>Academy</a:t>
            </a:r>
            <a:r>
              <a:rPr lang="es-AR" sz="1000">
                <a:solidFill>
                  <a:prstClr val="black"/>
                </a:solidFill>
              </a:rPr>
              <a:t> –Accenture (2026 – en progreso)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prstClr val="black"/>
                </a:solidFill>
              </a:rPr>
              <a:t>Machine Learning Specialization – Standford University (DeepLearning.ai – Coursera)</a:t>
            </a:r>
          </a:p>
          <a:p>
            <a:endParaRPr lang="en-US" sz="10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259912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e1adda6-93f2-443e-b0ef-40d6e1dc8c9d" xsi:nil="true"/>
    <lcf76f155ced4ddcb4097134ff3c332f xmlns="9e5dff9b-ec84-400a-8d4d-02e969566393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666D6F4CFFA446B5D32C4039F08BDD" ma:contentTypeVersion="12" ma:contentTypeDescription="Create a new document." ma:contentTypeScope="" ma:versionID="7a6cc17327f8fd4a1bea693b89822f0e">
  <xsd:schema xmlns:xsd="http://www.w3.org/2001/XMLSchema" xmlns:xs="http://www.w3.org/2001/XMLSchema" xmlns:p="http://schemas.microsoft.com/office/2006/metadata/properties" xmlns:ns2="9e5dff9b-ec84-400a-8d4d-02e969566393" xmlns:ns3="9e1adda6-93f2-443e-b0ef-40d6e1dc8c9d" targetNamespace="http://schemas.microsoft.com/office/2006/metadata/properties" ma:root="true" ma:fieldsID="0fcd0ec4e5a5c37c753411fc93cc8c20" ns2:_="" ns3:_="">
    <xsd:import namespace="9e5dff9b-ec84-400a-8d4d-02e969566393"/>
    <xsd:import namespace="9e1adda6-93f2-443e-b0ef-40d6e1dc8c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5dff9b-ec84-400a-8d4d-02e9695663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1adda6-93f2-443e-b0ef-40d6e1dc8c9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4a7b0e6-297d-4a6a-b5d6-da3887b93b0d}" ma:internalName="TaxCatchAll" ma:showField="CatchAllData" ma:web="9e1adda6-93f2-443e-b0ef-40d6e1dc8c9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4FDDEF0-1083-4094-9B20-46F9C8F14342}">
  <ds:schemaRefs>
    <ds:schemaRef ds:uri="9e1adda6-93f2-443e-b0ef-40d6e1dc8c9d"/>
    <ds:schemaRef ds:uri="9e5dff9b-ec84-400a-8d4d-02e969566393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144C9B9-51C1-4799-AC7C-FA632A9C1FB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B4FFC08-6DC1-452C-B9AE-49A674C4944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e5dff9b-ec84-400a-8d4d-02e969566393"/>
    <ds:schemaRef ds:uri="9e1adda6-93f2-443e-b0ef-40d6e1dc8c9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1_Office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Penacchioni, Ana</dc:creator>
  <cp:revision>46</cp:revision>
  <dcterms:created xsi:type="dcterms:W3CDTF">2022-03-18T18:13:59Z</dcterms:created>
  <dcterms:modified xsi:type="dcterms:W3CDTF">2026-04-15T12:23:56Z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0x010100D1666D6F4CFFA446B5D32C4039F08BDD</vt:lpwstr>
  </property>
  <property fmtid="{D5CDD505-2E9C-101B-9397-08002B2CF9AE}" pid="3" name="MediaServiceImageTags">
    <vt:lpwstr/>
  </property>
</Properties>
</file>