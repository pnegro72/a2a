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028818-60E8-224B-FCEC-2F176496F6C0}" v="5" dt="2026-03-04T13:35:14.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hort Headline and 2 Columns">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7877665F-10BD-4C6C-AC32-89F087D69A77}"/>
              </a:ext>
            </a:extLst>
          </p:cNvPr>
          <p:cNvGraphicFramePr>
            <a:graphicFrameLocks noChangeAspect="1"/>
          </p:cNvGraphicFramePr>
          <p:nvPr userDrawn="1">
            <p:custDataLst>
              <p:tags r:id="rId1"/>
            </p:custDataLst>
          </p:nvPr>
        </p:nvGraphicFramePr>
        <p:xfrm>
          <a:off x="1589" y="1588"/>
          <a:ext cx="1588" cy="1587"/>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2" name="Object 1" hidden="1">
                        <a:extLst>
                          <a:ext uri="{FF2B5EF4-FFF2-40B4-BE49-F238E27FC236}">
                            <a16:creationId xmlns:a16="http://schemas.microsoft.com/office/drawing/2014/main" id="{7877665F-10BD-4C6C-AC32-89F087D69A77}"/>
                          </a:ext>
                        </a:extLst>
                      </p:cNvPr>
                      <p:cNvPicPr/>
                      <p:nvPr/>
                    </p:nvPicPr>
                    <p:blipFill>
                      <a:blip r:embed="rId4"/>
                      <a:stretch>
                        <a:fillRect/>
                      </a:stretch>
                    </p:blipFill>
                    <p:spPr>
                      <a:xfrm>
                        <a:off x="1589" y="1588"/>
                        <a:ext cx="1588" cy="1587"/>
                      </a:xfrm>
                      <a:prstGeom prst="rect">
                        <a:avLst/>
                      </a:prstGeom>
                    </p:spPr>
                  </p:pic>
                </p:oleObj>
              </mc:Fallback>
            </mc:AlternateContent>
          </a:graphicData>
        </a:graphic>
      </p:graphicFrame>
      <p:sp>
        <p:nvSpPr>
          <p:cNvPr id="7" name="Footer Placeholder 6"/>
          <p:cNvSpPr>
            <a:spLocks noGrp="1"/>
          </p:cNvSpPr>
          <p:nvPr>
            <p:ph type="ftr" sz="quarter" idx="16"/>
          </p:nvPr>
        </p:nvSpPr>
        <p:spPr/>
        <p:txBody>
          <a:bodyPr/>
          <a:lstStyle/>
          <a:p>
            <a:r>
              <a:rPr lang="en-US"/>
              <a:t>Copyright © 2018 Accenture. All rights reserved.</a:t>
            </a:r>
          </a:p>
        </p:txBody>
      </p:sp>
      <p:sp>
        <p:nvSpPr>
          <p:cNvPr id="10" name="Slide Number Placeholder 9"/>
          <p:cNvSpPr>
            <a:spLocks noGrp="1"/>
          </p:cNvSpPr>
          <p:nvPr>
            <p:ph type="sldNum" sz="quarter" idx="17"/>
          </p:nvPr>
        </p:nvSpPr>
        <p:spPr/>
        <p:txBody>
          <a:bodyPr/>
          <a:lstStyle/>
          <a:p>
            <a:fld id="{4F9AC08D-23A9-440E-BCB9-AA1E9877CC38}" type="slidenum">
              <a:rPr lang="en-US" smtClean="0"/>
              <a:pPr/>
              <a:t>‹#›</a:t>
            </a:fld>
            <a:endParaRPr lang="en-US"/>
          </a:p>
        </p:txBody>
      </p:sp>
      <p:sp>
        <p:nvSpPr>
          <p:cNvPr id="6" name="Content Placeholder 5"/>
          <p:cNvSpPr>
            <a:spLocks noGrp="1"/>
          </p:cNvSpPr>
          <p:nvPr>
            <p:ph sz="quarter" idx="18"/>
          </p:nvPr>
        </p:nvSpPr>
        <p:spPr>
          <a:xfrm>
            <a:off x="381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1000"/>
            <a:ext cx="5715000" cy="990601"/>
          </a:xfrm>
        </p:spPr>
        <p:txBody>
          <a:bodyPr/>
          <a:lstStyle/>
          <a:p>
            <a:r>
              <a:rPr lang="en-US"/>
              <a:t>Click to edit Master title style</a:t>
            </a:r>
          </a:p>
        </p:txBody>
      </p:sp>
      <p:sp>
        <p:nvSpPr>
          <p:cNvPr id="8" name="Content Placeholder 5"/>
          <p:cNvSpPr>
            <a:spLocks noGrp="1"/>
          </p:cNvSpPr>
          <p:nvPr>
            <p:ph sz="quarter" idx="19"/>
          </p:nvPr>
        </p:nvSpPr>
        <p:spPr>
          <a:xfrm>
            <a:off x="6096000" y="1828803"/>
            <a:ext cx="5715000" cy="4689475"/>
          </a:xfrm>
        </p:spPr>
        <p:txBody>
          <a:bodyPr>
            <a:normAutofit/>
          </a:bodyPr>
          <a:lstStyle>
            <a:lvl1pPr>
              <a:defRPr sz="2399"/>
            </a:lvl1pPr>
            <a:lvl2pPr>
              <a:spcAft>
                <a:spcPts val="1200"/>
              </a:spcAft>
              <a:defRPr sz="1999"/>
            </a:lvl2pPr>
            <a:lvl3pPr marL="514029" indent="-230044">
              <a:buFont typeface="Graphik" panose="020B0503030202060203" pitchFamily="34" charset="0"/>
              <a:buChar char="–"/>
              <a:defRPr sz="1599"/>
            </a:lvl3pPr>
            <a:lvl5pPr marL="856715" indent="-177689">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2059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3/5/2026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Juan I. Tiseira</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es-AR" dirty="0"/>
              <a:t>AI LLM Technology Arch Analyst​</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Juan.i.tiseira@accenture.com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Misiones,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a:normAutofit/>
          </a:bodyPr>
          <a:lstStyle/>
          <a:p>
            <a:pPr marL="0" indent="0" algn="just">
              <a:lnSpc>
                <a:spcPct val="100000"/>
              </a:lnSpc>
              <a:spcBef>
                <a:spcPts val="300"/>
              </a:spcBef>
              <a:buClr>
                <a:srgbClr val="549E39"/>
              </a:buClr>
              <a:buNone/>
              <a:defRPr/>
            </a:pPr>
            <a:r>
              <a:rPr lang="en-US" sz="1100" dirty="0" err="1">
                <a:solidFill>
                  <a:prstClr val="black"/>
                </a:solidFill>
              </a:rPr>
              <a:t>Fullstack</a:t>
            </a:r>
            <a:r>
              <a:rPr lang="en-US" sz="1100" dirty="0">
                <a:solidFill>
                  <a:prstClr val="black"/>
                </a:solidFill>
              </a:rPr>
              <a:t> AI Developer with experience designing and implementing solutions based on artificial intelligence, workflow automation, and web development. Skilled in building APIs, integrating AI models (OCR, embeddings, semantic search), orchestrating automation pipelines with n8n, and deploying scalable cloud </a:t>
            </a:r>
            <a:r>
              <a:rPr lang="en-US" sz="1100" dirty="0" err="1">
                <a:solidFill>
                  <a:prstClr val="black"/>
                </a:solidFill>
              </a:rPr>
              <a:t>infrastructure.Strong</a:t>
            </a:r>
            <a:r>
              <a:rPr lang="en-US" sz="1100" dirty="0">
                <a:solidFill>
                  <a:prstClr val="black"/>
                </a:solidFill>
              </a:rPr>
              <a:t> hands‑on background with Python, </a:t>
            </a:r>
            <a:r>
              <a:rPr lang="en-US" sz="1100" dirty="0" err="1">
                <a:solidFill>
                  <a:prstClr val="black"/>
                </a:solidFill>
              </a:rPr>
              <a:t>FastAPI</a:t>
            </a:r>
            <a:r>
              <a:rPr lang="en-US" sz="1100" dirty="0">
                <a:solidFill>
                  <a:prstClr val="black"/>
                </a:solidFill>
              </a:rPr>
              <a:t>, React, Docker, GCP, </a:t>
            </a:r>
            <a:r>
              <a:rPr lang="en-US" sz="1100" dirty="0" err="1">
                <a:solidFill>
                  <a:prstClr val="black"/>
                </a:solidFill>
              </a:rPr>
              <a:t>Supabase</a:t>
            </a:r>
            <a:r>
              <a:rPr lang="en-US" sz="1100" dirty="0">
                <a:solidFill>
                  <a:prstClr val="black"/>
                </a:solidFill>
              </a:rPr>
              <a:t>, and CI/</a:t>
            </a:r>
            <a:r>
              <a:rPr lang="en-US" sz="1100" dirty="0" err="1">
                <a:solidFill>
                  <a:prstClr val="black"/>
                </a:solidFill>
              </a:rPr>
              <a:t>CD.With</a:t>
            </a:r>
            <a:r>
              <a:rPr lang="en-US" sz="1100" dirty="0">
                <a:solidFill>
                  <a:prstClr val="black"/>
                </a:solidFill>
              </a:rPr>
              <a:t> previous experience in QA Automation and production support, I bring an end‑to‑end perspective from requirements gathering to deployment and optimization.</a:t>
            </a: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60392"/>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AI Development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Automation Engineering</a:t>
            </a:r>
            <a:endParaRPr lang="en-US"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Software Engineering</a:t>
            </a:r>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Python, Bash, git, </a:t>
            </a:r>
            <a:r>
              <a:rPr lang="en-US" altLang="en-US" sz="900" dirty="0" err="1">
                <a:solidFill>
                  <a:prstClr val="black"/>
                </a:solidFill>
                <a:latin typeface="Calibri"/>
                <a:ea typeface="Calibri" panose="020F0502020204030204"/>
                <a:cs typeface="Arial"/>
              </a:rPr>
              <a:t>Javascript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Open Office, Linux (Debian, Arch)</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Cloud (GCP)</a:t>
            </a:r>
          </a:p>
          <a:p>
            <a:pPr marL="170180" indent="-170180">
              <a:lnSpc>
                <a:spcPct val="100000"/>
              </a:lnSpc>
              <a:spcBef>
                <a:spcPts val="450"/>
              </a:spcBef>
              <a:tabLst>
                <a:tab pos="133270" algn="l"/>
              </a:tabLst>
              <a:defRPr/>
            </a:pPr>
            <a:endParaRPr lang="en-US" dirty="0"/>
          </a:p>
          <a:p>
            <a:pPr marL="0" lv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indent="0" defTabSz="912813">
              <a:lnSpc>
                <a:spcPct val="100000"/>
              </a:lnSpc>
              <a:spcBef>
                <a:spcPts val="0"/>
              </a:spcBef>
              <a:buNone/>
              <a:tabLst>
                <a:tab pos="917575" algn="l"/>
              </a:tabLst>
              <a:defRPr/>
            </a:pPr>
            <a:r>
              <a:rPr lang="it-IT" sz="1000" dirty="0">
                <a:solidFill>
                  <a:prstClr val="black"/>
                </a:solidFill>
              </a:rPr>
              <a:t>Fullstack Developer – Enviopack (2025–2026)</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it-IT" sz="1000" b="0" dirty="0">
                <a:solidFill>
                  <a:prstClr val="black"/>
                </a:solidFill>
              </a:rPr>
              <a:t>Developed logistics software, optimized operational workflows, and provided technical support for high‑demand systems.</a:t>
            </a:r>
          </a:p>
          <a:p>
            <a:pPr defTabSz="912813">
              <a:lnSpc>
                <a:spcPct val="100000"/>
              </a:lnSpc>
              <a:spcBef>
                <a:spcPts val="0"/>
              </a:spcBef>
              <a:tabLst>
                <a:tab pos="917575" algn="l"/>
              </a:tabLst>
              <a:defRPr/>
            </a:pPr>
            <a:endParaRPr lang="it-IT" sz="1000" b="0" dirty="0">
              <a:solidFill>
                <a:prstClr val="black"/>
              </a:solidFill>
            </a:endParaRPr>
          </a:p>
          <a:p>
            <a:pPr marL="0" indent="0" defTabSz="912813">
              <a:lnSpc>
                <a:spcPct val="100000"/>
              </a:lnSpc>
              <a:spcBef>
                <a:spcPts val="0"/>
              </a:spcBef>
              <a:buNone/>
              <a:tabLst>
                <a:tab pos="917575" algn="l"/>
              </a:tabLst>
              <a:defRPr/>
            </a:pPr>
            <a:r>
              <a:rPr lang="it-IT" sz="1000" dirty="0">
                <a:solidFill>
                  <a:prstClr val="black"/>
                </a:solidFill>
              </a:rPr>
              <a:t>Fullstack Developer – Relex (2023–2025)</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it-IT" sz="1000" b="0" dirty="0">
                <a:solidFill>
                  <a:prstClr val="black"/>
                </a:solidFill>
              </a:rPr>
              <a:t>Built and maintained APIs using FastAPI, Flask, and Django.Implemented OCR processing using Tesseract and semantic search with OpenAI Embeddings.Designed and deployed complex workflow automations using n8n.</a:t>
            </a:r>
          </a:p>
          <a:p>
            <a:pPr defTabSz="912813">
              <a:lnSpc>
                <a:spcPct val="100000"/>
              </a:lnSpc>
              <a:spcBef>
                <a:spcPts val="0"/>
              </a:spcBef>
              <a:tabLst>
                <a:tab pos="917575" algn="l"/>
              </a:tabLst>
              <a:defRPr/>
            </a:pPr>
            <a:r>
              <a:rPr lang="it-IT" sz="1000" b="0" dirty="0">
                <a:solidFill>
                  <a:prstClr val="black"/>
                </a:solidFill>
              </a:rPr>
              <a:t>Managed full cloud deployments on Google Cloud Platform, including compute, DNS, load balancers, storage, and CI/CD.</a:t>
            </a:r>
          </a:p>
          <a:p>
            <a:pPr defTabSz="912813">
              <a:lnSpc>
                <a:spcPct val="100000"/>
              </a:lnSpc>
              <a:spcBef>
                <a:spcPts val="0"/>
              </a:spcBef>
              <a:tabLst>
                <a:tab pos="917575" algn="l"/>
              </a:tabLst>
              <a:defRPr/>
            </a:pPr>
            <a:r>
              <a:rPr lang="it-IT" sz="1000" b="0" dirty="0">
                <a:solidFill>
                  <a:prstClr val="black"/>
                </a:solidFill>
              </a:rPr>
              <a:t>Integrated Supabase and PostgreSQL for scalable backend architecture with authentication.</a:t>
            </a:r>
          </a:p>
          <a:p>
            <a:pPr defTabSz="912813">
              <a:lnSpc>
                <a:spcPct val="100000"/>
              </a:lnSpc>
              <a:spcBef>
                <a:spcPts val="0"/>
              </a:spcBef>
              <a:tabLst>
                <a:tab pos="917575" algn="l"/>
              </a:tabLst>
              <a:defRPr/>
            </a:pPr>
            <a:r>
              <a:rPr lang="it-IT" sz="1000" b="0" dirty="0">
                <a:solidFill>
                  <a:prstClr val="black"/>
                </a:solidFill>
              </a:rPr>
              <a:t>Automated deployments with Jenkins and Docker, reducing deployment time by 30%.</a:t>
            </a:r>
          </a:p>
          <a:p>
            <a:pPr marL="0" indent="0" defTabSz="912813">
              <a:lnSpc>
                <a:spcPct val="100000"/>
              </a:lnSpc>
              <a:spcBef>
                <a:spcPts val="0"/>
              </a:spcBef>
              <a:buNone/>
              <a:tabLst>
                <a:tab pos="917575" algn="l"/>
              </a:tabLst>
              <a:defRPr/>
            </a:pPr>
            <a:endParaRPr lang="it-IT" sz="1000" b="0" dirty="0">
              <a:solidFill>
                <a:prstClr val="black"/>
              </a:solidFill>
            </a:endParaRPr>
          </a:p>
          <a:p>
            <a:pPr marL="0" indent="0" defTabSz="912813">
              <a:lnSpc>
                <a:spcPct val="100000"/>
              </a:lnSpc>
              <a:spcBef>
                <a:spcPts val="0"/>
              </a:spcBef>
              <a:buNone/>
              <a:tabLst>
                <a:tab pos="917575" algn="l"/>
              </a:tabLst>
              <a:defRPr/>
            </a:pPr>
            <a:r>
              <a:rPr lang="it-IT" sz="1000" dirty="0">
                <a:solidFill>
                  <a:prstClr val="black"/>
                </a:solidFill>
              </a:rPr>
              <a:t>QA Engineer – Relex (2021–2023)</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it-IT" sz="1000" b="0" dirty="0">
                <a:solidFill>
                  <a:prstClr val="black"/>
                </a:solidFill>
              </a:rPr>
              <a:t>Created automated test suites using Selenium and Python.Built CI/CD pipelines in Jenkins integrating Newman (Postman) and Python test runners.</a:t>
            </a:r>
          </a:p>
          <a:p>
            <a:pPr defTabSz="912813">
              <a:lnSpc>
                <a:spcPct val="100000"/>
              </a:lnSpc>
              <a:spcBef>
                <a:spcPts val="0"/>
              </a:spcBef>
              <a:tabLst>
                <a:tab pos="917575" algn="l"/>
              </a:tabLst>
              <a:defRPr/>
            </a:pPr>
            <a:r>
              <a:rPr lang="it-IT" sz="1000" b="0" dirty="0">
                <a:solidFill>
                  <a:prstClr val="black"/>
                </a:solidFill>
              </a:rPr>
              <a:t>Designed and executed manual test plans.</a:t>
            </a:r>
          </a:p>
          <a:p>
            <a:pPr marL="0" indent="0" defTabSz="912813">
              <a:lnSpc>
                <a:spcPct val="100000"/>
              </a:lnSpc>
              <a:spcBef>
                <a:spcPts val="0"/>
              </a:spcBef>
              <a:buNone/>
              <a:tabLst>
                <a:tab pos="917575" algn="l"/>
              </a:tabLst>
              <a:defRPr/>
            </a:pPr>
            <a:endParaRPr lang="it-IT" sz="1000" b="0" dirty="0">
              <a:solidFill>
                <a:prstClr val="black"/>
              </a:solidFill>
            </a:endParaRPr>
          </a:p>
          <a:p>
            <a:pPr marL="0" indent="0" defTabSz="912813">
              <a:lnSpc>
                <a:spcPct val="100000"/>
              </a:lnSpc>
              <a:spcBef>
                <a:spcPts val="0"/>
              </a:spcBef>
              <a:buNone/>
              <a:tabLst>
                <a:tab pos="917575" algn="l"/>
              </a:tabLst>
              <a:defRPr/>
            </a:pPr>
            <a:r>
              <a:rPr lang="it-IT" sz="1000" dirty="0">
                <a:solidFill>
                  <a:prstClr val="black"/>
                </a:solidFill>
              </a:rPr>
              <a:t>Technical Documentation – IT Heliconia (2021)</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it-IT" sz="1000" b="0" dirty="0">
                <a:solidFill>
                  <a:prstClr val="black"/>
                </a:solidFill>
              </a:rPr>
              <a:t>Standardized the technical documentation framework to improve clarity, consistency, and maintainability.</a:t>
            </a: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r>
              <a:rPr lang="en-US" dirty="0">
                <a:latin typeface="Graphik"/>
              </a:rPr>
              <a:t>Engineering</a:t>
            </a:r>
            <a:endParaRPr lang="en-US" dirty="0"/>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lnSpcReduction="10000"/>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Logistics</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Retail Technology </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Automation &amp; Orchestration</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SaaS / API Services</a:t>
            </a:r>
          </a:p>
          <a:p>
            <a:pPr marL="170781" indent="-170781">
              <a:lnSpc>
                <a:spcPct val="100000"/>
              </a:lnSpc>
              <a:spcBef>
                <a:spcPts val="450"/>
              </a:spcBef>
              <a:tabLst>
                <a:tab pos="133270" algn="l"/>
              </a:tabLst>
              <a:defRPr/>
            </a:pPr>
            <a:r>
              <a:rPr lang="en-US" altLang="en-US" sz="900" dirty="0">
                <a:solidFill>
                  <a:prstClr val="black"/>
                </a:solidFill>
                <a:latin typeface="Calibri" panose="020F0502020204030204"/>
                <a:cs typeface="Arial"/>
              </a:rPr>
              <a:t>Government &amp; Public Sector</a:t>
            </a: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245785"/>
            <a:ext cx="2342612"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CERTIFICATIONS</a:t>
            </a:r>
            <a:endParaRPr lang="en-US" sz="1100" b="1" dirty="0">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41211" y="5603433"/>
            <a:ext cx="2781010" cy="553998"/>
          </a:xfrm>
          <a:prstGeom prst="rect">
            <a:avLst/>
          </a:prstGeom>
          <a:noFill/>
        </p:spPr>
        <p:txBody>
          <a:bodyPr wrap="square" rtlCol="0">
            <a:spAutoFit/>
          </a:bodyPr>
          <a:lstStyle/>
          <a:p>
            <a:r>
              <a:rPr lang="en-US" sz="1000" dirty="0">
                <a:solidFill>
                  <a:prstClr val="black"/>
                </a:solidFill>
              </a:rPr>
              <a:t>Advanced Technical Degree in Programming &amp; Systems Analysis – ITEC Nº3 Posadas</a:t>
            </a:r>
            <a:br>
              <a:rPr lang="es-AR" sz="1000" dirty="0">
                <a:solidFill>
                  <a:prstClr val="black"/>
                </a:solidFill>
              </a:rPr>
            </a:br>
            <a:endParaRPr lang="en-US" sz="1000" dirty="0">
              <a:solidFill>
                <a:prstClr val="black"/>
              </a:solidFill>
            </a:endParaRPr>
          </a:p>
        </p:txBody>
      </p:sp>
      <p:pic>
        <p:nvPicPr>
          <p:cNvPr id="20" name="Picture Placeholder 19">
            <a:extLst>
              <a:ext uri="{FF2B5EF4-FFF2-40B4-BE49-F238E27FC236}">
                <a16:creationId xmlns:a16="http://schemas.microsoft.com/office/drawing/2014/main" id="{12A158B4-C664-98D0-FFEF-B256149F04FC}"/>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14794" b="32083"/>
          <a:stretch>
            <a:fillRect/>
          </a:stretch>
        </p:blipFill>
        <p:spPr>
          <a:xfrm>
            <a:off x="642938" y="88224"/>
            <a:ext cx="1336675" cy="1262381"/>
          </a:xfrm>
        </p:spPr>
      </p:pic>
      <p:sp>
        <p:nvSpPr>
          <p:cNvPr id="28" name="TextBox 27">
            <a:extLst>
              <a:ext uri="{FF2B5EF4-FFF2-40B4-BE49-F238E27FC236}">
                <a16:creationId xmlns:a16="http://schemas.microsoft.com/office/drawing/2014/main" id="{74EF62E8-E443-D759-C210-C96CCC383E4B}"/>
              </a:ext>
            </a:extLst>
          </p:cNvPr>
          <p:cNvSpPr txBox="1"/>
          <p:nvPr/>
        </p:nvSpPr>
        <p:spPr>
          <a:xfrm>
            <a:off x="3176124" y="5655699"/>
            <a:ext cx="2419075"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LANGUAGES</a:t>
            </a:r>
            <a:endParaRPr lang="en-US" sz="1100" b="1" dirty="0">
              <a:solidFill>
                <a:srgbClr val="7030A0"/>
              </a:solidFill>
              <a:latin typeface="Graphik" panose="020B0503030202060203" pitchFamily="34" charset="0"/>
            </a:endParaRPr>
          </a:p>
        </p:txBody>
      </p:sp>
      <p:sp>
        <p:nvSpPr>
          <p:cNvPr id="29" name="TextBox 28">
            <a:extLst>
              <a:ext uri="{FF2B5EF4-FFF2-40B4-BE49-F238E27FC236}">
                <a16:creationId xmlns:a16="http://schemas.microsoft.com/office/drawing/2014/main" id="{DA874FFC-E9EC-1AC7-9544-339FB732C50D}"/>
              </a:ext>
            </a:extLst>
          </p:cNvPr>
          <p:cNvSpPr txBox="1"/>
          <p:nvPr/>
        </p:nvSpPr>
        <p:spPr>
          <a:xfrm>
            <a:off x="3214355" y="5924868"/>
            <a:ext cx="2121260" cy="571951"/>
          </a:xfrm>
          <a:prstGeom prst="rect">
            <a:avLst/>
          </a:prstGeom>
          <a:noFill/>
        </p:spPr>
        <p:txBody>
          <a:bodyPr wrap="square" rtlCol="0">
            <a:spAutoFit/>
          </a:bodyPr>
          <a:lstStyle/>
          <a:p>
            <a:pPr marL="170781" indent="-170781">
              <a:spcBef>
                <a:spcPts val="450"/>
              </a:spcBef>
              <a:buFont typeface="Arial" panose="020B0604020202020204" pitchFamily="34" charset="0"/>
              <a:buChar char="•"/>
              <a:tabLst>
                <a:tab pos="133270" algn="l"/>
              </a:tabLst>
              <a:defRPr/>
            </a:pPr>
            <a:r>
              <a:rPr lang="en-US" sz="900" dirty="0">
                <a:solidFill>
                  <a:prstClr val="black"/>
                </a:solidFill>
                <a:latin typeface="Calibri" panose="020F0502020204030204"/>
                <a:cs typeface="Arial"/>
              </a:rPr>
              <a:t>Spanish: Native</a:t>
            </a:r>
          </a:p>
          <a:p>
            <a:pPr marL="170781" indent="-170781">
              <a:spcBef>
                <a:spcPts val="450"/>
              </a:spcBef>
              <a:buFont typeface="Arial" panose="020B0604020202020204" pitchFamily="34" charset="0"/>
              <a:buChar char="•"/>
              <a:tabLst>
                <a:tab pos="133270" algn="l"/>
              </a:tabLst>
              <a:defRPr/>
            </a:pPr>
            <a:r>
              <a:rPr lang="en-US" sz="900" dirty="0">
                <a:solidFill>
                  <a:prstClr val="black"/>
                </a:solidFill>
                <a:latin typeface="Calibri" panose="020F0502020204030204"/>
                <a:cs typeface="Arial"/>
              </a:rPr>
              <a:t>English</a:t>
            </a:r>
            <a:r>
              <a:rPr lang="en-US" sz="900">
                <a:solidFill>
                  <a:prstClr val="black"/>
                </a:solidFill>
                <a:latin typeface="Calibri" panose="020F0502020204030204"/>
                <a:cs typeface="Arial"/>
              </a:rPr>
              <a:t>: B1</a:t>
            </a:r>
            <a:br>
              <a:rPr lang="es-AR" sz="900" dirty="0">
                <a:solidFill>
                  <a:prstClr val="black"/>
                </a:solidFill>
                <a:latin typeface="Calibri" panose="020F0502020204030204"/>
                <a:cs typeface="Arial"/>
              </a:rPr>
            </a:br>
            <a:endParaRPr lang="en-US" sz="900" dirty="0">
              <a:solidFill>
                <a:prstClr val="black"/>
              </a:solidFill>
              <a:latin typeface="Calibri" panose="020F0502020204030204"/>
              <a:cs typeface="Arial"/>
            </a:endParaRPr>
          </a:p>
        </p:txBody>
      </p:sp>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Juan I. Tiseira</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85000" lnSpcReduction="20000"/>
          </a:bodyPr>
          <a:lstStyle/>
          <a:p>
            <a:r>
              <a:rPr lang="es-AR" dirty="0"/>
              <a:t>AI LLM Technology Arch Analyst​</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Juan.i.tiseira@accenture.com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Misiones,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a:normAutofit lnSpcReduction="10000"/>
          </a:bodyPr>
          <a:lstStyle/>
          <a:p>
            <a:pPr marL="0" indent="0" algn="just">
              <a:lnSpc>
                <a:spcPct val="100000"/>
              </a:lnSpc>
              <a:spcBef>
                <a:spcPts val="300"/>
              </a:spcBef>
              <a:buClr>
                <a:srgbClr val="549E39"/>
              </a:buClr>
              <a:buNone/>
              <a:defRPr/>
            </a:pPr>
            <a:r>
              <a:rPr lang="es-ES" sz="1100" dirty="0" err="1">
                <a:solidFill>
                  <a:prstClr val="black"/>
                </a:solidFill>
              </a:rPr>
              <a:t>Fullstack</a:t>
            </a:r>
            <a:r>
              <a:rPr lang="es-ES" sz="1100" dirty="0">
                <a:solidFill>
                  <a:prstClr val="black"/>
                </a:solidFill>
              </a:rPr>
              <a:t> AI </a:t>
            </a:r>
            <a:r>
              <a:rPr lang="es-ES" sz="1100" dirty="0" err="1">
                <a:solidFill>
                  <a:prstClr val="black"/>
                </a:solidFill>
              </a:rPr>
              <a:t>Developer</a:t>
            </a:r>
            <a:r>
              <a:rPr lang="es-ES" sz="1100" dirty="0">
                <a:solidFill>
                  <a:prstClr val="black"/>
                </a:solidFill>
              </a:rPr>
              <a:t> con experiencia en el diseño e implementación de soluciones basadas en inteligencia artificial, automatización de flujos de trabajo y desarrollo web. Especializado en la construcción de </a:t>
            </a:r>
            <a:r>
              <a:rPr lang="es-ES" sz="1100" dirty="0" err="1">
                <a:solidFill>
                  <a:prstClr val="black"/>
                </a:solidFill>
              </a:rPr>
              <a:t>APIs</a:t>
            </a:r>
            <a:r>
              <a:rPr lang="es-ES" sz="1100" dirty="0">
                <a:solidFill>
                  <a:prstClr val="black"/>
                </a:solidFill>
              </a:rPr>
              <a:t>, integración de modelos de IA (OCR, </a:t>
            </a:r>
            <a:r>
              <a:rPr lang="es-ES" sz="1100" dirty="0" err="1">
                <a:solidFill>
                  <a:prstClr val="black"/>
                </a:solidFill>
              </a:rPr>
              <a:t>embeddings</a:t>
            </a:r>
            <a:r>
              <a:rPr lang="es-ES" sz="1100" dirty="0">
                <a:solidFill>
                  <a:prstClr val="black"/>
                </a:solidFill>
              </a:rPr>
              <a:t> y búsqueda semántica), orquestación de automatizaciones con n8n y despliegue de infraestructura en la </a:t>
            </a:r>
            <a:r>
              <a:rPr lang="es-ES" sz="1100" dirty="0" err="1">
                <a:solidFill>
                  <a:prstClr val="black"/>
                </a:solidFill>
              </a:rPr>
              <a:t>nube.Sólido</a:t>
            </a:r>
            <a:r>
              <a:rPr lang="es-ES" sz="1100" dirty="0">
                <a:solidFill>
                  <a:prstClr val="black"/>
                </a:solidFill>
              </a:rPr>
              <a:t> manejo de Python, </a:t>
            </a:r>
            <a:r>
              <a:rPr lang="es-ES" sz="1100" dirty="0" err="1">
                <a:solidFill>
                  <a:prstClr val="black"/>
                </a:solidFill>
              </a:rPr>
              <a:t>FastAPI</a:t>
            </a:r>
            <a:r>
              <a:rPr lang="es-ES" sz="1100" dirty="0">
                <a:solidFill>
                  <a:prstClr val="black"/>
                </a:solidFill>
              </a:rPr>
              <a:t>, </a:t>
            </a:r>
            <a:r>
              <a:rPr lang="es-ES" sz="1100" dirty="0" err="1">
                <a:solidFill>
                  <a:prstClr val="black"/>
                </a:solidFill>
              </a:rPr>
              <a:t>React</a:t>
            </a:r>
            <a:r>
              <a:rPr lang="es-ES" sz="1100" dirty="0">
                <a:solidFill>
                  <a:prstClr val="black"/>
                </a:solidFill>
              </a:rPr>
              <a:t>, Docker, GCP, </a:t>
            </a:r>
            <a:r>
              <a:rPr lang="es-ES" sz="1100" dirty="0" err="1">
                <a:solidFill>
                  <a:prstClr val="black"/>
                </a:solidFill>
              </a:rPr>
              <a:t>Supabase</a:t>
            </a:r>
            <a:r>
              <a:rPr lang="es-ES" sz="1100" dirty="0">
                <a:solidFill>
                  <a:prstClr val="black"/>
                </a:solidFill>
              </a:rPr>
              <a:t> y herramientas de CI/</a:t>
            </a:r>
            <a:r>
              <a:rPr lang="es-ES" sz="1100" dirty="0" err="1">
                <a:solidFill>
                  <a:prstClr val="black"/>
                </a:solidFill>
              </a:rPr>
              <a:t>CD.Con</a:t>
            </a:r>
            <a:r>
              <a:rPr lang="es-ES" sz="1100" dirty="0">
                <a:solidFill>
                  <a:prstClr val="black"/>
                </a:solidFill>
              </a:rPr>
              <a:t> experiencia previa en QA </a:t>
            </a:r>
            <a:r>
              <a:rPr lang="es-ES" sz="1100" dirty="0" err="1">
                <a:solidFill>
                  <a:prstClr val="black"/>
                </a:solidFill>
              </a:rPr>
              <a:t>Automation</a:t>
            </a:r>
            <a:r>
              <a:rPr lang="es-ES" sz="1100" dirty="0">
                <a:solidFill>
                  <a:prstClr val="black"/>
                </a:solidFill>
              </a:rPr>
              <a:t> y soporte técnico en entornos productivos, aporto una mirada </a:t>
            </a:r>
            <a:r>
              <a:rPr lang="es-ES" sz="1100" dirty="0" err="1">
                <a:solidFill>
                  <a:prstClr val="black"/>
                </a:solidFill>
              </a:rPr>
              <a:t>end‑to‑end</a:t>
            </a:r>
            <a:r>
              <a:rPr lang="es-ES" sz="1100" dirty="0">
                <a:solidFill>
                  <a:prstClr val="black"/>
                </a:solidFill>
              </a:rPr>
              <a:t> desde la toma de requerimientos hasta el despliegue y optimización de soluciones.</a:t>
            </a:r>
            <a:endParaRPr lang="en-US" sz="1100" dirty="0">
              <a:solidFill>
                <a:prstClr val="black"/>
              </a:solidFill>
            </a:endParaRP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176124" y="2760392"/>
            <a:ext cx="2251611" cy="1370691"/>
          </a:xfrm>
        </p:spPr>
        <p:txBody>
          <a:bodyPr vert="horz" lIns="91440" tIns="45720" rIns="91440" bIns="45720" rtlCol="0" anchor="t">
            <a:noAutofit/>
          </a:bodyPr>
          <a:lstStyle/>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AI Development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Automation Engineering</a:t>
            </a:r>
            <a:endParaRPr lang="en-US" dirty="0">
              <a:solidFill>
                <a:prstClr val="black"/>
              </a:solidFill>
              <a:latin typeface="Graphik"/>
              <a:ea typeface="Calibri" panose="020F0502020204030204"/>
              <a:cs typeface="Arial"/>
            </a:endParaRPr>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Software Engineering</a:t>
            </a:r>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Python, Bash, git, </a:t>
            </a:r>
            <a:r>
              <a:rPr lang="en-US" altLang="en-US" sz="900" dirty="0" err="1">
                <a:solidFill>
                  <a:prstClr val="black"/>
                </a:solidFill>
                <a:latin typeface="Calibri"/>
                <a:ea typeface="Calibri" panose="020F0502020204030204"/>
                <a:cs typeface="Arial"/>
              </a:rPr>
              <a:t>Javascript</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Open Office, Linux (Debian, Arch)</a:t>
            </a:r>
            <a:endParaRPr lang="en-US" dirty="0"/>
          </a:p>
          <a:p>
            <a:pPr marL="170180" indent="-170180">
              <a:lnSpc>
                <a:spcPct val="100000"/>
              </a:lnSpc>
              <a:spcBef>
                <a:spcPts val="450"/>
              </a:spcBef>
              <a:tabLst>
                <a:tab pos="133270" algn="l"/>
              </a:tabLst>
              <a:defRPr/>
            </a:pPr>
            <a:r>
              <a:rPr lang="en-US" altLang="en-US" sz="900" dirty="0">
                <a:solidFill>
                  <a:prstClr val="black"/>
                </a:solidFill>
                <a:latin typeface="Calibri"/>
                <a:ea typeface="Calibri"/>
                <a:cs typeface="Arial"/>
              </a:rPr>
              <a:t>Cloud (GCP)</a:t>
            </a:r>
          </a:p>
          <a:p>
            <a:pPr marL="170180" indent="-170180">
              <a:lnSpc>
                <a:spcPct val="100000"/>
              </a:lnSpc>
              <a:spcBef>
                <a:spcPts val="450"/>
              </a:spcBef>
              <a:tabLst>
                <a:tab pos="133270" algn="l"/>
              </a:tabLst>
              <a:defRPr/>
            </a:pPr>
            <a:endParaRPr lang="en-US" dirty="0"/>
          </a:p>
          <a:p>
            <a:pPr marL="0" lvl="0" indent="0">
              <a:lnSpc>
                <a:spcPct val="100000"/>
              </a:lnSpc>
              <a:spcBef>
                <a:spcPts val="450"/>
              </a:spcBef>
              <a:buNone/>
              <a:tabLst>
                <a:tab pos="133270" algn="l"/>
              </a:tabLst>
              <a:defRPr/>
            </a:pP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indent="0" defTabSz="912813">
              <a:lnSpc>
                <a:spcPct val="100000"/>
              </a:lnSpc>
              <a:spcBef>
                <a:spcPts val="0"/>
              </a:spcBef>
              <a:buNone/>
              <a:tabLst>
                <a:tab pos="917575" algn="l"/>
              </a:tabLst>
              <a:defRPr/>
            </a:pPr>
            <a:r>
              <a:rPr lang="it-IT" sz="1000" dirty="0">
                <a:solidFill>
                  <a:prstClr val="black"/>
                </a:solidFill>
              </a:rPr>
              <a:t>Fullstack Developer – Enviopack (2025–2026)</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es-ES" sz="1000" b="0" dirty="0">
                <a:solidFill>
                  <a:prstClr val="black"/>
                </a:solidFill>
              </a:rPr>
              <a:t>Desarrollo de software logístico, optimización de flujos operativos y soporte técnico para sistemas de alta demanda.</a:t>
            </a:r>
          </a:p>
          <a:p>
            <a:pPr defTabSz="912813">
              <a:lnSpc>
                <a:spcPct val="100000"/>
              </a:lnSpc>
              <a:spcBef>
                <a:spcPts val="0"/>
              </a:spcBef>
              <a:tabLst>
                <a:tab pos="917575" algn="l"/>
              </a:tabLst>
              <a:defRPr/>
            </a:pPr>
            <a:endParaRPr lang="it-IT" sz="1000" b="0" dirty="0">
              <a:solidFill>
                <a:prstClr val="black"/>
              </a:solidFill>
            </a:endParaRPr>
          </a:p>
          <a:p>
            <a:pPr marL="0" indent="0" defTabSz="912813">
              <a:lnSpc>
                <a:spcPct val="100000"/>
              </a:lnSpc>
              <a:spcBef>
                <a:spcPts val="0"/>
              </a:spcBef>
              <a:buNone/>
              <a:tabLst>
                <a:tab pos="917575" algn="l"/>
              </a:tabLst>
              <a:defRPr/>
            </a:pPr>
            <a:r>
              <a:rPr lang="it-IT" sz="1000" dirty="0">
                <a:solidFill>
                  <a:prstClr val="black"/>
                </a:solidFill>
              </a:rPr>
              <a:t>Fullstack Developer – Relex (2023–2025)</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es-ES" sz="1000" b="0" dirty="0">
                <a:solidFill>
                  <a:prstClr val="black"/>
                </a:solidFill>
              </a:rPr>
              <a:t>Construcción y mantenimiento de </a:t>
            </a:r>
            <a:r>
              <a:rPr lang="es-ES" sz="1000" b="0" dirty="0" err="1">
                <a:solidFill>
                  <a:prstClr val="black"/>
                </a:solidFill>
              </a:rPr>
              <a:t>APIs</a:t>
            </a:r>
            <a:r>
              <a:rPr lang="es-ES" sz="1000" b="0" dirty="0">
                <a:solidFill>
                  <a:prstClr val="black"/>
                </a:solidFill>
              </a:rPr>
              <a:t> con </a:t>
            </a:r>
            <a:r>
              <a:rPr lang="es-ES" sz="1000" b="0" dirty="0" err="1">
                <a:solidFill>
                  <a:prstClr val="black"/>
                </a:solidFill>
              </a:rPr>
              <a:t>FastAPI</a:t>
            </a:r>
            <a:r>
              <a:rPr lang="es-ES" sz="1000" b="0" dirty="0">
                <a:solidFill>
                  <a:prstClr val="black"/>
                </a:solidFill>
              </a:rPr>
              <a:t>, </a:t>
            </a:r>
            <a:r>
              <a:rPr lang="es-ES" sz="1000" b="0" dirty="0" err="1">
                <a:solidFill>
                  <a:prstClr val="black"/>
                </a:solidFill>
              </a:rPr>
              <a:t>Flask</a:t>
            </a:r>
            <a:r>
              <a:rPr lang="es-ES" sz="1000" b="0" dirty="0">
                <a:solidFill>
                  <a:prstClr val="black"/>
                </a:solidFill>
              </a:rPr>
              <a:t> y Django.</a:t>
            </a:r>
          </a:p>
          <a:p>
            <a:pPr defTabSz="912813">
              <a:lnSpc>
                <a:spcPct val="100000"/>
              </a:lnSpc>
              <a:spcBef>
                <a:spcPts val="0"/>
              </a:spcBef>
              <a:tabLst>
                <a:tab pos="917575" algn="l"/>
              </a:tabLst>
              <a:defRPr/>
            </a:pPr>
            <a:r>
              <a:rPr lang="es-ES" sz="1000" b="0" dirty="0">
                <a:solidFill>
                  <a:prstClr val="black"/>
                </a:solidFill>
              </a:rPr>
              <a:t>Implementación de OCR con </a:t>
            </a:r>
            <a:r>
              <a:rPr lang="es-ES" sz="1000" b="0" dirty="0" err="1">
                <a:solidFill>
                  <a:prstClr val="black"/>
                </a:solidFill>
              </a:rPr>
              <a:t>Tesseract</a:t>
            </a:r>
            <a:r>
              <a:rPr lang="es-ES" sz="1000" b="0" dirty="0">
                <a:solidFill>
                  <a:prstClr val="black"/>
                </a:solidFill>
              </a:rPr>
              <a:t> y búsqueda semántica con </a:t>
            </a:r>
            <a:r>
              <a:rPr lang="es-ES" sz="1000" b="0" dirty="0" err="1">
                <a:solidFill>
                  <a:prstClr val="black"/>
                </a:solidFill>
              </a:rPr>
              <a:t>OpenAI</a:t>
            </a:r>
            <a:r>
              <a:rPr lang="es-ES" sz="1000" b="0" dirty="0">
                <a:solidFill>
                  <a:prstClr val="black"/>
                </a:solidFill>
              </a:rPr>
              <a:t> </a:t>
            </a:r>
            <a:r>
              <a:rPr lang="es-ES" sz="1000" b="0" dirty="0" err="1">
                <a:solidFill>
                  <a:prstClr val="black"/>
                </a:solidFill>
              </a:rPr>
              <a:t>Embeddings</a:t>
            </a:r>
            <a:r>
              <a:rPr lang="es-ES" sz="1000" b="0" dirty="0">
                <a:solidFill>
                  <a:prstClr val="black"/>
                </a:solidFill>
              </a:rPr>
              <a:t>.</a:t>
            </a:r>
          </a:p>
          <a:p>
            <a:pPr defTabSz="912813">
              <a:lnSpc>
                <a:spcPct val="100000"/>
              </a:lnSpc>
              <a:spcBef>
                <a:spcPts val="0"/>
              </a:spcBef>
              <a:tabLst>
                <a:tab pos="917575" algn="l"/>
              </a:tabLst>
              <a:defRPr/>
            </a:pPr>
            <a:r>
              <a:rPr lang="es-ES" sz="1000" b="0" dirty="0">
                <a:solidFill>
                  <a:prstClr val="black"/>
                </a:solidFill>
              </a:rPr>
              <a:t>Diseño y despliegue de automatizaciones complejas mediante n8n.</a:t>
            </a:r>
          </a:p>
          <a:p>
            <a:pPr defTabSz="912813">
              <a:lnSpc>
                <a:spcPct val="100000"/>
              </a:lnSpc>
              <a:spcBef>
                <a:spcPts val="0"/>
              </a:spcBef>
              <a:tabLst>
                <a:tab pos="917575" algn="l"/>
              </a:tabLst>
              <a:defRPr/>
            </a:pPr>
            <a:r>
              <a:rPr lang="es-ES" sz="1000" b="0" dirty="0">
                <a:solidFill>
                  <a:prstClr val="black"/>
                </a:solidFill>
              </a:rPr>
              <a:t>Gestión de despliegues completos en Google Cloud </a:t>
            </a:r>
            <a:r>
              <a:rPr lang="es-ES" sz="1000" b="0" dirty="0" err="1">
                <a:solidFill>
                  <a:prstClr val="black"/>
                </a:solidFill>
              </a:rPr>
              <a:t>Platform</a:t>
            </a:r>
            <a:r>
              <a:rPr lang="es-ES" sz="1000" b="0" dirty="0">
                <a:solidFill>
                  <a:prstClr val="black"/>
                </a:solidFill>
              </a:rPr>
              <a:t>: compute, DNS, load </a:t>
            </a:r>
            <a:r>
              <a:rPr lang="es-ES" sz="1000" b="0" dirty="0" err="1">
                <a:solidFill>
                  <a:prstClr val="black"/>
                </a:solidFill>
              </a:rPr>
              <a:t>balancers</a:t>
            </a:r>
            <a:r>
              <a:rPr lang="es-ES" sz="1000" b="0" dirty="0">
                <a:solidFill>
                  <a:prstClr val="black"/>
                </a:solidFill>
              </a:rPr>
              <a:t>, </a:t>
            </a:r>
            <a:r>
              <a:rPr lang="es-ES" sz="1000" b="0" dirty="0" err="1">
                <a:solidFill>
                  <a:prstClr val="black"/>
                </a:solidFill>
              </a:rPr>
              <a:t>storage</a:t>
            </a:r>
            <a:r>
              <a:rPr lang="es-ES" sz="1000" b="0" dirty="0">
                <a:solidFill>
                  <a:prstClr val="black"/>
                </a:solidFill>
              </a:rPr>
              <a:t> y CI/CD.</a:t>
            </a:r>
          </a:p>
          <a:p>
            <a:pPr defTabSz="912813">
              <a:lnSpc>
                <a:spcPct val="100000"/>
              </a:lnSpc>
              <a:spcBef>
                <a:spcPts val="0"/>
              </a:spcBef>
              <a:tabLst>
                <a:tab pos="917575" algn="l"/>
              </a:tabLst>
              <a:defRPr/>
            </a:pPr>
            <a:r>
              <a:rPr lang="es-ES" sz="1000" b="0" dirty="0">
                <a:solidFill>
                  <a:prstClr val="black"/>
                </a:solidFill>
              </a:rPr>
              <a:t>Integración de </a:t>
            </a:r>
            <a:r>
              <a:rPr lang="es-ES" sz="1000" b="0" dirty="0" err="1">
                <a:solidFill>
                  <a:prstClr val="black"/>
                </a:solidFill>
              </a:rPr>
              <a:t>Supabase</a:t>
            </a:r>
            <a:r>
              <a:rPr lang="es-ES" sz="1000" b="0" dirty="0">
                <a:solidFill>
                  <a:prstClr val="black"/>
                </a:solidFill>
              </a:rPr>
              <a:t> y PostgreSQL para servicios escalables con autenticación.</a:t>
            </a:r>
          </a:p>
          <a:p>
            <a:pPr defTabSz="912813">
              <a:lnSpc>
                <a:spcPct val="100000"/>
              </a:lnSpc>
              <a:spcBef>
                <a:spcPts val="0"/>
              </a:spcBef>
              <a:tabLst>
                <a:tab pos="917575" algn="l"/>
              </a:tabLst>
              <a:defRPr/>
            </a:pPr>
            <a:r>
              <a:rPr lang="es-ES" sz="1000" b="0" dirty="0">
                <a:solidFill>
                  <a:prstClr val="black"/>
                </a:solidFill>
              </a:rPr>
              <a:t>Automatización de pipelines con Jenkins y Docker, reduciendo en un 30% los tiempos de despliegue.</a:t>
            </a:r>
          </a:p>
          <a:p>
            <a:pPr defTabSz="912813">
              <a:lnSpc>
                <a:spcPct val="100000"/>
              </a:lnSpc>
              <a:spcBef>
                <a:spcPts val="0"/>
              </a:spcBef>
              <a:tabLst>
                <a:tab pos="917575" algn="l"/>
              </a:tabLst>
              <a:defRPr/>
            </a:pPr>
            <a:endParaRPr lang="it-IT" sz="1000" b="0" dirty="0">
              <a:solidFill>
                <a:prstClr val="black"/>
              </a:solidFill>
            </a:endParaRPr>
          </a:p>
          <a:p>
            <a:pPr marL="0" indent="0" defTabSz="912813">
              <a:lnSpc>
                <a:spcPct val="100000"/>
              </a:lnSpc>
              <a:spcBef>
                <a:spcPts val="0"/>
              </a:spcBef>
              <a:buNone/>
              <a:tabLst>
                <a:tab pos="917575" algn="l"/>
              </a:tabLst>
              <a:defRPr/>
            </a:pPr>
            <a:r>
              <a:rPr lang="it-IT" sz="1000" dirty="0">
                <a:solidFill>
                  <a:prstClr val="black"/>
                </a:solidFill>
              </a:rPr>
              <a:t>QA Engineer – Relex (2021–2023)</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es-ES" sz="1000" b="0" dirty="0">
                <a:solidFill>
                  <a:prstClr val="black"/>
                </a:solidFill>
              </a:rPr>
              <a:t>Automatización de pruebas con </a:t>
            </a:r>
            <a:r>
              <a:rPr lang="es-ES" sz="1000" b="0" dirty="0" err="1">
                <a:solidFill>
                  <a:prstClr val="black"/>
                </a:solidFill>
              </a:rPr>
              <a:t>Selenium</a:t>
            </a:r>
            <a:r>
              <a:rPr lang="es-ES" sz="1000" b="0" dirty="0">
                <a:solidFill>
                  <a:prstClr val="black"/>
                </a:solidFill>
              </a:rPr>
              <a:t> y Python.</a:t>
            </a:r>
          </a:p>
          <a:p>
            <a:pPr defTabSz="912813">
              <a:lnSpc>
                <a:spcPct val="100000"/>
              </a:lnSpc>
              <a:spcBef>
                <a:spcPts val="0"/>
              </a:spcBef>
              <a:tabLst>
                <a:tab pos="917575" algn="l"/>
              </a:tabLst>
              <a:defRPr/>
            </a:pPr>
            <a:r>
              <a:rPr lang="es-ES" sz="1000" b="0" dirty="0">
                <a:solidFill>
                  <a:prstClr val="black"/>
                </a:solidFill>
              </a:rPr>
              <a:t>Construcción de pipelines en Jenkins utilizando Newman (</a:t>
            </a:r>
            <a:r>
              <a:rPr lang="es-ES" sz="1000" b="0" dirty="0" err="1">
                <a:solidFill>
                  <a:prstClr val="black"/>
                </a:solidFill>
              </a:rPr>
              <a:t>Postman</a:t>
            </a:r>
            <a:r>
              <a:rPr lang="es-ES" sz="1000" b="0" dirty="0">
                <a:solidFill>
                  <a:prstClr val="black"/>
                </a:solidFill>
              </a:rPr>
              <a:t>) y test runners en Python.</a:t>
            </a:r>
          </a:p>
          <a:p>
            <a:pPr defTabSz="912813">
              <a:lnSpc>
                <a:spcPct val="100000"/>
              </a:lnSpc>
              <a:spcBef>
                <a:spcPts val="0"/>
              </a:spcBef>
              <a:tabLst>
                <a:tab pos="917575" algn="l"/>
              </a:tabLst>
              <a:defRPr/>
            </a:pPr>
            <a:r>
              <a:rPr lang="es-ES" sz="1000" b="0" dirty="0">
                <a:solidFill>
                  <a:prstClr val="black"/>
                </a:solidFill>
              </a:rPr>
              <a:t>Diseño y ejecución de casos de prueba manuales.</a:t>
            </a:r>
          </a:p>
          <a:p>
            <a:pPr marL="0" indent="0" defTabSz="912813">
              <a:lnSpc>
                <a:spcPct val="100000"/>
              </a:lnSpc>
              <a:spcBef>
                <a:spcPts val="0"/>
              </a:spcBef>
              <a:buNone/>
              <a:tabLst>
                <a:tab pos="917575" algn="l"/>
              </a:tabLst>
              <a:defRPr/>
            </a:pPr>
            <a:endParaRPr lang="it-IT" sz="1000" b="0" dirty="0">
              <a:solidFill>
                <a:prstClr val="black"/>
              </a:solidFill>
            </a:endParaRPr>
          </a:p>
          <a:p>
            <a:pPr marL="0" indent="0" defTabSz="912813">
              <a:lnSpc>
                <a:spcPct val="100000"/>
              </a:lnSpc>
              <a:spcBef>
                <a:spcPts val="0"/>
              </a:spcBef>
              <a:buNone/>
              <a:tabLst>
                <a:tab pos="917575" algn="l"/>
              </a:tabLst>
              <a:defRPr/>
            </a:pPr>
            <a:r>
              <a:rPr lang="it-IT" sz="1000" dirty="0">
                <a:solidFill>
                  <a:prstClr val="black"/>
                </a:solidFill>
              </a:rPr>
              <a:t>Technical Documentation – IT Heliconia (2021)</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es-ES" sz="1000" b="0" dirty="0">
                <a:solidFill>
                  <a:prstClr val="black"/>
                </a:solidFill>
              </a:rPr>
              <a:t>Estandarización del marco de documentación técnica para mejorar la claridad, consistencia y mantenibilidad.</a:t>
            </a: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p:txBody>
          <a:bodyPr/>
          <a:lstStyle/>
          <a:p>
            <a:r>
              <a:rPr lang="en-US" dirty="0">
                <a:latin typeface="Graphik"/>
              </a:rPr>
              <a:t>Engineering</a:t>
            </a:r>
            <a:endParaRPr lang="en-US" dirty="0"/>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176139" y="4272380"/>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76139" y="4413677"/>
            <a:ext cx="2012108" cy="1018115"/>
          </a:xfrm>
          <a:prstGeom prst="rect">
            <a:avLst/>
          </a:prstGeom>
        </p:spPr>
        <p:txBody>
          <a:bodyPr vert="horz" lIns="91440" tIns="45720" rIns="91440" bIns="45720" rtlCol="0">
            <a:normAutofit lnSpcReduction="10000"/>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r>
              <a:rPr lang="es-ES" altLang="en-US" sz="900" dirty="0">
                <a:solidFill>
                  <a:prstClr val="black"/>
                </a:solidFill>
                <a:latin typeface="Calibri" panose="020F0502020204030204"/>
                <a:cs typeface="Arial"/>
              </a:rPr>
              <a:t>Logística</a:t>
            </a:r>
          </a:p>
          <a:p>
            <a:pPr marL="170781" indent="-170781">
              <a:lnSpc>
                <a:spcPct val="100000"/>
              </a:lnSpc>
              <a:spcBef>
                <a:spcPts val="450"/>
              </a:spcBef>
              <a:tabLst>
                <a:tab pos="133270" algn="l"/>
              </a:tabLst>
              <a:defRPr/>
            </a:pPr>
            <a:r>
              <a:rPr lang="es-ES" altLang="en-US" sz="900" dirty="0">
                <a:solidFill>
                  <a:prstClr val="black"/>
                </a:solidFill>
                <a:latin typeface="Calibri" panose="020F0502020204030204"/>
                <a:cs typeface="Arial"/>
              </a:rPr>
              <a:t>Tecnología </a:t>
            </a:r>
            <a:r>
              <a:rPr lang="es-ES" altLang="en-US" sz="900" dirty="0" err="1">
                <a:solidFill>
                  <a:prstClr val="black"/>
                </a:solidFill>
                <a:latin typeface="Calibri" panose="020F0502020204030204"/>
                <a:cs typeface="Arial"/>
              </a:rPr>
              <a:t>Retail</a:t>
            </a:r>
            <a:endParaRPr lang="es-E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r>
              <a:rPr lang="es-ES" altLang="en-US" sz="900" dirty="0">
                <a:solidFill>
                  <a:prstClr val="black"/>
                </a:solidFill>
                <a:latin typeface="Calibri" panose="020F0502020204030204"/>
                <a:cs typeface="Arial"/>
              </a:rPr>
              <a:t>Automatización &amp; Orquestación</a:t>
            </a:r>
          </a:p>
          <a:p>
            <a:pPr marL="170781" indent="-170781">
              <a:lnSpc>
                <a:spcPct val="100000"/>
              </a:lnSpc>
              <a:spcBef>
                <a:spcPts val="450"/>
              </a:spcBef>
              <a:tabLst>
                <a:tab pos="133270" algn="l"/>
              </a:tabLst>
              <a:defRPr/>
            </a:pPr>
            <a:r>
              <a:rPr lang="es-ES" altLang="en-US" sz="900" dirty="0">
                <a:solidFill>
                  <a:prstClr val="black"/>
                </a:solidFill>
                <a:latin typeface="Calibri" panose="020F0502020204030204"/>
                <a:cs typeface="Arial"/>
              </a:rPr>
              <a:t>SaaS / Servicios API</a:t>
            </a:r>
          </a:p>
          <a:p>
            <a:pPr marL="170781" indent="-170781">
              <a:lnSpc>
                <a:spcPct val="100000"/>
              </a:lnSpc>
              <a:spcBef>
                <a:spcPts val="450"/>
              </a:spcBef>
              <a:tabLst>
                <a:tab pos="133270" algn="l"/>
              </a:tabLst>
              <a:defRPr/>
            </a:pPr>
            <a:r>
              <a:rPr lang="es-ES" altLang="en-US" sz="900" dirty="0">
                <a:solidFill>
                  <a:prstClr val="black"/>
                </a:solidFill>
                <a:latin typeface="Calibri" panose="020F0502020204030204"/>
                <a:cs typeface="Arial"/>
              </a:rPr>
              <a:t>Gobierno &amp; Sector Público</a:t>
            </a:r>
            <a:endParaRPr lang="en-U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245785"/>
            <a:ext cx="2342612"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CERTIFICATIONS</a:t>
            </a:r>
            <a:endParaRPr lang="en-US" sz="1100" b="1" dirty="0">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41211" y="5603433"/>
            <a:ext cx="2781010" cy="553998"/>
          </a:xfrm>
          <a:prstGeom prst="rect">
            <a:avLst/>
          </a:prstGeom>
          <a:noFill/>
        </p:spPr>
        <p:txBody>
          <a:bodyPr wrap="square" rtlCol="0">
            <a:spAutoFit/>
          </a:bodyPr>
          <a:lstStyle/>
          <a:p>
            <a:r>
              <a:rPr lang="es-ES" sz="1000" dirty="0">
                <a:solidFill>
                  <a:prstClr val="black"/>
                </a:solidFill>
              </a:rPr>
              <a:t>Tecnicatura Superior en Programación y Análisis de Sistemas – ITEC Nº3 Posadas</a:t>
            </a:r>
            <a:br>
              <a:rPr lang="es-AR" sz="1000" dirty="0">
                <a:solidFill>
                  <a:prstClr val="black"/>
                </a:solidFill>
              </a:rPr>
            </a:br>
            <a:endParaRPr lang="en-US" sz="1000" dirty="0">
              <a:solidFill>
                <a:prstClr val="black"/>
              </a:solidFill>
            </a:endParaRPr>
          </a:p>
        </p:txBody>
      </p:sp>
      <p:pic>
        <p:nvPicPr>
          <p:cNvPr id="20" name="Picture Placeholder 19">
            <a:extLst>
              <a:ext uri="{FF2B5EF4-FFF2-40B4-BE49-F238E27FC236}">
                <a16:creationId xmlns:a16="http://schemas.microsoft.com/office/drawing/2014/main" id="{12A158B4-C664-98D0-FFEF-B256149F04FC}"/>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t="14794" b="32083"/>
          <a:stretch>
            <a:fillRect/>
          </a:stretch>
        </p:blipFill>
        <p:spPr>
          <a:xfrm>
            <a:off x="642938" y="88224"/>
            <a:ext cx="1336675" cy="1262381"/>
          </a:xfrm>
        </p:spPr>
      </p:pic>
      <p:sp>
        <p:nvSpPr>
          <p:cNvPr id="28" name="TextBox 27">
            <a:extLst>
              <a:ext uri="{FF2B5EF4-FFF2-40B4-BE49-F238E27FC236}">
                <a16:creationId xmlns:a16="http://schemas.microsoft.com/office/drawing/2014/main" id="{74EF62E8-E443-D759-C210-C96CCC383E4B}"/>
              </a:ext>
            </a:extLst>
          </p:cNvPr>
          <p:cNvSpPr txBox="1"/>
          <p:nvPr/>
        </p:nvSpPr>
        <p:spPr>
          <a:xfrm>
            <a:off x="3176124" y="5655699"/>
            <a:ext cx="2419075" cy="261610"/>
          </a:xfrm>
          <a:prstGeom prst="rect">
            <a:avLst/>
          </a:prstGeom>
          <a:noFill/>
        </p:spPr>
        <p:txBody>
          <a:bodyPr wrap="square" rtlCol="0">
            <a:spAutoFit/>
          </a:bodyPr>
          <a:lstStyle/>
          <a:p>
            <a:r>
              <a:rPr lang="es-AR" sz="1100" b="1" dirty="0">
                <a:solidFill>
                  <a:srgbClr val="7030A0"/>
                </a:solidFill>
                <a:latin typeface="Graphik" panose="020B0503030202060203" pitchFamily="34" charset="0"/>
              </a:rPr>
              <a:t>LANGUAGES</a:t>
            </a:r>
            <a:endParaRPr lang="en-US" sz="1100" b="1" dirty="0">
              <a:solidFill>
                <a:srgbClr val="7030A0"/>
              </a:solidFill>
              <a:latin typeface="Graphik" panose="020B0503030202060203" pitchFamily="34" charset="0"/>
            </a:endParaRPr>
          </a:p>
        </p:txBody>
      </p:sp>
      <p:sp>
        <p:nvSpPr>
          <p:cNvPr id="29" name="TextBox 28">
            <a:extLst>
              <a:ext uri="{FF2B5EF4-FFF2-40B4-BE49-F238E27FC236}">
                <a16:creationId xmlns:a16="http://schemas.microsoft.com/office/drawing/2014/main" id="{DA874FFC-E9EC-1AC7-9544-339FB732C50D}"/>
              </a:ext>
            </a:extLst>
          </p:cNvPr>
          <p:cNvSpPr txBox="1"/>
          <p:nvPr/>
        </p:nvSpPr>
        <p:spPr>
          <a:xfrm>
            <a:off x="3214355" y="5924868"/>
            <a:ext cx="2121260" cy="571951"/>
          </a:xfrm>
          <a:prstGeom prst="rect">
            <a:avLst/>
          </a:prstGeom>
          <a:noFill/>
        </p:spPr>
        <p:txBody>
          <a:bodyPr wrap="square" rtlCol="0">
            <a:spAutoFit/>
          </a:bodyPr>
          <a:lstStyle/>
          <a:p>
            <a:pPr marL="170781" indent="-170781">
              <a:spcBef>
                <a:spcPts val="450"/>
              </a:spcBef>
              <a:buFont typeface="Arial" panose="020B0604020202020204" pitchFamily="34" charset="0"/>
              <a:buChar char="•"/>
              <a:tabLst>
                <a:tab pos="133270" algn="l"/>
              </a:tabLst>
              <a:defRPr/>
            </a:pPr>
            <a:r>
              <a:rPr lang="en-US" sz="900" dirty="0" err="1">
                <a:solidFill>
                  <a:prstClr val="black"/>
                </a:solidFill>
                <a:latin typeface="Calibri" panose="020F0502020204030204"/>
                <a:cs typeface="Arial"/>
              </a:rPr>
              <a:t>Espa</a:t>
            </a:r>
            <a:r>
              <a:rPr lang="es-AR" sz="900" dirty="0" err="1">
                <a:solidFill>
                  <a:prstClr val="black"/>
                </a:solidFill>
                <a:latin typeface="Calibri" panose="020F0502020204030204"/>
                <a:cs typeface="Arial"/>
              </a:rPr>
              <a:t>ñol</a:t>
            </a:r>
            <a:r>
              <a:rPr lang="es-AR" sz="900" dirty="0">
                <a:solidFill>
                  <a:prstClr val="black"/>
                </a:solidFill>
                <a:latin typeface="Calibri" panose="020F0502020204030204"/>
                <a:cs typeface="Arial"/>
              </a:rPr>
              <a:t>: Nativo</a:t>
            </a:r>
            <a:endParaRPr lang="en-US" sz="900" dirty="0">
              <a:solidFill>
                <a:prstClr val="black"/>
              </a:solidFill>
              <a:latin typeface="Calibri" panose="020F0502020204030204"/>
              <a:cs typeface="Arial"/>
            </a:endParaRPr>
          </a:p>
          <a:p>
            <a:pPr marL="170781" indent="-170781">
              <a:spcBef>
                <a:spcPts val="450"/>
              </a:spcBef>
              <a:buFont typeface="Arial" panose="020B0604020202020204" pitchFamily="34" charset="0"/>
              <a:buChar char="•"/>
              <a:tabLst>
                <a:tab pos="133270" algn="l"/>
              </a:tabLst>
              <a:defRPr/>
            </a:pPr>
            <a:r>
              <a:rPr lang="en-US" sz="900" dirty="0">
                <a:solidFill>
                  <a:prstClr val="black"/>
                </a:solidFill>
                <a:latin typeface="Calibri" panose="020F0502020204030204"/>
                <a:cs typeface="Arial"/>
              </a:rPr>
              <a:t>Ingles</a:t>
            </a:r>
            <a:r>
              <a:rPr lang="en-US" sz="900">
                <a:solidFill>
                  <a:prstClr val="black"/>
                </a:solidFill>
                <a:latin typeface="Calibri" panose="020F0502020204030204"/>
                <a:cs typeface="Arial"/>
              </a:rPr>
              <a:t>: B1</a:t>
            </a:r>
            <a:br>
              <a:rPr lang="es-AR" sz="900" dirty="0">
                <a:solidFill>
                  <a:prstClr val="black"/>
                </a:solidFill>
                <a:latin typeface="Calibri" panose="020F0502020204030204"/>
                <a:cs typeface="Arial"/>
              </a:rPr>
            </a:br>
            <a:endParaRPr lang="en-US" sz="900" dirty="0">
              <a:solidFill>
                <a:prstClr val="black"/>
              </a:solidFill>
              <a:latin typeface="Calibri" panose="020F0502020204030204"/>
              <a:cs typeface="Arial"/>
            </a:endParaRPr>
          </a:p>
        </p:txBody>
      </p:sp>
    </p:spTree>
    <p:extLst>
      <p:ext uri="{BB962C8B-B14F-4D97-AF65-F5344CB8AC3E}">
        <p14:creationId xmlns:p14="http://schemas.microsoft.com/office/powerpoint/2010/main" val="17784784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b3e803809cee597fc3b47f0bb07c2c3c">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31b344b0215af432afecb1c8ed6d0c85"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47C9F46-D4ED-4F78-9FE1-7B20C7A3C8D8}"/>
</file>

<file path=customXml/itemProps2.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3.xml><?xml version="1.0" encoding="utf-8"?>
<ds:datastoreItem xmlns:ds="http://schemas.openxmlformats.org/officeDocument/2006/customXml" ds:itemID="{A4FDDEF0-1083-4094-9B20-46F9C8F1434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758</Words>
  <Application>Microsoft Office PowerPoint</Application>
  <PresentationFormat>Widescreen</PresentationFormat>
  <Paragraphs>94</Paragraphs>
  <Slides>2</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10" baseType="lpstr">
      <vt:lpstr>Arial</vt:lpstr>
      <vt:lpstr>Calibri</vt:lpstr>
      <vt:lpstr>Calibri Light</vt:lpstr>
      <vt:lpstr>Graphik</vt:lpstr>
      <vt:lpstr>Graphik Black</vt:lpstr>
      <vt:lpstr>Graphik Super</vt:lpstr>
      <vt:lpstr>1_Office Theme</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lastModifiedBy>Tiseira, Juan Ignacio</cp:lastModifiedBy>
  <cp:revision>8</cp:revision>
  <dcterms:created xsi:type="dcterms:W3CDTF">2022-03-18T18:13:59Z</dcterms:created>
  <dcterms:modified xsi:type="dcterms:W3CDTF">2026-03-05T18:13:08Z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ies>
</file>