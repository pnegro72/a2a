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076136191" r:id="rId5"/>
    <p:sldId id="207613619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3C12E4-1DB8-8D4C-8DFB-C21675AB3A15}" v="306" dt="2026-04-28T11:58:35.181"/>
    <p1510:client id="{B9FAF085-B080-A177-A161-6E60A077D798}" v="14" dt="2026-04-28T12:01:47.5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99" d="100"/>
          <a:sy n="99" d="100"/>
        </p:scale>
        <p:origin x="58" y="2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Short Headline and 2 Columns">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7877665F-10BD-4C6C-AC32-89F087D69A77}"/>
              </a:ext>
            </a:extLst>
          </p:cNvPr>
          <p:cNvGraphicFramePr>
            <a:graphicFrameLocks noChangeAspect="1"/>
          </p:cNvGraphicFramePr>
          <p:nvPr userDrawn="1">
            <p:custDataLst>
              <p:tags r:id="rId1"/>
            </p:custDataLst>
          </p:nvPr>
        </p:nvGraphicFramePr>
        <p:xfrm>
          <a:off x="1589" y="1588"/>
          <a:ext cx="1588"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a:extLst>
                          <a:ext uri="{FF2B5EF4-FFF2-40B4-BE49-F238E27FC236}">
                            <a16:creationId xmlns:a16="http://schemas.microsoft.com/office/drawing/2014/main" id="{7877665F-10BD-4C6C-AC32-89F087D69A77}"/>
                          </a:ext>
                        </a:extLst>
                      </p:cNvPr>
                      <p:cNvPicPr/>
                      <p:nvPr/>
                    </p:nvPicPr>
                    <p:blipFill>
                      <a:blip r:embed="rId4"/>
                      <a:stretch>
                        <a:fillRect/>
                      </a:stretch>
                    </p:blipFill>
                    <p:spPr>
                      <a:xfrm>
                        <a:off x="1589" y="1588"/>
                        <a:ext cx="1588" cy="1587"/>
                      </a:xfrm>
                      <a:prstGeom prst="rect">
                        <a:avLst/>
                      </a:prstGeom>
                    </p:spPr>
                  </p:pic>
                </p:oleObj>
              </mc:Fallback>
            </mc:AlternateContent>
          </a:graphicData>
        </a:graphic>
      </p:graphicFrame>
      <p:sp>
        <p:nvSpPr>
          <p:cNvPr id="7" name="Footer Placeholder 6"/>
          <p:cNvSpPr>
            <a:spLocks noGrp="1"/>
          </p:cNvSpPr>
          <p:nvPr>
            <p:ph type="ftr" sz="quarter" idx="16"/>
          </p:nvPr>
        </p:nvSpPr>
        <p:spPr/>
        <p:txBody>
          <a:bodyPr/>
          <a:lstStyle/>
          <a:p>
            <a:r>
              <a:rPr lang="en-US"/>
              <a:t>Copyright © 2018 Accenture. All rights reserved.</a:t>
            </a:r>
          </a:p>
        </p:txBody>
      </p:sp>
      <p:sp>
        <p:nvSpPr>
          <p:cNvPr id="10" name="Slide Number Placeholder 9"/>
          <p:cNvSpPr>
            <a:spLocks noGrp="1"/>
          </p:cNvSpPr>
          <p:nvPr>
            <p:ph type="sldNum" sz="quarter" idx="17"/>
          </p:nvPr>
        </p:nvSpPr>
        <p:spPr/>
        <p:txBody>
          <a:bodyPr/>
          <a:lstStyle/>
          <a:p>
            <a:fld id="{4F9AC08D-23A9-440E-BCB9-AA1E9877CC38}" type="slidenum">
              <a:rPr lang="en-US" smtClean="0"/>
              <a:pPr/>
              <a:t>‹#›</a:t>
            </a:fld>
            <a:endParaRPr lang="en-US"/>
          </a:p>
        </p:txBody>
      </p:sp>
      <p:sp>
        <p:nvSpPr>
          <p:cNvPr id="6" name="Content Placeholder 5"/>
          <p:cNvSpPr>
            <a:spLocks noGrp="1"/>
          </p:cNvSpPr>
          <p:nvPr>
            <p:ph sz="quarter" idx="18"/>
          </p:nvPr>
        </p:nvSpPr>
        <p:spPr>
          <a:xfrm>
            <a:off x="381000" y="1828803"/>
            <a:ext cx="5715000" cy="4689475"/>
          </a:xfrm>
        </p:spPr>
        <p:txBody>
          <a:bodyPr>
            <a:normAutofit/>
          </a:bodyPr>
          <a:lstStyle>
            <a:lvl1pPr>
              <a:defRPr sz="2399"/>
            </a:lvl1pPr>
            <a:lvl2pPr>
              <a:spcAft>
                <a:spcPts val="1200"/>
              </a:spcAft>
              <a:defRPr sz="1999"/>
            </a:lvl2pPr>
            <a:lvl3pPr marL="514029" indent="-230044">
              <a:buFont typeface="Graphik" panose="020B0503030202060203" pitchFamily="34" charset="0"/>
              <a:buChar char="–"/>
              <a:defRPr sz="1599"/>
            </a:lvl3pPr>
            <a:lvl5pPr marL="856715" indent="-177689">
              <a:buFont typeface="Graphik" panose="020B0503030202060203" pitchFamily="34" charset="0"/>
              <a:buChar char="–"/>
              <a:defRPr/>
            </a:lvl5pPr>
          </a:lstStyle>
          <a:p>
            <a:pPr lvl="0"/>
            <a:r>
              <a:rPr lang="en-US"/>
              <a:t>Edit Master text styles</a:t>
            </a:r>
          </a:p>
          <a:p>
            <a:pPr lvl="1"/>
            <a:r>
              <a:rPr lang="en-US"/>
              <a:t>Second level</a:t>
            </a:r>
          </a:p>
          <a:p>
            <a:pPr lvl="2"/>
            <a:r>
              <a:rPr lang="en-US"/>
              <a:t>Third level</a:t>
            </a:r>
          </a:p>
        </p:txBody>
      </p:sp>
      <p:sp>
        <p:nvSpPr>
          <p:cNvPr id="11" name="Title 10"/>
          <p:cNvSpPr>
            <a:spLocks noGrp="1"/>
          </p:cNvSpPr>
          <p:nvPr>
            <p:ph type="title"/>
          </p:nvPr>
        </p:nvSpPr>
        <p:spPr>
          <a:xfrm>
            <a:off x="381000" y="381000"/>
            <a:ext cx="5715000" cy="990601"/>
          </a:xfrm>
        </p:spPr>
        <p:txBody>
          <a:bodyPr/>
          <a:lstStyle/>
          <a:p>
            <a:r>
              <a:rPr lang="en-US"/>
              <a:t>Click to edit Master title style</a:t>
            </a:r>
          </a:p>
        </p:txBody>
      </p:sp>
      <p:sp>
        <p:nvSpPr>
          <p:cNvPr id="8" name="Content Placeholder 5"/>
          <p:cNvSpPr>
            <a:spLocks noGrp="1"/>
          </p:cNvSpPr>
          <p:nvPr>
            <p:ph sz="quarter" idx="19"/>
          </p:nvPr>
        </p:nvSpPr>
        <p:spPr>
          <a:xfrm>
            <a:off x="6096000" y="1828803"/>
            <a:ext cx="5715000" cy="4689475"/>
          </a:xfrm>
        </p:spPr>
        <p:txBody>
          <a:bodyPr>
            <a:normAutofit/>
          </a:bodyPr>
          <a:lstStyle>
            <a:lvl1pPr>
              <a:defRPr sz="2399"/>
            </a:lvl1pPr>
            <a:lvl2pPr>
              <a:spcAft>
                <a:spcPts val="1200"/>
              </a:spcAft>
              <a:defRPr sz="1999"/>
            </a:lvl2pPr>
            <a:lvl3pPr marL="514029" indent="-230044">
              <a:buFont typeface="Graphik" panose="020B0503030202060203" pitchFamily="34" charset="0"/>
              <a:buChar char="–"/>
              <a:defRPr sz="1599"/>
            </a:lvl3pPr>
            <a:lvl5pPr marL="856715" indent="-177689">
              <a:buFont typeface="Graphik" panose="020B0503030202060203" pitchFamily="34" charset="0"/>
              <a:buChar char="–"/>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62059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emplate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3791" y="-46505"/>
            <a:ext cx="12184418" cy="19390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p:nvPr>
        </p:nvSpPr>
        <p:spPr>
          <a:xfrm>
            <a:off x="642938" y="88223"/>
            <a:ext cx="1336675" cy="1673225"/>
          </a:xfrm>
        </p:spPr>
        <p:txBody>
          <a:bodyPr/>
          <a:lstStyle/>
          <a:p>
            <a:endParaRPr lang="en-US"/>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384558" y="6517088"/>
            <a:ext cx="5711445" cy="206246"/>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2020 Accenture. All rights reserved.</a:t>
            </a:r>
          </a:p>
        </p:txBody>
      </p:sp>
      <p:sp>
        <p:nvSpPr>
          <p:cNvPr id="16" name="Slide Number Placeholder 9">
            <a:extLst>
              <a:ext uri="{FF2B5EF4-FFF2-40B4-BE49-F238E27FC236}">
                <a16:creationId xmlns:a16="http://schemas.microsoft.com/office/drawing/2014/main" id="{AEE8CA5D-8B85-43BD-926A-533776C7D0B7}"/>
              </a:ext>
            </a:extLst>
          </p:cNvPr>
          <p:cNvSpPr>
            <a:spLocks noGrp="1"/>
          </p:cNvSpPr>
          <p:nvPr>
            <p:ph type="sldNum" sz="quarter" idx="4"/>
          </p:nvPr>
        </p:nvSpPr>
        <p:spPr>
          <a:xfrm>
            <a:off x="9209312" y="6490741"/>
            <a:ext cx="2743200" cy="365125"/>
          </a:xfrm>
          <a:prstGeom prst="rect">
            <a:avLst/>
          </a:prstGeom>
        </p:spPr>
        <p:txBody>
          <a:bodyPr anchor="ctr"/>
          <a:lstStyle>
            <a:lvl1pPr algn="r">
              <a:defRPr kumimoji="0" lang="en-US" sz="1000" b="0" i="0" u="none" strike="noStrike" kern="1200" cap="none" spc="0" normalizeH="0" baseline="0" smtClean="0">
                <a:ln>
                  <a:noFill/>
                </a:ln>
                <a:solidFill>
                  <a:prstClr val="white">
                    <a:lumMod val="65000"/>
                  </a:prstClr>
                </a:solidFill>
                <a:effectLst/>
                <a:uLnTx/>
                <a:uFillTx/>
                <a:latin typeface="Arial"/>
                <a:ea typeface="+mn-ea"/>
                <a:cs typeface="+mn-cs"/>
              </a:defRPr>
            </a:lvl1pPr>
          </a:lstStyle>
          <a:p>
            <a:fld id="{4F9AC08D-23A9-440E-BCB9-AA1E9877CC38}" type="slidenum">
              <a:rPr lang="en-US" smtClean="0"/>
              <a:pPr/>
              <a:t>‹#›</a:t>
            </a:fld>
            <a:endParaRPr lang="en-US"/>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9394130" y="-3677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299975" y="2132513"/>
            <a:ext cx="2679306"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AREAS OF EXPERTISE</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5252944" y="2132513"/>
            <a:ext cx="5408559"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SELECTED EXPERIENCE</a:t>
            </a:r>
            <a:endParaRPr kumimoji="0" lang="en-US"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248824" y="2132513"/>
            <a:ext cx="2667718" cy="276999"/>
          </a:xfrm>
          <a:prstGeom prst="rect">
            <a:avLst/>
          </a:prstGeom>
        </p:spPr>
        <p:txBody>
          <a:bodyPr wrap="none">
            <a:spAutoFit/>
          </a:bodyPr>
          <a:lstStyle/>
          <a:p>
            <a:r>
              <a:rPr kumimoji="0" lang="en-US" sz="1200" b="1" i="0" u="none" strike="noStrike" kern="1200" cap="none" spc="0" normalizeH="0" baseline="0">
                <a:ln>
                  <a:noFill/>
                </a:ln>
                <a:solidFill>
                  <a:srgbClr val="7030A0"/>
                </a:solidFill>
                <a:effectLst/>
                <a:uLnTx/>
                <a:uFillTx/>
                <a:latin typeface="Graphik Super" panose="020B0B03030202060203" pitchFamily="34" charset="0"/>
                <a:ea typeface="+mn-ea"/>
                <a:cs typeface="+mn-cs"/>
              </a:rPr>
              <a:t>PROFESSIONAL BACKGROUND</a:t>
            </a:r>
          </a:p>
        </p:txBody>
      </p:sp>
      <p:grpSp>
        <p:nvGrpSpPr>
          <p:cNvPr id="41" name="Group 40">
            <a:extLst>
              <a:ext uri="{FF2B5EF4-FFF2-40B4-BE49-F238E27FC236}">
                <a16:creationId xmlns:a16="http://schemas.microsoft.com/office/drawing/2014/main" id="{4F4863CF-A9CF-4E25-8C24-C00A183C18E3}"/>
              </a:ext>
            </a:extLst>
          </p:cNvPr>
          <p:cNvGrpSpPr/>
          <p:nvPr userDrawn="1"/>
        </p:nvGrpSpPr>
        <p:grpSpPr>
          <a:xfrm>
            <a:off x="237237" y="2237951"/>
            <a:ext cx="5074087" cy="4252790"/>
            <a:chOff x="470702" y="2490873"/>
            <a:chExt cx="5074087" cy="4252790"/>
          </a:xfrm>
        </p:grpSpPr>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470702" y="2490873"/>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3C22190-B227-49DD-8F11-48D76E075E94}"/>
                </a:ext>
              </a:extLst>
            </p:cNvPr>
            <p:cNvCxnSpPr>
              <a:cxnSpLocks/>
            </p:cNvCxnSpPr>
            <p:nvPr userDrawn="1"/>
          </p:nvCxnSpPr>
          <p:spPr>
            <a:xfrm>
              <a:off x="3312947" y="2490875"/>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7EE7479-6552-4B10-8999-F9FFF684DA70}"/>
                </a:ext>
              </a:extLst>
            </p:cNvPr>
            <p:cNvCxnSpPr>
              <a:cxnSpLocks/>
            </p:cNvCxnSpPr>
            <p:nvPr userDrawn="1"/>
          </p:nvCxnSpPr>
          <p:spPr>
            <a:xfrm flipH="1">
              <a:off x="5544788" y="2518340"/>
              <a:ext cx="1" cy="4225323"/>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5" name="Text Placeholder 31">
            <a:extLst>
              <a:ext uri="{FF2B5EF4-FFF2-40B4-BE49-F238E27FC236}">
                <a16:creationId xmlns:a16="http://schemas.microsoft.com/office/drawing/2014/main" id="{F3D691ED-AD26-4C5B-A0B8-F0E39B64E481}"/>
              </a:ext>
            </a:extLst>
          </p:cNvPr>
          <p:cNvSpPr>
            <a:spLocks noGrp="1"/>
          </p:cNvSpPr>
          <p:nvPr>
            <p:ph type="body" sz="quarter" idx="11" hasCustomPrompt="1"/>
          </p:nvPr>
        </p:nvSpPr>
        <p:spPr>
          <a:xfrm>
            <a:off x="2369005" y="59040"/>
            <a:ext cx="654153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Name Last Name</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p:ph type="body" sz="quarter" idx="12" hasCustomPrompt="1"/>
          </p:nvPr>
        </p:nvSpPr>
        <p:spPr>
          <a:xfrm>
            <a:off x="2369005" y="504446"/>
            <a:ext cx="6541532" cy="317045"/>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Role</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p:ph type="body" sz="quarter" idx="13" hasCustomPrompt="1"/>
          </p:nvPr>
        </p:nvSpPr>
        <p:spPr>
          <a:xfrm>
            <a:off x="2369005" y="1202219"/>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p:ph type="body" sz="quarter" idx="14" hasCustomPrompt="1"/>
          </p:nvPr>
        </p:nvSpPr>
        <p:spPr>
          <a:xfrm>
            <a:off x="2369005" y="1517216"/>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Home location: City, Country</a:t>
            </a:r>
          </a:p>
        </p:txBody>
      </p:sp>
      <p:sp>
        <p:nvSpPr>
          <p:cNvPr id="5" name="Text Placeholder 4">
            <a:extLst>
              <a:ext uri="{FF2B5EF4-FFF2-40B4-BE49-F238E27FC236}">
                <a16:creationId xmlns:a16="http://schemas.microsoft.com/office/drawing/2014/main" id="{A9E78606-7DF7-4ECE-BFD6-9805E216A984}"/>
              </a:ext>
            </a:extLst>
          </p:cNvPr>
          <p:cNvSpPr>
            <a:spLocks noGrp="1"/>
          </p:cNvSpPr>
          <p:nvPr>
            <p:ph type="body" sz="quarter" idx="16"/>
          </p:nvPr>
        </p:nvSpPr>
        <p:spPr>
          <a:xfrm>
            <a:off x="341211" y="2421646"/>
            <a:ext cx="2586918" cy="2983301"/>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p:txBody>
      </p:sp>
      <p:sp>
        <p:nvSpPr>
          <p:cNvPr id="9" name="Text Placeholder 8">
            <a:extLst>
              <a:ext uri="{FF2B5EF4-FFF2-40B4-BE49-F238E27FC236}">
                <a16:creationId xmlns:a16="http://schemas.microsoft.com/office/drawing/2014/main" id="{C824ABDA-AF82-4D3F-B9B8-924763598D47}"/>
              </a:ext>
            </a:extLst>
          </p:cNvPr>
          <p:cNvSpPr>
            <a:spLocks noGrp="1"/>
          </p:cNvSpPr>
          <p:nvPr>
            <p:ph type="body" sz="quarter" idx="17"/>
          </p:nvPr>
        </p:nvSpPr>
        <p:spPr>
          <a:xfrm>
            <a:off x="3231099" y="2739487"/>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p:ph type="body" sz="quarter" idx="18"/>
          </p:nvPr>
        </p:nvSpPr>
        <p:spPr>
          <a:xfrm>
            <a:off x="5427750" y="2437520"/>
            <a:ext cx="6524747" cy="3916033"/>
          </a:xfrm>
        </p:spPr>
        <p:txBody>
          <a:bodyPr/>
          <a:lstStyle>
            <a:lvl1pPr>
              <a:defRPr sz="1200" b="1"/>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p:ph type="body" sz="quarter" idx="19" hasCustomPrompt="1"/>
          </p:nvPr>
        </p:nvSpPr>
        <p:spPr>
          <a:xfrm>
            <a:off x="2369005" y="887223"/>
            <a:ext cx="6541532" cy="310896"/>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ES" err="1"/>
              <a:t>Major</a:t>
            </a:r>
            <a:r>
              <a:rPr lang="es-ES"/>
              <a:t> </a:t>
            </a:r>
            <a:endParaRPr lang="en-US"/>
          </a:p>
        </p:txBody>
      </p:sp>
      <p:sp>
        <p:nvSpPr>
          <p:cNvPr id="50" name="Text Placeholder 8">
            <a:extLst>
              <a:ext uri="{FF2B5EF4-FFF2-40B4-BE49-F238E27FC236}">
                <a16:creationId xmlns:a16="http://schemas.microsoft.com/office/drawing/2014/main" id="{3BBBEA3D-ACAB-4B7B-8EF3-C7C27964A6B9}"/>
              </a:ext>
            </a:extLst>
          </p:cNvPr>
          <p:cNvSpPr>
            <a:spLocks noGrp="1"/>
          </p:cNvSpPr>
          <p:nvPr>
            <p:ph type="body" sz="quarter" idx="20"/>
          </p:nvPr>
        </p:nvSpPr>
        <p:spPr>
          <a:xfrm>
            <a:off x="3255677" y="4272823"/>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3066510" y="2421103"/>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FUNCTIONAL</a:t>
            </a:r>
          </a:p>
        </p:txBody>
      </p:sp>
      <p:sp>
        <p:nvSpPr>
          <p:cNvPr id="54" name="Rectangle 12">
            <a:extLst>
              <a:ext uri="{FF2B5EF4-FFF2-40B4-BE49-F238E27FC236}">
                <a16:creationId xmlns:a16="http://schemas.microsoft.com/office/drawing/2014/main" id="{6C494296-126C-42D3-943D-AC2F5E54E594}"/>
              </a:ext>
            </a:extLst>
          </p:cNvPr>
          <p:cNvSpPr>
            <a:spLocks noChangeArrowheads="1"/>
          </p:cNvSpPr>
          <p:nvPr userDrawn="1"/>
        </p:nvSpPr>
        <p:spPr bwMode="auto">
          <a:xfrm>
            <a:off x="3066510" y="3926442"/>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INDUSTRY</a:t>
            </a:r>
          </a:p>
        </p:txBody>
      </p:sp>
    </p:spTree>
    <p:extLst>
      <p:ext uri="{BB962C8B-B14F-4D97-AF65-F5344CB8AC3E}">
        <p14:creationId xmlns:p14="http://schemas.microsoft.com/office/powerpoint/2010/main" val="27331879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FD2A40-219B-4A42-BDCD-91ED101679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2AC728-5E8B-42F7-9F39-F04825FAA4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B3194B-FBE7-4F5A-BBFD-20B6E0DC0B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56486-13E7-424D-BC87-91F135AC8676}" type="datetimeFigureOut">
              <a:rPr lang="en-US" smtClean="0"/>
              <a:t>4/28/2026</a:t>
            </a:fld>
            <a:endParaRPr lang="en-US"/>
          </a:p>
        </p:txBody>
      </p:sp>
      <p:sp>
        <p:nvSpPr>
          <p:cNvPr id="5" name="Footer Placeholder 4">
            <a:extLst>
              <a:ext uri="{FF2B5EF4-FFF2-40B4-BE49-F238E27FC236}">
                <a16:creationId xmlns:a16="http://schemas.microsoft.com/office/drawing/2014/main" id="{32D166AE-AC75-490C-A610-1035733518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249CD1-69FD-462A-8C84-A583CCA694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A859B2-4A9A-4F64-9661-9DC88835B741}" type="slidenum">
              <a:rPr lang="en-US" smtClean="0"/>
              <a:t>‹#›</a:t>
            </a:fld>
            <a:endParaRPr lang="en-US"/>
          </a:p>
        </p:txBody>
      </p:sp>
    </p:spTree>
    <p:extLst>
      <p:ext uri="{BB962C8B-B14F-4D97-AF65-F5344CB8AC3E}">
        <p14:creationId xmlns:p14="http://schemas.microsoft.com/office/powerpoint/2010/main" val="250338571"/>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08BDC1-E9F8-4EEF-9FAB-00FC58FA9F3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ECB597F7-1063-46BB-A5C6-BD69CD4624A0}"/>
              </a:ext>
            </a:extLst>
          </p:cNvPr>
          <p:cNvSpPr>
            <a:spLocks noGrp="1"/>
          </p:cNvSpPr>
          <p:nvPr>
            <p:ph type="body" sz="quarter" idx="11"/>
          </p:nvPr>
        </p:nvSpPr>
        <p:spPr/>
        <p:txBody>
          <a:bodyPr vert="horz" lIns="91440" tIns="45720" rIns="91440" bIns="45720" rtlCol="0" anchor="t">
            <a:normAutofit fontScale="92500" lnSpcReduction="20000"/>
          </a:bodyPr>
          <a:lstStyle/>
          <a:p>
            <a:r>
              <a:rPr lang="en-US">
                <a:latin typeface="Graphik"/>
              </a:rPr>
              <a:t>Valeria R. Fortunati</a:t>
            </a:r>
            <a:endParaRPr lang="en-US"/>
          </a:p>
        </p:txBody>
      </p:sp>
      <p:sp>
        <p:nvSpPr>
          <p:cNvPr id="6" name="Text Placeholder 5">
            <a:extLst>
              <a:ext uri="{FF2B5EF4-FFF2-40B4-BE49-F238E27FC236}">
                <a16:creationId xmlns:a16="http://schemas.microsoft.com/office/drawing/2014/main" id="{643080F5-2607-4F7B-9264-C5041032336B}"/>
              </a:ext>
            </a:extLst>
          </p:cNvPr>
          <p:cNvSpPr>
            <a:spLocks noGrp="1"/>
          </p:cNvSpPr>
          <p:nvPr>
            <p:ph type="body" sz="quarter" idx="12"/>
          </p:nvPr>
        </p:nvSpPr>
        <p:spPr/>
        <p:txBody>
          <a:bodyPr vert="horz" lIns="91440" tIns="45720" rIns="91440" bIns="45720" rtlCol="0" anchor="t">
            <a:normAutofit fontScale="85000" lnSpcReduction="20000"/>
          </a:bodyPr>
          <a:lstStyle/>
          <a:p>
            <a:r>
              <a:rPr lang="es-AR" sz="2500" dirty="0">
                <a:latin typeface="graphik black"/>
              </a:rPr>
              <a:t>AI LLM </a:t>
            </a:r>
            <a:r>
              <a:rPr lang="es-AR" sz="2500" dirty="0" err="1">
                <a:latin typeface="graphik black"/>
              </a:rPr>
              <a:t>Technology</a:t>
            </a:r>
            <a:r>
              <a:rPr lang="es-AR" sz="2500" dirty="0">
                <a:latin typeface="graphik black"/>
              </a:rPr>
              <a:t> </a:t>
            </a:r>
            <a:r>
              <a:rPr lang="es-AR" sz="2500" dirty="0" err="1">
                <a:latin typeface="graphik black"/>
              </a:rPr>
              <a:t>Arch</a:t>
            </a:r>
            <a:r>
              <a:rPr lang="es-AR" sz="2500" dirty="0">
                <a:latin typeface="graphik black"/>
              </a:rPr>
              <a:t> </a:t>
            </a:r>
            <a:r>
              <a:rPr lang="es-AR" sz="2500" dirty="0" err="1">
                <a:latin typeface="graphik black"/>
              </a:rPr>
              <a:t>Analyst</a:t>
            </a:r>
            <a:endParaRPr lang="en-US" dirty="0"/>
          </a:p>
        </p:txBody>
      </p:sp>
      <p:sp>
        <p:nvSpPr>
          <p:cNvPr id="7" name="Text Placeholder 6">
            <a:extLst>
              <a:ext uri="{FF2B5EF4-FFF2-40B4-BE49-F238E27FC236}">
                <a16:creationId xmlns:a16="http://schemas.microsoft.com/office/drawing/2014/main" id="{D52E9116-884D-487E-A1F6-B67499333E59}"/>
              </a:ext>
            </a:extLst>
          </p:cNvPr>
          <p:cNvSpPr>
            <a:spLocks noGrp="1"/>
          </p:cNvSpPr>
          <p:nvPr>
            <p:ph type="body" sz="quarter" idx="13"/>
          </p:nvPr>
        </p:nvSpPr>
        <p:spPr/>
        <p:txBody>
          <a:bodyPr/>
          <a:lstStyle/>
          <a:p>
            <a:r>
              <a:rPr lang="en-US">
                <a:latin typeface="Graphik"/>
              </a:rPr>
              <a:t>valeria.fortunati@accenture.com</a:t>
            </a:r>
            <a:endParaRPr lang="en-US"/>
          </a:p>
        </p:txBody>
      </p:sp>
      <p:sp>
        <p:nvSpPr>
          <p:cNvPr id="10" name="Text Placeholder 9">
            <a:extLst>
              <a:ext uri="{FF2B5EF4-FFF2-40B4-BE49-F238E27FC236}">
                <a16:creationId xmlns:a16="http://schemas.microsoft.com/office/drawing/2014/main" id="{C3265563-7E7C-4DBB-AF77-CDEA802FB0B2}"/>
              </a:ext>
            </a:extLst>
          </p:cNvPr>
          <p:cNvSpPr>
            <a:spLocks noGrp="1"/>
          </p:cNvSpPr>
          <p:nvPr>
            <p:ph type="body" sz="quarter" idx="16"/>
          </p:nvPr>
        </p:nvSpPr>
        <p:spPr>
          <a:xfrm>
            <a:off x="341211" y="2421647"/>
            <a:ext cx="2650385" cy="2919138"/>
          </a:xfrm>
        </p:spPr>
        <p:txBody>
          <a:bodyPr vert="horz" lIns="91440" tIns="45720" rIns="91440" bIns="45720" rtlCol="0" anchor="t">
            <a:normAutofit fontScale="92500" lnSpcReduction="10000"/>
          </a:bodyPr>
          <a:lstStyle/>
          <a:p>
            <a:pPr marL="0" indent="0" algn="just">
              <a:buClr>
                <a:srgbClr val="549E39"/>
              </a:buClr>
              <a:buNone/>
              <a:defRPr/>
            </a:pPr>
            <a:br>
              <a:rPr lang="en-US" dirty="0">
                <a:ea typeface="Calibri"/>
                <a:cs typeface="Calibri"/>
              </a:rPr>
            </a:br>
            <a:r>
              <a:rPr lang="en-US">
                <a:ea typeface="+mn-lt"/>
                <a:cs typeface="+mn-lt"/>
              </a:rPr>
              <a:t>Aeronautical and aerospace Engineer at Universidad Nacional de La Plata (UNLP) with a strong technical foundation in software tools and data analysis. Over 4 years of experience spanning project coordination, systems analysis, and academic instruction. </a:t>
            </a:r>
          </a:p>
          <a:p>
            <a:pPr marL="0" indent="0" algn="just">
              <a:buNone/>
              <a:defRPr/>
            </a:pPr>
            <a:r>
              <a:rPr lang="en-US">
                <a:ea typeface="+mn-lt"/>
                <a:cs typeface="+mn-lt"/>
              </a:rPr>
              <a:t>Proven ability to combine analytical reasoning with problem-solving in multidisciplinary and remote environments.</a:t>
            </a:r>
            <a:endParaRPr lang="en-US">
              <a:ea typeface="Calibri"/>
              <a:cs typeface="Calibri"/>
            </a:endParaRPr>
          </a:p>
          <a:p>
            <a:pPr marL="0" indent="0" algn="just">
              <a:buNone/>
              <a:defRPr/>
            </a:pPr>
            <a:r>
              <a:rPr lang="en-US">
                <a:solidFill>
                  <a:prstClr val="black"/>
                </a:solidFill>
                <a:ea typeface="+mn-lt"/>
                <a:cs typeface="+mn-lt"/>
              </a:rPr>
              <a:t>Participated in internal initiatives related to data analysis and introductory Artificial Intelligence training.</a:t>
            </a:r>
            <a:endParaRPr lang="en-US">
              <a:solidFill>
                <a:prstClr val="black"/>
              </a:solidFill>
              <a:ea typeface="Calibri"/>
              <a:cs typeface="Calibri"/>
            </a:endParaRPr>
          </a:p>
          <a:p>
            <a:pPr algn="just">
              <a:buFont typeface="Arial"/>
              <a:buChar char="•"/>
              <a:defRPr/>
            </a:pPr>
            <a:r>
              <a:rPr lang="en-US">
                <a:solidFill>
                  <a:prstClr val="black"/>
                </a:solidFill>
                <a:ea typeface="+mn-lt"/>
                <a:cs typeface="+mn-lt"/>
              </a:rPr>
              <a:t>English (C2)</a:t>
            </a:r>
            <a:endParaRPr lang="en-US">
              <a:solidFill>
                <a:prstClr val="black"/>
              </a:solidFill>
            </a:endParaRPr>
          </a:p>
          <a:p>
            <a:pPr algn="just">
              <a:buFont typeface="Arial"/>
              <a:buChar char="•"/>
              <a:defRPr/>
            </a:pPr>
            <a:r>
              <a:rPr lang="en-US">
                <a:solidFill>
                  <a:prstClr val="black"/>
                </a:solidFill>
                <a:ea typeface="+mn-lt"/>
                <a:cs typeface="+mn-lt"/>
              </a:rPr>
              <a:t>Spanish (Native)</a:t>
            </a:r>
            <a:endParaRPr lang="en-US"/>
          </a:p>
          <a:p>
            <a:pPr marL="0" indent="0" algn="just">
              <a:buNone/>
              <a:defRPr/>
            </a:pPr>
            <a:endParaRPr lang="en-US" dirty="0">
              <a:solidFill>
                <a:prstClr val="black"/>
              </a:solidFill>
              <a:ea typeface="Calibri"/>
              <a:cs typeface="Calibri"/>
            </a:endParaRPr>
          </a:p>
          <a:p>
            <a:pPr marL="0" lvl="0" indent="0" algn="just">
              <a:lnSpc>
                <a:spcPct val="100000"/>
              </a:lnSpc>
              <a:spcBef>
                <a:spcPts val="300"/>
              </a:spcBef>
              <a:buNone/>
              <a:defRPr/>
            </a:pPr>
            <a:endParaRPr lang="en-US">
              <a:solidFill>
                <a:prstClr val="black"/>
              </a:solidFill>
              <a:ea typeface="Calibri"/>
              <a:cs typeface="Calibri"/>
            </a:endParaRPr>
          </a:p>
        </p:txBody>
      </p:sp>
      <p:sp>
        <p:nvSpPr>
          <p:cNvPr id="11" name="Text Placeholder 10">
            <a:extLst>
              <a:ext uri="{FF2B5EF4-FFF2-40B4-BE49-F238E27FC236}">
                <a16:creationId xmlns:a16="http://schemas.microsoft.com/office/drawing/2014/main" id="{1B95D3D0-EDF6-4D74-965C-4B25FEDFCCC5}"/>
              </a:ext>
            </a:extLst>
          </p:cNvPr>
          <p:cNvSpPr>
            <a:spLocks noGrp="1"/>
          </p:cNvSpPr>
          <p:nvPr>
            <p:ph type="body" sz="quarter" idx="17"/>
          </p:nvPr>
        </p:nvSpPr>
        <p:spPr>
          <a:xfrm>
            <a:off x="3176139" y="2639619"/>
            <a:ext cx="2251611" cy="1370691"/>
          </a:xfrm>
        </p:spPr>
        <p:txBody>
          <a:bodyPr vert="horz" lIns="91440" tIns="45720" rIns="91440" bIns="45720" rtlCol="0" anchor="t">
            <a:noAutofit/>
          </a:bodyPr>
          <a:lstStyle/>
          <a:p>
            <a:pPr marL="170180" indent="-170180">
              <a:lnSpc>
                <a:spcPct val="100000"/>
              </a:lnSpc>
              <a:spcBef>
                <a:spcPts val="450"/>
              </a:spcBef>
              <a:tabLst>
                <a:tab pos="133270" algn="l"/>
              </a:tabLst>
              <a:defRPr/>
            </a:pPr>
            <a:r>
              <a:rPr lang="en-US" sz="900" dirty="0">
                <a:solidFill>
                  <a:prstClr val="black"/>
                </a:solidFill>
                <a:latin typeface="Calibri"/>
                <a:ea typeface="Calibri" panose="020F0502020204030204"/>
                <a:cs typeface="Calibri"/>
              </a:rPr>
              <a:t>Python, MATLAB</a:t>
            </a:r>
            <a:endParaRPr lang="en-US" dirty="0"/>
          </a:p>
          <a:p>
            <a:pPr marL="170180" indent="-170180">
              <a:lnSpc>
                <a:spcPct val="100000"/>
              </a:lnSpc>
              <a:spcBef>
                <a:spcPts val="450"/>
              </a:spcBef>
              <a:tabLst>
                <a:tab pos="133270" algn="l"/>
              </a:tabLst>
              <a:defRPr/>
            </a:pPr>
            <a:r>
              <a:rPr lang="en-US" sz="900" dirty="0">
                <a:solidFill>
                  <a:prstClr val="black"/>
                </a:solidFill>
                <a:latin typeface="Calibri"/>
                <a:ea typeface="Calibri" panose="020F0502020204030204"/>
                <a:cs typeface="Calibri"/>
              </a:rPr>
              <a:t>Excel (Advanced/VBA) </a:t>
            </a:r>
          </a:p>
          <a:p>
            <a:pPr marL="170180" indent="-170180">
              <a:lnSpc>
                <a:spcPct val="100000"/>
              </a:lnSpc>
              <a:spcBef>
                <a:spcPts val="450"/>
              </a:spcBef>
              <a:tabLst>
                <a:tab pos="133270" algn="l"/>
              </a:tabLst>
              <a:defRPr/>
            </a:pPr>
            <a:r>
              <a:rPr lang="en-US" sz="900" dirty="0">
                <a:solidFill>
                  <a:prstClr val="black"/>
                </a:solidFill>
                <a:latin typeface="Calibri"/>
                <a:ea typeface="Calibri" panose="020F0502020204030204"/>
                <a:cs typeface="Calibri"/>
              </a:rPr>
              <a:t>Power BI</a:t>
            </a:r>
          </a:p>
          <a:p>
            <a:pPr marL="170180" indent="-170180">
              <a:lnSpc>
                <a:spcPct val="100000"/>
              </a:lnSpc>
              <a:spcBef>
                <a:spcPts val="450"/>
              </a:spcBef>
              <a:tabLst>
                <a:tab pos="133270" algn="l"/>
              </a:tabLst>
              <a:defRPr/>
            </a:pPr>
            <a:r>
              <a:rPr lang="en-US" sz="900" dirty="0">
                <a:solidFill>
                  <a:prstClr val="black"/>
                </a:solidFill>
                <a:latin typeface="Calibri"/>
                <a:ea typeface="Calibri" panose="020F0502020204030204"/>
                <a:cs typeface="Calibri"/>
              </a:rPr>
              <a:t>Project Coordination &amp; Operations  </a:t>
            </a:r>
          </a:p>
          <a:p>
            <a:pPr marL="170180" indent="-170180">
              <a:lnSpc>
                <a:spcPct val="100000"/>
              </a:lnSpc>
              <a:spcBef>
                <a:spcPts val="450"/>
              </a:spcBef>
              <a:tabLst>
                <a:tab pos="133270" algn="l"/>
              </a:tabLst>
              <a:defRPr/>
            </a:pPr>
            <a:r>
              <a:rPr lang="en-US" sz="900" dirty="0">
                <a:solidFill>
                  <a:prstClr val="black"/>
                </a:solidFill>
                <a:latin typeface="Calibri"/>
                <a:ea typeface="Calibri" panose="020F0502020204030204"/>
                <a:cs typeface="Calibri"/>
              </a:rPr>
              <a:t>Agentic AI</a:t>
            </a:r>
          </a:p>
          <a:p>
            <a:pPr marL="170180" indent="-170180">
              <a:lnSpc>
                <a:spcPct val="100000"/>
              </a:lnSpc>
              <a:spcBef>
                <a:spcPts val="450"/>
              </a:spcBef>
              <a:tabLst>
                <a:tab pos="133270" algn="l"/>
              </a:tabLst>
              <a:defRPr/>
            </a:pPr>
            <a:r>
              <a:rPr lang="en-US" sz="900" dirty="0">
                <a:solidFill>
                  <a:prstClr val="black"/>
                </a:solidFill>
                <a:latin typeface="Calibri"/>
                <a:ea typeface="Calibri" panose="020F0502020204030204"/>
                <a:cs typeface="Calibri"/>
              </a:rPr>
              <a:t>RAG Systems</a:t>
            </a:r>
          </a:p>
          <a:p>
            <a:pPr marL="170180" indent="-170180">
              <a:lnSpc>
                <a:spcPct val="100000"/>
              </a:lnSpc>
              <a:spcBef>
                <a:spcPts val="450"/>
              </a:spcBef>
              <a:tabLst>
                <a:tab pos="133270" algn="l"/>
              </a:tabLst>
              <a:defRPr/>
            </a:pPr>
            <a:r>
              <a:rPr lang="en-US" sz="900" dirty="0" err="1">
                <a:solidFill>
                  <a:prstClr val="black"/>
                </a:solidFill>
                <a:latin typeface="Calibri" panose="020F0502020204030204"/>
                <a:ea typeface="Calibri" panose="020F0502020204030204"/>
                <a:cs typeface="Calibri"/>
              </a:rPr>
              <a:t>LangChain</a:t>
            </a:r>
            <a:r>
              <a:rPr lang="en-US" sz="900" dirty="0">
                <a:solidFill>
                  <a:prstClr val="black"/>
                </a:solidFill>
                <a:latin typeface="Calibri" panose="020F0502020204030204"/>
                <a:ea typeface="Calibri" panose="020F0502020204030204"/>
                <a:cs typeface="Calibri"/>
              </a:rPr>
              <a:t>, </a:t>
            </a:r>
            <a:r>
              <a:rPr lang="en-US" sz="900" dirty="0" err="1">
                <a:solidFill>
                  <a:prstClr val="black"/>
                </a:solidFill>
                <a:latin typeface="Calibri" panose="020F0502020204030204"/>
                <a:ea typeface="Calibri" panose="020F0502020204030204"/>
                <a:cs typeface="Calibri"/>
              </a:rPr>
              <a:t>LangGraph</a:t>
            </a:r>
            <a:endParaRPr lang="en-US" sz="900" dirty="0">
              <a:solidFill>
                <a:prstClr val="black"/>
              </a:solidFill>
              <a:latin typeface="Calibri" panose="020F0502020204030204"/>
              <a:ea typeface="Calibri" panose="020F0502020204030204"/>
              <a:cs typeface="Calibri"/>
            </a:endParaRPr>
          </a:p>
          <a:p>
            <a:pPr marL="170180" indent="-170180">
              <a:lnSpc>
                <a:spcPct val="100000"/>
              </a:lnSpc>
              <a:spcBef>
                <a:spcPts val="450"/>
              </a:spcBef>
              <a:tabLst>
                <a:tab pos="133270" algn="l"/>
              </a:tabLst>
              <a:defRPr/>
            </a:pPr>
            <a:endParaRPr lang="en-US" sz="900" dirty="0">
              <a:solidFill>
                <a:prstClr val="black"/>
              </a:solidFill>
              <a:latin typeface="Calibri" panose="020F0502020204030204"/>
              <a:ea typeface="Calibri" panose="020F0502020204030204"/>
              <a:cs typeface="Calibri"/>
            </a:endParaRPr>
          </a:p>
          <a:p>
            <a:pPr marL="0" indent="0">
              <a:lnSpc>
                <a:spcPct val="100000"/>
              </a:lnSpc>
              <a:spcBef>
                <a:spcPts val="450"/>
              </a:spcBef>
              <a:buNone/>
              <a:tabLst>
                <a:tab pos="133270" algn="l"/>
              </a:tabLst>
              <a:defRPr/>
            </a:pPr>
            <a:endParaRPr lang="en-US" altLang="en-US" sz="900" dirty="0">
              <a:solidFill>
                <a:prstClr val="black"/>
              </a:solidFill>
              <a:latin typeface="Calibri" panose="020F0502020204030204"/>
              <a:ea typeface="Calibri" panose="020F0502020204030204"/>
              <a:cs typeface="Arial"/>
            </a:endParaRPr>
          </a:p>
        </p:txBody>
      </p:sp>
      <p:sp>
        <p:nvSpPr>
          <p:cNvPr id="12" name="Text Placeholder 11">
            <a:extLst>
              <a:ext uri="{FF2B5EF4-FFF2-40B4-BE49-F238E27FC236}">
                <a16:creationId xmlns:a16="http://schemas.microsoft.com/office/drawing/2014/main" id="{2134980F-833A-4CEA-B193-B68AFF606610}"/>
              </a:ext>
            </a:extLst>
          </p:cNvPr>
          <p:cNvSpPr>
            <a:spLocks noGrp="1"/>
          </p:cNvSpPr>
          <p:nvPr>
            <p:ph type="body" sz="quarter" idx="18"/>
          </p:nvPr>
        </p:nvSpPr>
        <p:spPr>
          <a:xfrm>
            <a:off x="5427750" y="2425645"/>
            <a:ext cx="6524747" cy="4053221"/>
          </a:xfrm>
        </p:spPr>
        <p:txBody>
          <a:bodyPr vert="horz" lIns="91440" tIns="45720" rIns="91440" bIns="45720" rtlCol="0" anchor="t">
            <a:noAutofit/>
          </a:bodyPr>
          <a:lstStyle/>
          <a:p>
            <a:pPr marL="0" indent="0" defTabSz="912813">
              <a:lnSpc>
                <a:spcPct val="100000"/>
              </a:lnSpc>
              <a:spcBef>
                <a:spcPts val="0"/>
              </a:spcBef>
              <a:buNone/>
              <a:tabLst>
                <a:tab pos="917575" algn="l"/>
              </a:tabLst>
              <a:defRPr/>
            </a:pPr>
            <a:r>
              <a:rPr lang="en-US" sz="1000" dirty="0">
                <a:solidFill>
                  <a:prstClr val="black"/>
                </a:solidFill>
                <a:ea typeface="Calibri"/>
                <a:cs typeface="Calibri"/>
              </a:rPr>
              <a:t>RIO TINTO</a:t>
            </a:r>
            <a:endParaRPr lang="en-US" sz="1000" dirty="0">
              <a:solidFill>
                <a:prstClr val="black"/>
              </a:solidFill>
            </a:endParaRPr>
          </a:p>
          <a:p>
            <a:pPr defTabSz="912813">
              <a:lnSpc>
                <a:spcPct val="100000"/>
              </a:lnSpc>
              <a:spcBef>
                <a:spcPts val="0"/>
              </a:spcBef>
              <a:tabLst>
                <a:tab pos="917575" algn="l"/>
              </a:tabLst>
              <a:defRPr/>
            </a:pPr>
            <a:r>
              <a:rPr lang="en-US" sz="1000" b="0" dirty="0">
                <a:solidFill>
                  <a:prstClr val="black"/>
                </a:solidFill>
              </a:rPr>
              <a:t>Reliability Engineering Analyst | FEB 2026 – Present</a:t>
            </a:r>
            <a:br>
              <a:rPr lang="en-US" sz="1000" b="0" dirty="0"/>
            </a:br>
            <a:r>
              <a:rPr lang="en-US" sz="1000" b="0" dirty="0"/>
              <a:t>Designing an AI pipeline to process P&amp;ID documents, extract equipment tags, and auto-generate FLOC hierarchies for integration into the client's asset management system. Architecting end-to-end solution: PDF parsing, LLM classification, and structured data output.</a:t>
            </a:r>
            <a:endParaRPr lang="en-US" sz="1000" b="0" dirty="0">
              <a:solidFill>
                <a:prstClr val="black"/>
              </a:solidFill>
              <a:ea typeface="+mn-lt"/>
              <a:cs typeface="+mn-lt"/>
            </a:endParaRPr>
          </a:p>
          <a:p>
            <a:pPr marL="0" indent="0" defTabSz="912813">
              <a:lnSpc>
                <a:spcPct val="100000"/>
              </a:lnSpc>
              <a:spcBef>
                <a:spcPts val="0"/>
              </a:spcBef>
              <a:buNone/>
              <a:tabLst>
                <a:tab pos="917575" algn="l"/>
              </a:tabLst>
              <a:defRPr/>
            </a:pPr>
            <a:endParaRPr lang="es-AR" sz="1000" dirty="0">
              <a:solidFill>
                <a:prstClr val="black"/>
              </a:solidFill>
            </a:endParaRPr>
          </a:p>
          <a:p>
            <a:pPr marL="0" indent="0" defTabSz="912813">
              <a:lnSpc>
                <a:spcPct val="100000"/>
              </a:lnSpc>
              <a:spcBef>
                <a:spcPts val="0"/>
              </a:spcBef>
              <a:buNone/>
              <a:tabLst>
                <a:tab pos="917575" algn="l"/>
              </a:tabLst>
              <a:defRPr/>
            </a:pPr>
            <a:r>
              <a:rPr lang="es-AR" sz="1000" dirty="0">
                <a:solidFill>
                  <a:prstClr val="black"/>
                </a:solidFill>
              </a:rPr>
              <a:t>ACCENTURE SRL</a:t>
            </a:r>
            <a:endParaRPr lang="en-US" sz="1000" dirty="0">
              <a:solidFill>
                <a:prstClr val="black"/>
              </a:solidFill>
              <a:ea typeface="Calibri"/>
              <a:cs typeface="Calibri"/>
            </a:endParaRPr>
          </a:p>
          <a:p>
            <a:pPr marL="0" lvl="0" indent="0" defTabSz="912813">
              <a:lnSpc>
                <a:spcPct val="100000"/>
              </a:lnSpc>
              <a:spcBef>
                <a:spcPts val="0"/>
              </a:spcBef>
              <a:buNone/>
              <a:tabLst>
                <a:tab pos="917575" algn="l"/>
              </a:tabLst>
              <a:defRPr/>
            </a:pPr>
            <a:endParaRPr lang="en-US" sz="1000" b="0" dirty="0">
              <a:solidFill>
                <a:prstClr val="black"/>
              </a:solidFill>
              <a:ea typeface="Calibri"/>
              <a:cs typeface="Calibri"/>
            </a:endParaRPr>
          </a:p>
          <a:p>
            <a:pPr defTabSz="912813">
              <a:lnSpc>
                <a:spcPct val="100000"/>
              </a:lnSpc>
              <a:spcBef>
                <a:spcPts val="0"/>
              </a:spcBef>
              <a:buFont typeface="Arial"/>
              <a:tabLst>
                <a:tab pos="917575" algn="l"/>
              </a:tabLst>
              <a:defRPr/>
            </a:pPr>
            <a:r>
              <a:rPr lang="en-US" sz="1000" b="0" dirty="0">
                <a:solidFill>
                  <a:prstClr val="black"/>
                </a:solidFill>
              </a:rPr>
              <a:t>AI LLM Technology Architecture Analyst | FEB 2026 – MAR 2026</a:t>
            </a:r>
            <a:br>
              <a:rPr lang="en-US" sz="1000" b="0" dirty="0"/>
            </a:br>
            <a:r>
              <a:rPr lang="en-US" sz="1000" b="0" dirty="0">
                <a:solidFill>
                  <a:prstClr val="black"/>
                </a:solidFill>
              </a:rPr>
              <a:t>Completed AI Academy training (6 weeks) in Agentic AI, RAG systems, LangChain, and LLM orchestration. Currently deployed on client engagement at Rio Tinto.</a:t>
            </a:r>
            <a:endParaRPr lang="en-US" dirty="0">
              <a:solidFill>
                <a:prstClr val="black"/>
              </a:solidFill>
              <a:ea typeface="Calibri" panose="020F0502020204030204"/>
              <a:cs typeface="Calibri" panose="020F0502020204030204"/>
            </a:endParaRPr>
          </a:p>
          <a:p>
            <a:pPr marL="0" indent="0" defTabSz="912813">
              <a:lnSpc>
                <a:spcPct val="100000"/>
              </a:lnSpc>
              <a:spcBef>
                <a:spcPts val="0"/>
              </a:spcBef>
              <a:buNone/>
              <a:tabLst>
                <a:tab pos="917575" algn="l"/>
              </a:tabLst>
              <a:defRPr/>
            </a:pPr>
            <a:endParaRPr lang="en-US" sz="1000" dirty="0">
              <a:solidFill>
                <a:prstClr val="black"/>
              </a:solidFill>
              <a:ea typeface="Calibri"/>
              <a:cs typeface="Calibri"/>
            </a:endParaRPr>
          </a:p>
          <a:p>
            <a:pPr marL="0" indent="0" defTabSz="912813">
              <a:buNone/>
              <a:tabLst>
                <a:tab pos="917575" algn="l"/>
              </a:tabLst>
              <a:defRPr/>
            </a:pPr>
            <a:r>
              <a:rPr lang="en-US" sz="1000" dirty="0">
                <a:solidFill>
                  <a:prstClr val="black"/>
                </a:solidFill>
                <a:ea typeface="+mn-lt"/>
                <a:cs typeface="+mn-lt"/>
              </a:rPr>
              <a:t>BE BETTER SALES </a:t>
            </a:r>
            <a:endParaRPr lang="en-US" sz="1000" dirty="0">
              <a:solidFill>
                <a:prstClr val="black"/>
              </a:solidFill>
              <a:ea typeface="Calibri"/>
              <a:cs typeface="Calibri"/>
            </a:endParaRPr>
          </a:p>
          <a:p>
            <a:pPr defTabSz="912813">
              <a:buFont typeface="Arial"/>
              <a:buChar char="•"/>
              <a:tabLst>
                <a:tab pos="917575" algn="l"/>
              </a:tabLst>
              <a:defRPr/>
            </a:pPr>
            <a:r>
              <a:rPr lang="en-US" sz="1000" b="0" dirty="0">
                <a:solidFill>
                  <a:prstClr val="black"/>
                </a:solidFill>
                <a:ea typeface="+mn-lt"/>
                <a:cs typeface="+mn-lt"/>
              </a:rPr>
              <a:t>Project Manager &amp; Operations Executive | MAR 2023 – AUG 2025</a:t>
            </a:r>
            <a:endParaRPr lang="en-US" dirty="0">
              <a:solidFill>
                <a:prstClr val="black"/>
              </a:solidFill>
              <a:ea typeface="+mn-lt"/>
              <a:cs typeface="+mn-lt"/>
            </a:endParaRPr>
          </a:p>
          <a:p>
            <a:pPr marL="0" indent="0" defTabSz="912813">
              <a:buNone/>
              <a:tabLst>
                <a:tab pos="917575" algn="l"/>
              </a:tabLst>
              <a:defRPr/>
            </a:pPr>
            <a:r>
              <a:rPr lang="en-US" sz="1000" b="0" dirty="0">
                <a:solidFill>
                  <a:prstClr val="black"/>
                </a:solidFill>
              </a:rPr>
              <a:t>  </a:t>
            </a:r>
            <a:r>
              <a:rPr lang="en-US" sz="1000" b="0" dirty="0"/>
              <a:t>Managed day-to-day operations and service delivery for engineering and automation projects. Monitored KPIs and   timelines to support strategic planning and prevent delays. Coordinated work across distributed teams and utilized BI   tools to analyze performance trends for leadership reporting. </a:t>
            </a:r>
          </a:p>
          <a:p>
            <a:pPr defTabSz="912813">
              <a:lnSpc>
                <a:spcPct val="100000"/>
              </a:lnSpc>
              <a:spcBef>
                <a:spcPts val="0"/>
              </a:spcBef>
              <a:buFont typeface="Arial"/>
              <a:buChar char="•"/>
              <a:tabLst>
                <a:tab pos="917575" algn="l"/>
              </a:tabLst>
              <a:defRPr/>
            </a:pPr>
            <a:endParaRPr lang="en-US" sz="1000" dirty="0">
              <a:solidFill>
                <a:prstClr val="black"/>
              </a:solidFill>
              <a:ea typeface="Calibri"/>
              <a:cs typeface="Calibri"/>
            </a:endParaRPr>
          </a:p>
          <a:p>
            <a:pPr marL="0" indent="0" defTabSz="912813">
              <a:lnSpc>
                <a:spcPct val="100000"/>
              </a:lnSpc>
              <a:spcBef>
                <a:spcPts val="0"/>
              </a:spcBef>
              <a:buNone/>
              <a:tabLst>
                <a:tab pos="917575" algn="l"/>
              </a:tabLst>
              <a:defRPr/>
            </a:pPr>
            <a:endParaRPr lang="en-US" sz="1000" dirty="0">
              <a:solidFill>
                <a:prstClr val="black"/>
              </a:solidFill>
              <a:ea typeface="Calibri"/>
              <a:cs typeface="Calibri"/>
            </a:endParaRPr>
          </a:p>
          <a:p>
            <a:pPr defTabSz="912813">
              <a:lnSpc>
                <a:spcPct val="100000"/>
              </a:lnSpc>
              <a:spcBef>
                <a:spcPts val="0"/>
              </a:spcBef>
              <a:tabLst>
                <a:tab pos="917575" algn="l"/>
              </a:tabLst>
              <a:defRPr/>
            </a:pPr>
            <a:endParaRPr lang="it-IT" b="0" dirty="0"/>
          </a:p>
          <a:p>
            <a:pPr marL="0" indent="0" defTabSz="912813">
              <a:lnSpc>
                <a:spcPct val="100000"/>
              </a:lnSpc>
              <a:spcBef>
                <a:spcPts val="0"/>
              </a:spcBef>
              <a:buNone/>
              <a:tabLst>
                <a:tab pos="917575" algn="l"/>
              </a:tabLst>
              <a:defRPr/>
            </a:pPr>
            <a:endParaRPr lang="it-IT" sz="1000" dirty="0">
              <a:solidFill>
                <a:prstClr val="black"/>
              </a:solidFill>
            </a:endParaRPr>
          </a:p>
          <a:p>
            <a:pPr marL="0" indent="0" defTabSz="912813">
              <a:lnSpc>
                <a:spcPct val="100000"/>
              </a:lnSpc>
              <a:spcBef>
                <a:spcPts val="0"/>
              </a:spcBef>
              <a:buNone/>
              <a:tabLst>
                <a:tab pos="917575" algn="l"/>
              </a:tabLst>
              <a:defRPr/>
            </a:pPr>
            <a:endParaRPr lang="it-IT" sz="1000" dirty="0">
              <a:solidFill>
                <a:prstClr val="black"/>
              </a:solidFill>
            </a:endParaRPr>
          </a:p>
          <a:p>
            <a:pPr marL="0" indent="0" defTabSz="912813">
              <a:lnSpc>
                <a:spcPct val="100000"/>
              </a:lnSpc>
              <a:spcBef>
                <a:spcPts val="0"/>
              </a:spcBef>
              <a:buNone/>
              <a:tabLst>
                <a:tab pos="917575" algn="l"/>
              </a:tabLst>
              <a:defRPr/>
            </a:pPr>
            <a:endParaRPr lang="it-IT" sz="1000" dirty="0">
              <a:solidFill>
                <a:prstClr val="black"/>
              </a:solidFill>
            </a:endParaRPr>
          </a:p>
          <a:p>
            <a:pPr lvl="0" defTabSz="912813">
              <a:lnSpc>
                <a:spcPct val="100000"/>
              </a:lnSpc>
              <a:spcBef>
                <a:spcPts val="0"/>
              </a:spcBef>
              <a:buFont typeface="Arial"/>
              <a:buChar char="•"/>
              <a:tabLst>
                <a:tab pos="917575" algn="l"/>
              </a:tabLst>
              <a:defRPr/>
            </a:pPr>
            <a:endParaRPr lang="en-US" sz="1000" dirty="0">
              <a:solidFill>
                <a:prstClr val="black"/>
              </a:solidFill>
              <a:ea typeface="Calibri" panose="020F0502020204030204"/>
              <a:cs typeface="Calibri" panose="020F0502020204030204"/>
            </a:endParaRPr>
          </a:p>
          <a:p>
            <a:pPr marL="0" lvl="0" indent="0" defTabSz="912813">
              <a:lnSpc>
                <a:spcPct val="100000"/>
              </a:lnSpc>
              <a:spcBef>
                <a:spcPts val="0"/>
              </a:spcBef>
              <a:buNone/>
              <a:tabLst>
                <a:tab pos="917575" algn="l"/>
              </a:tabLst>
              <a:defRPr/>
            </a:pPr>
            <a:endParaRPr lang="en-US" sz="1000" dirty="0">
              <a:solidFill>
                <a:prstClr val="black"/>
              </a:solidFill>
            </a:endParaRPr>
          </a:p>
        </p:txBody>
      </p:sp>
      <p:sp>
        <p:nvSpPr>
          <p:cNvPr id="13" name="Text Placeholder 12">
            <a:extLst>
              <a:ext uri="{FF2B5EF4-FFF2-40B4-BE49-F238E27FC236}">
                <a16:creationId xmlns:a16="http://schemas.microsoft.com/office/drawing/2014/main" id="{8AB44894-8232-41D9-A194-2698685863BB}"/>
              </a:ext>
            </a:extLst>
          </p:cNvPr>
          <p:cNvSpPr>
            <a:spLocks noGrp="1"/>
          </p:cNvSpPr>
          <p:nvPr>
            <p:ph type="body" sz="quarter" idx="19"/>
          </p:nvPr>
        </p:nvSpPr>
        <p:spPr/>
        <p:txBody>
          <a:bodyPr/>
          <a:lstStyle/>
          <a:p>
            <a:r>
              <a:rPr lang="es-AR" dirty="0">
                <a:latin typeface="Graphik"/>
              </a:rPr>
              <a:t>A</a:t>
            </a:r>
            <a:r>
              <a:rPr lang="en-US" dirty="0" err="1">
                <a:latin typeface="Graphik"/>
              </a:rPr>
              <a:t>rtificial</a:t>
            </a:r>
            <a:r>
              <a:rPr lang="en-US" dirty="0">
                <a:latin typeface="Graphik"/>
              </a:rPr>
              <a:t> Intelligence</a:t>
            </a:r>
            <a:endParaRPr lang="en-US" dirty="0"/>
          </a:p>
        </p:txBody>
      </p:sp>
      <p:sp>
        <p:nvSpPr>
          <p:cNvPr id="3" name="Footer Placeholder 2">
            <a:extLst>
              <a:ext uri="{FF2B5EF4-FFF2-40B4-BE49-F238E27FC236}">
                <a16:creationId xmlns:a16="http://schemas.microsoft.com/office/drawing/2014/main" id="{33D966CF-FD9C-4253-80B3-E3B4151511A0}"/>
              </a:ext>
            </a:extLst>
          </p:cNvPr>
          <p:cNvSpPr>
            <a:spLocks noGrp="1"/>
          </p:cNvSpPr>
          <p:nvPr>
            <p:ph type="ftr" sz="quarter" idx="4294967295"/>
          </p:nvPr>
        </p:nvSpPr>
        <p:spPr>
          <a:xfrm>
            <a:off x="8077200" y="6492875"/>
            <a:ext cx="4114800"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Copyright © 2021 Accenture.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All</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rights</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reserved</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t>
            </a:r>
          </a:p>
        </p:txBody>
      </p:sp>
      <p:pic>
        <p:nvPicPr>
          <p:cNvPr id="27" name="Picture Placeholder 26" descr="A person with long hair and nose ring  AI-generated content may be incorrect.">
            <a:extLst>
              <a:ext uri="{FF2B5EF4-FFF2-40B4-BE49-F238E27FC236}">
                <a16:creationId xmlns:a16="http://schemas.microsoft.com/office/drawing/2014/main" id="{C6332352-5514-4374-8288-6E713209780A}"/>
              </a:ext>
            </a:extLst>
          </p:cNvPr>
          <p:cNvPicPr>
            <a:picLocks noGrp="1" noChangeAspect="1"/>
          </p:cNvPicPr>
          <p:nvPr>
            <p:ph type="pic" sz="quarter" idx="15"/>
          </p:nvPr>
        </p:nvPicPr>
        <p:blipFill>
          <a:blip r:embed="rId2"/>
          <a:srcRect t="2013" b="16564"/>
          <a:stretch>
            <a:fillRect/>
          </a:stretch>
        </p:blipFill>
        <p:spPr>
          <a:xfrm>
            <a:off x="718197" y="161833"/>
            <a:ext cx="1336675" cy="1451139"/>
          </a:xfrm>
        </p:spPr>
      </p:pic>
      <p:sp>
        <p:nvSpPr>
          <p:cNvPr id="30" name="Text Placeholder 10">
            <a:extLst>
              <a:ext uri="{FF2B5EF4-FFF2-40B4-BE49-F238E27FC236}">
                <a16:creationId xmlns:a16="http://schemas.microsoft.com/office/drawing/2014/main" id="{D8EBDDCE-48D7-4534-8057-F03D089029E4}"/>
              </a:ext>
            </a:extLst>
          </p:cNvPr>
          <p:cNvSpPr txBox="1">
            <a:spLocks/>
          </p:cNvSpPr>
          <p:nvPr/>
        </p:nvSpPr>
        <p:spPr>
          <a:xfrm>
            <a:off x="3176139" y="4272380"/>
            <a:ext cx="2012108" cy="1159413"/>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800">
              <a:solidFill>
                <a:prstClr val="black"/>
              </a:solidFill>
              <a:latin typeface="Calibri" panose="020F0502020204030204"/>
              <a:cs typeface="Arial"/>
            </a:endParaRPr>
          </a:p>
        </p:txBody>
      </p:sp>
      <p:sp>
        <p:nvSpPr>
          <p:cNvPr id="31" name="Text Placeholder 10">
            <a:extLst>
              <a:ext uri="{FF2B5EF4-FFF2-40B4-BE49-F238E27FC236}">
                <a16:creationId xmlns:a16="http://schemas.microsoft.com/office/drawing/2014/main" id="{3658CBF4-BCD4-4FE7-976F-59FAEC664190}"/>
              </a:ext>
            </a:extLst>
          </p:cNvPr>
          <p:cNvSpPr txBox="1">
            <a:spLocks/>
          </p:cNvSpPr>
          <p:nvPr/>
        </p:nvSpPr>
        <p:spPr>
          <a:xfrm>
            <a:off x="3176139" y="4272566"/>
            <a:ext cx="2012108" cy="1018115"/>
          </a:xfrm>
          <a:prstGeom prst="rect">
            <a:avLst/>
          </a:prstGeom>
        </p:spPr>
        <p:txBody>
          <a:bodyPr vert="horz" lIns="91440" tIns="45720" rIns="91440" bIns="45720" rtlCol="0" anchor="t">
            <a:normAutofit fontScale="77500" lnSpcReduction="20000"/>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133270" algn="l"/>
              </a:tabLst>
              <a:defRPr/>
            </a:pPr>
            <a:r>
              <a:rPr lang="en-US" sz="900" dirty="0">
                <a:solidFill>
                  <a:prstClr val="black"/>
                </a:solidFill>
                <a:latin typeface="Calibri"/>
                <a:ea typeface="Calibri"/>
                <a:cs typeface="Calibri"/>
              </a:rPr>
              <a:t>Aeronautics/Aerospace  </a:t>
            </a:r>
          </a:p>
          <a:p>
            <a:pPr>
              <a:tabLst>
                <a:tab pos="133270" algn="l"/>
              </a:tabLst>
              <a:defRPr/>
            </a:pPr>
            <a:r>
              <a:rPr lang="en-US" sz="900" dirty="0">
                <a:solidFill>
                  <a:prstClr val="black"/>
                </a:solidFill>
                <a:latin typeface="Calibri"/>
                <a:ea typeface="Calibri"/>
                <a:cs typeface="Calibri"/>
              </a:rPr>
              <a:t>Software Development (ERP)  </a:t>
            </a:r>
          </a:p>
          <a:p>
            <a:pPr>
              <a:tabLst>
                <a:tab pos="133270" algn="l"/>
              </a:tabLst>
              <a:defRPr/>
            </a:pPr>
            <a:r>
              <a:rPr lang="en-US" sz="900" dirty="0">
                <a:solidFill>
                  <a:prstClr val="black"/>
                </a:solidFill>
                <a:latin typeface="Calibri"/>
                <a:ea typeface="Calibri"/>
                <a:cs typeface="Calibri"/>
              </a:rPr>
              <a:t>Education / Physics  </a:t>
            </a:r>
          </a:p>
          <a:p>
            <a:pPr>
              <a:tabLst>
                <a:tab pos="133270" algn="l"/>
              </a:tabLst>
              <a:defRPr/>
            </a:pPr>
            <a:r>
              <a:rPr lang="en-US" sz="900" dirty="0">
                <a:solidFill>
                  <a:prstClr val="black"/>
                </a:solidFill>
                <a:latin typeface="Calibri"/>
                <a:ea typeface="Calibri"/>
                <a:cs typeface="Calibri"/>
              </a:rPr>
              <a:t>Process Optimization </a:t>
            </a:r>
          </a:p>
          <a:p>
            <a:pPr>
              <a:tabLst>
                <a:tab pos="133270" algn="l"/>
              </a:tabLst>
              <a:defRPr/>
            </a:pPr>
            <a:r>
              <a:rPr lang="en-US" sz="900" dirty="0">
                <a:solidFill>
                  <a:prstClr val="black"/>
                </a:solidFill>
                <a:cs typeface="Arial"/>
              </a:rPr>
              <a:t>Minery</a:t>
            </a:r>
          </a:p>
          <a:p>
            <a:pPr>
              <a:tabLst>
                <a:tab pos="133270" algn="l"/>
              </a:tabLst>
              <a:defRPr/>
            </a:pPr>
            <a:endParaRPr lang="en-US" sz="900" dirty="0">
              <a:solidFill>
                <a:prstClr val="black"/>
              </a:solidFill>
              <a:latin typeface="Calibri" panose="020F0502020204030204"/>
              <a:ea typeface="Calibri"/>
              <a:cs typeface="Calibri"/>
            </a:endParaRPr>
          </a:p>
          <a:p>
            <a:pPr marL="170180" indent="-170180">
              <a:lnSpc>
                <a:spcPct val="100000"/>
              </a:lnSpc>
              <a:spcBef>
                <a:spcPts val="450"/>
              </a:spcBef>
              <a:tabLst>
                <a:tab pos="133270" algn="l"/>
              </a:tabLst>
              <a:defRPr/>
            </a:pPr>
            <a:endParaRPr lang="en-US" altLang="en-US" sz="900" dirty="0">
              <a:solidFill>
                <a:prstClr val="black"/>
              </a:solidFill>
              <a:latin typeface="Calibri" panose="020F0502020204030204"/>
              <a:ea typeface="Calibri"/>
              <a:cs typeface="Arial"/>
            </a:endParaRPr>
          </a:p>
          <a:p>
            <a:pPr marL="170781" indent="-170781">
              <a:lnSpc>
                <a:spcPct val="100000"/>
              </a:lnSpc>
              <a:spcBef>
                <a:spcPts val="450"/>
              </a:spcBef>
              <a:buFont typeface="Arial" panose="020B0604020202020204" pitchFamily="34" charset="0"/>
              <a:buChar char="•"/>
              <a:tabLst>
                <a:tab pos="133270" algn="l"/>
              </a:tabLst>
              <a:defRPr/>
            </a:pPr>
            <a:endParaRPr lang="en-US" altLang="en-US" sz="900" dirty="0">
              <a:solidFill>
                <a:prstClr val="black"/>
              </a:solidFill>
              <a:latin typeface="Calibri" panose="020F0502020204030204"/>
              <a:ea typeface="Calibri"/>
              <a:cs typeface="Arial"/>
            </a:endParaRPr>
          </a:p>
          <a:p>
            <a:pPr marL="0" indent="0">
              <a:lnSpc>
                <a:spcPct val="100000"/>
              </a:lnSpc>
              <a:spcBef>
                <a:spcPts val="450"/>
              </a:spcBef>
              <a:buNone/>
              <a:tabLst>
                <a:tab pos="133270" algn="l"/>
              </a:tabLst>
              <a:defRPr/>
            </a:pPr>
            <a:endParaRPr lang="en-US" altLang="en-US" sz="900" dirty="0">
              <a:solidFill>
                <a:prstClr val="black"/>
              </a:solidFill>
              <a:latin typeface="Calibri" panose="020F0502020204030204"/>
              <a:ea typeface="Calibri"/>
              <a:cs typeface="Arial"/>
            </a:endParaRPr>
          </a:p>
        </p:txBody>
      </p:sp>
      <p:sp>
        <p:nvSpPr>
          <p:cNvPr id="2" name="TextBox 1">
            <a:extLst>
              <a:ext uri="{FF2B5EF4-FFF2-40B4-BE49-F238E27FC236}">
                <a16:creationId xmlns:a16="http://schemas.microsoft.com/office/drawing/2014/main" id="{208D3015-BB46-4C76-ABE0-1D7F99BFFC21}"/>
              </a:ext>
            </a:extLst>
          </p:cNvPr>
          <p:cNvSpPr txBox="1"/>
          <p:nvPr/>
        </p:nvSpPr>
        <p:spPr>
          <a:xfrm>
            <a:off x="210586" y="5349266"/>
            <a:ext cx="2342612" cy="261610"/>
          </a:xfrm>
          <a:prstGeom prst="rect">
            <a:avLst/>
          </a:prstGeom>
          <a:noFill/>
        </p:spPr>
        <p:txBody>
          <a:bodyPr wrap="square" rtlCol="0">
            <a:spAutoFit/>
          </a:bodyPr>
          <a:lstStyle/>
          <a:p>
            <a:r>
              <a:rPr lang="es-AR" sz="1100" b="1">
                <a:solidFill>
                  <a:srgbClr val="7030A0"/>
                </a:solidFill>
                <a:latin typeface="Graphik" panose="020B0503030202060203" pitchFamily="34" charset="0"/>
              </a:rPr>
              <a:t>CERTIFICATIONS</a:t>
            </a:r>
            <a:endParaRPr lang="en-US" sz="1100" b="1">
              <a:solidFill>
                <a:srgbClr val="7030A0"/>
              </a:solidFill>
              <a:latin typeface="Graphik" panose="020B0503030202060203" pitchFamily="34" charset="0"/>
            </a:endParaRPr>
          </a:p>
        </p:txBody>
      </p:sp>
      <p:sp>
        <p:nvSpPr>
          <p:cNvPr id="14" name="TextBox 13">
            <a:extLst>
              <a:ext uri="{FF2B5EF4-FFF2-40B4-BE49-F238E27FC236}">
                <a16:creationId xmlns:a16="http://schemas.microsoft.com/office/drawing/2014/main" id="{AEC9E137-957C-3A35-467E-838DA660A245}"/>
              </a:ext>
            </a:extLst>
          </p:cNvPr>
          <p:cNvSpPr txBox="1"/>
          <p:nvPr/>
        </p:nvSpPr>
        <p:spPr>
          <a:xfrm>
            <a:off x="331804" y="5599185"/>
            <a:ext cx="2838364" cy="707886"/>
          </a:xfrm>
          <a:prstGeom prst="rect">
            <a:avLst/>
          </a:prstGeom>
          <a:noFill/>
        </p:spPr>
        <p:txBody>
          <a:bodyPr wrap="square" lIns="91440" tIns="45720" rIns="91440" bIns="45720" rtlCol="0" anchor="t">
            <a:spAutoFit/>
          </a:bodyPr>
          <a:lstStyle/>
          <a:p>
            <a:r>
              <a:rPr lang="es-AR" sz="1000" dirty="0">
                <a:solidFill>
                  <a:prstClr val="black"/>
                </a:solidFill>
              </a:rPr>
              <a:t>AI </a:t>
            </a:r>
            <a:r>
              <a:rPr lang="es-AR" sz="1000" dirty="0" err="1">
                <a:solidFill>
                  <a:prstClr val="black"/>
                </a:solidFill>
              </a:rPr>
              <a:t>Academy</a:t>
            </a:r>
            <a:r>
              <a:rPr lang="es-AR" sz="1000" dirty="0">
                <a:solidFill>
                  <a:prstClr val="black"/>
                </a:solidFill>
              </a:rPr>
              <a:t> –Accenture (2026)</a:t>
            </a:r>
            <a:endParaRPr lang="es-AR" sz="1000" dirty="0">
              <a:solidFill>
                <a:prstClr val="black"/>
              </a:solidFill>
              <a:ea typeface="Calibri"/>
              <a:cs typeface="Calibri"/>
            </a:endParaRPr>
          </a:p>
          <a:p>
            <a:r>
              <a:rPr lang="es-AR" sz="1000" dirty="0">
                <a:solidFill>
                  <a:prstClr val="black"/>
                </a:solidFill>
                <a:ea typeface="+mn-lt"/>
                <a:cs typeface="+mn-lt"/>
              </a:rPr>
              <a:t>Data </a:t>
            </a:r>
            <a:r>
              <a:rPr lang="es-AR" sz="1000" dirty="0" err="1">
                <a:solidFill>
                  <a:prstClr val="black"/>
                </a:solidFill>
                <a:ea typeface="+mn-lt"/>
                <a:cs typeface="+mn-lt"/>
              </a:rPr>
              <a:t>Analysis</a:t>
            </a:r>
            <a:r>
              <a:rPr lang="es-AR" sz="1000" dirty="0">
                <a:solidFill>
                  <a:prstClr val="black"/>
                </a:solidFill>
                <a:ea typeface="+mn-lt"/>
                <a:cs typeface="+mn-lt"/>
              </a:rPr>
              <a:t> </a:t>
            </a:r>
            <a:r>
              <a:rPr lang="es-AR" sz="1000" dirty="0" err="1">
                <a:solidFill>
                  <a:prstClr val="black"/>
                </a:solidFill>
                <a:ea typeface="+mn-lt"/>
                <a:cs typeface="+mn-lt"/>
              </a:rPr>
              <a:t>with</a:t>
            </a:r>
            <a:r>
              <a:rPr lang="es-AR" sz="1000" dirty="0">
                <a:solidFill>
                  <a:prstClr val="black"/>
                </a:solidFill>
                <a:ea typeface="+mn-lt"/>
                <a:cs typeface="+mn-lt"/>
              </a:rPr>
              <a:t> Python – Talento </a:t>
            </a:r>
            <a:r>
              <a:rPr lang="es-AR" sz="1000" dirty="0" err="1">
                <a:solidFill>
                  <a:prstClr val="black"/>
                </a:solidFill>
                <a:ea typeface="+mn-lt"/>
                <a:cs typeface="+mn-lt"/>
              </a:rPr>
              <a:t>Tech</a:t>
            </a:r>
            <a:r>
              <a:rPr lang="es-AR" sz="1000" dirty="0">
                <a:solidFill>
                  <a:prstClr val="black"/>
                </a:solidFill>
                <a:ea typeface="+mn-lt"/>
                <a:cs typeface="+mn-lt"/>
              </a:rPr>
              <a:t> (2025)  </a:t>
            </a:r>
            <a:endParaRPr lang="es-AR" dirty="0">
              <a:solidFill>
                <a:prstClr val="black"/>
              </a:solidFill>
            </a:endParaRPr>
          </a:p>
          <a:p>
            <a:r>
              <a:rPr lang="es-AR" sz="1000" dirty="0" err="1">
                <a:solidFill>
                  <a:prstClr val="black"/>
                </a:solidFill>
                <a:ea typeface="+mn-lt"/>
                <a:cs typeface="+mn-lt"/>
              </a:rPr>
              <a:t>Optical</a:t>
            </a:r>
            <a:r>
              <a:rPr lang="es-AR" sz="1000" dirty="0">
                <a:solidFill>
                  <a:prstClr val="black"/>
                </a:solidFill>
                <a:ea typeface="+mn-lt"/>
                <a:cs typeface="+mn-lt"/>
              </a:rPr>
              <a:t> Remote </a:t>
            </a:r>
            <a:r>
              <a:rPr lang="es-AR" sz="1000" dirty="0" err="1">
                <a:solidFill>
                  <a:prstClr val="black"/>
                </a:solidFill>
                <a:ea typeface="+mn-lt"/>
                <a:cs typeface="+mn-lt"/>
              </a:rPr>
              <a:t>Sensing</a:t>
            </a:r>
            <a:r>
              <a:rPr lang="es-AR" sz="1000" dirty="0">
                <a:solidFill>
                  <a:prstClr val="black"/>
                </a:solidFill>
                <a:ea typeface="+mn-lt"/>
                <a:cs typeface="+mn-lt"/>
              </a:rPr>
              <a:t> – CONAE (2023) </a:t>
            </a:r>
          </a:p>
          <a:p>
            <a:r>
              <a:rPr lang="es-AR" sz="1000" dirty="0">
                <a:solidFill>
                  <a:prstClr val="black"/>
                </a:solidFill>
                <a:ea typeface="+mn-lt"/>
                <a:cs typeface="+mn-lt"/>
              </a:rPr>
              <a:t>Claude </a:t>
            </a:r>
            <a:r>
              <a:rPr lang="es-AR" sz="1000" dirty="0" err="1">
                <a:solidFill>
                  <a:prstClr val="black"/>
                </a:solidFill>
                <a:ea typeface="+mn-lt"/>
                <a:cs typeface="+mn-lt"/>
              </a:rPr>
              <a:t>Certified</a:t>
            </a:r>
            <a:r>
              <a:rPr lang="es-AR" sz="1000" dirty="0">
                <a:solidFill>
                  <a:prstClr val="black"/>
                </a:solidFill>
                <a:ea typeface="+mn-lt"/>
                <a:cs typeface="+mn-lt"/>
              </a:rPr>
              <a:t> </a:t>
            </a:r>
            <a:r>
              <a:rPr lang="es-AR" sz="1000" dirty="0" err="1">
                <a:solidFill>
                  <a:prstClr val="black"/>
                </a:solidFill>
                <a:ea typeface="+mn-lt"/>
                <a:cs typeface="+mn-lt"/>
              </a:rPr>
              <a:t>Architect</a:t>
            </a:r>
            <a:r>
              <a:rPr lang="es-AR" sz="1000" dirty="0">
                <a:solidFill>
                  <a:prstClr val="black"/>
                </a:solidFill>
                <a:ea typeface="+mn-lt"/>
                <a:cs typeface="+mn-lt"/>
              </a:rPr>
              <a:t> – </a:t>
            </a:r>
            <a:r>
              <a:rPr lang="es-AR" sz="1000" dirty="0" err="1">
                <a:solidFill>
                  <a:prstClr val="black"/>
                </a:solidFill>
                <a:ea typeface="+mn-lt"/>
                <a:cs typeface="+mn-lt"/>
              </a:rPr>
              <a:t>Anthropic</a:t>
            </a:r>
            <a:r>
              <a:rPr lang="es-AR" sz="1000" dirty="0">
                <a:solidFill>
                  <a:prstClr val="black"/>
                </a:solidFill>
                <a:ea typeface="+mn-lt"/>
                <a:cs typeface="+mn-lt"/>
              </a:rPr>
              <a:t> (2026) </a:t>
            </a:r>
            <a:endParaRPr lang="es-AR" dirty="0">
              <a:solidFill>
                <a:prstClr val="black"/>
              </a:solidFill>
            </a:endParaRPr>
          </a:p>
        </p:txBody>
      </p:sp>
      <p:sp>
        <p:nvSpPr>
          <p:cNvPr id="17" name="Text Placeholder 16">
            <a:extLst>
              <a:ext uri="{FF2B5EF4-FFF2-40B4-BE49-F238E27FC236}">
                <a16:creationId xmlns:a16="http://schemas.microsoft.com/office/drawing/2014/main" id="{44A30BE4-91A0-5DE8-DB3D-88E487C708A3}"/>
              </a:ext>
            </a:extLst>
          </p:cNvPr>
          <p:cNvSpPr>
            <a:spLocks noGrp="1"/>
          </p:cNvSpPr>
          <p:nvPr>
            <p:ph type="body" sz="quarter" idx="14"/>
          </p:nvPr>
        </p:nvSpPr>
        <p:spPr/>
        <p:txBody>
          <a:bodyPr/>
          <a:lstStyle/>
          <a:p>
            <a:r>
              <a:rPr lang="en-US">
                <a:latin typeface="Graphik"/>
              </a:rPr>
              <a:t>La Plata, Buenos Aires, Argentina</a:t>
            </a:r>
            <a:endParaRPr lang="en-US"/>
          </a:p>
        </p:txBody>
      </p:sp>
    </p:spTree>
    <p:extLst>
      <p:ext uri="{BB962C8B-B14F-4D97-AF65-F5344CB8AC3E}">
        <p14:creationId xmlns:p14="http://schemas.microsoft.com/office/powerpoint/2010/main" val="521239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5636B-2EF3-39BE-73F0-38772DAFC38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C195D5F-0E3B-5523-EC84-2399B5B6B19A}"/>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77488714-040C-3BAA-8DC8-EB299971E3AD}"/>
              </a:ext>
            </a:extLst>
          </p:cNvPr>
          <p:cNvSpPr>
            <a:spLocks noGrp="1"/>
          </p:cNvSpPr>
          <p:nvPr>
            <p:ph type="body" sz="quarter" idx="11"/>
          </p:nvPr>
        </p:nvSpPr>
        <p:spPr/>
        <p:txBody>
          <a:bodyPr vert="horz" lIns="91440" tIns="45720" rIns="91440" bIns="45720" rtlCol="0" anchor="t">
            <a:normAutofit fontScale="92500" lnSpcReduction="20000"/>
          </a:bodyPr>
          <a:lstStyle/>
          <a:p>
            <a:r>
              <a:rPr lang="en-US">
                <a:latin typeface="Graphik"/>
              </a:rPr>
              <a:t>Valeria R. Fortunati</a:t>
            </a:r>
            <a:endParaRPr lang="en-US"/>
          </a:p>
        </p:txBody>
      </p:sp>
      <p:sp>
        <p:nvSpPr>
          <p:cNvPr id="6" name="Text Placeholder 5">
            <a:extLst>
              <a:ext uri="{FF2B5EF4-FFF2-40B4-BE49-F238E27FC236}">
                <a16:creationId xmlns:a16="http://schemas.microsoft.com/office/drawing/2014/main" id="{FED1205C-36D6-E84F-3D53-2FC7C93C386C}"/>
              </a:ext>
            </a:extLst>
          </p:cNvPr>
          <p:cNvSpPr>
            <a:spLocks noGrp="1"/>
          </p:cNvSpPr>
          <p:nvPr>
            <p:ph type="body" sz="quarter" idx="12"/>
          </p:nvPr>
        </p:nvSpPr>
        <p:spPr/>
        <p:txBody>
          <a:bodyPr vert="horz" lIns="91440" tIns="45720" rIns="91440" bIns="45720" rtlCol="0" anchor="t">
            <a:normAutofit fontScale="85000" lnSpcReduction="20000"/>
          </a:bodyPr>
          <a:lstStyle/>
          <a:p>
            <a:r>
              <a:rPr lang="es-AR" sz="2500">
                <a:latin typeface="graphik black"/>
              </a:rPr>
              <a:t>AI LLM </a:t>
            </a:r>
            <a:r>
              <a:rPr lang="es-AR" sz="2500" err="1">
                <a:latin typeface="graphik black"/>
              </a:rPr>
              <a:t>Technology</a:t>
            </a:r>
            <a:r>
              <a:rPr lang="es-AR" sz="2500">
                <a:latin typeface="graphik black"/>
              </a:rPr>
              <a:t> </a:t>
            </a:r>
            <a:r>
              <a:rPr lang="es-AR" sz="2500" err="1">
                <a:latin typeface="graphik black"/>
              </a:rPr>
              <a:t>Arch</a:t>
            </a:r>
            <a:r>
              <a:rPr lang="es-AR" sz="2500">
                <a:latin typeface="graphik black"/>
              </a:rPr>
              <a:t> </a:t>
            </a:r>
            <a:r>
              <a:rPr lang="es-AR" sz="2500" err="1">
                <a:latin typeface="graphik black"/>
              </a:rPr>
              <a:t>Analyst</a:t>
            </a:r>
            <a:endParaRPr lang="en-US" err="1"/>
          </a:p>
        </p:txBody>
      </p:sp>
      <p:sp>
        <p:nvSpPr>
          <p:cNvPr id="7" name="Text Placeholder 6">
            <a:extLst>
              <a:ext uri="{FF2B5EF4-FFF2-40B4-BE49-F238E27FC236}">
                <a16:creationId xmlns:a16="http://schemas.microsoft.com/office/drawing/2014/main" id="{2E84E1C6-7551-7145-13DD-3EFA2FB10B09}"/>
              </a:ext>
            </a:extLst>
          </p:cNvPr>
          <p:cNvSpPr>
            <a:spLocks noGrp="1"/>
          </p:cNvSpPr>
          <p:nvPr>
            <p:ph type="body" sz="quarter" idx="13"/>
          </p:nvPr>
        </p:nvSpPr>
        <p:spPr/>
        <p:txBody>
          <a:bodyPr/>
          <a:lstStyle/>
          <a:p>
            <a:r>
              <a:rPr lang="en-US">
                <a:latin typeface="Graphik"/>
              </a:rPr>
              <a:t>valeria.fortunati@accenture.com</a:t>
            </a:r>
            <a:endParaRPr lang="en-US"/>
          </a:p>
        </p:txBody>
      </p:sp>
      <p:sp>
        <p:nvSpPr>
          <p:cNvPr id="10" name="Text Placeholder 9">
            <a:extLst>
              <a:ext uri="{FF2B5EF4-FFF2-40B4-BE49-F238E27FC236}">
                <a16:creationId xmlns:a16="http://schemas.microsoft.com/office/drawing/2014/main" id="{C6466343-992A-B231-D181-0782377D13A1}"/>
              </a:ext>
            </a:extLst>
          </p:cNvPr>
          <p:cNvSpPr>
            <a:spLocks noGrp="1"/>
          </p:cNvSpPr>
          <p:nvPr>
            <p:ph type="body" sz="quarter" idx="16"/>
          </p:nvPr>
        </p:nvSpPr>
        <p:spPr>
          <a:xfrm>
            <a:off x="341211" y="2421647"/>
            <a:ext cx="2650385" cy="2919138"/>
          </a:xfrm>
        </p:spPr>
        <p:txBody>
          <a:bodyPr vert="horz" lIns="91440" tIns="45720" rIns="91440" bIns="45720" rtlCol="0" anchor="t">
            <a:normAutofit lnSpcReduction="10000"/>
          </a:bodyPr>
          <a:lstStyle/>
          <a:p>
            <a:pPr marL="0" indent="0" algn="just">
              <a:buClr>
                <a:srgbClr val="549E39"/>
              </a:buClr>
              <a:buNone/>
              <a:defRPr/>
            </a:pPr>
            <a:br>
              <a:rPr lang="en-US">
                <a:solidFill>
                  <a:prstClr val="black"/>
                </a:solidFill>
                <a:ea typeface="Calibri"/>
                <a:cs typeface="Calibri"/>
              </a:rPr>
            </a:br>
            <a:r>
              <a:rPr lang="en-US" err="1">
                <a:ea typeface="+mn-lt"/>
                <a:cs typeface="+mn-lt"/>
              </a:rPr>
              <a:t>Ingeniera</a:t>
            </a:r>
            <a:r>
              <a:rPr lang="en-US">
                <a:ea typeface="+mn-lt"/>
                <a:cs typeface="+mn-lt"/>
              </a:rPr>
              <a:t> </a:t>
            </a:r>
            <a:r>
              <a:rPr lang="en-US" err="1">
                <a:ea typeface="+mn-lt"/>
                <a:cs typeface="+mn-lt"/>
              </a:rPr>
              <a:t>Aeronáutica</a:t>
            </a:r>
            <a:r>
              <a:rPr lang="en-US">
                <a:ea typeface="+mn-lt"/>
                <a:cs typeface="+mn-lt"/>
              </a:rPr>
              <a:t> y </a:t>
            </a:r>
            <a:r>
              <a:rPr lang="en-US" err="1">
                <a:ea typeface="+mn-lt"/>
                <a:cs typeface="+mn-lt"/>
              </a:rPr>
              <a:t>Aeroespacial</a:t>
            </a:r>
            <a:r>
              <a:rPr lang="en-US">
                <a:ea typeface="+mn-lt"/>
                <a:cs typeface="+mn-lt"/>
              </a:rPr>
              <a:t> </a:t>
            </a:r>
            <a:r>
              <a:rPr lang="en-US" err="1">
                <a:ea typeface="+mn-lt"/>
                <a:cs typeface="+mn-lt"/>
              </a:rPr>
              <a:t>por</a:t>
            </a:r>
            <a:r>
              <a:rPr lang="en-US">
                <a:ea typeface="+mn-lt"/>
                <a:cs typeface="+mn-lt"/>
              </a:rPr>
              <a:t> la Universidad Nacional de La Plata (UNLP), con </a:t>
            </a:r>
            <a:r>
              <a:rPr lang="en-US" err="1">
                <a:ea typeface="+mn-lt"/>
                <a:cs typeface="+mn-lt"/>
              </a:rPr>
              <a:t>una</a:t>
            </a:r>
            <a:r>
              <a:rPr lang="en-US">
                <a:ea typeface="+mn-lt"/>
                <a:cs typeface="+mn-lt"/>
              </a:rPr>
              <a:t> </a:t>
            </a:r>
            <a:r>
              <a:rPr lang="en-US" err="1">
                <a:ea typeface="+mn-lt"/>
                <a:cs typeface="+mn-lt"/>
              </a:rPr>
              <a:t>sólida</a:t>
            </a:r>
            <a:r>
              <a:rPr lang="en-US">
                <a:ea typeface="+mn-lt"/>
                <a:cs typeface="+mn-lt"/>
              </a:rPr>
              <a:t> base </a:t>
            </a:r>
            <a:r>
              <a:rPr lang="en-US" err="1">
                <a:ea typeface="+mn-lt"/>
                <a:cs typeface="+mn-lt"/>
              </a:rPr>
              <a:t>técnica</a:t>
            </a:r>
            <a:r>
              <a:rPr lang="en-US">
                <a:ea typeface="+mn-lt"/>
                <a:cs typeface="+mn-lt"/>
              </a:rPr>
              <a:t> </a:t>
            </a:r>
            <a:r>
              <a:rPr lang="en-US" err="1">
                <a:ea typeface="+mn-lt"/>
                <a:cs typeface="+mn-lt"/>
              </a:rPr>
              <a:t>en</a:t>
            </a:r>
            <a:r>
              <a:rPr lang="en-US">
                <a:ea typeface="+mn-lt"/>
                <a:cs typeface="+mn-lt"/>
              </a:rPr>
              <a:t> </a:t>
            </a:r>
            <a:r>
              <a:rPr lang="en-US" err="1">
                <a:ea typeface="+mn-lt"/>
                <a:cs typeface="+mn-lt"/>
              </a:rPr>
              <a:t>herramientas</a:t>
            </a:r>
            <a:r>
              <a:rPr lang="en-US">
                <a:ea typeface="+mn-lt"/>
                <a:cs typeface="+mn-lt"/>
              </a:rPr>
              <a:t> de software y </a:t>
            </a:r>
            <a:r>
              <a:rPr lang="en-US" err="1">
                <a:ea typeface="+mn-lt"/>
                <a:cs typeface="+mn-lt"/>
              </a:rPr>
              <a:t>análisis</a:t>
            </a:r>
            <a:r>
              <a:rPr lang="en-US">
                <a:ea typeface="+mn-lt"/>
                <a:cs typeface="+mn-lt"/>
              </a:rPr>
              <a:t> de </a:t>
            </a:r>
            <a:r>
              <a:rPr lang="en-US" err="1">
                <a:ea typeface="+mn-lt"/>
                <a:cs typeface="+mn-lt"/>
              </a:rPr>
              <a:t>datos</a:t>
            </a:r>
            <a:r>
              <a:rPr lang="en-US">
                <a:ea typeface="+mn-lt"/>
                <a:cs typeface="+mn-lt"/>
              </a:rPr>
              <a:t>. Más de 4 </a:t>
            </a:r>
            <a:r>
              <a:rPr lang="en-US" err="1">
                <a:ea typeface="+mn-lt"/>
                <a:cs typeface="+mn-lt"/>
              </a:rPr>
              <a:t>años</a:t>
            </a:r>
            <a:r>
              <a:rPr lang="en-US">
                <a:ea typeface="+mn-lt"/>
                <a:cs typeface="+mn-lt"/>
              </a:rPr>
              <a:t> de </a:t>
            </a:r>
            <a:r>
              <a:rPr lang="en-US" err="1">
                <a:ea typeface="+mn-lt"/>
                <a:cs typeface="+mn-lt"/>
              </a:rPr>
              <a:t>experiencia</a:t>
            </a:r>
            <a:r>
              <a:rPr lang="en-US">
                <a:ea typeface="+mn-lt"/>
                <a:cs typeface="+mn-lt"/>
              </a:rPr>
              <a:t> </a:t>
            </a:r>
            <a:r>
              <a:rPr lang="en-US" err="1">
                <a:ea typeface="+mn-lt"/>
                <a:cs typeface="+mn-lt"/>
              </a:rPr>
              <a:t>que</a:t>
            </a:r>
            <a:r>
              <a:rPr lang="en-US">
                <a:ea typeface="+mn-lt"/>
                <a:cs typeface="+mn-lt"/>
              </a:rPr>
              <a:t> </a:t>
            </a:r>
            <a:r>
              <a:rPr lang="en-US" err="1">
                <a:ea typeface="+mn-lt"/>
                <a:cs typeface="+mn-lt"/>
              </a:rPr>
              <a:t>abarcan</a:t>
            </a:r>
            <a:r>
              <a:rPr lang="en-US">
                <a:ea typeface="+mn-lt"/>
                <a:cs typeface="+mn-lt"/>
              </a:rPr>
              <a:t> </a:t>
            </a:r>
            <a:r>
              <a:rPr lang="en-US" err="1">
                <a:ea typeface="+mn-lt"/>
                <a:cs typeface="+mn-lt"/>
              </a:rPr>
              <a:t>coordinación</a:t>
            </a:r>
            <a:r>
              <a:rPr lang="en-US">
                <a:ea typeface="+mn-lt"/>
                <a:cs typeface="+mn-lt"/>
              </a:rPr>
              <a:t> de </a:t>
            </a:r>
            <a:r>
              <a:rPr lang="en-US" err="1">
                <a:ea typeface="+mn-lt"/>
                <a:cs typeface="+mn-lt"/>
              </a:rPr>
              <a:t>proyectos</a:t>
            </a:r>
            <a:r>
              <a:rPr lang="en-US">
                <a:ea typeface="+mn-lt"/>
                <a:cs typeface="+mn-lt"/>
              </a:rPr>
              <a:t>, </a:t>
            </a:r>
            <a:r>
              <a:rPr lang="en-US" err="1">
                <a:ea typeface="+mn-lt"/>
                <a:cs typeface="+mn-lt"/>
              </a:rPr>
              <a:t>análisis</a:t>
            </a:r>
            <a:r>
              <a:rPr lang="en-US">
                <a:ea typeface="+mn-lt"/>
                <a:cs typeface="+mn-lt"/>
              </a:rPr>
              <a:t> de </a:t>
            </a:r>
            <a:r>
              <a:rPr lang="en-US" err="1">
                <a:ea typeface="+mn-lt"/>
                <a:cs typeface="+mn-lt"/>
              </a:rPr>
              <a:t>sistemas</a:t>
            </a:r>
            <a:r>
              <a:rPr lang="en-US">
                <a:ea typeface="+mn-lt"/>
                <a:cs typeface="+mn-lt"/>
              </a:rPr>
              <a:t> y </a:t>
            </a:r>
            <a:r>
              <a:rPr lang="en-US" err="1">
                <a:ea typeface="+mn-lt"/>
                <a:cs typeface="+mn-lt"/>
              </a:rPr>
              <a:t>docencia</a:t>
            </a:r>
            <a:r>
              <a:rPr lang="en-US">
                <a:ea typeface="+mn-lt"/>
                <a:cs typeface="+mn-lt"/>
              </a:rPr>
              <a:t> </a:t>
            </a:r>
            <a:r>
              <a:rPr lang="en-US" err="1">
                <a:ea typeface="+mn-lt"/>
                <a:cs typeface="+mn-lt"/>
              </a:rPr>
              <a:t>académica</a:t>
            </a:r>
            <a:r>
              <a:rPr lang="en-US">
                <a:ea typeface="+mn-lt"/>
                <a:cs typeface="+mn-lt"/>
              </a:rPr>
              <a:t>.</a:t>
            </a:r>
            <a:endParaRPr lang="en-US">
              <a:ea typeface="Calibri" panose="020F0502020204030204"/>
              <a:cs typeface="Calibri" panose="020F0502020204030204"/>
            </a:endParaRPr>
          </a:p>
          <a:p>
            <a:pPr marL="0" indent="0" algn="just">
              <a:buNone/>
              <a:defRPr/>
            </a:pPr>
            <a:r>
              <a:rPr lang="en-US" err="1">
                <a:ea typeface="+mn-lt"/>
                <a:cs typeface="+mn-lt"/>
              </a:rPr>
              <a:t>Capacidad</a:t>
            </a:r>
            <a:r>
              <a:rPr lang="en-US">
                <a:ea typeface="+mn-lt"/>
                <a:cs typeface="+mn-lt"/>
              </a:rPr>
              <a:t> para </a:t>
            </a:r>
            <a:r>
              <a:rPr lang="en-US" err="1">
                <a:ea typeface="+mn-lt"/>
                <a:cs typeface="+mn-lt"/>
              </a:rPr>
              <a:t>combinar</a:t>
            </a:r>
            <a:r>
              <a:rPr lang="en-US">
                <a:ea typeface="+mn-lt"/>
                <a:cs typeface="+mn-lt"/>
              </a:rPr>
              <a:t> </a:t>
            </a:r>
            <a:r>
              <a:rPr lang="en-US" err="1">
                <a:ea typeface="+mn-lt"/>
                <a:cs typeface="+mn-lt"/>
              </a:rPr>
              <a:t>razonamiento</a:t>
            </a:r>
            <a:r>
              <a:rPr lang="en-US">
                <a:ea typeface="+mn-lt"/>
                <a:cs typeface="+mn-lt"/>
              </a:rPr>
              <a:t> </a:t>
            </a:r>
            <a:r>
              <a:rPr lang="en-US" err="1">
                <a:ea typeface="+mn-lt"/>
                <a:cs typeface="+mn-lt"/>
              </a:rPr>
              <a:t>analítico</a:t>
            </a:r>
            <a:r>
              <a:rPr lang="en-US">
                <a:ea typeface="+mn-lt"/>
                <a:cs typeface="+mn-lt"/>
              </a:rPr>
              <a:t> con </a:t>
            </a:r>
            <a:r>
              <a:rPr lang="en-US" err="1">
                <a:ea typeface="+mn-lt"/>
                <a:cs typeface="+mn-lt"/>
              </a:rPr>
              <a:t>resolución</a:t>
            </a:r>
            <a:r>
              <a:rPr lang="en-US">
                <a:ea typeface="+mn-lt"/>
                <a:cs typeface="+mn-lt"/>
              </a:rPr>
              <a:t> de </a:t>
            </a:r>
            <a:r>
              <a:rPr lang="en-US" err="1">
                <a:ea typeface="+mn-lt"/>
                <a:cs typeface="+mn-lt"/>
              </a:rPr>
              <a:t>problemas</a:t>
            </a:r>
            <a:r>
              <a:rPr lang="en-US">
                <a:ea typeface="+mn-lt"/>
                <a:cs typeface="+mn-lt"/>
              </a:rPr>
              <a:t> </a:t>
            </a:r>
            <a:r>
              <a:rPr lang="en-US" err="1">
                <a:ea typeface="+mn-lt"/>
                <a:cs typeface="+mn-lt"/>
              </a:rPr>
              <a:t>en</a:t>
            </a:r>
            <a:r>
              <a:rPr lang="en-US">
                <a:ea typeface="+mn-lt"/>
                <a:cs typeface="+mn-lt"/>
              </a:rPr>
              <a:t> </a:t>
            </a:r>
            <a:r>
              <a:rPr lang="en-US" err="1">
                <a:ea typeface="+mn-lt"/>
                <a:cs typeface="+mn-lt"/>
              </a:rPr>
              <a:t>entornos</a:t>
            </a:r>
            <a:r>
              <a:rPr lang="en-US">
                <a:ea typeface="+mn-lt"/>
                <a:cs typeface="+mn-lt"/>
              </a:rPr>
              <a:t> </a:t>
            </a:r>
            <a:r>
              <a:rPr lang="en-US" err="1">
                <a:ea typeface="+mn-lt"/>
                <a:cs typeface="+mn-lt"/>
              </a:rPr>
              <a:t>multidiciplinarios</a:t>
            </a:r>
            <a:r>
              <a:rPr lang="en-US">
                <a:ea typeface="+mn-lt"/>
                <a:cs typeface="+mn-lt"/>
              </a:rPr>
              <a:t> y </a:t>
            </a:r>
            <a:r>
              <a:rPr lang="en-US" err="1">
                <a:ea typeface="+mn-lt"/>
                <a:cs typeface="+mn-lt"/>
              </a:rPr>
              <a:t>remotos</a:t>
            </a:r>
            <a:r>
              <a:rPr lang="en-US">
                <a:ea typeface="+mn-lt"/>
                <a:cs typeface="+mn-lt"/>
              </a:rPr>
              <a:t>.</a:t>
            </a:r>
          </a:p>
          <a:p>
            <a:pPr marL="0" indent="0" algn="just">
              <a:buNone/>
              <a:defRPr/>
            </a:pPr>
            <a:r>
              <a:rPr lang="en-US" err="1">
                <a:ea typeface="+mn-lt"/>
                <a:cs typeface="+mn-lt"/>
              </a:rPr>
              <a:t>Participación</a:t>
            </a:r>
            <a:r>
              <a:rPr lang="en-US">
                <a:ea typeface="+mn-lt"/>
                <a:cs typeface="+mn-lt"/>
              </a:rPr>
              <a:t> </a:t>
            </a:r>
            <a:r>
              <a:rPr lang="en-US" err="1">
                <a:ea typeface="+mn-lt"/>
                <a:cs typeface="+mn-lt"/>
              </a:rPr>
              <a:t>en</a:t>
            </a:r>
            <a:r>
              <a:rPr lang="en-US">
                <a:ea typeface="+mn-lt"/>
                <a:cs typeface="+mn-lt"/>
              </a:rPr>
              <a:t> </a:t>
            </a:r>
            <a:r>
              <a:rPr lang="en-US" err="1">
                <a:ea typeface="+mn-lt"/>
                <a:cs typeface="+mn-lt"/>
              </a:rPr>
              <a:t>iniciativas</a:t>
            </a:r>
            <a:r>
              <a:rPr lang="en-US">
                <a:ea typeface="+mn-lt"/>
                <a:cs typeface="+mn-lt"/>
              </a:rPr>
              <a:t> </a:t>
            </a:r>
            <a:r>
              <a:rPr lang="en-US" err="1">
                <a:ea typeface="+mn-lt"/>
                <a:cs typeface="+mn-lt"/>
              </a:rPr>
              <a:t>internas</a:t>
            </a:r>
            <a:r>
              <a:rPr lang="en-US">
                <a:ea typeface="+mn-lt"/>
                <a:cs typeface="+mn-lt"/>
              </a:rPr>
              <a:t> </a:t>
            </a:r>
            <a:r>
              <a:rPr lang="en-US" err="1">
                <a:ea typeface="+mn-lt"/>
                <a:cs typeface="+mn-lt"/>
              </a:rPr>
              <a:t>relacionadas</a:t>
            </a:r>
            <a:r>
              <a:rPr lang="en-US">
                <a:ea typeface="+mn-lt"/>
                <a:cs typeface="+mn-lt"/>
              </a:rPr>
              <a:t> con </a:t>
            </a:r>
            <a:r>
              <a:rPr lang="en-US" err="1">
                <a:ea typeface="+mn-lt"/>
                <a:cs typeface="+mn-lt"/>
              </a:rPr>
              <a:t>análisis</a:t>
            </a:r>
            <a:r>
              <a:rPr lang="en-US">
                <a:ea typeface="+mn-lt"/>
                <a:cs typeface="+mn-lt"/>
              </a:rPr>
              <a:t> de </a:t>
            </a:r>
            <a:r>
              <a:rPr lang="en-US" err="1">
                <a:ea typeface="+mn-lt"/>
                <a:cs typeface="+mn-lt"/>
              </a:rPr>
              <a:t>datos</a:t>
            </a:r>
            <a:r>
              <a:rPr lang="en-US">
                <a:ea typeface="+mn-lt"/>
                <a:cs typeface="+mn-lt"/>
              </a:rPr>
              <a:t> y </a:t>
            </a:r>
            <a:r>
              <a:rPr lang="en-US" err="1">
                <a:ea typeface="+mn-lt"/>
                <a:cs typeface="+mn-lt"/>
              </a:rPr>
              <a:t>capacitación</a:t>
            </a:r>
            <a:r>
              <a:rPr lang="en-US">
                <a:ea typeface="+mn-lt"/>
                <a:cs typeface="+mn-lt"/>
              </a:rPr>
              <a:t> </a:t>
            </a:r>
            <a:r>
              <a:rPr lang="en-US" err="1">
                <a:ea typeface="+mn-lt"/>
                <a:cs typeface="+mn-lt"/>
              </a:rPr>
              <a:t>introductoria</a:t>
            </a:r>
            <a:r>
              <a:rPr lang="en-US">
                <a:ea typeface="+mn-lt"/>
                <a:cs typeface="+mn-lt"/>
              </a:rPr>
              <a:t> </a:t>
            </a:r>
            <a:r>
              <a:rPr lang="en-US" err="1">
                <a:ea typeface="+mn-lt"/>
                <a:cs typeface="+mn-lt"/>
              </a:rPr>
              <a:t>en</a:t>
            </a:r>
            <a:r>
              <a:rPr lang="en-US">
                <a:ea typeface="+mn-lt"/>
                <a:cs typeface="+mn-lt"/>
              </a:rPr>
              <a:t> IA.</a:t>
            </a:r>
          </a:p>
          <a:p>
            <a:pPr algn="just">
              <a:buNone/>
              <a:defRPr/>
            </a:pPr>
            <a:endParaRPr lang="en-US">
              <a:ea typeface="+mn-lt"/>
              <a:cs typeface="+mn-lt"/>
            </a:endParaRPr>
          </a:p>
          <a:p>
            <a:pPr algn="just">
              <a:buNone/>
              <a:defRPr/>
            </a:pPr>
            <a:endParaRPr lang="en-US">
              <a:ea typeface="+mn-lt"/>
              <a:cs typeface="+mn-lt"/>
            </a:endParaRPr>
          </a:p>
          <a:p>
            <a:pPr marL="0" indent="0" algn="just">
              <a:buNone/>
              <a:defRPr/>
            </a:pPr>
            <a:endParaRPr lang="en-US">
              <a:ea typeface="+mn-lt"/>
              <a:cs typeface="+mn-lt"/>
            </a:endParaRPr>
          </a:p>
        </p:txBody>
      </p:sp>
      <p:sp>
        <p:nvSpPr>
          <p:cNvPr id="11" name="Text Placeholder 10">
            <a:extLst>
              <a:ext uri="{FF2B5EF4-FFF2-40B4-BE49-F238E27FC236}">
                <a16:creationId xmlns:a16="http://schemas.microsoft.com/office/drawing/2014/main" id="{364B225E-099E-2A30-0D82-D6462D72AE93}"/>
              </a:ext>
            </a:extLst>
          </p:cNvPr>
          <p:cNvSpPr>
            <a:spLocks noGrp="1"/>
          </p:cNvSpPr>
          <p:nvPr>
            <p:ph type="body" sz="quarter" idx="17"/>
          </p:nvPr>
        </p:nvSpPr>
        <p:spPr>
          <a:xfrm>
            <a:off x="3141626" y="2630191"/>
            <a:ext cx="2251611" cy="1370691"/>
          </a:xfrm>
        </p:spPr>
        <p:txBody>
          <a:bodyPr vert="horz" lIns="91440" tIns="45720" rIns="91440" bIns="45720" rtlCol="0" anchor="t">
            <a:noAutofit/>
          </a:bodyPr>
          <a:lstStyle/>
          <a:p>
            <a:pPr marL="170180" indent="-170180">
              <a:lnSpc>
                <a:spcPct val="100000"/>
              </a:lnSpc>
              <a:spcBef>
                <a:spcPts val="450"/>
              </a:spcBef>
              <a:tabLst>
                <a:tab pos="133270" algn="l"/>
              </a:tabLst>
              <a:defRPr/>
            </a:pPr>
            <a:r>
              <a:rPr lang="en-US" sz="900" dirty="0">
                <a:solidFill>
                  <a:prstClr val="black"/>
                </a:solidFill>
                <a:latin typeface="Calibri"/>
                <a:ea typeface="Calibri" panose="020F0502020204030204"/>
                <a:cs typeface="Calibri"/>
              </a:rPr>
              <a:t>Python, MATLAB</a:t>
            </a:r>
          </a:p>
          <a:p>
            <a:pPr marL="170180" indent="-170180">
              <a:lnSpc>
                <a:spcPct val="100000"/>
              </a:lnSpc>
              <a:spcBef>
                <a:spcPts val="450"/>
              </a:spcBef>
              <a:tabLst>
                <a:tab pos="133270" algn="l"/>
              </a:tabLst>
              <a:defRPr/>
            </a:pPr>
            <a:r>
              <a:rPr lang="en-US" sz="900" dirty="0">
                <a:solidFill>
                  <a:prstClr val="black"/>
                </a:solidFill>
                <a:latin typeface="Calibri"/>
                <a:ea typeface="Calibri" panose="020F0502020204030204"/>
                <a:cs typeface="Calibri"/>
              </a:rPr>
              <a:t>Excel (Advanced/VBA) </a:t>
            </a:r>
          </a:p>
          <a:p>
            <a:pPr marL="170180" indent="-170180">
              <a:lnSpc>
                <a:spcPct val="100000"/>
              </a:lnSpc>
              <a:spcBef>
                <a:spcPts val="450"/>
              </a:spcBef>
              <a:tabLst>
                <a:tab pos="133270" algn="l"/>
              </a:tabLst>
              <a:defRPr/>
            </a:pPr>
            <a:r>
              <a:rPr lang="en-US" sz="900" dirty="0">
                <a:solidFill>
                  <a:prstClr val="black"/>
                </a:solidFill>
                <a:latin typeface="Calibri"/>
                <a:ea typeface="Calibri" panose="020F0502020204030204"/>
                <a:cs typeface="Calibri"/>
              </a:rPr>
              <a:t>Power BI</a:t>
            </a:r>
          </a:p>
          <a:p>
            <a:pPr marL="170180" indent="-170180">
              <a:lnSpc>
                <a:spcPct val="100000"/>
              </a:lnSpc>
              <a:spcBef>
                <a:spcPts val="450"/>
              </a:spcBef>
              <a:tabLst>
                <a:tab pos="133270" algn="l"/>
              </a:tabLst>
              <a:defRPr/>
            </a:pPr>
            <a:r>
              <a:rPr lang="en-US" sz="900" dirty="0">
                <a:solidFill>
                  <a:prstClr val="black"/>
                </a:solidFill>
                <a:latin typeface="Calibri"/>
                <a:ea typeface="Calibri" panose="020F0502020204030204"/>
                <a:cs typeface="Calibri"/>
              </a:rPr>
              <a:t>Coord. de </a:t>
            </a:r>
            <a:r>
              <a:rPr lang="en-US" sz="900" dirty="0" err="1">
                <a:solidFill>
                  <a:prstClr val="black"/>
                </a:solidFill>
                <a:latin typeface="Calibri"/>
                <a:ea typeface="Calibri" panose="020F0502020204030204"/>
                <a:cs typeface="Calibri"/>
              </a:rPr>
              <a:t>proyectos</a:t>
            </a:r>
            <a:r>
              <a:rPr lang="en-US" sz="900" dirty="0">
                <a:solidFill>
                  <a:prstClr val="black"/>
                </a:solidFill>
                <a:latin typeface="Calibri"/>
                <a:ea typeface="Calibri" panose="020F0502020204030204"/>
                <a:cs typeface="Calibri"/>
              </a:rPr>
              <a:t> y </a:t>
            </a:r>
            <a:r>
              <a:rPr lang="en-US" sz="900" dirty="0" err="1">
                <a:solidFill>
                  <a:prstClr val="black"/>
                </a:solidFill>
                <a:latin typeface="Calibri"/>
                <a:ea typeface="Calibri" panose="020F0502020204030204"/>
                <a:cs typeface="Calibri"/>
              </a:rPr>
              <a:t>operaciones</a:t>
            </a:r>
            <a:endParaRPr lang="en-US" sz="900" dirty="0">
              <a:solidFill>
                <a:prstClr val="black"/>
              </a:solidFill>
              <a:latin typeface="Calibri"/>
              <a:ea typeface="Calibri" panose="020F0502020204030204"/>
              <a:cs typeface="Calibri"/>
            </a:endParaRPr>
          </a:p>
          <a:p>
            <a:pPr marL="170180" indent="-170180">
              <a:lnSpc>
                <a:spcPct val="100000"/>
              </a:lnSpc>
              <a:spcBef>
                <a:spcPts val="450"/>
              </a:spcBef>
              <a:tabLst>
                <a:tab pos="133270" algn="l"/>
              </a:tabLst>
              <a:defRPr/>
            </a:pPr>
            <a:r>
              <a:rPr lang="en-US" sz="900" dirty="0">
                <a:solidFill>
                  <a:prstClr val="black"/>
                </a:solidFill>
                <a:latin typeface="Calibri"/>
                <a:ea typeface="Calibri" panose="020F0502020204030204"/>
                <a:cs typeface="Calibri"/>
              </a:rPr>
              <a:t>Agentic AI</a:t>
            </a:r>
          </a:p>
          <a:p>
            <a:pPr marL="170180" indent="-170180">
              <a:lnSpc>
                <a:spcPct val="100000"/>
              </a:lnSpc>
              <a:spcBef>
                <a:spcPts val="450"/>
              </a:spcBef>
              <a:tabLst>
                <a:tab pos="133270" algn="l"/>
              </a:tabLst>
              <a:defRPr/>
            </a:pPr>
            <a:r>
              <a:rPr lang="en-US" sz="900" dirty="0">
                <a:solidFill>
                  <a:prstClr val="black"/>
                </a:solidFill>
                <a:latin typeface="Calibri"/>
                <a:ea typeface="Calibri" panose="020F0502020204030204"/>
                <a:cs typeface="Calibri"/>
              </a:rPr>
              <a:t>RAG Systems</a:t>
            </a:r>
          </a:p>
          <a:p>
            <a:pPr marL="170180" indent="-170180">
              <a:lnSpc>
                <a:spcPct val="100000"/>
              </a:lnSpc>
              <a:spcBef>
                <a:spcPts val="450"/>
              </a:spcBef>
              <a:tabLst>
                <a:tab pos="133270" algn="l"/>
              </a:tabLst>
              <a:defRPr/>
            </a:pPr>
            <a:r>
              <a:rPr lang="en-US" sz="900" dirty="0" err="1">
                <a:solidFill>
                  <a:prstClr val="black"/>
                </a:solidFill>
                <a:latin typeface="Calibri"/>
                <a:ea typeface="Calibri" panose="020F0502020204030204"/>
                <a:cs typeface="Calibri"/>
              </a:rPr>
              <a:t>LangChain</a:t>
            </a:r>
            <a:r>
              <a:rPr lang="en-US" sz="900" dirty="0">
                <a:solidFill>
                  <a:prstClr val="black"/>
                </a:solidFill>
                <a:latin typeface="Calibri"/>
                <a:ea typeface="Calibri" panose="020F0502020204030204"/>
                <a:cs typeface="Calibri"/>
              </a:rPr>
              <a:t>, </a:t>
            </a:r>
            <a:r>
              <a:rPr lang="en-US" sz="900" dirty="0" err="1">
                <a:solidFill>
                  <a:prstClr val="black"/>
                </a:solidFill>
                <a:latin typeface="Calibri"/>
                <a:ea typeface="Calibri" panose="020F0502020204030204"/>
                <a:cs typeface="Calibri"/>
              </a:rPr>
              <a:t>LangGraph</a:t>
            </a:r>
            <a:endParaRPr lang="en-US" sz="900" dirty="0">
              <a:solidFill>
                <a:prstClr val="black"/>
              </a:solidFill>
              <a:latin typeface="Calibri"/>
              <a:ea typeface="Calibri" panose="020F0502020204030204"/>
              <a:cs typeface="Calibri"/>
            </a:endParaRPr>
          </a:p>
          <a:p>
            <a:pPr marL="0" indent="0">
              <a:lnSpc>
                <a:spcPct val="100000"/>
              </a:lnSpc>
              <a:spcBef>
                <a:spcPts val="450"/>
              </a:spcBef>
              <a:buNone/>
              <a:tabLst>
                <a:tab pos="133270" algn="l"/>
              </a:tabLst>
              <a:defRPr/>
            </a:pPr>
            <a:endParaRPr lang="en-US" altLang="en-US" sz="900" dirty="0">
              <a:solidFill>
                <a:prstClr val="black"/>
              </a:solidFill>
              <a:latin typeface="Calibri" panose="020F0502020204030204"/>
              <a:ea typeface="Calibri" panose="020F0502020204030204"/>
              <a:cs typeface="Arial"/>
            </a:endParaRPr>
          </a:p>
        </p:txBody>
      </p:sp>
      <p:sp>
        <p:nvSpPr>
          <p:cNvPr id="12" name="Text Placeholder 11">
            <a:extLst>
              <a:ext uri="{FF2B5EF4-FFF2-40B4-BE49-F238E27FC236}">
                <a16:creationId xmlns:a16="http://schemas.microsoft.com/office/drawing/2014/main" id="{6E358728-C4AD-6B45-72FF-8D7D9E44D871}"/>
              </a:ext>
            </a:extLst>
          </p:cNvPr>
          <p:cNvSpPr>
            <a:spLocks noGrp="1"/>
          </p:cNvSpPr>
          <p:nvPr>
            <p:ph type="body" sz="quarter" idx="18"/>
          </p:nvPr>
        </p:nvSpPr>
        <p:spPr>
          <a:xfrm>
            <a:off x="5427750" y="2425645"/>
            <a:ext cx="6524747" cy="4053221"/>
          </a:xfrm>
        </p:spPr>
        <p:txBody>
          <a:bodyPr vert="horz" lIns="91440" tIns="45720" rIns="91440" bIns="45720" rtlCol="0" anchor="t">
            <a:noAutofit/>
          </a:bodyPr>
          <a:lstStyle/>
          <a:p>
            <a:pPr marL="0" indent="0" defTabSz="912813">
              <a:buNone/>
              <a:tabLst>
                <a:tab pos="917575" algn="l"/>
              </a:tabLst>
              <a:defRPr/>
            </a:pPr>
            <a:r>
              <a:rPr lang="en-US" sz="1000" dirty="0">
                <a:solidFill>
                  <a:prstClr val="black"/>
                </a:solidFill>
                <a:ea typeface="+mn-lt"/>
                <a:cs typeface="+mn-lt"/>
              </a:rPr>
              <a:t>RIO TINTO</a:t>
            </a:r>
            <a:endParaRPr lang="en-US" sz="1000" dirty="0">
              <a:solidFill>
                <a:prstClr val="black"/>
              </a:solidFill>
            </a:endParaRPr>
          </a:p>
          <a:p>
            <a:pPr defTabSz="912813">
              <a:tabLst>
                <a:tab pos="917575" algn="l"/>
              </a:tabLst>
              <a:defRPr/>
            </a:pPr>
            <a:r>
              <a:rPr lang="en-US" sz="1000" b="0" dirty="0" err="1">
                <a:solidFill>
                  <a:prstClr val="black"/>
                </a:solidFill>
                <a:ea typeface="+mn-lt"/>
                <a:cs typeface="+mn-lt"/>
              </a:rPr>
              <a:t>Analista</a:t>
            </a:r>
            <a:r>
              <a:rPr lang="en-US" sz="1000" b="0" dirty="0">
                <a:solidFill>
                  <a:prstClr val="black"/>
                </a:solidFill>
                <a:ea typeface="+mn-lt"/>
                <a:cs typeface="+mn-lt"/>
              </a:rPr>
              <a:t> de Ingeniería de </a:t>
            </a:r>
            <a:r>
              <a:rPr lang="en-US" sz="1000" b="0" dirty="0" err="1">
                <a:solidFill>
                  <a:prstClr val="black"/>
                </a:solidFill>
                <a:ea typeface="+mn-lt"/>
                <a:cs typeface="+mn-lt"/>
              </a:rPr>
              <a:t>Confiabilidad</a:t>
            </a:r>
            <a:r>
              <a:rPr lang="en-US" sz="1000" b="0" dirty="0">
                <a:solidFill>
                  <a:prstClr val="black"/>
                </a:solidFill>
                <a:ea typeface="+mn-lt"/>
                <a:cs typeface="+mn-lt"/>
              </a:rPr>
              <a:t> | FEB 2026 – </a:t>
            </a:r>
            <a:r>
              <a:rPr lang="en-US" sz="1000" b="0" dirty="0" err="1">
                <a:solidFill>
                  <a:prstClr val="black"/>
                </a:solidFill>
                <a:ea typeface="+mn-lt"/>
                <a:cs typeface="+mn-lt"/>
              </a:rPr>
              <a:t>Presente</a:t>
            </a:r>
            <a:br>
              <a:rPr lang="en-US" sz="1000" b="0" dirty="0"/>
            </a:br>
            <a:r>
              <a:rPr lang="es-ES" sz="1000" b="0" dirty="0"/>
              <a:t>Diseño de un pipeline con IA para procesar documentos P&amp;ID, extraer tags de equipos y generar jerarquías FLOC para su integración en el sistema de gestión de activos del cliente. Arquitectura </a:t>
            </a:r>
            <a:r>
              <a:rPr lang="es-ES" sz="1000" b="0" dirty="0" err="1"/>
              <a:t>end-to-end</a:t>
            </a:r>
            <a:r>
              <a:rPr lang="es-ES" sz="1000" b="0" dirty="0"/>
              <a:t>: </a:t>
            </a:r>
            <a:r>
              <a:rPr lang="es-ES" sz="1000" b="0" dirty="0" err="1"/>
              <a:t>parseo</a:t>
            </a:r>
            <a:r>
              <a:rPr lang="es-ES" sz="1000" b="0" dirty="0"/>
              <a:t> de </a:t>
            </a:r>
            <a:r>
              <a:rPr lang="es-ES" sz="1000" b="0" dirty="0" err="1"/>
              <a:t>PDFs</a:t>
            </a:r>
            <a:r>
              <a:rPr lang="es-ES" sz="1000" b="0" dirty="0"/>
              <a:t>, clasificación con </a:t>
            </a:r>
            <a:r>
              <a:rPr lang="es-ES" sz="1000" b="0" dirty="0" err="1"/>
              <a:t>LLMs</a:t>
            </a:r>
            <a:r>
              <a:rPr lang="es-ES" sz="1000" b="0" dirty="0"/>
              <a:t> y salida de datos estructurados. </a:t>
            </a:r>
            <a:endParaRPr lang="es-AR" sz="1000" dirty="0">
              <a:solidFill>
                <a:prstClr val="black"/>
              </a:solidFill>
            </a:endParaRPr>
          </a:p>
          <a:p>
            <a:pPr marL="0" indent="0" defTabSz="912813">
              <a:lnSpc>
                <a:spcPct val="100000"/>
              </a:lnSpc>
              <a:spcBef>
                <a:spcPts val="0"/>
              </a:spcBef>
              <a:buNone/>
              <a:tabLst>
                <a:tab pos="917575" algn="l"/>
              </a:tabLst>
              <a:defRPr/>
            </a:pPr>
            <a:endParaRPr lang="es-AR" sz="1000" dirty="0">
              <a:solidFill>
                <a:prstClr val="black"/>
              </a:solidFill>
            </a:endParaRPr>
          </a:p>
          <a:p>
            <a:pPr marL="0" indent="0" defTabSz="912813">
              <a:lnSpc>
                <a:spcPct val="100000"/>
              </a:lnSpc>
              <a:spcBef>
                <a:spcPts val="0"/>
              </a:spcBef>
              <a:buNone/>
              <a:tabLst>
                <a:tab pos="917575" algn="l"/>
              </a:tabLst>
              <a:defRPr/>
            </a:pPr>
            <a:r>
              <a:rPr lang="es-AR" sz="1000" dirty="0">
                <a:solidFill>
                  <a:prstClr val="black"/>
                </a:solidFill>
              </a:rPr>
              <a:t>ACCENTURE SRL</a:t>
            </a:r>
            <a:endParaRPr lang="en-US" sz="1000" dirty="0">
              <a:solidFill>
                <a:prstClr val="black"/>
              </a:solidFill>
              <a:ea typeface="Calibri"/>
              <a:cs typeface="Calibri"/>
            </a:endParaRPr>
          </a:p>
          <a:p>
            <a:pPr marL="0" lvl="0" indent="0" defTabSz="912813">
              <a:lnSpc>
                <a:spcPct val="100000"/>
              </a:lnSpc>
              <a:spcBef>
                <a:spcPts val="0"/>
              </a:spcBef>
              <a:buNone/>
              <a:tabLst>
                <a:tab pos="917575" algn="l"/>
              </a:tabLst>
              <a:defRPr/>
            </a:pPr>
            <a:endParaRPr lang="en-US" sz="1000" b="0" dirty="0">
              <a:solidFill>
                <a:prstClr val="black"/>
              </a:solidFill>
              <a:ea typeface="Calibri"/>
              <a:cs typeface="Calibri"/>
            </a:endParaRPr>
          </a:p>
          <a:p>
            <a:pPr defTabSz="912813">
              <a:lnSpc>
                <a:spcPct val="100000"/>
              </a:lnSpc>
              <a:spcBef>
                <a:spcPts val="0"/>
              </a:spcBef>
              <a:buFont typeface="Arial"/>
              <a:tabLst>
                <a:tab pos="917575" algn="l"/>
              </a:tabLst>
              <a:defRPr/>
            </a:pPr>
            <a:r>
              <a:rPr lang="en-US" sz="1000" b="0" dirty="0">
                <a:solidFill>
                  <a:prstClr val="black"/>
                </a:solidFill>
              </a:rPr>
              <a:t>AI LLM Technology Architecture Analyst | FEB 2026 – MAR 2026</a:t>
            </a:r>
            <a:br>
              <a:rPr lang="en-US" sz="1000" b="0" dirty="0">
                <a:solidFill>
                  <a:prstClr val="black"/>
                </a:solidFill>
              </a:rPr>
            </a:br>
            <a:r>
              <a:rPr lang="en-US" sz="1000" b="0" dirty="0" err="1">
                <a:ea typeface="+mn-lt"/>
                <a:cs typeface="+mn-lt"/>
              </a:rPr>
              <a:t>Completado</a:t>
            </a:r>
            <a:r>
              <a:rPr lang="en-US" sz="1000" b="0" dirty="0">
                <a:ea typeface="+mn-lt"/>
                <a:cs typeface="+mn-lt"/>
              </a:rPr>
              <a:t> </a:t>
            </a:r>
            <a:r>
              <a:rPr lang="en-US" sz="1000" b="0" dirty="0" err="1">
                <a:ea typeface="+mn-lt"/>
                <a:cs typeface="+mn-lt"/>
              </a:rPr>
              <a:t>el</a:t>
            </a:r>
            <a:r>
              <a:rPr lang="en-US" sz="1000" b="0" dirty="0">
                <a:ea typeface="+mn-lt"/>
                <a:cs typeface="+mn-lt"/>
              </a:rPr>
              <a:t> </a:t>
            </a:r>
            <a:r>
              <a:rPr lang="en-US" sz="1000" b="0" dirty="0" err="1">
                <a:ea typeface="+mn-lt"/>
                <a:cs typeface="+mn-lt"/>
              </a:rPr>
              <a:t>programa</a:t>
            </a:r>
            <a:r>
              <a:rPr lang="en-US" sz="1000" b="0" dirty="0">
                <a:ea typeface="+mn-lt"/>
                <a:cs typeface="+mn-lt"/>
              </a:rPr>
              <a:t> AI Academy (6 </a:t>
            </a:r>
            <a:r>
              <a:rPr lang="en-US" sz="1000" b="0" dirty="0" err="1">
                <a:ea typeface="+mn-lt"/>
                <a:cs typeface="+mn-lt"/>
              </a:rPr>
              <a:t>semanas</a:t>
            </a:r>
            <a:r>
              <a:rPr lang="en-US" sz="1000" b="0" dirty="0">
                <a:ea typeface="+mn-lt"/>
                <a:cs typeface="+mn-lt"/>
              </a:rPr>
              <a:t>) </a:t>
            </a:r>
            <a:r>
              <a:rPr lang="en-US" sz="1000" b="0" dirty="0" err="1">
                <a:ea typeface="+mn-lt"/>
                <a:cs typeface="+mn-lt"/>
              </a:rPr>
              <a:t>en</a:t>
            </a:r>
            <a:r>
              <a:rPr lang="en-US" sz="1000" b="0" dirty="0">
                <a:ea typeface="+mn-lt"/>
                <a:cs typeface="+mn-lt"/>
              </a:rPr>
              <a:t> Agentic AI, </a:t>
            </a:r>
            <a:r>
              <a:rPr lang="en-US" sz="1000" b="0" dirty="0" err="1">
                <a:ea typeface="+mn-lt"/>
                <a:cs typeface="+mn-lt"/>
              </a:rPr>
              <a:t>sistemas</a:t>
            </a:r>
            <a:r>
              <a:rPr lang="en-US" sz="1000" b="0" dirty="0">
                <a:ea typeface="+mn-lt"/>
                <a:cs typeface="+mn-lt"/>
              </a:rPr>
              <a:t> RAG, </a:t>
            </a:r>
            <a:r>
              <a:rPr lang="en-US" sz="1000" b="0" dirty="0" err="1">
                <a:ea typeface="+mn-lt"/>
                <a:cs typeface="+mn-lt"/>
              </a:rPr>
              <a:t>LangChain</a:t>
            </a:r>
            <a:r>
              <a:rPr lang="en-US" sz="1000" b="0" dirty="0">
                <a:ea typeface="+mn-lt"/>
                <a:cs typeface="+mn-lt"/>
              </a:rPr>
              <a:t> y </a:t>
            </a:r>
            <a:r>
              <a:rPr lang="en-US" sz="1000" b="0" dirty="0" err="1">
                <a:ea typeface="+mn-lt"/>
                <a:cs typeface="+mn-lt"/>
              </a:rPr>
              <a:t>orquestación</a:t>
            </a:r>
            <a:r>
              <a:rPr lang="en-US" sz="1000" b="0" dirty="0">
                <a:ea typeface="+mn-lt"/>
                <a:cs typeface="+mn-lt"/>
              </a:rPr>
              <a:t> de LLMs. </a:t>
            </a:r>
            <a:r>
              <a:rPr lang="en-US" sz="1000" b="0" dirty="0" err="1">
                <a:ea typeface="+mn-lt"/>
                <a:cs typeface="+mn-lt"/>
              </a:rPr>
              <a:t>Actualmente</a:t>
            </a:r>
            <a:r>
              <a:rPr lang="en-US" sz="1000" b="0" dirty="0">
                <a:ea typeface="+mn-lt"/>
                <a:cs typeface="+mn-lt"/>
              </a:rPr>
              <a:t> </a:t>
            </a:r>
            <a:r>
              <a:rPr lang="en-US" sz="1000" b="0" dirty="0" err="1">
                <a:ea typeface="+mn-lt"/>
                <a:cs typeface="+mn-lt"/>
              </a:rPr>
              <a:t>asignada</a:t>
            </a:r>
            <a:r>
              <a:rPr lang="en-US" sz="1000" b="0" dirty="0">
                <a:ea typeface="+mn-lt"/>
                <a:cs typeface="+mn-lt"/>
              </a:rPr>
              <a:t> a proyecto con </a:t>
            </a:r>
            <a:r>
              <a:rPr lang="en-US" sz="1000" b="0" dirty="0" err="1">
                <a:ea typeface="+mn-lt"/>
                <a:cs typeface="+mn-lt"/>
              </a:rPr>
              <a:t>cliente</a:t>
            </a:r>
            <a:r>
              <a:rPr lang="en-US" sz="1000" b="0" dirty="0">
                <a:ea typeface="+mn-lt"/>
                <a:cs typeface="+mn-lt"/>
              </a:rPr>
              <a:t> Rio Tinto.</a:t>
            </a:r>
            <a:endParaRPr lang="en-US" dirty="0">
              <a:ea typeface="+mn-lt"/>
              <a:cs typeface="+mn-lt"/>
            </a:endParaRPr>
          </a:p>
          <a:p>
            <a:pPr marL="0" indent="0" defTabSz="912813">
              <a:lnSpc>
                <a:spcPct val="100000"/>
              </a:lnSpc>
              <a:spcBef>
                <a:spcPts val="0"/>
              </a:spcBef>
              <a:buNone/>
              <a:tabLst>
                <a:tab pos="917575" algn="l"/>
              </a:tabLst>
              <a:defRPr/>
            </a:pPr>
            <a:endParaRPr lang="en-US" sz="1000" dirty="0">
              <a:solidFill>
                <a:prstClr val="black"/>
              </a:solidFill>
              <a:ea typeface="Calibri"/>
              <a:cs typeface="Calibri"/>
            </a:endParaRPr>
          </a:p>
          <a:p>
            <a:pPr marL="0" indent="0" defTabSz="912813">
              <a:buNone/>
              <a:tabLst>
                <a:tab pos="917575" algn="l"/>
              </a:tabLst>
              <a:defRPr/>
            </a:pPr>
            <a:r>
              <a:rPr lang="en-US" sz="1000" dirty="0">
                <a:solidFill>
                  <a:prstClr val="black"/>
                </a:solidFill>
                <a:ea typeface="+mn-lt"/>
                <a:cs typeface="+mn-lt"/>
              </a:rPr>
              <a:t>BE BETTER SALES </a:t>
            </a:r>
            <a:endParaRPr lang="en-US" sz="1000" dirty="0">
              <a:solidFill>
                <a:prstClr val="black"/>
              </a:solidFill>
              <a:ea typeface="Calibri"/>
              <a:cs typeface="Calibri"/>
            </a:endParaRPr>
          </a:p>
          <a:p>
            <a:pPr defTabSz="912813">
              <a:buFont typeface="Arial"/>
              <a:buChar char="•"/>
              <a:tabLst>
                <a:tab pos="917575" algn="l"/>
              </a:tabLst>
              <a:defRPr/>
            </a:pPr>
            <a:r>
              <a:rPr lang="en-US" sz="1000" b="0" dirty="0">
                <a:solidFill>
                  <a:prstClr val="black"/>
                </a:solidFill>
                <a:ea typeface="+mn-lt"/>
                <a:cs typeface="+mn-lt"/>
              </a:rPr>
              <a:t>Project Manager &amp; Operations Executive | MAR 2023 – AUG 2025</a:t>
            </a:r>
            <a:endParaRPr lang="en-US" dirty="0">
              <a:solidFill>
                <a:prstClr val="black"/>
              </a:solidFill>
              <a:ea typeface="+mn-lt"/>
              <a:cs typeface="+mn-lt"/>
            </a:endParaRPr>
          </a:p>
          <a:p>
            <a:pPr marL="0" indent="0" defTabSz="912813">
              <a:buNone/>
              <a:tabLst>
                <a:tab pos="917575" algn="l"/>
              </a:tabLst>
              <a:defRPr/>
            </a:pPr>
            <a:r>
              <a:rPr lang="en-US" sz="1000" b="0" dirty="0">
                <a:solidFill>
                  <a:prstClr val="black"/>
                </a:solidFill>
              </a:rPr>
              <a:t>  </a:t>
            </a:r>
            <a:r>
              <a:rPr lang="en-US" sz="1000" b="0" dirty="0" err="1">
                <a:solidFill>
                  <a:prstClr val="black"/>
                </a:solidFill>
                <a:ea typeface="+mn-lt"/>
                <a:cs typeface="+mn-lt"/>
              </a:rPr>
              <a:t>Gestión</a:t>
            </a:r>
            <a:r>
              <a:rPr lang="en-US" sz="1000" b="0" dirty="0">
                <a:solidFill>
                  <a:prstClr val="black"/>
                </a:solidFill>
                <a:ea typeface="+mn-lt"/>
                <a:cs typeface="+mn-lt"/>
              </a:rPr>
              <a:t> de </a:t>
            </a:r>
            <a:r>
              <a:rPr lang="en-US" sz="1000" b="0" dirty="0" err="1">
                <a:solidFill>
                  <a:prstClr val="black"/>
                </a:solidFill>
                <a:ea typeface="+mn-lt"/>
                <a:cs typeface="+mn-lt"/>
              </a:rPr>
              <a:t>operaciones</a:t>
            </a:r>
            <a:r>
              <a:rPr lang="en-US" sz="1000" b="0" dirty="0">
                <a:solidFill>
                  <a:prstClr val="black"/>
                </a:solidFill>
                <a:ea typeface="+mn-lt"/>
                <a:cs typeface="+mn-lt"/>
              </a:rPr>
              <a:t> </a:t>
            </a:r>
            <a:r>
              <a:rPr lang="en-US" sz="1000" b="0" dirty="0" err="1">
                <a:solidFill>
                  <a:prstClr val="black"/>
                </a:solidFill>
                <a:ea typeface="+mn-lt"/>
                <a:cs typeface="+mn-lt"/>
              </a:rPr>
              <a:t>diarias</a:t>
            </a:r>
            <a:r>
              <a:rPr lang="en-US" sz="1000" b="0" dirty="0">
                <a:solidFill>
                  <a:prstClr val="black"/>
                </a:solidFill>
                <a:ea typeface="+mn-lt"/>
                <a:cs typeface="+mn-lt"/>
              </a:rPr>
              <a:t> y </a:t>
            </a:r>
            <a:r>
              <a:rPr lang="en-US" sz="1000" b="0" dirty="0" err="1">
                <a:solidFill>
                  <a:prstClr val="black"/>
                </a:solidFill>
                <a:ea typeface="+mn-lt"/>
                <a:cs typeface="+mn-lt"/>
              </a:rPr>
              <a:t>prestación</a:t>
            </a:r>
            <a:r>
              <a:rPr lang="en-US" sz="1000" b="0" dirty="0">
                <a:solidFill>
                  <a:prstClr val="black"/>
                </a:solidFill>
                <a:ea typeface="+mn-lt"/>
                <a:cs typeface="+mn-lt"/>
              </a:rPr>
              <a:t> de </a:t>
            </a:r>
            <a:r>
              <a:rPr lang="en-US" sz="1000" b="0" dirty="0" err="1">
                <a:solidFill>
                  <a:prstClr val="black"/>
                </a:solidFill>
                <a:ea typeface="+mn-lt"/>
                <a:cs typeface="+mn-lt"/>
              </a:rPr>
              <a:t>servicios</a:t>
            </a:r>
            <a:r>
              <a:rPr lang="en-US" sz="1000" b="0" dirty="0">
                <a:solidFill>
                  <a:prstClr val="black"/>
                </a:solidFill>
                <a:ea typeface="+mn-lt"/>
                <a:cs typeface="+mn-lt"/>
              </a:rPr>
              <a:t> para </a:t>
            </a:r>
            <a:r>
              <a:rPr lang="en-US" sz="1000" b="0" dirty="0" err="1">
                <a:solidFill>
                  <a:prstClr val="black"/>
                </a:solidFill>
                <a:ea typeface="+mn-lt"/>
                <a:cs typeface="+mn-lt"/>
              </a:rPr>
              <a:t>proyectos</a:t>
            </a:r>
            <a:r>
              <a:rPr lang="en-US" sz="1000" b="0" dirty="0">
                <a:solidFill>
                  <a:prstClr val="black"/>
                </a:solidFill>
                <a:ea typeface="+mn-lt"/>
                <a:cs typeface="+mn-lt"/>
              </a:rPr>
              <a:t> de </a:t>
            </a:r>
            <a:r>
              <a:rPr lang="en-US" sz="1000" b="0" dirty="0" err="1">
                <a:solidFill>
                  <a:prstClr val="black"/>
                </a:solidFill>
                <a:ea typeface="+mn-lt"/>
                <a:cs typeface="+mn-lt"/>
              </a:rPr>
              <a:t>ingeniería</a:t>
            </a:r>
            <a:r>
              <a:rPr lang="en-US" sz="1000" b="0" dirty="0">
                <a:solidFill>
                  <a:prstClr val="black"/>
                </a:solidFill>
                <a:ea typeface="+mn-lt"/>
                <a:cs typeface="+mn-lt"/>
              </a:rPr>
              <a:t> y </a:t>
            </a:r>
            <a:r>
              <a:rPr lang="en-US" sz="1000" b="0" dirty="0" err="1">
                <a:solidFill>
                  <a:prstClr val="black"/>
                </a:solidFill>
                <a:ea typeface="+mn-lt"/>
                <a:cs typeface="+mn-lt"/>
              </a:rPr>
              <a:t>automatización</a:t>
            </a:r>
            <a:r>
              <a:rPr lang="en-US" sz="1000" b="0" dirty="0">
                <a:solidFill>
                  <a:prstClr val="black"/>
                </a:solidFill>
                <a:ea typeface="+mn-lt"/>
                <a:cs typeface="+mn-lt"/>
              </a:rPr>
              <a:t>. </a:t>
            </a:r>
            <a:r>
              <a:rPr lang="en-US" sz="1000" b="0" dirty="0" err="1">
                <a:solidFill>
                  <a:prstClr val="black"/>
                </a:solidFill>
                <a:ea typeface="+mn-lt"/>
                <a:cs typeface="+mn-lt"/>
              </a:rPr>
              <a:t>Seguimiento</a:t>
            </a:r>
            <a:r>
              <a:rPr lang="en-US" sz="1000" b="0" dirty="0">
                <a:solidFill>
                  <a:prstClr val="black"/>
                </a:solidFill>
                <a:ea typeface="+mn-lt"/>
                <a:cs typeface="+mn-lt"/>
              </a:rPr>
              <a:t>   de KPIs y </a:t>
            </a:r>
            <a:r>
              <a:rPr lang="en-US" sz="1000" b="0" dirty="0" err="1">
                <a:solidFill>
                  <a:prstClr val="black"/>
                </a:solidFill>
                <a:ea typeface="+mn-lt"/>
                <a:cs typeface="+mn-lt"/>
              </a:rPr>
              <a:t>cronogramas</a:t>
            </a:r>
            <a:r>
              <a:rPr lang="en-US" sz="1000" b="0" dirty="0">
                <a:solidFill>
                  <a:prstClr val="black"/>
                </a:solidFill>
                <a:ea typeface="+mn-lt"/>
                <a:cs typeface="+mn-lt"/>
              </a:rPr>
              <a:t> para </a:t>
            </a:r>
            <a:r>
              <a:rPr lang="en-US" sz="1000" b="0" dirty="0" err="1">
                <a:solidFill>
                  <a:prstClr val="black"/>
                </a:solidFill>
                <a:ea typeface="+mn-lt"/>
                <a:cs typeface="+mn-lt"/>
              </a:rPr>
              <a:t>apoyar</a:t>
            </a:r>
            <a:r>
              <a:rPr lang="en-US" sz="1000" b="0" dirty="0">
                <a:solidFill>
                  <a:prstClr val="black"/>
                </a:solidFill>
                <a:ea typeface="+mn-lt"/>
                <a:cs typeface="+mn-lt"/>
              </a:rPr>
              <a:t> la </a:t>
            </a:r>
            <a:r>
              <a:rPr lang="en-US" sz="1000" b="0" dirty="0" err="1">
                <a:solidFill>
                  <a:prstClr val="black"/>
                </a:solidFill>
                <a:ea typeface="+mn-lt"/>
                <a:cs typeface="+mn-lt"/>
              </a:rPr>
              <a:t>planificación</a:t>
            </a:r>
            <a:r>
              <a:rPr lang="en-US" sz="1000" b="0" dirty="0">
                <a:solidFill>
                  <a:prstClr val="black"/>
                </a:solidFill>
                <a:ea typeface="+mn-lt"/>
                <a:cs typeface="+mn-lt"/>
              </a:rPr>
              <a:t> </a:t>
            </a:r>
            <a:r>
              <a:rPr lang="en-US" sz="1000" b="0" dirty="0" err="1">
                <a:solidFill>
                  <a:prstClr val="black"/>
                </a:solidFill>
                <a:ea typeface="+mn-lt"/>
                <a:cs typeface="+mn-lt"/>
              </a:rPr>
              <a:t>estratégica</a:t>
            </a:r>
            <a:r>
              <a:rPr lang="en-US" sz="1000" b="0" dirty="0">
                <a:solidFill>
                  <a:prstClr val="black"/>
                </a:solidFill>
                <a:ea typeface="+mn-lt"/>
                <a:cs typeface="+mn-lt"/>
              </a:rPr>
              <a:t> y </a:t>
            </a:r>
            <a:r>
              <a:rPr lang="en-US" sz="1000" b="0" dirty="0" err="1">
                <a:solidFill>
                  <a:prstClr val="black"/>
                </a:solidFill>
                <a:ea typeface="+mn-lt"/>
                <a:cs typeface="+mn-lt"/>
              </a:rPr>
              <a:t>prevenir</a:t>
            </a:r>
            <a:r>
              <a:rPr lang="en-US" sz="1000" b="0" dirty="0">
                <a:solidFill>
                  <a:prstClr val="black"/>
                </a:solidFill>
                <a:ea typeface="+mn-lt"/>
                <a:cs typeface="+mn-lt"/>
              </a:rPr>
              <a:t> </a:t>
            </a:r>
            <a:r>
              <a:rPr lang="en-US" sz="1000" b="0" dirty="0" err="1">
                <a:solidFill>
                  <a:prstClr val="black"/>
                </a:solidFill>
                <a:ea typeface="+mn-lt"/>
                <a:cs typeface="+mn-lt"/>
              </a:rPr>
              <a:t>desvíos</a:t>
            </a:r>
            <a:r>
              <a:rPr lang="en-US" sz="1000" b="0" dirty="0">
                <a:solidFill>
                  <a:prstClr val="black"/>
                </a:solidFill>
                <a:ea typeface="+mn-lt"/>
                <a:cs typeface="+mn-lt"/>
              </a:rPr>
              <a:t>. </a:t>
            </a:r>
            <a:r>
              <a:rPr lang="en-US" sz="1000" b="0" dirty="0" err="1">
                <a:solidFill>
                  <a:prstClr val="black"/>
                </a:solidFill>
                <a:ea typeface="+mn-lt"/>
                <a:cs typeface="+mn-lt"/>
              </a:rPr>
              <a:t>Coordinación</a:t>
            </a:r>
            <a:r>
              <a:rPr lang="en-US" sz="1000" b="0" dirty="0">
                <a:solidFill>
                  <a:prstClr val="black"/>
                </a:solidFill>
                <a:ea typeface="+mn-lt"/>
                <a:cs typeface="+mn-lt"/>
              </a:rPr>
              <a:t> del </a:t>
            </a:r>
            <a:r>
              <a:rPr lang="en-US" sz="1000" b="0" dirty="0" err="1">
                <a:solidFill>
                  <a:prstClr val="black"/>
                </a:solidFill>
                <a:ea typeface="+mn-lt"/>
                <a:cs typeface="+mn-lt"/>
              </a:rPr>
              <a:t>trabajo</a:t>
            </a:r>
            <a:r>
              <a:rPr lang="en-US" sz="1000" b="0" dirty="0">
                <a:solidFill>
                  <a:prstClr val="black"/>
                </a:solidFill>
                <a:ea typeface="+mn-lt"/>
                <a:cs typeface="+mn-lt"/>
              </a:rPr>
              <a:t> entre   </a:t>
            </a:r>
            <a:r>
              <a:rPr lang="en-US" sz="1000" b="0" dirty="0" err="1">
                <a:solidFill>
                  <a:prstClr val="black"/>
                </a:solidFill>
                <a:ea typeface="+mn-lt"/>
                <a:cs typeface="+mn-lt"/>
              </a:rPr>
              <a:t>equipos</a:t>
            </a:r>
            <a:r>
              <a:rPr lang="en-US" sz="1000" b="0" dirty="0">
                <a:solidFill>
                  <a:prstClr val="black"/>
                </a:solidFill>
                <a:ea typeface="+mn-lt"/>
                <a:cs typeface="+mn-lt"/>
              </a:rPr>
              <a:t> </a:t>
            </a:r>
            <a:r>
              <a:rPr lang="en-US" sz="1000" b="0" dirty="0" err="1">
                <a:solidFill>
                  <a:prstClr val="black"/>
                </a:solidFill>
                <a:ea typeface="+mn-lt"/>
                <a:cs typeface="+mn-lt"/>
              </a:rPr>
              <a:t>distribuidos</a:t>
            </a:r>
            <a:r>
              <a:rPr lang="en-US" sz="1000" b="0" dirty="0">
                <a:solidFill>
                  <a:prstClr val="black"/>
                </a:solidFill>
                <a:ea typeface="+mn-lt"/>
                <a:cs typeface="+mn-lt"/>
              </a:rPr>
              <a:t> y </a:t>
            </a:r>
            <a:r>
              <a:rPr lang="en-US" sz="1000" b="0" dirty="0" err="1">
                <a:solidFill>
                  <a:prstClr val="black"/>
                </a:solidFill>
                <a:ea typeface="+mn-lt"/>
                <a:cs typeface="+mn-lt"/>
              </a:rPr>
              <a:t>uso</a:t>
            </a:r>
            <a:r>
              <a:rPr lang="en-US" sz="1000" b="0" dirty="0">
                <a:solidFill>
                  <a:prstClr val="black"/>
                </a:solidFill>
                <a:ea typeface="+mn-lt"/>
                <a:cs typeface="+mn-lt"/>
              </a:rPr>
              <a:t> de </a:t>
            </a:r>
            <a:r>
              <a:rPr lang="en-US" sz="1000" b="0" dirty="0" err="1">
                <a:solidFill>
                  <a:prstClr val="black"/>
                </a:solidFill>
                <a:ea typeface="+mn-lt"/>
                <a:cs typeface="+mn-lt"/>
              </a:rPr>
              <a:t>herramientas</a:t>
            </a:r>
            <a:r>
              <a:rPr lang="en-US" sz="1000" b="0" dirty="0">
                <a:solidFill>
                  <a:prstClr val="black"/>
                </a:solidFill>
                <a:ea typeface="+mn-lt"/>
                <a:cs typeface="+mn-lt"/>
              </a:rPr>
              <a:t> de BI para </a:t>
            </a:r>
            <a:r>
              <a:rPr lang="en-US" sz="1000" b="0" dirty="0" err="1">
                <a:solidFill>
                  <a:prstClr val="black"/>
                </a:solidFill>
                <a:ea typeface="+mn-lt"/>
                <a:cs typeface="+mn-lt"/>
              </a:rPr>
              <a:t>analizar</a:t>
            </a:r>
            <a:r>
              <a:rPr lang="en-US" sz="1000" b="0" dirty="0">
                <a:solidFill>
                  <a:prstClr val="black"/>
                </a:solidFill>
                <a:ea typeface="+mn-lt"/>
                <a:cs typeface="+mn-lt"/>
              </a:rPr>
              <a:t> </a:t>
            </a:r>
            <a:r>
              <a:rPr lang="en-US" sz="1000" b="0" dirty="0" err="1">
                <a:solidFill>
                  <a:prstClr val="black"/>
                </a:solidFill>
                <a:ea typeface="+mn-lt"/>
                <a:cs typeface="+mn-lt"/>
              </a:rPr>
              <a:t>tendencias</a:t>
            </a:r>
            <a:r>
              <a:rPr lang="en-US" sz="1000" b="0" dirty="0">
                <a:solidFill>
                  <a:prstClr val="black"/>
                </a:solidFill>
                <a:ea typeface="+mn-lt"/>
                <a:cs typeface="+mn-lt"/>
              </a:rPr>
              <a:t> de </a:t>
            </a:r>
            <a:r>
              <a:rPr lang="en-US" sz="1000" b="0" dirty="0" err="1">
                <a:solidFill>
                  <a:prstClr val="black"/>
                </a:solidFill>
                <a:ea typeface="+mn-lt"/>
                <a:cs typeface="+mn-lt"/>
              </a:rPr>
              <a:t>desempeño</a:t>
            </a:r>
            <a:r>
              <a:rPr lang="en-US" sz="1000" b="0" dirty="0">
                <a:solidFill>
                  <a:prstClr val="black"/>
                </a:solidFill>
                <a:ea typeface="+mn-lt"/>
                <a:cs typeface="+mn-lt"/>
              </a:rPr>
              <a:t> y </a:t>
            </a:r>
            <a:r>
              <a:rPr lang="en-US" sz="1000" b="0" dirty="0" err="1">
                <a:solidFill>
                  <a:prstClr val="black"/>
                </a:solidFill>
                <a:ea typeface="+mn-lt"/>
                <a:cs typeface="+mn-lt"/>
              </a:rPr>
              <a:t>reportar</a:t>
            </a:r>
            <a:r>
              <a:rPr lang="en-US" sz="1000" b="0" dirty="0">
                <a:solidFill>
                  <a:prstClr val="black"/>
                </a:solidFill>
                <a:ea typeface="+mn-lt"/>
                <a:cs typeface="+mn-lt"/>
              </a:rPr>
              <a:t> a </a:t>
            </a:r>
            <a:r>
              <a:rPr lang="en-US" sz="1000" b="0" dirty="0" err="1">
                <a:solidFill>
                  <a:prstClr val="black"/>
                </a:solidFill>
                <a:ea typeface="+mn-lt"/>
                <a:cs typeface="+mn-lt"/>
              </a:rPr>
              <a:t>liderazgo</a:t>
            </a:r>
            <a:r>
              <a:rPr lang="en-US" sz="1000" b="0" dirty="0">
                <a:solidFill>
                  <a:prstClr val="black"/>
                </a:solidFill>
                <a:ea typeface="+mn-lt"/>
                <a:cs typeface="+mn-lt"/>
              </a:rPr>
              <a:t>.</a:t>
            </a:r>
          </a:p>
          <a:p>
            <a:pPr defTabSz="912813">
              <a:lnSpc>
                <a:spcPct val="100000"/>
              </a:lnSpc>
              <a:spcBef>
                <a:spcPts val="0"/>
              </a:spcBef>
              <a:buFont typeface="Arial"/>
              <a:buChar char="-"/>
              <a:tabLst>
                <a:tab pos="917575" algn="l"/>
              </a:tabLst>
              <a:defRPr/>
            </a:pPr>
            <a:endParaRPr lang="en-US" sz="1000" dirty="0">
              <a:solidFill>
                <a:prstClr val="black"/>
              </a:solidFill>
              <a:ea typeface="Calibri"/>
              <a:cs typeface="Calibri"/>
            </a:endParaRPr>
          </a:p>
          <a:p>
            <a:pPr marL="0" indent="0" defTabSz="912813">
              <a:lnSpc>
                <a:spcPct val="100000"/>
              </a:lnSpc>
              <a:spcBef>
                <a:spcPts val="0"/>
              </a:spcBef>
              <a:buNone/>
              <a:tabLst>
                <a:tab pos="917575" algn="l"/>
              </a:tabLst>
              <a:defRPr/>
            </a:pPr>
            <a:endParaRPr lang="en-US" sz="1000" dirty="0">
              <a:solidFill>
                <a:prstClr val="black"/>
              </a:solidFill>
              <a:ea typeface="Calibri"/>
              <a:cs typeface="Calibri"/>
            </a:endParaRPr>
          </a:p>
          <a:p>
            <a:pPr defTabSz="912813">
              <a:lnSpc>
                <a:spcPct val="100000"/>
              </a:lnSpc>
              <a:spcBef>
                <a:spcPts val="0"/>
              </a:spcBef>
              <a:tabLst>
                <a:tab pos="917575" algn="l"/>
              </a:tabLst>
              <a:defRPr/>
            </a:pPr>
            <a:endParaRPr lang="it-IT" b="0" dirty="0"/>
          </a:p>
          <a:p>
            <a:pPr marL="0" indent="0" defTabSz="912813">
              <a:lnSpc>
                <a:spcPct val="100000"/>
              </a:lnSpc>
              <a:spcBef>
                <a:spcPts val="0"/>
              </a:spcBef>
              <a:buNone/>
              <a:tabLst>
                <a:tab pos="917575" algn="l"/>
              </a:tabLst>
              <a:defRPr/>
            </a:pPr>
            <a:endParaRPr lang="it-IT" sz="1000" dirty="0">
              <a:solidFill>
                <a:prstClr val="black"/>
              </a:solidFill>
            </a:endParaRPr>
          </a:p>
          <a:p>
            <a:pPr marL="0" indent="0" defTabSz="912813">
              <a:lnSpc>
                <a:spcPct val="100000"/>
              </a:lnSpc>
              <a:spcBef>
                <a:spcPts val="0"/>
              </a:spcBef>
              <a:buNone/>
              <a:tabLst>
                <a:tab pos="917575" algn="l"/>
              </a:tabLst>
              <a:defRPr/>
            </a:pPr>
            <a:endParaRPr lang="it-IT" sz="1000" dirty="0">
              <a:solidFill>
                <a:prstClr val="black"/>
              </a:solidFill>
            </a:endParaRPr>
          </a:p>
          <a:p>
            <a:pPr marL="0" indent="0" defTabSz="912813">
              <a:lnSpc>
                <a:spcPct val="100000"/>
              </a:lnSpc>
              <a:spcBef>
                <a:spcPts val="0"/>
              </a:spcBef>
              <a:buNone/>
              <a:tabLst>
                <a:tab pos="917575" algn="l"/>
              </a:tabLst>
              <a:defRPr/>
            </a:pPr>
            <a:endParaRPr lang="it-IT" sz="1000" dirty="0">
              <a:solidFill>
                <a:prstClr val="black"/>
              </a:solidFill>
            </a:endParaRPr>
          </a:p>
          <a:p>
            <a:pPr lvl="0" defTabSz="912813">
              <a:lnSpc>
                <a:spcPct val="100000"/>
              </a:lnSpc>
              <a:spcBef>
                <a:spcPts val="0"/>
              </a:spcBef>
              <a:buFont typeface="Arial"/>
              <a:buChar char="-"/>
              <a:tabLst>
                <a:tab pos="917575" algn="l"/>
              </a:tabLst>
              <a:defRPr/>
            </a:pPr>
            <a:endParaRPr lang="en-US" sz="1000" dirty="0">
              <a:solidFill>
                <a:prstClr val="black"/>
              </a:solidFill>
              <a:ea typeface="Calibri" panose="020F0502020204030204"/>
              <a:cs typeface="Calibri" panose="020F0502020204030204"/>
            </a:endParaRPr>
          </a:p>
          <a:p>
            <a:pPr marL="0" lvl="0" indent="0" defTabSz="912813">
              <a:lnSpc>
                <a:spcPct val="100000"/>
              </a:lnSpc>
              <a:spcBef>
                <a:spcPts val="0"/>
              </a:spcBef>
              <a:buNone/>
              <a:tabLst>
                <a:tab pos="917575" algn="l"/>
              </a:tabLst>
              <a:defRPr/>
            </a:pPr>
            <a:endParaRPr lang="en-US" sz="1000" dirty="0">
              <a:solidFill>
                <a:prstClr val="black"/>
              </a:solidFill>
            </a:endParaRPr>
          </a:p>
        </p:txBody>
      </p:sp>
      <p:sp>
        <p:nvSpPr>
          <p:cNvPr id="13" name="Text Placeholder 12">
            <a:extLst>
              <a:ext uri="{FF2B5EF4-FFF2-40B4-BE49-F238E27FC236}">
                <a16:creationId xmlns:a16="http://schemas.microsoft.com/office/drawing/2014/main" id="{2D3BEA02-81AC-9B8E-2530-3CDC47F5C9F8}"/>
              </a:ext>
            </a:extLst>
          </p:cNvPr>
          <p:cNvSpPr>
            <a:spLocks noGrp="1"/>
          </p:cNvSpPr>
          <p:nvPr>
            <p:ph type="body" sz="quarter" idx="19"/>
          </p:nvPr>
        </p:nvSpPr>
        <p:spPr/>
        <p:txBody>
          <a:bodyPr/>
          <a:lstStyle/>
          <a:p>
            <a:r>
              <a:rPr lang="en-US" dirty="0" err="1">
                <a:latin typeface="Graphik"/>
              </a:rPr>
              <a:t>Inteligencia</a:t>
            </a:r>
            <a:r>
              <a:rPr lang="en-US" dirty="0">
                <a:latin typeface="Graphik"/>
              </a:rPr>
              <a:t> Artificial</a:t>
            </a:r>
            <a:endParaRPr lang="en-US" dirty="0"/>
          </a:p>
        </p:txBody>
      </p:sp>
      <p:sp>
        <p:nvSpPr>
          <p:cNvPr id="3" name="Footer Placeholder 2">
            <a:extLst>
              <a:ext uri="{FF2B5EF4-FFF2-40B4-BE49-F238E27FC236}">
                <a16:creationId xmlns:a16="http://schemas.microsoft.com/office/drawing/2014/main" id="{42E67726-9D5F-E09D-B965-645A7FA29D2E}"/>
              </a:ext>
            </a:extLst>
          </p:cNvPr>
          <p:cNvSpPr>
            <a:spLocks noGrp="1"/>
          </p:cNvSpPr>
          <p:nvPr>
            <p:ph type="ftr" sz="quarter" idx="4294967295"/>
          </p:nvPr>
        </p:nvSpPr>
        <p:spPr>
          <a:xfrm>
            <a:off x="8077200" y="6492875"/>
            <a:ext cx="4114800"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Copyright © 2021 Accenture.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All</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rights</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reserved</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t>
            </a:r>
          </a:p>
        </p:txBody>
      </p:sp>
      <p:pic>
        <p:nvPicPr>
          <p:cNvPr id="27" name="Picture Placeholder 26" descr="A person with long hair and nose ring  AI-generated content may be incorrect.">
            <a:extLst>
              <a:ext uri="{FF2B5EF4-FFF2-40B4-BE49-F238E27FC236}">
                <a16:creationId xmlns:a16="http://schemas.microsoft.com/office/drawing/2014/main" id="{66E5EB73-9F24-E752-E3D3-3F43188CC834}"/>
              </a:ext>
            </a:extLst>
          </p:cNvPr>
          <p:cNvPicPr>
            <a:picLocks noGrp="1" noChangeAspect="1"/>
          </p:cNvPicPr>
          <p:nvPr>
            <p:ph type="pic" sz="quarter" idx="15"/>
          </p:nvPr>
        </p:nvPicPr>
        <p:blipFill>
          <a:blip r:embed="rId2"/>
          <a:srcRect t="2013" b="16564"/>
          <a:stretch>
            <a:fillRect/>
          </a:stretch>
        </p:blipFill>
        <p:spPr>
          <a:xfrm>
            <a:off x="718197" y="161833"/>
            <a:ext cx="1336675" cy="1451139"/>
          </a:xfrm>
        </p:spPr>
      </p:pic>
      <p:sp>
        <p:nvSpPr>
          <p:cNvPr id="30" name="Text Placeholder 10">
            <a:extLst>
              <a:ext uri="{FF2B5EF4-FFF2-40B4-BE49-F238E27FC236}">
                <a16:creationId xmlns:a16="http://schemas.microsoft.com/office/drawing/2014/main" id="{9D6D2A39-C63F-07D1-99B6-EB9DF4EB6687}"/>
              </a:ext>
            </a:extLst>
          </p:cNvPr>
          <p:cNvSpPr txBox="1">
            <a:spLocks/>
          </p:cNvSpPr>
          <p:nvPr/>
        </p:nvSpPr>
        <p:spPr>
          <a:xfrm>
            <a:off x="3176139" y="4272380"/>
            <a:ext cx="2012108" cy="1159413"/>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800">
              <a:solidFill>
                <a:prstClr val="black"/>
              </a:solidFill>
              <a:latin typeface="Calibri" panose="020F0502020204030204"/>
              <a:cs typeface="Arial"/>
            </a:endParaRPr>
          </a:p>
        </p:txBody>
      </p:sp>
      <p:sp>
        <p:nvSpPr>
          <p:cNvPr id="31" name="Text Placeholder 10">
            <a:extLst>
              <a:ext uri="{FF2B5EF4-FFF2-40B4-BE49-F238E27FC236}">
                <a16:creationId xmlns:a16="http://schemas.microsoft.com/office/drawing/2014/main" id="{4E76BB0C-7086-9B67-5531-DD1C0CEFCEB0}"/>
              </a:ext>
            </a:extLst>
          </p:cNvPr>
          <p:cNvSpPr txBox="1">
            <a:spLocks/>
          </p:cNvSpPr>
          <p:nvPr/>
        </p:nvSpPr>
        <p:spPr>
          <a:xfrm>
            <a:off x="3145143" y="4235448"/>
            <a:ext cx="2012108" cy="1018115"/>
          </a:xfrm>
          <a:prstGeom prst="rect">
            <a:avLst/>
          </a:prstGeom>
        </p:spPr>
        <p:txBody>
          <a:bodyPr vert="horz" lIns="91440" tIns="45720" rIns="91440" bIns="45720" rtlCol="0" anchor="t">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133270" algn="l"/>
              </a:tabLst>
              <a:defRPr/>
            </a:pPr>
            <a:r>
              <a:rPr lang="en-US" sz="900" dirty="0">
                <a:solidFill>
                  <a:prstClr val="black"/>
                </a:solidFill>
                <a:latin typeface="Calibri"/>
                <a:ea typeface="Calibri"/>
                <a:cs typeface="Calibri"/>
              </a:rPr>
              <a:t>Aeronautica/</a:t>
            </a:r>
            <a:r>
              <a:rPr lang="en-US" sz="900" dirty="0" err="1">
                <a:solidFill>
                  <a:prstClr val="black"/>
                </a:solidFill>
                <a:latin typeface="Calibri"/>
                <a:ea typeface="Calibri"/>
                <a:cs typeface="Calibri"/>
              </a:rPr>
              <a:t>Aerospacial</a:t>
            </a:r>
            <a:r>
              <a:rPr lang="en-US" sz="900" dirty="0">
                <a:solidFill>
                  <a:prstClr val="black"/>
                </a:solidFill>
                <a:latin typeface="Calibri"/>
                <a:ea typeface="Calibri"/>
                <a:cs typeface="Calibri"/>
              </a:rPr>
              <a:t>  </a:t>
            </a:r>
          </a:p>
          <a:p>
            <a:pPr>
              <a:tabLst>
                <a:tab pos="133270" algn="l"/>
              </a:tabLst>
              <a:defRPr/>
            </a:pPr>
            <a:r>
              <a:rPr lang="en-US" sz="900" dirty="0">
                <a:solidFill>
                  <a:prstClr val="black"/>
                </a:solidFill>
                <a:latin typeface="Calibri"/>
                <a:ea typeface="Calibri"/>
                <a:cs typeface="Calibri"/>
              </a:rPr>
              <a:t>Software Development (ERP)  </a:t>
            </a:r>
          </a:p>
          <a:p>
            <a:pPr>
              <a:tabLst>
                <a:tab pos="133270" algn="l"/>
              </a:tabLst>
              <a:defRPr/>
            </a:pPr>
            <a:r>
              <a:rPr lang="en-US" sz="900" dirty="0" err="1">
                <a:solidFill>
                  <a:prstClr val="black"/>
                </a:solidFill>
                <a:latin typeface="Calibri"/>
                <a:ea typeface="Calibri"/>
                <a:cs typeface="Calibri"/>
              </a:rPr>
              <a:t>Educación</a:t>
            </a:r>
            <a:r>
              <a:rPr lang="en-US" sz="900" dirty="0">
                <a:solidFill>
                  <a:prstClr val="black"/>
                </a:solidFill>
                <a:latin typeface="Calibri"/>
                <a:ea typeface="Calibri"/>
                <a:cs typeface="Calibri"/>
              </a:rPr>
              <a:t> / </a:t>
            </a:r>
            <a:r>
              <a:rPr lang="en-US" sz="900" dirty="0" err="1">
                <a:solidFill>
                  <a:prstClr val="black"/>
                </a:solidFill>
                <a:latin typeface="Calibri"/>
                <a:ea typeface="Calibri"/>
                <a:cs typeface="Calibri"/>
              </a:rPr>
              <a:t>Física</a:t>
            </a:r>
            <a:endParaRPr lang="en-US" sz="900" dirty="0">
              <a:solidFill>
                <a:prstClr val="black"/>
              </a:solidFill>
              <a:latin typeface="Calibri"/>
              <a:ea typeface="Calibri"/>
              <a:cs typeface="Calibri"/>
            </a:endParaRPr>
          </a:p>
          <a:p>
            <a:pPr>
              <a:tabLst>
                <a:tab pos="133270" algn="l"/>
              </a:tabLst>
              <a:defRPr/>
            </a:pPr>
            <a:r>
              <a:rPr lang="en-US" sz="900" dirty="0" err="1">
                <a:solidFill>
                  <a:prstClr val="black"/>
                </a:solidFill>
                <a:latin typeface="Calibri"/>
                <a:ea typeface="Calibri"/>
                <a:cs typeface="Calibri"/>
              </a:rPr>
              <a:t>Optimización</a:t>
            </a:r>
            <a:r>
              <a:rPr lang="en-US" sz="900" dirty="0">
                <a:solidFill>
                  <a:prstClr val="black"/>
                </a:solidFill>
                <a:latin typeface="Calibri"/>
                <a:ea typeface="Calibri"/>
                <a:cs typeface="Calibri"/>
              </a:rPr>
              <a:t> de </a:t>
            </a:r>
            <a:r>
              <a:rPr lang="en-US" sz="900" dirty="0" err="1">
                <a:solidFill>
                  <a:prstClr val="black"/>
                </a:solidFill>
                <a:latin typeface="Calibri"/>
                <a:ea typeface="Calibri"/>
                <a:cs typeface="Calibri"/>
              </a:rPr>
              <a:t>procesos</a:t>
            </a:r>
            <a:r>
              <a:rPr lang="en-US" sz="900" dirty="0">
                <a:solidFill>
                  <a:prstClr val="black"/>
                </a:solidFill>
                <a:latin typeface="Calibri"/>
                <a:ea typeface="Calibri"/>
                <a:cs typeface="Calibri"/>
              </a:rPr>
              <a:t> </a:t>
            </a:r>
            <a:r>
              <a:rPr lang="en-US" sz="900" dirty="0">
                <a:solidFill>
                  <a:prstClr val="black"/>
                </a:solidFill>
                <a:latin typeface="Graphik"/>
                <a:cs typeface="Arial"/>
              </a:rPr>
              <a:t> </a:t>
            </a:r>
            <a:endParaRPr lang="en-US" dirty="0">
              <a:solidFill>
                <a:prstClr val="black"/>
              </a:solidFill>
            </a:endParaRPr>
          </a:p>
          <a:p>
            <a:pPr marL="170180" indent="-170180">
              <a:lnSpc>
                <a:spcPct val="100000"/>
              </a:lnSpc>
              <a:spcBef>
                <a:spcPts val="450"/>
              </a:spcBef>
              <a:tabLst>
                <a:tab pos="133270" algn="l"/>
              </a:tabLst>
              <a:defRPr/>
            </a:pPr>
            <a:endParaRPr lang="en-US" altLang="en-US" sz="900" dirty="0">
              <a:solidFill>
                <a:prstClr val="black"/>
              </a:solidFill>
              <a:latin typeface="Calibri" panose="020F0502020204030204"/>
              <a:ea typeface="Calibri"/>
              <a:cs typeface="Arial"/>
            </a:endParaRPr>
          </a:p>
          <a:p>
            <a:pPr marL="170781" indent="-170781">
              <a:lnSpc>
                <a:spcPct val="100000"/>
              </a:lnSpc>
              <a:spcBef>
                <a:spcPts val="450"/>
              </a:spcBef>
              <a:tabLst>
                <a:tab pos="133270" algn="l"/>
              </a:tabLst>
              <a:defRPr/>
            </a:pPr>
            <a:endParaRPr lang="en-US" altLang="en-US" sz="900" dirty="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900" dirty="0">
              <a:solidFill>
                <a:prstClr val="black"/>
              </a:solidFill>
              <a:latin typeface="Calibri" panose="020F0502020204030204"/>
              <a:cs typeface="Arial"/>
            </a:endParaRPr>
          </a:p>
        </p:txBody>
      </p:sp>
      <p:sp>
        <p:nvSpPr>
          <p:cNvPr id="2" name="TextBox 1">
            <a:extLst>
              <a:ext uri="{FF2B5EF4-FFF2-40B4-BE49-F238E27FC236}">
                <a16:creationId xmlns:a16="http://schemas.microsoft.com/office/drawing/2014/main" id="{97698EA5-9FAE-01B7-5A7A-A1E769DB379A}"/>
              </a:ext>
            </a:extLst>
          </p:cNvPr>
          <p:cNvSpPr txBox="1"/>
          <p:nvPr/>
        </p:nvSpPr>
        <p:spPr>
          <a:xfrm>
            <a:off x="210586" y="5245785"/>
            <a:ext cx="2342612" cy="261610"/>
          </a:xfrm>
          <a:prstGeom prst="rect">
            <a:avLst/>
          </a:prstGeom>
          <a:noFill/>
        </p:spPr>
        <p:txBody>
          <a:bodyPr wrap="square" rtlCol="0">
            <a:spAutoFit/>
          </a:bodyPr>
          <a:lstStyle/>
          <a:p>
            <a:r>
              <a:rPr lang="es-AR" sz="1100" b="1">
                <a:solidFill>
                  <a:srgbClr val="7030A0"/>
                </a:solidFill>
                <a:latin typeface="Graphik" panose="020B0503030202060203" pitchFamily="34" charset="0"/>
              </a:rPr>
              <a:t>CERTIFICATIONS</a:t>
            </a:r>
            <a:endParaRPr lang="en-US" sz="1100" b="1">
              <a:solidFill>
                <a:srgbClr val="7030A0"/>
              </a:solidFill>
              <a:latin typeface="Graphik" panose="020B0503030202060203" pitchFamily="34" charset="0"/>
            </a:endParaRPr>
          </a:p>
        </p:txBody>
      </p:sp>
      <p:sp>
        <p:nvSpPr>
          <p:cNvPr id="14" name="TextBox 13">
            <a:extLst>
              <a:ext uri="{FF2B5EF4-FFF2-40B4-BE49-F238E27FC236}">
                <a16:creationId xmlns:a16="http://schemas.microsoft.com/office/drawing/2014/main" id="{E8DA8878-BAFA-7DD9-DBE1-93D58E5EE127}"/>
              </a:ext>
            </a:extLst>
          </p:cNvPr>
          <p:cNvSpPr txBox="1"/>
          <p:nvPr/>
        </p:nvSpPr>
        <p:spPr>
          <a:xfrm>
            <a:off x="341211" y="5603433"/>
            <a:ext cx="2781010" cy="553998"/>
          </a:xfrm>
          <a:prstGeom prst="rect">
            <a:avLst/>
          </a:prstGeom>
          <a:noFill/>
        </p:spPr>
        <p:txBody>
          <a:bodyPr wrap="square" lIns="91440" tIns="45720" rIns="91440" bIns="45720" rtlCol="0" anchor="t">
            <a:spAutoFit/>
          </a:bodyPr>
          <a:lstStyle/>
          <a:p>
            <a:r>
              <a:rPr lang="es-AR" sz="1000">
                <a:solidFill>
                  <a:prstClr val="black"/>
                </a:solidFill>
              </a:rPr>
              <a:t>AI </a:t>
            </a:r>
            <a:r>
              <a:rPr lang="es-AR" sz="1000" err="1">
                <a:solidFill>
                  <a:prstClr val="black"/>
                </a:solidFill>
              </a:rPr>
              <a:t>Academy</a:t>
            </a:r>
            <a:r>
              <a:rPr lang="es-AR" sz="1000">
                <a:solidFill>
                  <a:prstClr val="black"/>
                </a:solidFill>
              </a:rPr>
              <a:t> –Accenture (2026 – in </a:t>
            </a:r>
            <a:r>
              <a:rPr lang="es-AR" sz="1000" err="1">
                <a:solidFill>
                  <a:prstClr val="black"/>
                </a:solidFill>
              </a:rPr>
              <a:t>progress</a:t>
            </a:r>
            <a:r>
              <a:rPr lang="es-AR" sz="1000">
                <a:solidFill>
                  <a:prstClr val="black"/>
                </a:solidFill>
              </a:rPr>
              <a:t>)</a:t>
            </a:r>
            <a:endParaRPr lang="en-US">
              <a:solidFill>
                <a:prstClr val="black"/>
              </a:solidFill>
            </a:endParaRPr>
          </a:p>
          <a:p>
            <a:r>
              <a:rPr lang="es-AR" sz="1000">
                <a:solidFill>
                  <a:prstClr val="black"/>
                </a:solidFill>
                <a:ea typeface="+mn-lt"/>
                <a:cs typeface="+mn-lt"/>
              </a:rPr>
              <a:t>Data Analysis with Python – Talento Tech (2025)  </a:t>
            </a:r>
            <a:endParaRPr lang="es-AR"/>
          </a:p>
          <a:p>
            <a:r>
              <a:rPr lang="es-AR" sz="1000">
                <a:solidFill>
                  <a:prstClr val="black"/>
                </a:solidFill>
                <a:ea typeface="+mn-lt"/>
                <a:cs typeface="+mn-lt"/>
              </a:rPr>
              <a:t>Optical Remote Sensing – CONAE (2023) </a:t>
            </a:r>
            <a:endParaRPr lang="es-AR"/>
          </a:p>
        </p:txBody>
      </p:sp>
      <p:sp>
        <p:nvSpPr>
          <p:cNvPr id="17" name="Text Placeholder 16">
            <a:extLst>
              <a:ext uri="{FF2B5EF4-FFF2-40B4-BE49-F238E27FC236}">
                <a16:creationId xmlns:a16="http://schemas.microsoft.com/office/drawing/2014/main" id="{3B32F6AB-7E05-9CAE-6294-87D38F75F68A}"/>
              </a:ext>
            </a:extLst>
          </p:cNvPr>
          <p:cNvSpPr>
            <a:spLocks noGrp="1"/>
          </p:cNvSpPr>
          <p:nvPr>
            <p:ph type="body" sz="quarter" idx="14"/>
          </p:nvPr>
        </p:nvSpPr>
        <p:spPr/>
        <p:txBody>
          <a:bodyPr/>
          <a:lstStyle/>
          <a:p>
            <a:r>
              <a:rPr lang="en-US">
                <a:latin typeface="Graphik"/>
              </a:rPr>
              <a:t>La Plata, Buenos Aires, Argentina</a:t>
            </a:r>
            <a:endParaRPr lang="en-US"/>
          </a:p>
        </p:txBody>
      </p:sp>
    </p:spTree>
    <p:extLst>
      <p:ext uri="{BB962C8B-B14F-4D97-AF65-F5344CB8AC3E}">
        <p14:creationId xmlns:p14="http://schemas.microsoft.com/office/powerpoint/2010/main" val="17590354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1666D6F4CFFA446B5D32C4039F08BDD" ma:contentTypeVersion="12" ma:contentTypeDescription="Create a new document." ma:contentTypeScope="" ma:versionID="7a6cc17327f8fd4a1bea693b89822f0e">
  <xsd:schema xmlns:xsd="http://www.w3.org/2001/XMLSchema" xmlns:xs="http://www.w3.org/2001/XMLSchema" xmlns:p="http://schemas.microsoft.com/office/2006/metadata/properties" xmlns:ns2="9e5dff9b-ec84-400a-8d4d-02e969566393" xmlns:ns3="9e1adda6-93f2-443e-b0ef-40d6e1dc8c9d" targetNamespace="http://schemas.microsoft.com/office/2006/metadata/properties" ma:root="true" ma:fieldsID="0fcd0ec4e5a5c37c753411fc93cc8c20" ns2:_="" ns3:_="">
    <xsd:import namespace="9e5dff9b-ec84-400a-8d4d-02e969566393"/>
    <xsd:import namespace="9e1adda6-93f2-443e-b0ef-40d6e1dc8c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f9b-ec84-400a-8d4d-02e9695663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e1adda6-93f2-443e-b0ef-40d6e1dc8c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4a7b0e6-297d-4a6a-b5d6-da3887b93b0d}" ma:internalName="TaxCatchAll" ma:showField="CatchAllData" ma:web="9e1adda6-93f2-443e-b0ef-40d6e1dc8c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e1adda6-93f2-443e-b0ef-40d6e1dc8c9d" xsi:nil="true"/>
    <lcf76f155ced4ddcb4097134ff3c332f xmlns="9e5dff9b-ec84-400a-8d4d-02e969566393">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574E015-01BD-4CA9-A1A3-24E1C7AB720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5dff9b-ec84-400a-8d4d-02e969566393"/>
    <ds:schemaRef ds:uri="9e1adda6-93f2-443e-b0ef-40d6e1dc8c9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4FDDEF0-1083-4094-9B20-46F9C8F14342}">
  <ds:schemaRefs>
    <ds:schemaRef ds:uri="9e1adda6-93f2-443e-b0ef-40d6e1dc8c9d"/>
    <ds:schemaRef ds:uri="9e5dff9b-ec84-400a-8d4d-02e969566393"/>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144C9B9-51C1-4799-AC7C-FA632A9C1FB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692</Words>
  <Application>Microsoft Office PowerPoint</Application>
  <PresentationFormat>Widescreen</PresentationFormat>
  <Paragraphs>92</Paragraphs>
  <Slides>2</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11" baseType="lpstr">
      <vt:lpstr>Arial</vt:lpstr>
      <vt:lpstr>Calibri</vt:lpstr>
      <vt:lpstr>Calibri Light</vt:lpstr>
      <vt:lpstr>Graphik</vt:lpstr>
      <vt:lpstr>Graphik Black</vt:lpstr>
      <vt:lpstr>Graphik Black</vt:lpstr>
      <vt:lpstr>Graphik Super</vt:lpstr>
      <vt:lpstr>1_Office Theme</vt:lpstr>
      <vt:lpstr>think-cell Slide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Penacchioni, Ana</dc:creator>
  <cp:lastModifiedBy>Fortunati, Valeria R.</cp:lastModifiedBy>
  <cp:revision>70</cp:revision>
  <dcterms:created xsi:type="dcterms:W3CDTF">2022-03-18T18:13:59Z</dcterms:created>
  <dcterms:modified xsi:type="dcterms:W3CDTF">2026-04-28T12:46:07Z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0x010100D1666D6F4CFFA446B5D32C4039F08BDD</vt:lpwstr>
  </property>
  <property fmtid="{D5CDD505-2E9C-101B-9397-08002B2CF9AE}" pid="3" name="xd_ProgID">
    <vt:lpwstr/>
  </property>
  <property fmtid="{D5CDD505-2E9C-101B-9397-08002B2CF9AE}" pid="4" name="MediaServiceImageTags">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xd_Signature">
    <vt:bool>false</vt:bool>
  </property>
</Properties>
</file>