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07613621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Pasquale, Ricardo Hector" userId="9776462c-dad9-4d37-82a5-dee2496aa2ef" providerId="ADAL" clId="{78A71C0D-2AEE-4049-ABDB-55AC1AAA040D}"/>
    <pc:docChg chg="custSel modSld">
      <pc:chgData name="Di Pasquale, Ricardo Hector" userId="9776462c-dad9-4d37-82a5-dee2496aa2ef" providerId="ADAL" clId="{78A71C0D-2AEE-4049-ABDB-55AC1AAA040D}" dt="2026-06-08T17:33:28.723" v="749" actId="1076"/>
      <pc:docMkLst>
        <pc:docMk/>
      </pc:docMkLst>
      <pc:sldChg chg="addSp delSp modSp mod">
        <pc:chgData name="Di Pasquale, Ricardo Hector" userId="9776462c-dad9-4d37-82a5-dee2496aa2ef" providerId="ADAL" clId="{78A71C0D-2AEE-4049-ABDB-55AC1AAA040D}" dt="2026-06-08T17:33:28.723" v="749" actId="1076"/>
        <pc:sldMkLst>
          <pc:docMk/>
          <pc:sldMk cId="3747954151" sldId="2076136212"/>
        </pc:sldMkLst>
        <pc:picChg chg="add mod">
          <ac:chgData name="Di Pasquale, Ricardo Hector" userId="9776462c-dad9-4d37-82a5-dee2496aa2ef" providerId="ADAL" clId="{78A71C0D-2AEE-4049-ABDB-55AC1AAA040D}" dt="2026-06-08T17:33:28.723" v="749" actId="1076"/>
          <ac:picMkLst>
            <pc:docMk/>
            <pc:sldMk cId="3747954151" sldId="2076136212"/>
            <ac:picMk id="6" creationId="{F811BE65-AE52-F5B0-692D-4EBD2A5C56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AAC62-BF2B-4F17-A281-1372B1E4E7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59354-9A81-4987-9140-5CE923F0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7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31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7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8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157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5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753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1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5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4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24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28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74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346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11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8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22954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828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48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561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5052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62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3183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141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8021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256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80762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19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82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8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9493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822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3610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265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411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50407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85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076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199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00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5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6369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Ricardo Di Pasquale</a:t>
            </a:r>
          </a:p>
          <a:p>
            <a:pPr marL="0" indent="0">
              <a:buNone/>
            </a:pP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 lnSpcReduction="10000"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AI/LLM Technology Architecture Associate Director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Technology</a:t>
            </a: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/</a:t>
            </a:r>
            <a:r>
              <a:rPr lang="es-AR" sz="1200" dirty="0"/>
              <a:t> AI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Graphik"/>
              </a:rPr>
              <a:t>ricardo.di.pasquale@accenture.com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6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067" y="2429619"/>
            <a:ext cx="2888410" cy="1894376"/>
            <a:chOff x="652024" y="2462768"/>
            <a:chExt cx="2888410" cy="1894376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52024" y="4018482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66854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AI Engineering, Data Science, AI/Ops, AI Governance, AI-Assisted SLDC, MLE/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MLOps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460073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Java, Scala, C#, Python, C++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DB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Oracle/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SQLServer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/DB2/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PostgreSQ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/ MySQL/Neo4J/MongoDB/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InfluxDB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AI: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LLM &amp; ML/SageMaker/Vertex/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AzureML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/Databricks/ OpenAI / Gemini / Bedrock / Claude / TensorFlow/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Pytorch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/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Scikitlearn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/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XGBoost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/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LigthGBM</a:t>
            </a:r>
            <a:endParaRPr lang="en-US" b="0" dirty="0">
              <a:solidFill>
                <a:srgbClr val="000000"/>
              </a:solidFill>
              <a:latin typeface="Graphik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Others: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Scaled.AI, MLE, MLOps, Software Engineering, Project Management, Big Data Optimization, Scalability, Researching, Architecture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02406" y="4250352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prstClr val="black"/>
                </a:solidFill>
              </a:rPr>
              <a:t>Bachelor Degree  in Computer Engineer (Pontificia Universidad </a:t>
            </a:r>
            <a:r>
              <a:rPr lang="en-US" sz="1000" dirty="0" err="1">
                <a:solidFill>
                  <a:prstClr val="black"/>
                </a:solidFill>
              </a:rPr>
              <a:t>Católica</a:t>
            </a:r>
            <a:r>
              <a:rPr lang="en-US" sz="1000" dirty="0">
                <a:solidFill>
                  <a:prstClr val="black"/>
                </a:solidFill>
              </a:rPr>
              <a:t> Argentina)</a:t>
            </a:r>
          </a:p>
          <a:p>
            <a:pPr marL="171450" lvl="0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/>
              <a:t>Master Degree in Software Engineering </a:t>
            </a:r>
            <a:r>
              <a:rPr lang="en-US" sz="1000" dirty="0">
                <a:solidFill>
                  <a:prstClr val="black"/>
                </a:solidFill>
              </a:rPr>
              <a:t>(ITBA – Universidad </a:t>
            </a:r>
            <a:r>
              <a:rPr lang="en-US" sz="1000" dirty="0" err="1">
                <a:solidFill>
                  <a:prstClr val="black"/>
                </a:solidFill>
              </a:rPr>
              <a:t>Politécnica</a:t>
            </a:r>
            <a:r>
              <a:rPr lang="en-US" sz="1000" dirty="0">
                <a:solidFill>
                  <a:prstClr val="black"/>
                </a:solidFill>
              </a:rPr>
              <a:t> de Madrid)</a:t>
            </a:r>
          </a:p>
          <a:p>
            <a:pPr marL="171450" lvl="0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prstClr val="black"/>
                </a:solidFill>
              </a:rPr>
              <a:t>PhD Candidate in Science &amp; Technology (UNGS)</a:t>
            </a:r>
            <a:endParaRPr lang="en-US" sz="1000" dirty="0"/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6" y="2732286"/>
            <a:ext cx="2702016" cy="10620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00" dirty="0">
                <a:solidFill>
                  <a:prstClr val="black"/>
                </a:solidFill>
              </a:rPr>
              <a:t>30 years of experience in Software Engineering, Data Science and AI Eng. Data Science Program Director, AI Eng. Program Director, Professor &amp; Researcher in UCA (Pontificia Universidad Católica Argentina). AI Tribe </a:t>
            </a:r>
            <a:r>
              <a:rPr lang="en-US" sz="1000" dirty="0">
                <a:solidFill>
                  <a:schemeClr val="dk1"/>
                </a:solidFill>
              </a:rPr>
              <a:t>Leader. Responsible for Scale.AI, AI </a:t>
            </a:r>
            <a:r>
              <a:rPr lang="en-US" sz="1000" dirty="0" err="1">
                <a:solidFill>
                  <a:schemeClr val="dk1"/>
                </a:solidFill>
              </a:rPr>
              <a:t>Enginering</a:t>
            </a:r>
            <a:r>
              <a:rPr lang="en-US" sz="1000" dirty="0">
                <a:solidFill>
                  <a:schemeClr val="dk1"/>
                </a:solidFill>
              </a:rPr>
              <a:t>, AI Assisted SDLC and AIOps.</a:t>
            </a:r>
          </a:p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sz="1000" dirty="0"/>
          </a:p>
          <a:p>
            <a:pPr marL="171450" indent="-171450">
              <a:buChar char="•"/>
            </a:pPr>
            <a:endParaRPr lang="en-US" sz="1000" dirty="0"/>
          </a:p>
          <a:p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1167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spcAft>
                <a:spcPts val="0"/>
              </a:spcAft>
            </a:pPr>
            <a:r>
              <a:rPr lang="en-US" dirty="0"/>
              <a:t>English (C1)</a:t>
            </a:r>
          </a:p>
          <a:p>
            <a:pPr>
              <a:spcAft>
                <a:spcPts val="0"/>
              </a:spcAft>
            </a:pPr>
            <a:r>
              <a:rPr lang="en-US" dirty="0"/>
              <a:t>Spanish (Native)</a:t>
            </a:r>
          </a:p>
          <a:p>
            <a:pPr>
              <a:spcAft>
                <a:spcPts val="0"/>
              </a:spcAft>
            </a:pPr>
            <a:r>
              <a:rPr lang="en-US" dirty="0"/>
              <a:t>Italian (Basic)</a:t>
            </a:r>
          </a:p>
          <a:p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3044481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spcAft>
                <a:spcPts val="0"/>
              </a:spcAft>
            </a:pPr>
            <a:r>
              <a:rPr lang="en-US" dirty="0"/>
              <a:t>Energy </a:t>
            </a:r>
          </a:p>
          <a:p>
            <a:pPr>
              <a:spcAft>
                <a:spcPts val="0"/>
              </a:spcAft>
            </a:pPr>
            <a:r>
              <a:rPr lang="en-US" dirty="0"/>
              <a:t>FS / Banking</a:t>
            </a:r>
          </a:p>
          <a:p>
            <a:pPr>
              <a:spcAft>
                <a:spcPts val="0"/>
              </a:spcAft>
            </a:pPr>
            <a:r>
              <a:rPr lang="en-US" dirty="0"/>
              <a:t>Health Sciences</a:t>
            </a:r>
          </a:p>
          <a:p>
            <a:pPr>
              <a:spcAft>
                <a:spcPts val="0"/>
              </a:spcAft>
            </a:pPr>
            <a:r>
              <a:rPr lang="en-US" dirty="0"/>
              <a:t>Retail</a:t>
            </a: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3"/>
            <a:ext cx="5081751" cy="55101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</a:rPr>
              <a:t>Accenture D&amp;AT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cs typeface="Calibri" panose="020F0502020204030204" pitchFamily="34" charset="0"/>
              </a:rPr>
              <a:t>AI/ML SME </a:t>
            </a:r>
            <a:r>
              <a:rPr lang="en-US" sz="1000" b="0" dirty="0">
                <a:solidFill>
                  <a:schemeClr val="tx1"/>
                </a:solidFill>
                <a:cs typeface="Calibri" panose="020F0502020204030204" pitchFamily="34" charset="0"/>
              </a:rPr>
              <a:t>– Snowflake driven </a:t>
            </a:r>
            <a:r>
              <a:rPr lang="en-US" sz="1000" b="0" dirty="0" err="1">
                <a:solidFill>
                  <a:schemeClr val="tx1"/>
                </a:solidFill>
                <a:cs typeface="Calibri" panose="020F0502020204030204" pitchFamily="34" charset="0"/>
              </a:rPr>
              <a:t>Datalake</a:t>
            </a:r>
            <a:r>
              <a:rPr lang="en-US" sz="1000" b="0" dirty="0">
                <a:solidFill>
                  <a:schemeClr val="tx1"/>
                </a:solidFill>
                <a:cs typeface="Calibri" panose="020F0502020204030204" pitchFamily="34" charset="0"/>
              </a:rPr>
              <a:t> Conversational AI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cs typeface="Calibri" panose="020F0502020204030204" pitchFamily="34" charset="0"/>
              </a:rPr>
              <a:t>AI/ML SME </a:t>
            </a:r>
            <a:r>
              <a:rPr lang="en-US" sz="1000" b="0" dirty="0">
                <a:solidFill>
                  <a:schemeClr val="tx1"/>
                </a:solidFill>
                <a:cs typeface="Calibri" panose="020F0502020204030204" pitchFamily="34" charset="0"/>
              </a:rPr>
              <a:t>– Gemini Enterprise PoC for Competitive Intelligence (unstructured data)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cs typeface="Calibri" panose="020F0502020204030204" pitchFamily="34" charset="0"/>
              </a:rPr>
              <a:t>AI/ML SME </a:t>
            </a:r>
            <a:r>
              <a:rPr lang="en-US" sz="1000" b="0" dirty="0">
                <a:solidFill>
                  <a:schemeClr val="tx1"/>
                </a:solidFill>
                <a:cs typeface="Calibri" panose="020F0502020204030204" pitchFamily="34" charset="0"/>
              </a:rPr>
              <a:t>– Novel text-to-</a:t>
            </a:r>
            <a:r>
              <a:rPr lang="en-US" sz="1000" b="0" dirty="0" err="1">
                <a:solidFill>
                  <a:schemeClr val="tx1"/>
                </a:solidFill>
                <a:cs typeface="Calibri" panose="020F0502020204030204" pitchFamily="34" charset="0"/>
              </a:rPr>
              <a:t>sql</a:t>
            </a:r>
            <a:r>
              <a:rPr lang="en-US" sz="1000" b="0" dirty="0">
                <a:solidFill>
                  <a:schemeClr val="tx1"/>
                </a:solidFill>
                <a:cs typeface="Calibri" panose="020F0502020204030204" pitchFamily="34" charset="0"/>
              </a:rPr>
              <a:t> product based on Knowledge Graph + Agentic AI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 err="1">
                <a:solidFill>
                  <a:srgbClr val="000000"/>
                </a:solidFill>
                <a:latin typeface="+mn-lt"/>
              </a:rPr>
              <a:t>LLMOps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/ MLOps Lead @ Content and Media Company, USA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MLOps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Lead - </a:t>
            </a:r>
            <a:r>
              <a:rPr lang="en-US" sz="10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GCP Vertex Platform </a:t>
            </a:r>
            <a:r>
              <a:rPr lang="en-US" sz="1000" b="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- Building of a AI Assisted DATA tool for migration and automatic documentation of pipelines.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Data Science Platform Enablement @ Luxury vehicles Manufacturer, GERMANY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Architecture Lead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GCP Cloud Migration @ WORKD IWDE RETAIL COMPANY, USA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Architecture Lead / HC Lead  - </a:t>
            </a:r>
            <a:r>
              <a:rPr lang="en-US" sz="1000" b="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Data Lake Migration. Architecture Design for automated migration - </a:t>
            </a:r>
            <a:r>
              <a:rPr lang="en-US" sz="1000" b="0" dirty="0" err="1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Dataproc</a:t>
            </a:r>
            <a:r>
              <a:rPr lang="en-US" sz="1000" b="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/Spark/Hive/GCP/Airflow 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MLE CONSULTING @ WORKD IWDE COMMUNICATION COMPANY, SWEDEN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MLOps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team Lead - </a:t>
            </a:r>
            <a:r>
              <a:rPr lang="en-US" sz="1000" b="0" dirty="0" err="1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MLOps</a:t>
            </a:r>
            <a:r>
              <a:rPr lang="en-US" sz="1000" b="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Framework Adoption. AWS –SageMaker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MLE CONSULTING @ International Tires Manufacturer, USA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MLOps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team Lead - </a:t>
            </a:r>
            <a:r>
              <a:rPr lang="en-US" sz="1000" b="0" dirty="0" err="1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MLOps</a:t>
            </a:r>
            <a:r>
              <a:rPr lang="en-US" sz="1000" b="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Framework Adoption. AWS – SageMaker</a:t>
            </a:r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DATA PLATFORM ASSESSMENT @ WORLDWIDE FAST-FOOD COMPANY, USA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Technical Strategist Lead </a:t>
            </a:r>
            <a:r>
              <a:rPr lang="en-US" sz="1000" b="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- Assessment of current transactional world-wide platform</a:t>
            </a:r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INFORMATION SYSTEM MANAGEMENT @ ELECTRIC ENERGY WHOLESALE MARKET ADMINISTRATION COMPANY, ARGENTINA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IS Manager.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PEDIATRIC  CHEST X-RAY CLASSIFICATION  @ PEDIATRICS HOSPITAL, ARG.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Project Director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CARDHOLDERS &amp; COMMERCE TRANSACTIONAL WEB SITES @ GLOBAL CREDIT CARD PROCESSOR, ARGENTINA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Sr Application Architect</a:t>
            </a:r>
          </a:p>
        </p:txBody>
      </p:sp>
      <p:sp>
        <p:nvSpPr>
          <p:cNvPr id="68" name="Slide Number Placeholder 5">
            <a:extLst>
              <a:ext uri="{FF2B5EF4-FFF2-40B4-BE49-F238E27FC236}">
                <a16:creationId xmlns:a16="http://schemas.microsoft.com/office/drawing/2014/main" id="{40407413-FB81-C4CE-CBD5-376A257F75CC}"/>
              </a:ext>
            </a:extLst>
          </p:cNvPr>
          <p:cNvSpPr txBox="1">
            <a:spLocks/>
          </p:cNvSpPr>
          <p:nvPr/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" sz="800" b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2026 Accenture.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</a:t>
            </a:r>
          </a:p>
        </p:txBody>
      </p:sp>
      <p:pic>
        <p:nvPicPr>
          <p:cNvPr id="5" name="Picture 4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5866B77A-71E5-EBF5-9175-2CFFDB0905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533" y="1685909"/>
            <a:ext cx="554174" cy="554174"/>
          </a:xfrm>
          <a:prstGeom prst="rect">
            <a:avLst/>
          </a:prstGeom>
        </p:spPr>
      </p:pic>
      <p:pic>
        <p:nvPicPr>
          <p:cNvPr id="1026" name="Picture 2" descr="AWS Certified Cloud Practitioner - Credly">
            <a:extLst>
              <a:ext uri="{FF2B5EF4-FFF2-40B4-BE49-F238E27FC236}">
                <a16:creationId xmlns:a16="http://schemas.microsoft.com/office/drawing/2014/main" id="{830D0AE6-118D-870F-5D1A-7EF06BCF5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026" y="1659857"/>
            <a:ext cx="554174" cy="55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2D70AF7-C7FE-39DA-226D-D2A6F6D84245}"/>
              </a:ext>
            </a:extLst>
          </p:cNvPr>
          <p:cNvSpPr/>
          <p:nvPr/>
        </p:nvSpPr>
        <p:spPr>
          <a:xfrm>
            <a:off x="328067" y="1000795"/>
            <a:ext cx="1259656" cy="1238449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pic>
        <p:nvPicPr>
          <p:cNvPr id="10" name="Picture 2" descr="Reinvention with Agentic AI badge image. Issued by Accenture">
            <a:extLst>
              <a:ext uri="{FF2B5EF4-FFF2-40B4-BE49-F238E27FC236}">
                <a16:creationId xmlns:a16="http://schemas.microsoft.com/office/drawing/2014/main" id="{DA7AE39B-CE07-41E9-B37F-A7B3606B9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563" y="1659210"/>
            <a:ext cx="525127" cy="52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onnect Bootcamp Graduate badge image. Learning. Foundational level. Issued by Kong">
            <a:extLst>
              <a:ext uri="{FF2B5EF4-FFF2-40B4-BE49-F238E27FC236}">
                <a16:creationId xmlns:a16="http://schemas.microsoft.com/office/drawing/2014/main" id="{B8AA492E-0161-8FF7-65DA-36B14614E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830" y="1685909"/>
            <a:ext cx="535592" cy="5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11BE65-AE52-F5B0-692D-4EBD2A5C56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0738" y="1240710"/>
            <a:ext cx="527897" cy="40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2" ma:contentTypeDescription="Create a new document." ma:contentTypeScope="" ma:versionID="7a6cc17327f8fd4a1bea693b89822f0e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0fcd0ec4e5a5c37c753411fc93cc8c20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F190C0-2289-408C-859E-D9DE16203037}">
  <ds:schemaRefs>
    <ds:schemaRef ds:uri="http://purl.org/dc/elements/1.1/"/>
    <ds:schemaRef ds:uri="9e1adda6-93f2-443e-b0ef-40d6e1dc8c9d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9e5dff9b-ec84-400a-8d4d-02e969566393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D13FB34-5A1C-4C07-9505-15A13190B9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74E96B-1692-4E96-A056-E36234890D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5dff9b-ec84-400a-8d4d-02e969566393"/>
    <ds:schemaRef ds:uri="9e1adda6-93f2-443e-b0ef-40d6e1dc8c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490</Words>
  <Application>Microsoft Office PowerPoint</Application>
  <PresentationFormat>Widescreen</PresentationFormat>
  <Paragraphs>57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Graphik</vt:lpstr>
      <vt:lpstr>Graphik Black</vt:lpstr>
      <vt:lpstr>GT Sectra Fine Rg</vt:lpstr>
      <vt:lpstr>ThemeACN2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Comerci, Sandro</dc:creator>
  <cp:lastModifiedBy>Di Pasquale, Ricardo Hector</cp:lastModifiedBy>
  <cp:revision>3</cp:revision>
  <dcterms:created xsi:type="dcterms:W3CDTF">2022-12-16T18:40:20Z</dcterms:created>
  <dcterms:modified xsi:type="dcterms:W3CDTF">2026-06-08T17:33:30Z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