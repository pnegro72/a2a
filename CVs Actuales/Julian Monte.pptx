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076136192" r:id="rId5"/>
    <p:sldId id="207613619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297FD2-D303-3316-0B98-F94EBF8062AA}" v="83" dt="2026-04-13T11:14:21.8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hort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7877665F-10BD-4C6C-AC32-89F087D69A7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88"/>
          <a:ext cx="1588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0" imgH="531" progId="TCLayout.ActiveDocument.1">
                  <p:embed/>
                </p:oleObj>
              </mc:Choice>
              <mc:Fallback>
                <p:oleObj name="think-cell Slide" r:id="rId3" imgW="530" imgH="53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7877665F-10BD-4C6C-AC32-89F087D69A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© 2018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>
          <a:xfrm>
            <a:off x="381000" y="1828803"/>
            <a:ext cx="5715000" cy="4689475"/>
          </a:xfrm>
        </p:spPr>
        <p:txBody>
          <a:bodyPr>
            <a:normAutofit/>
          </a:bodyPr>
          <a:lstStyle>
            <a:lvl1pPr>
              <a:defRPr sz="2399"/>
            </a:lvl1pPr>
            <a:lvl2pPr>
              <a:spcAft>
                <a:spcPts val="1200"/>
              </a:spcAft>
              <a:defRPr sz="1999"/>
            </a:lvl2pPr>
            <a:lvl3pPr marL="514029" indent="-230044">
              <a:buFont typeface="Graphik" panose="020B0503030202060203" pitchFamily="34" charset="0"/>
              <a:buChar char="–"/>
              <a:defRPr sz="1599"/>
            </a:lvl3pPr>
            <a:lvl5pPr marL="856715" indent="-177689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81000" y="381000"/>
            <a:ext cx="5715000" cy="9906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9"/>
          </p:nvPr>
        </p:nvSpPr>
        <p:spPr>
          <a:xfrm>
            <a:off x="6096000" y="1828803"/>
            <a:ext cx="5715000" cy="4689475"/>
          </a:xfrm>
        </p:spPr>
        <p:txBody>
          <a:bodyPr>
            <a:normAutofit/>
          </a:bodyPr>
          <a:lstStyle>
            <a:lvl1pPr>
              <a:defRPr sz="2399"/>
            </a:lvl1pPr>
            <a:lvl2pPr>
              <a:spcAft>
                <a:spcPts val="1200"/>
              </a:spcAft>
              <a:defRPr sz="1999"/>
            </a:lvl2pPr>
            <a:lvl3pPr marL="514029" indent="-230044">
              <a:buFont typeface="Graphik" panose="020B0503030202060203" pitchFamily="34" charset="0"/>
              <a:buChar char="–"/>
              <a:defRPr sz="1599"/>
            </a:lvl3pPr>
            <a:lvl5pPr marL="856715" indent="-177689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62059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mplat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DBE22B4-94C9-441A-996E-23DF1FFB52FB}"/>
              </a:ext>
            </a:extLst>
          </p:cNvPr>
          <p:cNvSpPr/>
          <p:nvPr userDrawn="1"/>
        </p:nvSpPr>
        <p:spPr>
          <a:xfrm>
            <a:off x="3791" y="-46505"/>
            <a:ext cx="12184418" cy="19390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1CC0BF-8C69-48FA-9821-905B5B8FAEB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2938" y="88223"/>
            <a:ext cx="1336675" cy="1673225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Footer Placeholder 7">
            <a:extLst>
              <a:ext uri="{FF2B5EF4-FFF2-40B4-BE49-F238E27FC236}">
                <a16:creationId xmlns:a16="http://schemas.microsoft.com/office/drawing/2014/main" id="{B8AF3E59-7034-4140-8A44-78141E815021}"/>
              </a:ext>
            </a:extLst>
          </p:cNvPr>
          <p:cNvSpPr txBox="1">
            <a:spLocks/>
          </p:cNvSpPr>
          <p:nvPr userDrawn="1"/>
        </p:nvSpPr>
        <p:spPr>
          <a:xfrm>
            <a:off x="384558" y="6517088"/>
            <a:ext cx="5711445" cy="206246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2020 Accenture. All rights reserved.</a:t>
            </a:r>
          </a:p>
        </p:txBody>
      </p:sp>
      <p:sp>
        <p:nvSpPr>
          <p:cNvPr id="16" name="Slide Number Placeholder 9">
            <a:extLst>
              <a:ext uri="{FF2B5EF4-FFF2-40B4-BE49-F238E27FC236}">
                <a16:creationId xmlns:a16="http://schemas.microsoft.com/office/drawing/2014/main" id="{AEE8CA5D-8B85-43BD-926A-533776C7D0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312" y="6490741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kumimoji="0" lang="en-US" sz="1000" b="0" i="0" u="none" strike="noStrike" kern="1200" cap="none" spc="0" normalizeH="0" baseline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D66BAD1-5A09-4097-906B-2A706FC0E50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394130" y="-36778"/>
            <a:ext cx="1946341" cy="1673225"/>
          </a:xfrm>
          <a:custGeom>
            <a:avLst/>
            <a:gdLst>
              <a:gd name="connsiteX0" fmla="*/ 0 w 2211700"/>
              <a:gd name="connsiteY0" fmla="*/ 0 h 1901348"/>
              <a:gd name="connsiteX1" fmla="*/ 960881 w 2211700"/>
              <a:gd name="connsiteY1" fmla="*/ 0 h 1901348"/>
              <a:gd name="connsiteX2" fmla="*/ 2211700 w 2211700"/>
              <a:gd name="connsiteY2" fmla="*/ 506353 h 1901348"/>
              <a:gd name="connsiteX3" fmla="*/ 2211700 w 2211700"/>
              <a:gd name="connsiteY3" fmla="*/ 1006015 h 1901348"/>
              <a:gd name="connsiteX4" fmla="*/ 0 w 2211700"/>
              <a:gd name="connsiteY4" fmla="*/ 1901348 h 1901348"/>
              <a:gd name="connsiteX5" fmla="*/ 0 w 2211700"/>
              <a:gd name="connsiteY5" fmla="*/ 1401686 h 1901348"/>
              <a:gd name="connsiteX6" fmla="*/ 1595366 w 2211700"/>
              <a:gd name="connsiteY6" fmla="*/ 754915 h 1901348"/>
              <a:gd name="connsiteX7" fmla="*/ 0 w 2211700"/>
              <a:gd name="connsiteY7" fmla="*/ 110681 h 1901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11700" h="1901348">
                <a:moveTo>
                  <a:pt x="0" y="0"/>
                </a:moveTo>
                <a:lnTo>
                  <a:pt x="960881" y="0"/>
                </a:lnTo>
                <a:lnTo>
                  <a:pt x="2211700" y="506353"/>
                </a:lnTo>
                <a:lnTo>
                  <a:pt x="2211700" y="1006015"/>
                </a:lnTo>
                <a:lnTo>
                  <a:pt x="0" y="1901348"/>
                </a:lnTo>
                <a:lnTo>
                  <a:pt x="0" y="1401686"/>
                </a:lnTo>
                <a:lnTo>
                  <a:pt x="1595366" y="754915"/>
                </a:lnTo>
                <a:lnTo>
                  <a:pt x="0" y="110681"/>
                </a:lnTo>
                <a:close/>
              </a:path>
            </a:pathLst>
          </a:custGeom>
          <a:solidFill>
            <a:srgbClr val="CC99FF"/>
          </a:solidFill>
          <a:ln>
            <a:noFill/>
          </a:ln>
        </p:spPr>
        <p:txBody>
          <a:bodyPr vert="horz" wrap="square" lIns="91383" tIns="45691" rIns="91383" bIns="45691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Rectangle 12">
            <a:extLst>
              <a:ext uri="{FF2B5EF4-FFF2-40B4-BE49-F238E27FC236}">
                <a16:creationId xmlns:a16="http://schemas.microsoft.com/office/drawing/2014/main" id="{1418F404-19B5-4B57-A040-19AD40173BF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299975" y="2132513"/>
            <a:ext cx="2679306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AREAS OF EXPERTISE</a:t>
            </a:r>
          </a:p>
        </p:txBody>
      </p:sp>
      <p:sp>
        <p:nvSpPr>
          <p:cNvPr id="38" name="Rectangle 12">
            <a:extLst>
              <a:ext uri="{FF2B5EF4-FFF2-40B4-BE49-F238E27FC236}">
                <a16:creationId xmlns:a16="http://schemas.microsoft.com/office/drawing/2014/main" id="{13DDC02B-51EE-44E0-BEDD-AE88AE5888A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252944" y="2132513"/>
            <a:ext cx="5408559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SELECTED EXPERIENCE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891B2A9-4B3C-4A70-9C20-306568572CF4}"/>
              </a:ext>
            </a:extLst>
          </p:cNvPr>
          <p:cNvSpPr/>
          <p:nvPr userDrawn="1"/>
        </p:nvSpPr>
        <p:spPr>
          <a:xfrm>
            <a:off x="248824" y="2132513"/>
            <a:ext cx="26677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sz="1200" b="1" i="0" u="none" strike="noStrike" kern="1200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PROFESSIONAL BACKGROUND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F4863CF-A9CF-4E25-8C24-C00A183C18E3}"/>
              </a:ext>
            </a:extLst>
          </p:cNvPr>
          <p:cNvGrpSpPr/>
          <p:nvPr userDrawn="1"/>
        </p:nvGrpSpPr>
        <p:grpSpPr>
          <a:xfrm>
            <a:off x="237237" y="2237951"/>
            <a:ext cx="5074087" cy="4252790"/>
            <a:chOff x="470702" y="2490873"/>
            <a:chExt cx="5074087" cy="4252790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7A9885D-A32A-4F6C-952D-566AFC7BC7B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0702" y="2490873"/>
              <a:ext cx="0" cy="3319272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3C22190-B227-49DD-8F11-48D76E075E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312947" y="2490875"/>
              <a:ext cx="0" cy="3319272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27EE7479-6552-4B10-8999-F9FFF684DA7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5544788" y="2518340"/>
              <a:ext cx="1" cy="4225323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 Placeholder 31">
            <a:extLst>
              <a:ext uri="{FF2B5EF4-FFF2-40B4-BE49-F238E27FC236}">
                <a16:creationId xmlns:a16="http://schemas.microsoft.com/office/drawing/2014/main" id="{F3D691ED-AD26-4C5B-A0B8-F0E39B64E4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69005" y="59040"/>
            <a:ext cx="6541532" cy="471774"/>
          </a:xfrm>
        </p:spPr>
        <p:txBody>
          <a:bodyPr/>
          <a:lstStyle>
            <a:lvl1pPr marL="0" indent="0">
              <a:buNone/>
              <a:defRPr sz="3600" b="1">
                <a:solidFill>
                  <a:srgbClr val="7030A0"/>
                </a:solidFill>
                <a:latin typeface="Graphik" panose="020B0503030202060203" pitchFamily="34" charset="0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Name Last Name</a:t>
            </a:r>
          </a:p>
        </p:txBody>
      </p:sp>
      <p:sp>
        <p:nvSpPr>
          <p:cNvPr id="46" name="Text Placeholder 31">
            <a:extLst>
              <a:ext uri="{FF2B5EF4-FFF2-40B4-BE49-F238E27FC236}">
                <a16:creationId xmlns:a16="http://schemas.microsoft.com/office/drawing/2014/main" id="{0DC117CF-F328-48B8-9236-47C84E0A3FA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69005" y="504446"/>
            <a:ext cx="6541532" cy="317045"/>
          </a:xfrm>
        </p:spPr>
        <p:txBody>
          <a:bodyPr>
            <a:normAutofit/>
          </a:bodyPr>
          <a:lstStyle>
            <a:lvl1pPr marL="0" indent="0">
              <a:buNone/>
              <a:defRPr kumimoji="0" lang="en-US" sz="24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Role</a:t>
            </a:r>
          </a:p>
        </p:txBody>
      </p:sp>
      <p:sp>
        <p:nvSpPr>
          <p:cNvPr id="47" name="Text Placeholder 31">
            <a:extLst>
              <a:ext uri="{FF2B5EF4-FFF2-40B4-BE49-F238E27FC236}">
                <a16:creationId xmlns:a16="http://schemas.microsoft.com/office/drawing/2014/main" id="{FC7E85F2-52A4-4511-88B0-F2C73442A4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69005" y="1202219"/>
            <a:ext cx="6541532" cy="310896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Email address</a:t>
            </a:r>
          </a:p>
        </p:txBody>
      </p:sp>
      <p:sp>
        <p:nvSpPr>
          <p:cNvPr id="48" name="Text Placeholder 31">
            <a:extLst>
              <a:ext uri="{FF2B5EF4-FFF2-40B4-BE49-F238E27FC236}">
                <a16:creationId xmlns:a16="http://schemas.microsoft.com/office/drawing/2014/main" id="{FC8802FF-03E3-4495-BE0C-83F0545077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69005" y="1517216"/>
            <a:ext cx="6541532" cy="310896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Home location: City, Country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E78606-7DF7-4ECE-BFD6-9805E216A9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211" y="2421646"/>
            <a:ext cx="2586918" cy="2983301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24ABDA-AF82-4D3F-B9B8-924763598D4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31099" y="2739487"/>
            <a:ext cx="2012108" cy="1132124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 sz="1200">
                <a:latin typeface="Graphik" panose="020B050303020206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D6F9E4-2287-45A1-9D25-09DDA8C090D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7750" y="2437520"/>
            <a:ext cx="6524747" cy="3916033"/>
          </a:xfrm>
        </p:spPr>
        <p:txBody>
          <a:bodyPr/>
          <a:lstStyle>
            <a:lvl1pPr>
              <a:defRPr sz="12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9" name="Text Placeholder 56">
            <a:extLst>
              <a:ext uri="{FF2B5EF4-FFF2-40B4-BE49-F238E27FC236}">
                <a16:creationId xmlns:a16="http://schemas.microsoft.com/office/drawing/2014/main" id="{908FC9C2-4A4A-4293-B184-158C9D2DD04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369005" y="887223"/>
            <a:ext cx="6541532" cy="310896"/>
          </a:xfrm>
        </p:spPr>
        <p:txBody>
          <a:bodyPr anchor="ctr"/>
          <a:lstStyle>
            <a:lvl1pPr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</a:lstStyle>
          <a:p>
            <a:r>
              <a:rPr lang="es-ES" err="1"/>
              <a:t>Major</a:t>
            </a:r>
            <a:r>
              <a:rPr lang="es-ES"/>
              <a:t> </a:t>
            </a:r>
            <a:endParaRPr lang="en-US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3BBBEA3D-ACAB-4B7B-8EF3-C7C27964A6B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55677" y="4272823"/>
            <a:ext cx="2012108" cy="1132124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 sz="1200">
                <a:latin typeface="Graphik" panose="020B050303020206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Rectangle 12">
            <a:extLst>
              <a:ext uri="{FF2B5EF4-FFF2-40B4-BE49-F238E27FC236}">
                <a16:creationId xmlns:a16="http://schemas.microsoft.com/office/drawing/2014/main" id="{DF81F04B-AB69-4A8B-A7F9-39A43C1B7AE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66510" y="2421103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FUNCTIONAL</a:t>
            </a:r>
          </a:p>
        </p:txBody>
      </p:sp>
      <p:sp>
        <p:nvSpPr>
          <p:cNvPr id="54" name="Rectangle 12">
            <a:extLst>
              <a:ext uri="{FF2B5EF4-FFF2-40B4-BE49-F238E27FC236}">
                <a16:creationId xmlns:a16="http://schemas.microsoft.com/office/drawing/2014/main" id="{6C494296-126C-42D3-943D-AC2F5E54E5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66510" y="3926442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INDUSTRY</a:t>
            </a:r>
          </a:p>
        </p:txBody>
      </p:sp>
    </p:spTree>
    <p:extLst>
      <p:ext uri="{BB962C8B-B14F-4D97-AF65-F5344CB8AC3E}">
        <p14:creationId xmlns:p14="http://schemas.microsoft.com/office/powerpoint/2010/main" val="2733187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FD2A40-219B-4A42-BDCD-91ED10167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2AC728-5E8B-42F7-9F39-F04825FAA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3194B-FBE7-4F5A-BBFD-20B6E0DC0B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C56486-13E7-424D-BC87-91F135AC8676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166AE-AC75-490C-A610-1035733518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49CD1-69FD-462A-8C84-A583CCA694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859B2-4A9A-4F64-9661-9DC88835B7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38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FC12B-573C-482A-DC3F-A025068D1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579B2-97F1-903B-C01E-3148B3D4E8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4BFBA5-6622-4657-A915-630FEC1BA0AA}" type="slidenum">
              <a:rPr kumimoji="0" lang="es-E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0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705744-9DBB-47E7-5AF5-958317B8F9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Julián Monte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203A5CC-F6B3-C711-C2AB-BEB03FC5498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AI LLM Technology Architecture Analyst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F9EE1E-D325-2BA2-BA29-CA3BDF9D55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Julian.monte@accenture.com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DBC8683-6C8B-6876-595A-59E8A21568E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Buenos Aires, Argentina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88E61F7-4C42-EE8C-70ED-FCA38DB046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211" y="2421647"/>
            <a:ext cx="2650385" cy="29191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Computer Science student at University of Buenos Aires (UBA), currently working at Accenture’s AI Department.</a:t>
            </a:r>
          </a:p>
          <a:p>
            <a:pPr marL="0" indent="0">
              <a:buNone/>
            </a:pPr>
            <a:r>
              <a:rPr lang="en-US" dirty="0"/>
              <a:t>Software Engineer with advanced training in Artificial Intelligence and emerging technologies through Accenture’s AI Academy, focused on AI-driven development and enterprise technology solutions.</a:t>
            </a:r>
          </a:p>
          <a:p>
            <a:pPr marL="0" indent="0">
              <a:buNone/>
            </a:pPr>
            <a:r>
              <a:rPr lang="en-US" dirty="0"/>
              <a:t>Experience designing technology improvements, optimizing processes and developing scalable solutions in corporate environments.</a:t>
            </a:r>
          </a:p>
          <a:p>
            <a:pPr marL="0" indent="0">
              <a:buNone/>
            </a:pPr>
            <a:r>
              <a:rPr lang="en-US" dirty="0"/>
              <a:t>Driven by problem-solving, continuous improvement and the development of robust, future-ready technology architectures.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F706CD5-CD9D-F910-9073-F98EE5E0B5A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176124" y="2760392"/>
            <a:ext cx="2251611" cy="137069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sz="900">
                <a:solidFill>
                  <a:prstClr val="black"/>
                </a:solidFill>
                <a:latin typeface="Calibri" panose="020F0502020204030204"/>
                <a:cs typeface="Arial"/>
              </a:rPr>
              <a:t>AI &amp; Agentic Systems</a:t>
            </a:r>
          </a:p>
          <a:p>
            <a:pPr marL="170180" indent="-170180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altLang="en-US" sz="900">
                <a:solidFill>
                  <a:prstClr val="black"/>
                </a:solidFill>
                <a:latin typeface="Calibri" panose="020F0502020204030204"/>
                <a:cs typeface="Arial"/>
              </a:rPr>
              <a:t>Data Science &amp; Machine Learning </a:t>
            </a:r>
            <a:endParaRPr lang="en-US" altLang="en-US" sz="900">
              <a:solidFill>
                <a:prstClr val="black"/>
              </a:solidFill>
              <a:latin typeface="Calibri" panose="020F0502020204030204"/>
              <a:ea typeface="Calibri"/>
              <a:cs typeface="Arial"/>
            </a:endParaRPr>
          </a:p>
          <a:p>
            <a:pPr marL="170781" lvl="0" indent="-170781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altLang="en-US" sz="900" dirty="0">
                <a:solidFill>
                  <a:prstClr val="black"/>
                </a:solidFill>
                <a:latin typeface="Calibri" panose="020F0502020204030204"/>
                <a:cs typeface="Arial"/>
              </a:rPr>
              <a:t>Prompt Engineering</a:t>
            </a:r>
          </a:p>
          <a:p>
            <a:pPr marL="170781" lvl="0" indent="-170781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altLang="en-US" sz="900" dirty="0">
                <a:solidFill>
                  <a:prstClr val="black"/>
                </a:solidFill>
                <a:latin typeface="Calibri" panose="020F0502020204030204"/>
                <a:cs typeface="Arial"/>
              </a:rPr>
              <a:t>Python, JavaScript, Java, C++, Git, GitHub</a:t>
            </a:r>
          </a:p>
          <a:p>
            <a:pPr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sz="900">
                <a:solidFill>
                  <a:prstClr val="black"/>
                </a:solidFill>
                <a:latin typeface="Calibri" panose="020F0502020204030204"/>
                <a:cs typeface="Arial"/>
              </a:rPr>
              <a:t>Software</a:t>
            </a:r>
            <a:r>
              <a:rPr lang="en-US" sz="11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900">
                <a:solidFill>
                  <a:prstClr val="black"/>
                </a:solidFill>
                <a:latin typeface="Calibri" panose="020F0502020204030204"/>
                <a:cs typeface="Arial"/>
              </a:rPr>
              <a:t>Engineering</a:t>
            </a:r>
            <a:endParaRPr lang="en-US" sz="900">
              <a:solidFill>
                <a:prstClr val="black"/>
              </a:solidFill>
              <a:latin typeface="Calibri" panose="020F0502020204030204"/>
              <a:ea typeface="Calibri"/>
              <a:cs typeface="Arial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736D0B9-D049-7ADB-9602-EB3C61E2A9D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7750" y="2425645"/>
            <a:ext cx="6524747" cy="405322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r>
              <a:rPr lang="es-AR" dirty="0">
                <a:solidFill>
                  <a:prstClr val="black"/>
                </a:solidFill>
              </a:rPr>
              <a:t>Accenture – AI LLM </a:t>
            </a:r>
            <a:r>
              <a:rPr lang="es-AR" dirty="0" err="1">
                <a:solidFill>
                  <a:prstClr val="black"/>
                </a:solidFill>
              </a:rPr>
              <a:t>Tech</a:t>
            </a:r>
            <a:r>
              <a:rPr lang="es-AR" dirty="0">
                <a:solidFill>
                  <a:prstClr val="black"/>
                </a:solidFill>
              </a:rPr>
              <a:t> </a:t>
            </a:r>
            <a:r>
              <a:rPr lang="es-AR" dirty="0" err="1">
                <a:solidFill>
                  <a:prstClr val="black"/>
                </a:solidFill>
              </a:rPr>
              <a:t>Architecture</a:t>
            </a:r>
            <a:r>
              <a:rPr lang="es-AR" dirty="0">
                <a:solidFill>
                  <a:prstClr val="black"/>
                </a:solidFill>
              </a:rPr>
              <a:t> </a:t>
            </a:r>
            <a:r>
              <a:rPr lang="es-AR" dirty="0" err="1">
                <a:solidFill>
                  <a:prstClr val="black"/>
                </a:solidFill>
              </a:rPr>
              <a:t>Analyst</a:t>
            </a:r>
            <a:endParaRPr lang="en-US" dirty="0" err="1">
              <a:solidFill>
                <a:prstClr val="black"/>
              </a:solidFill>
            </a:endParaRPr>
          </a:p>
          <a:p>
            <a:pPr defTabSz="912813">
              <a:tabLst>
                <a:tab pos="917575" algn="l"/>
              </a:tabLst>
              <a:defRPr/>
            </a:pPr>
            <a:r>
              <a:rPr lang="en-US" b="0" dirty="0">
                <a:solidFill>
                  <a:prstClr val="black"/>
                </a:solidFill>
                <a:ea typeface="+mn-lt"/>
                <a:cs typeface="+mn-lt"/>
              </a:rPr>
              <a:t>Completed Accenture's AI Academy with intensive focus on Agentic AI, LLM architecture, RAG strategies, multi-agent orchestration and AI workflow design. Developed hands-on experience in software development, data pipelines, machine learning fundamentals and LLM integration across real use cases.</a:t>
            </a:r>
          </a:p>
          <a:p>
            <a:pPr defTabSz="912813">
              <a:tabLst>
                <a:tab pos="917575" algn="l"/>
              </a:tabLst>
              <a:defRPr/>
            </a:pPr>
            <a:r>
              <a:rPr lang="en-US" b="0" dirty="0">
                <a:solidFill>
                  <a:prstClr val="black"/>
                </a:solidFill>
                <a:ea typeface="+mn-lt"/>
                <a:cs typeface="+mn-lt"/>
              </a:rPr>
              <a:t>Currently contributing to an internal A2A project applying acquired knowledge in multi-agent architecture design and development, working with Python, </a:t>
            </a:r>
            <a:r>
              <a:rPr lang="en-US" b="0" dirty="0" err="1">
                <a:solidFill>
                  <a:prstClr val="black"/>
                </a:solidFill>
                <a:ea typeface="+mn-lt"/>
                <a:cs typeface="+mn-lt"/>
              </a:rPr>
              <a:t>LangGraph</a:t>
            </a:r>
            <a:r>
              <a:rPr lang="en-US" b="0" dirty="0">
                <a:solidFill>
                  <a:prstClr val="black"/>
                </a:solidFill>
                <a:ea typeface="+mn-lt"/>
                <a:cs typeface="+mn-lt"/>
              </a:rPr>
              <a:t>, vector databases and multiple LLM APIs.</a:t>
            </a:r>
            <a:endParaRPr lang="en-US" dirty="0">
              <a:solidFill>
                <a:prstClr val="black"/>
              </a:solidFill>
              <a:ea typeface="+mn-lt"/>
              <a:cs typeface="+mn-lt"/>
            </a:endParaRPr>
          </a:p>
          <a:p>
            <a:pPr defTabSz="912813">
              <a:lnSpc>
                <a:spcPct val="100000"/>
              </a:lnSpc>
              <a:spcBef>
                <a:spcPts val="0"/>
              </a:spcBef>
              <a:tabLst>
                <a:tab pos="917575" algn="l"/>
              </a:tabLst>
              <a:defRPr/>
            </a:pPr>
            <a:endParaRPr lang="en-US" b="0" dirty="0">
              <a:solidFill>
                <a:prstClr val="black"/>
              </a:solidFill>
              <a:ea typeface="Calibri"/>
              <a:cs typeface="Calibri"/>
            </a:endParaRPr>
          </a:p>
          <a:p>
            <a:pPr defTabSz="912813">
              <a:lnSpc>
                <a:spcPct val="100000"/>
              </a:lnSpc>
              <a:spcBef>
                <a:spcPts val="0"/>
              </a:spcBef>
              <a:tabLst>
                <a:tab pos="917575" algn="l"/>
              </a:tabLst>
              <a:defRPr/>
            </a:pPr>
            <a:endParaRPr lang="en-US" sz="1000" b="0" dirty="0">
              <a:solidFill>
                <a:prstClr val="black"/>
              </a:solidFill>
              <a:ea typeface="Calibri"/>
              <a:cs typeface="Calibri"/>
            </a:endParaRPr>
          </a:p>
          <a:p>
            <a:pPr mar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endParaRPr lang="es-AR" sz="1000" dirty="0">
              <a:solidFill>
                <a:prstClr val="black"/>
              </a:solidFill>
            </a:endParaRPr>
          </a:p>
          <a:p>
            <a:pPr marL="0" lv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r>
              <a:rPr lang="es-AR" dirty="0" err="1">
                <a:solidFill>
                  <a:prstClr val="black"/>
                </a:solidFill>
              </a:rPr>
              <a:t>Assurant</a:t>
            </a:r>
            <a:r>
              <a:rPr lang="es-AR" dirty="0">
                <a:solidFill>
                  <a:prstClr val="black"/>
                </a:solidFill>
              </a:rPr>
              <a:t> – </a:t>
            </a:r>
            <a:r>
              <a:rPr lang="es-AR" dirty="0" err="1">
                <a:solidFill>
                  <a:prstClr val="black"/>
                </a:solidFill>
              </a:rPr>
              <a:t>Ssr</a:t>
            </a:r>
            <a:r>
              <a:rPr lang="es-AR" dirty="0">
                <a:solidFill>
                  <a:prstClr val="black"/>
                </a:solidFill>
              </a:rPr>
              <a:t> Business Processing </a:t>
            </a:r>
            <a:r>
              <a:rPr lang="es-AR" dirty="0" err="1">
                <a:solidFill>
                  <a:prstClr val="black"/>
                </a:solidFill>
              </a:rPr>
              <a:t>Specialist</a:t>
            </a:r>
            <a:endParaRPr lang="en-US" dirty="0">
              <a:solidFill>
                <a:prstClr val="black"/>
              </a:solidFill>
            </a:endParaRPr>
          </a:p>
          <a:p>
            <a:pPr mar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endParaRPr lang="en-US" dirty="0">
              <a:solidFill>
                <a:prstClr val="black"/>
              </a:solidFill>
              <a:ea typeface="+mn-lt"/>
              <a:cs typeface="+mn-lt"/>
            </a:endParaRPr>
          </a:p>
          <a:p>
            <a:pPr defTabSz="912813">
              <a:lnSpc>
                <a:spcPct val="100000"/>
              </a:lnSpc>
              <a:spcBef>
                <a:spcPts val="0"/>
              </a:spcBef>
              <a:tabLst>
                <a:tab pos="917575" algn="l"/>
              </a:tabLst>
              <a:defRPr/>
            </a:pPr>
            <a:r>
              <a:rPr lang="en-US" b="0" dirty="0">
                <a:solidFill>
                  <a:prstClr val="black"/>
                </a:solidFill>
                <a:ea typeface="+mn-lt"/>
                <a:cs typeface="+mn-lt"/>
              </a:rPr>
              <a:t>Designed and deployed a Microsoft Copilot agent integrated with SharePoint to accelerate document retrieval and streamline onboarding processes for new joiners. </a:t>
            </a:r>
            <a:endParaRPr lang="it-IT" b="0" dirty="0">
              <a:solidFill>
                <a:prstClr val="black"/>
              </a:solidFill>
              <a:ea typeface="+mn-lt"/>
              <a:cs typeface="+mn-lt"/>
            </a:endParaRPr>
          </a:p>
          <a:p>
            <a:pPr defTabSz="912813">
              <a:lnSpc>
                <a:spcPct val="100000"/>
              </a:lnSpc>
              <a:spcBef>
                <a:spcPts val="0"/>
              </a:spcBef>
              <a:tabLst>
                <a:tab pos="917575" algn="l"/>
              </a:tabLst>
              <a:defRPr/>
            </a:pPr>
            <a:r>
              <a:rPr lang="en-US" b="0" dirty="0">
                <a:solidFill>
                  <a:prstClr val="black"/>
                </a:solidFill>
                <a:ea typeface="+mn-lt"/>
                <a:cs typeface="+mn-lt"/>
              </a:rPr>
              <a:t>Built automated </a:t>
            </a:r>
            <a:r>
              <a:rPr lang="en-US" b="0">
                <a:solidFill>
                  <a:prstClr val="black"/>
                </a:solidFill>
                <a:ea typeface="+mn-lt"/>
                <a:cs typeface="+mn-lt"/>
              </a:rPr>
              <a:t>workflows using Power Automate for operational notifications and SLA tracking.</a:t>
            </a:r>
            <a:endParaRPr lang="it-IT" b="0">
              <a:solidFill>
                <a:prstClr val="black"/>
              </a:solidFill>
              <a:ea typeface="+mn-lt"/>
              <a:cs typeface="+mn-lt"/>
            </a:endParaRPr>
          </a:p>
          <a:p>
            <a:pPr defTabSz="912813">
              <a:lnSpc>
                <a:spcPct val="100000"/>
              </a:lnSpc>
              <a:spcBef>
                <a:spcPts val="0"/>
              </a:spcBef>
              <a:tabLst>
                <a:tab pos="917575" algn="l"/>
              </a:tabLst>
              <a:defRPr/>
            </a:pPr>
            <a:r>
              <a:rPr lang="en-US" b="0" dirty="0">
                <a:solidFill>
                  <a:prstClr val="black"/>
                </a:solidFill>
                <a:ea typeface="+mn-lt"/>
                <a:cs typeface="+mn-lt"/>
              </a:rPr>
              <a:t> Led a cross-functional team to drive AI adoption within the organization, delivering presentations to leadership and stakeholders in the US showcasing practical AI use cases, daily efficiency gains and productivity improvements.</a:t>
            </a:r>
            <a:endParaRPr lang="it-IT" b="0">
              <a:solidFill>
                <a:prstClr val="black"/>
              </a:solidFill>
              <a:ea typeface="+mn-lt"/>
              <a:cs typeface="+mn-lt"/>
            </a:endParaRPr>
          </a:p>
          <a:p>
            <a:pPr defTabSz="912813">
              <a:lnSpc>
                <a:spcPct val="100000"/>
              </a:lnSpc>
              <a:spcBef>
                <a:spcPts val="0"/>
              </a:spcBef>
              <a:tabLst>
                <a:tab pos="917575" algn="l"/>
              </a:tabLst>
              <a:defRPr/>
            </a:pPr>
            <a:endParaRPr lang="it-IT" b="0" dirty="0"/>
          </a:p>
          <a:p>
            <a:pPr mar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endParaRPr lang="it-IT" sz="1000" dirty="0">
              <a:solidFill>
                <a:prstClr val="black"/>
              </a:solidFill>
            </a:endParaRPr>
          </a:p>
          <a:p>
            <a:pPr mar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endParaRPr lang="it-IT" sz="1000" dirty="0">
              <a:solidFill>
                <a:prstClr val="black"/>
              </a:solidFill>
            </a:endParaRPr>
          </a:p>
          <a:p>
            <a:pPr mar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endParaRPr lang="it-IT" sz="1000" dirty="0">
              <a:solidFill>
                <a:prstClr val="black"/>
              </a:solidFill>
            </a:endParaRPr>
          </a:p>
          <a:p>
            <a:pPr lvl="0" defTabSz="912813">
              <a:lnSpc>
                <a:spcPct val="100000"/>
              </a:lnSpc>
              <a:spcBef>
                <a:spcPts val="0"/>
              </a:spcBef>
              <a:buFontTx/>
              <a:buChar char="-"/>
              <a:tabLst>
                <a:tab pos="917575" algn="l"/>
              </a:tabLst>
              <a:defRPr/>
            </a:pPr>
            <a:endParaRPr lang="en-US" sz="1000" dirty="0">
              <a:solidFill>
                <a:prstClr val="black"/>
              </a:solidFill>
            </a:endParaRPr>
          </a:p>
          <a:p>
            <a:pPr marL="0" lv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endParaRPr lang="en-US" sz="1000" dirty="0">
              <a:solidFill>
                <a:prstClr val="black"/>
              </a:solidFill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AC5FC53-DA57-D71F-F8F2-4501699ADFF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AI Engineering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40BC78-B1A1-5D04-002D-07185F5826E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8077200" y="6492875"/>
            <a:ext cx="4114800" cy="2286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© 2021 Accenture. </a:t>
            </a:r>
            <a:r>
              <a:rPr kumimoji="0" lang="es-E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</a:t>
            </a: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s-E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rights</a:t>
            </a: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s-E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reserved</a:t>
            </a: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07640F58-AF7D-9089-635B-7EC4AAF8E412}"/>
              </a:ext>
            </a:extLst>
          </p:cNvPr>
          <p:cNvSpPr txBox="1">
            <a:spLocks/>
          </p:cNvSpPr>
          <p:nvPr/>
        </p:nvSpPr>
        <p:spPr>
          <a:xfrm>
            <a:off x="3176139" y="4272380"/>
            <a:ext cx="2012108" cy="1159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0781" indent="-170781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endParaRPr lang="en-US" altLang="en-US" sz="800" dirty="0">
              <a:solidFill>
                <a:prstClr val="black"/>
              </a:solidFill>
              <a:latin typeface="Calibri" panose="020F0502020204030204"/>
              <a:cs typeface="Arial"/>
            </a:endParaRPr>
          </a:p>
          <a:p>
            <a:pPr marL="170781" indent="-170781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endParaRPr lang="en-US" altLang="en-US" sz="800" dirty="0">
              <a:solidFill>
                <a:prstClr val="black"/>
              </a:solidFill>
              <a:latin typeface="Calibri" panose="020F0502020204030204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450"/>
              </a:spcBef>
              <a:buFont typeface="Arial" panose="020B0604020202020204" pitchFamily="34" charset="0"/>
              <a:buNone/>
              <a:tabLst>
                <a:tab pos="133270" algn="l"/>
              </a:tabLst>
              <a:defRPr/>
            </a:pPr>
            <a:endParaRPr lang="en-US" altLang="en-US" sz="800" dirty="0">
              <a:solidFill>
                <a:prstClr val="black"/>
              </a:solidFill>
              <a:latin typeface="Calibri" panose="020F0502020204030204"/>
              <a:cs typeface="Arial"/>
            </a:endParaRP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06DCCE65-2F48-D2BF-FA2B-E6604289CE0A}"/>
              </a:ext>
            </a:extLst>
          </p:cNvPr>
          <p:cNvSpPr txBox="1">
            <a:spLocks/>
          </p:cNvSpPr>
          <p:nvPr/>
        </p:nvSpPr>
        <p:spPr>
          <a:xfrm>
            <a:off x="3176139" y="4413677"/>
            <a:ext cx="2012108" cy="1018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0781" indent="-170781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altLang="en-US" sz="900" dirty="0">
                <a:solidFill>
                  <a:prstClr val="black"/>
                </a:solidFill>
                <a:latin typeface="Calibri" panose="020F0502020204030204"/>
                <a:cs typeface="Arial"/>
              </a:rPr>
              <a:t>Science </a:t>
            </a:r>
          </a:p>
          <a:p>
            <a:pPr marL="170781" indent="-170781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sz="900" dirty="0"/>
              <a:t>AI &amp; Data Solutions</a:t>
            </a:r>
            <a:r>
              <a:rPr lang="en-US" altLang="en-US" sz="900" dirty="0">
                <a:solidFill>
                  <a:prstClr val="black"/>
                </a:solidFill>
                <a:latin typeface="Calibri" panose="020F0502020204030204"/>
                <a:cs typeface="Arial"/>
              </a:rPr>
              <a:t> </a:t>
            </a:r>
          </a:p>
          <a:p>
            <a:pPr marL="170781" indent="-170781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sz="900" dirty="0"/>
              <a:t>Technology</a:t>
            </a:r>
            <a:endParaRPr lang="en-US" altLang="en-US" sz="900" dirty="0">
              <a:solidFill>
                <a:prstClr val="black"/>
              </a:solidFill>
              <a:latin typeface="Calibri" panose="020F0502020204030204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450"/>
              </a:spcBef>
              <a:buFont typeface="Arial" panose="020B0604020202020204" pitchFamily="34" charset="0"/>
              <a:buNone/>
              <a:tabLst>
                <a:tab pos="133270" algn="l"/>
              </a:tabLst>
              <a:defRPr/>
            </a:pPr>
            <a:endParaRPr lang="en-US" altLang="en-US" sz="900" dirty="0">
              <a:solidFill>
                <a:prstClr val="black"/>
              </a:solidFill>
              <a:latin typeface="Calibri" panose="020F0502020204030204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2332E7-5AE6-14EA-2DBB-AB3410C994CA}"/>
              </a:ext>
            </a:extLst>
          </p:cNvPr>
          <p:cNvSpPr txBox="1"/>
          <p:nvPr/>
        </p:nvSpPr>
        <p:spPr>
          <a:xfrm>
            <a:off x="210586" y="5245785"/>
            <a:ext cx="23426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100" b="1" dirty="0">
                <a:solidFill>
                  <a:srgbClr val="7030A0"/>
                </a:solidFill>
                <a:latin typeface="Graphik" panose="020B0503030202060203" pitchFamily="34" charset="0"/>
              </a:rPr>
              <a:t>CERTIFICATIONS</a:t>
            </a:r>
            <a:endParaRPr lang="en-US" sz="1100" b="1" dirty="0">
              <a:solidFill>
                <a:srgbClr val="7030A0"/>
              </a:solidFill>
              <a:latin typeface="Graphik" panose="020B050303020206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2F9091-2358-87F9-1323-76B6E52CA618}"/>
              </a:ext>
            </a:extLst>
          </p:cNvPr>
          <p:cNvSpPr txBox="1"/>
          <p:nvPr/>
        </p:nvSpPr>
        <p:spPr>
          <a:xfrm>
            <a:off x="341211" y="5603433"/>
            <a:ext cx="2781010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AI Engineering &amp; Agentic AI</a:t>
            </a:r>
            <a:r>
              <a:rPr lang="en-US" sz="1000">
                <a:latin typeface="Calibri"/>
                <a:ea typeface="Calibri"/>
                <a:cs typeface="Calibri"/>
              </a:rPr>
              <a:t>-</a:t>
            </a:r>
            <a:r>
              <a:rPr lang="en-US" sz="1000"/>
              <a:t> AI Academy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Full-Stack Development (JavaScript, Backend &amp; APIs) - </a:t>
            </a:r>
            <a:r>
              <a:rPr lang="en-US" sz="1000" dirty="0" err="1"/>
              <a:t>CoderHouse</a:t>
            </a:r>
            <a:endParaRPr lang="en-US" sz="1000"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Data Science Nanodegree – AI Academy</a:t>
            </a: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prstClr val="black"/>
              </a:solidFill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D92194BF-9706-39D1-0261-B6696FA07F38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6" r="2956"/>
          <a:stretch>
            <a:fillRect/>
          </a:stretch>
        </p:blipFill>
        <p:spPr/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F95E557-EB90-D9F5-CB31-C9F5A8B4ACD5}"/>
              </a:ext>
            </a:extLst>
          </p:cNvPr>
          <p:cNvSpPr txBox="1"/>
          <p:nvPr/>
        </p:nvSpPr>
        <p:spPr>
          <a:xfrm>
            <a:off x="3122221" y="5230396"/>
            <a:ext cx="24361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200" b="1" dirty="0">
                <a:solidFill>
                  <a:srgbClr val="7030A0"/>
                </a:solidFill>
                <a:latin typeface="Graphik" panose="020B0503030202060203" pitchFamily="34" charset="0"/>
              </a:rPr>
              <a:t>LANGUAGES</a:t>
            </a:r>
            <a:endParaRPr lang="en-US" sz="1200" b="1" dirty="0">
              <a:solidFill>
                <a:srgbClr val="7030A0"/>
              </a:solidFill>
              <a:latin typeface="Graphik" panose="020B050303020206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BDE48A-30B8-5D09-FF14-760098808B16}"/>
              </a:ext>
            </a:extLst>
          </p:cNvPr>
          <p:cNvSpPr txBox="1"/>
          <p:nvPr/>
        </p:nvSpPr>
        <p:spPr>
          <a:xfrm>
            <a:off x="3113312" y="5568098"/>
            <a:ext cx="20749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1000" dirty="0" err="1"/>
              <a:t>Spanish</a:t>
            </a:r>
            <a:r>
              <a:rPr lang="es-AR" sz="1000" dirty="0"/>
              <a:t>: Native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1000" dirty="0"/>
              <a:t>English : C2 - Professional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08227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6ACCF-826B-717A-DEAC-F3FF4BE90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88784-8A90-67EC-3566-2E89DB8C6B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4BFBA5-6622-4657-A915-630FEC1BA0AA}" type="slidenum">
              <a:rPr kumimoji="0" lang="es-E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ES" sz="10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B59B42-D793-6422-1FFF-487B67AFB1B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Julián Monte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177ABFA-64B9-E90E-F8C9-17BC27E3E0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AI LLM Technology Architecture Analyst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EBF62AC-96A4-7C79-34CE-89B0D88F8A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Julian.monte@accenture.com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6416130-A59C-4FDE-886F-D3D9349B68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Buenos Aires, Argentina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E5842DE-2858-9287-5C39-3F35BE87AF4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7750" y="2425645"/>
            <a:ext cx="6524747" cy="405322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r>
              <a:rPr lang="es-AR" sz="1000" dirty="0">
                <a:solidFill>
                  <a:prstClr val="black"/>
                </a:solidFill>
              </a:rPr>
              <a:t>Accenture – AI LLM </a:t>
            </a:r>
            <a:r>
              <a:rPr lang="es-AR" sz="1000" dirty="0" err="1">
                <a:solidFill>
                  <a:prstClr val="black"/>
                </a:solidFill>
              </a:rPr>
              <a:t>Tech</a:t>
            </a:r>
            <a:r>
              <a:rPr lang="es-AR" sz="1000" dirty="0">
                <a:solidFill>
                  <a:prstClr val="black"/>
                </a:solidFill>
              </a:rPr>
              <a:t> </a:t>
            </a:r>
            <a:r>
              <a:rPr lang="es-AR" sz="1000" dirty="0" err="1">
                <a:solidFill>
                  <a:prstClr val="black"/>
                </a:solidFill>
              </a:rPr>
              <a:t>Architecture</a:t>
            </a:r>
            <a:r>
              <a:rPr lang="es-AR" sz="1000" dirty="0">
                <a:solidFill>
                  <a:prstClr val="black"/>
                </a:solidFill>
              </a:rPr>
              <a:t> </a:t>
            </a:r>
            <a:r>
              <a:rPr lang="es-AR" sz="1000" dirty="0" err="1">
                <a:solidFill>
                  <a:prstClr val="black"/>
                </a:solidFill>
              </a:rPr>
              <a:t>Analyst</a:t>
            </a:r>
            <a:endParaRPr lang="en-US" sz="1000" dirty="0" err="1">
              <a:solidFill>
                <a:prstClr val="black"/>
              </a:solidFill>
            </a:endParaRPr>
          </a:p>
          <a:p>
            <a:pPr marL="0" lv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endParaRPr lang="en-US" sz="1000" dirty="0">
              <a:solidFill>
                <a:prstClr val="black"/>
              </a:solidFill>
            </a:endParaRPr>
          </a:p>
          <a:p>
            <a:pPr defTabSz="912813">
              <a:tabLst>
                <a:tab pos="917575" algn="l"/>
              </a:tabLst>
              <a:defRPr/>
            </a:pPr>
            <a:r>
              <a:rPr lang="en-US" b="0" dirty="0" err="1">
                <a:ea typeface="+mn-lt"/>
                <a:cs typeface="+mn-lt"/>
              </a:rPr>
              <a:t>Completé</a:t>
            </a:r>
            <a:r>
              <a:rPr lang="en-US" b="0" dirty="0">
                <a:ea typeface="+mn-lt"/>
                <a:cs typeface="+mn-lt"/>
              </a:rPr>
              <a:t> </a:t>
            </a:r>
            <a:r>
              <a:rPr lang="en-US" b="0" dirty="0" err="1">
                <a:ea typeface="+mn-lt"/>
                <a:cs typeface="+mn-lt"/>
              </a:rPr>
              <a:t>el</a:t>
            </a:r>
            <a:r>
              <a:rPr lang="en-US" b="0" dirty="0">
                <a:ea typeface="+mn-lt"/>
                <a:cs typeface="+mn-lt"/>
              </a:rPr>
              <a:t> </a:t>
            </a:r>
            <a:r>
              <a:rPr lang="en-US" b="0" dirty="0" err="1">
                <a:ea typeface="+mn-lt"/>
                <a:cs typeface="+mn-lt"/>
              </a:rPr>
              <a:t>programa</a:t>
            </a:r>
            <a:r>
              <a:rPr lang="en-US" b="0" dirty="0">
                <a:ea typeface="+mn-lt"/>
                <a:cs typeface="+mn-lt"/>
              </a:rPr>
              <a:t> AI Academy </a:t>
            </a:r>
            <a:r>
              <a:rPr lang="en-US" b="0" dirty="0" err="1">
                <a:ea typeface="+mn-lt"/>
                <a:cs typeface="+mn-lt"/>
              </a:rPr>
              <a:t>intensivo</a:t>
            </a:r>
            <a:r>
              <a:rPr lang="en-US" b="0" dirty="0">
                <a:ea typeface="+mn-lt"/>
                <a:cs typeface="+mn-lt"/>
              </a:rPr>
              <a:t> </a:t>
            </a:r>
            <a:r>
              <a:rPr lang="en-US" b="0" dirty="0" err="1">
                <a:ea typeface="+mn-lt"/>
                <a:cs typeface="+mn-lt"/>
              </a:rPr>
              <a:t>en</a:t>
            </a:r>
            <a:r>
              <a:rPr lang="en-US" b="0" dirty="0">
                <a:ea typeface="+mn-lt"/>
                <a:cs typeface="+mn-lt"/>
              </a:rPr>
              <a:t> Agentic AI, </a:t>
            </a:r>
            <a:r>
              <a:rPr lang="en-US" b="0" dirty="0" err="1">
                <a:ea typeface="+mn-lt"/>
                <a:cs typeface="+mn-lt"/>
              </a:rPr>
              <a:t>arquitectura</a:t>
            </a:r>
            <a:r>
              <a:rPr lang="en-US" b="0" dirty="0">
                <a:ea typeface="+mn-lt"/>
                <a:cs typeface="+mn-lt"/>
              </a:rPr>
              <a:t> de LLMs, </a:t>
            </a:r>
            <a:r>
              <a:rPr lang="en-US" b="0" dirty="0" err="1">
                <a:ea typeface="+mn-lt"/>
                <a:cs typeface="+mn-lt"/>
              </a:rPr>
              <a:t>estrategias</a:t>
            </a:r>
            <a:r>
              <a:rPr lang="en-US" b="0" dirty="0">
                <a:ea typeface="+mn-lt"/>
                <a:cs typeface="+mn-lt"/>
              </a:rPr>
              <a:t> RAG, </a:t>
            </a:r>
            <a:r>
              <a:rPr lang="en-US" b="0" dirty="0" err="1">
                <a:ea typeface="+mn-lt"/>
                <a:cs typeface="+mn-lt"/>
              </a:rPr>
              <a:t>orquestación</a:t>
            </a:r>
            <a:r>
              <a:rPr lang="en-US" b="0" dirty="0">
                <a:ea typeface="+mn-lt"/>
                <a:cs typeface="+mn-lt"/>
              </a:rPr>
              <a:t> multi-</a:t>
            </a:r>
            <a:r>
              <a:rPr lang="en-US" b="0" dirty="0" err="1">
                <a:ea typeface="+mn-lt"/>
                <a:cs typeface="+mn-lt"/>
              </a:rPr>
              <a:t>agente</a:t>
            </a:r>
            <a:r>
              <a:rPr lang="en-US" b="0" dirty="0">
                <a:ea typeface="+mn-lt"/>
                <a:cs typeface="+mn-lt"/>
              </a:rPr>
              <a:t> y </a:t>
            </a:r>
            <a:r>
              <a:rPr lang="en-US" b="0" dirty="0" err="1">
                <a:ea typeface="+mn-lt"/>
                <a:cs typeface="+mn-lt"/>
              </a:rPr>
              <a:t>diseño</a:t>
            </a:r>
            <a:r>
              <a:rPr lang="en-US" b="0" dirty="0">
                <a:ea typeface="+mn-lt"/>
                <a:cs typeface="+mn-lt"/>
              </a:rPr>
              <a:t> de workflows de IA. </a:t>
            </a:r>
            <a:r>
              <a:rPr lang="en-US" b="0" dirty="0" err="1">
                <a:ea typeface="+mn-lt"/>
                <a:cs typeface="+mn-lt"/>
              </a:rPr>
              <a:t>Desarrollé</a:t>
            </a:r>
            <a:r>
              <a:rPr lang="en-US" b="0" dirty="0">
                <a:ea typeface="+mn-lt"/>
                <a:cs typeface="+mn-lt"/>
              </a:rPr>
              <a:t> </a:t>
            </a:r>
            <a:r>
              <a:rPr lang="en-US" b="0" dirty="0" err="1">
                <a:ea typeface="+mn-lt"/>
                <a:cs typeface="+mn-lt"/>
              </a:rPr>
              <a:t>experiencia</a:t>
            </a:r>
            <a:r>
              <a:rPr lang="en-US" b="0" dirty="0">
                <a:ea typeface="+mn-lt"/>
                <a:cs typeface="+mn-lt"/>
              </a:rPr>
              <a:t> </a:t>
            </a:r>
            <a:r>
              <a:rPr lang="en-US" b="0" dirty="0" err="1">
                <a:ea typeface="+mn-lt"/>
                <a:cs typeface="+mn-lt"/>
              </a:rPr>
              <a:t>práctica</a:t>
            </a:r>
            <a:r>
              <a:rPr lang="en-US" b="0" dirty="0">
                <a:ea typeface="+mn-lt"/>
                <a:cs typeface="+mn-lt"/>
              </a:rPr>
              <a:t> </a:t>
            </a:r>
            <a:r>
              <a:rPr lang="en-US" b="0" dirty="0" err="1">
                <a:ea typeface="+mn-lt"/>
                <a:cs typeface="+mn-lt"/>
              </a:rPr>
              <a:t>en</a:t>
            </a:r>
            <a:r>
              <a:rPr lang="en-US" b="0" dirty="0">
                <a:ea typeface="+mn-lt"/>
                <a:cs typeface="+mn-lt"/>
              </a:rPr>
              <a:t> </a:t>
            </a:r>
            <a:r>
              <a:rPr lang="en-US" b="0" dirty="0" err="1">
                <a:ea typeface="+mn-lt"/>
                <a:cs typeface="+mn-lt"/>
              </a:rPr>
              <a:t>desarrollo</a:t>
            </a:r>
            <a:r>
              <a:rPr lang="en-US" b="0" dirty="0">
                <a:ea typeface="+mn-lt"/>
                <a:cs typeface="+mn-lt"/>
              </a:rPr>
              <a:t> de software, pipelines de </a:t>
            </a:r>
            <a:r>
              <a:rPr lang="en-US" b="0" dirty="0" err="1">
                <a:ea typeface="+mn-lt"/>
                <a:cs typeface="+mn-lt"/>
              </a:rPr>
              <a:t>datos</a:t>
            </a:r>
            <a:r>
              <a:rPr lang="en-US" b="0" dirty="0">
                <a:ea typeface="+mn-lt"/>
                <a:cs typeface="+mn-lt"/>
              </a:rPr>
              <a:t>, </a:t>
            </a:r>
            <a:r>
              <a:rPr lang="en-US" b="0" dirty="0" err="1">
                <a:ea typeface="+mn-lt"/>
                <a:cs typeface="+mn-lt"/>
              </a:rPr>
              <a:t>fundamentos</a:t>
            </a:r>
            <a:r>
              <a:rPr lang="en-US" b="0" dirty="0">
                <a:ea typeface="+mn-lt"/>
                <a:cs typeface="+mn-lt"/>
              </a:rPr>
              <a:t> de machine learning e </a:t>
            </a:r>
            <a:r>
              <a:rPr lang="en-US" b="0" dirty="0" err="1">
                <a:ea typeface="+mn-lt"/>
                <a:cs typeface="+mn-lt"/>
              </a:rPr>
              <a:t>integración</a:t>
            </a:r>
            <a:r>
              <a:rPr lang="en-US" b="0" dirty="0">
                <a:ea typeface="+mn-lt"/>
                <a:cs typeface="+mn-lt"/>
              </a:rPr>
              <a:t> de LLMs </a:t>
            </a:r>
            <a:r>
              <a:rPr lang="en-US" b="0" dirty="0" err="1">
                <a:ea typeface="+mn-lt"/>
                <a:cs typeface="+mn-lt"/>
              </a:rPr>
              <a:t>en</a:t>
            </a:r>
            <a:r>
              <a:rPr lang="en-US" b="0" dirty="0">
                <a:ea typeface="+mn-lt"/>
                <a:cs typeface="+mn-lt"/>
              </a:rPr>
              <a:t> </a:t>
            </a:r>
            <a:r>
              <a:rPr lang="en-US" b="0" dirty="0" err="1">
                <a:ea typeface="+mn-lt"/>
                <a:cs typeface="+mn-lt"/>
              </a:rPr>
              <a:t>casos</a:t>
            </a:r>
            <a:r>
              <a:rPr lang="en-US" b="0" dirty="0">
                <a:ea typeface="+mn-lt"/>
                <a:cs typeface="+mn-lt"/>
              </a:rPr>
              <a:t> de </a:t>
            </a:r>
            <a:r>
              <a:rPr lang="en-US" b="0" dirty="0" err="1">
                <a:ea typeface="+mn-lt"/>
                <a:cs typeface="+mn-lt"/>
              </a:rPr>
              <a:t>uso</a:t>
            </a:r>
            <a:r>
              <a:rPr lang="en-US" b="0" dirty="0">
                <a:ea typeface="+mn-lt"/>
                <a:cs typeface="+mn-lt"/>
              </a:rPr>
              <a:t> reales.</a:t>
            </a:r>
          </a:p>
          <a:p>
            <a:pPr defTabSz="912813">
              <a:tabLst>
                <a:tab pos="917575" algn="l"/>
              </a:tabLst>
              <a:defRPr/>
            </a:pPr>
            <a:r>
              <a:rPr lang="en-US" b="0" dirty="0" err="1">
                <a:ea typeface="+mn-lt"/>
                <a:cs typeface="+mn-lt"/>
              </a:rPr>
              <a:t>Actualmente</a:t>
            </a:r>
            <a:r>
              <a:rPr lang="en-US" b="0" dirty="0">
                <a:ea typeface="+mn-lt"/>
                <a:cs typeface="+mn-lt"/>
              </a:rPr>
              <a:t> </a:t>
            </a:r>
            <a:r>
              <a:rPr lang="en-US" b="0" dirty="0" err="1">
                <a:ea typeface="+mn-lt"/>
                <a:cs typeface="+mn-lt"/>
              </a:rPr>
              <a:t>contribuyendo</a:t>
            </a:r>
            <a:r>
              <a:rPr lang="en-US" b="0" dirty="0">
                <a:ea typeface="+mn-lt"/>
                <a:cs typeface="+mn-lt"/>
              </a:rPr>
              <a:t> </a:t>
            </a:r>
            <a:r>
              <a:rPr lang="en-US" b="0" dirty="0" err="1">
                <a:ea typeface="+mn-lt"/>
                <a:cs typeface="+mn-lt"/>
              </a:rPr>
              <a:t>en</a:t>
            </a:r>
            <a:r>
              <a:rPr lang="en-US" b="0" dirty="0">
                <a:ea typeface="+mn-lt"/>
                <a:cs typeface="+mn-lt"/>
              </a:rPr>
              <a:t> un </a:t>
            </a:r>
            <a:r>
              <a:rPr lang="en-US" b="0" dirty="0" err="1">
                <a:ea typeface="+mn-lt"/>
                <a:cs typeface="+mn-lt"/>
              </a:rPr>
              <a:t>proyecto</a:t>
            </a:r>
            <a:r>
              <a:rPr lang="en-US" b="0" dirty="0">
                <a:ea typeface="+mn-lt"/>
                <a:cs typeface="+mn-lt"/>
              </a:rPr>
              <a:t> </a:t>
            </a:r>
            <a:r>
              <a:rPr lang="en-US" b="0" dirty="0" err="1">
                <a:ea typeface="+mn-lt"/>
                <a:cs typeface="+mn-lt"/>
              </a:rPr>
              <a:t>interno</a:t>
            </a:r>
            <a:r>
              <a:rPr lang="en-US" b="0" dirty="0">
                <a:ea typeface="+mn-lt"/>
                <a:cs typeface="+mn-lt"/>
              </a:rPr>
              <a:t> A2A </a:t>
            </a:r>
            <a:r>
              <a:rPr lang="en-US" b="0" dirty="0" err="1">
                <a:ea typeface="+mn-lt"/>
                <a:cs typeface="+mn-lt"/>
              </a:rPr>
              <a:t>aplicando</a:t>
            </a:r>
            <a:r>
              <a:rPr lang="en-US" b="0" dirty="0">
                <a:ea typeface="+mn-lt"/>
                <a:cs typeface="+mn-lt"/>
              </a:rPr>
              <a:t> </a:t>
            </a:r>
            <a:r>
              <a:rPr lang="en-US" b="0" dirty="0" err="1">
                <a:ea typeface="+mn-lt"/>
                <a:cs typeface="+mn-lt"/>
              </a:rPr>
              <a:t>los</a:t>
            </a:r>
            <a:r>
              <a:rPr lang="en-US" b="0" dirty="0">
                <a:ea typeface="+mn-lt"/>
                <a:cs typeface="+mn-lt"/>
              </a:rPr>
              <a:t> </a:t>
            </a:r>
            <a:r>
              <a:rPr lang="en-US" b="0" dirty="0" err="1">
                <a:ea typeface="+mn-lt"/>
                <a:cs typeface="+mn-lt"/>
              </a:rPr>
              <a:t>conocimientos</a:t>
            </a:r>
            <a:r>
              <a:rPr lang="en-US" b="0" dirty="0">
                <a:ea typeface="+mn-lt"/>
                <a:cs typeface="+mn-lt"/>
              </a:rPr>
              <a:t> </a:t>
            </a:r>
            <a:r>
              <a:rPr lang="en-US" b="0" dirty="0" err="1">
                <a:ea typeface="+mn-lt"/>
                <a:cs typeface="+mn-lt"/>
              </a:rPr>
              <a:t>adquiridos</a:t>
            </a:r>
            <a:r>
              <a:rPr lang="en-US" b="0" dirty="0">
                <a:ea typeface="+mn-lt"/>
                <a:cs typeface="+mn-lt"/>
              </a:rPr>
              <a:t> </a:t>
            </a:r>
            <a:r>
              <a:rPr lang="en-US" b="0" dirty="0" err="1">
                <a:ea typeface="+mn-lt"/>
                <a:cs typeface="+mn-lt"/>
              </a:rPr>
              <a:t>en</a:t>
            </a:r>
            <a:r>
              <a:rPr lang="en-US" b="0" dirty="0">
                <a:ea typeface="+mn-lt"/>
                <a:cs typeface="+mn-lt"/>
              </a:rPr>
              <a:t> </a:t>
            </a:r>
            <a:r>
              <a:rPr lang="en-US" b="0" dirty="0" err="1">
                <a:ea typeface="+mn-lt"/>
                <a:cs typeface="+mn-lt"/>
              </a:rPr>
              <a:t>diseño</a:t>
            </a:r>
            <a:r>
              <a:rPr lang="en-US" b="0" dirty="0">
                <a:ea typeface="+mn-lt"/>
                <a:cs typeface="+mn-lt"/>
              </a:rPr>
              <a:t> y </a:t>
            </a:r>
            <a:r>
              <a:rPr lang="en-US" b="0" dirty="0" err="1">
                <a:ea typeface="+mn-lt"/>
                <a:cs typeface="+mn-lt"/>
              </a:rPr>
              <a:t>desarrollo</a:t>
            </a:r>
            <a:r>
              <a:rPr lang="en-US" b="0" dirty="0">
                <a:ea typeface="+mn-lt"/>
                <a:cs typeface="+mn-lt"/>
              </a:rPr>
              <a:t> de </a:t>
            </a:r>
            <a:r>
              <a:rPr lang="en-US" b="0" dirty="0" err="1">
                <a:ea typeface="+mn-lt"/>
                <a:cs typeface="+mn-lt"/>
              </a:rPr>
              <a:t>arquitecturas</a:t>
            </a:r>
            <a:r>
              <a:rPr lang="en-US" b="0" dirty="0">
                <a:ea typeface="+mn-lt"/>
                <a:cs typeface="+mn-lt"/>
              </a:rPr>
              <a:t> multi-</a:t>
            </a:r>
            <a:r>
              <a:rPr lang="en-US" b="0" dirty="0" err="1">
                <a:ea typeface="+mn-lt"/>
                <a:cs typeface="+mn-lt"/>
              </a:rPr>
              <a:t>agente</a:t>
            </a:r>
            <a:r>
              <a:rPr lang="en-US" b="0" dirty="0">
                <a:ea typeface="+mn-lt"/>
                <a:cs typeface="+mn-lt"/>
              </a:rPr>
              <a:t>, </a:t>
            </a:r>
            <a:r>
              <a:rPr lang="en-US" b="0" dirty="0" err="1">
                <a:ea typeface="+mn-lt"/>
                <a:cs typeface="+mn-lt"/>
              </a:rPr>
              <a:t>trabajando</a:t>
            </a:r>
            <a:r>
              <a:rPr lang="en-US" b="0" dirty="0">
                <a:ea typeface="+mn-lt"/>
                <a:cs typeface="+mn-lt"/>
              </a:rPr>
              <a:t> con Python, </a:t>
            </a:r>
            <a:r>
              <a:rPr lang="en-US" b="0" dirty="0" err="1">
                <a:ea typeface="+mn-lt"/>
                <a:cs typeface="+mn-lt"/>
              </a:rPr>
              <a:t>LangGraph</a:t>
            </a:r>
            <a:r>
              <a:rPr lang="en-US" b="0" dirty="0">
                <a:ea typeface="+mn-lt"/>
                <a:cs typeface="+mn-lt"/>
              </a:rPr>
              <a:t>, bases de </a:t>
            </a:r>
            <a:r>
              <a:rPr lang="en-US" b="0" dirty="0" err="1">
                <a:ea typeface="+mn-lt"/>
                <a:cs typeface="+mn-lt"/>
              </a:rPr>
              <a:t>datos</a:t>
            </a:r>
            <a:r>
              <a:rPr lang="en-US" b="0" dirty="0">
                <a:ea typeface="+mn-lt"/>
                <a:cs typeface="+mn-lt"/>
              </a:rPr>
              <a:t> </a:t>
            </a:r>
            <a:r>
              <a:rPr lang="en-US" b="0" dirty="0" err="1">
                <a:ea typeface="+mn-lt"/>
                <a:cs typeface="+mn-lt"/>
              </a:rPr>
              <a:t>vectoriales</a:t>
            </a:r>
            <a:r>
              <a:rPr lang="en-US" b="0" dirty="0">
                <a:ea typeface="+mn-lt"/>
                <a:cs typeface="+mn-lt"/>
              </a:rPr>
              <a:t> y </a:t>
            </a:r>
            <a:r>
              <a:rPr lang="en-US" b="0" dirty="0" err="1">
                <a:ea typeface="+mn-lt"/>
                <a:cs typeface="+mn-lt"/>
              </a:rPr>
              <a:t>múltiples</a:t>
            </a:r>
            <a:r>
              <a:rPr lang="en-US" b="0" dirty="0">
                <a:ea typeface="+mn-lt"/>
                <a:cs typeface="+mn-lt"/>
              </a:rPr>
              <a:t> APIs de LLMs.</a:t>
            </a:r>
            <a:endParaRPr lang="en-US" dirty="0"/>
          </a:p>
          <a:p>
            <a:pPr defTabSz="912813">
              <a:lnSpc>
                <a:spcPct val="100000"/>
              </a:lnSpc>
              <a:spcBef>
                <a:spcPts val="0"/>
              </a:spcBef>
              <a:tabLst>
                <a:tab pos="917575" algn="l"/>
              </a:tabLst>
              <a:defRPr/>
            </a:pPr>
            <a:endParaRPr lang="en-US" b="0" dirty="0">
              <a:ea typeface="Calibri"/>
              <a:cs typeface="Calibri"/>
            </a:endParaRPr>
          </a:p>
          <a:p>
            <a:pPr mar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endParaRPr lang="es-AR" sz="1000" dirty="0">
              <a:solidFill>
                <a:prstClr val="black"/>
              </a:solidFill>
            </a:endParaRPr>
          </a:p>
          <a:p>
            <a:pPr marL="0" lv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r>
              <a:rPr lang="es-AR" sz="1000" err="1">
                <a:solidFill>
                  <a:prstClr val="black"/>
                </a:solidFill>
              </a:rPr>
              <a:t>Assurant</a:t>
            </a:r>
            <a:r>
              <a:rPr lang="es-AR" sz="1000" dirty="0">
                <a:solidFill>
                  <a:prstClr val="black"/>
                </a:solidFill>
              </a:rPr>
              <a:t> – </a:t>
            </a:r>
            <a:r>
              <a:rPr lang="es-AR" sz="1000" err="1">
                <a:solidFill>
                  <a:prstClr val="black"/>
                </a:solidFill>
              </a:rPr>
              <a:t>Ssr</a:t>
            </a:r>
            <a:r>
              <a:rPr lang="es-AR" sz="1000" dirty="0">
                <a:solidFill>
                  <a:prstClr val="black"/>
                </a:solidFill>
              </a:rPr>
              <a:t> Business Processing </a:t>
            </a:r>
            <a:r>
              <a:rPr lang="es-AR" sz="1000">
                <a:solidFill>
                  <a:prstClr val="black"/>
                </a:solidFill>
              </a:rPr>
              <a:t>Specialist</a:t>
            </a:r>
            <a:endParaRPr lang="en-US" sz="1000">
              <a:solidFill>
                <a:prstClr val="black"/>
              </a:solidFill>
            </a:endParaRPr>
          </a:p>
          <a:p>
            <a:pPr defTabSz="912813">
              <a:tabLst>
                <a:tab pos="917575" algn="l"/>
              </a:tabLst>
              <a:defRPr/>
            </a:pPr>
            <a:r>
              <a:rPr lang="it-IT" b="0" dirty="0" err="1">
                <a:ea typeface="+mn-lt"/>
                <a:cs typeface="+mn-lt"/>
              </a:rPr>
              <a:t>Diseñé</a:t>
            </a:r>
            <a:r>
              <a:rPr lang="it-IT" b="0" dirty="0">
                <a:ea typeface="+mn-lt"/>
                <a:cs typeface="+mn-lt"/>
              </a:rPr>
              <a:t> e </a:t>
            </a:r>
            <a:r>
              <a:rPr lang="it-IT" b="0" dirty="0" err="1">
                <a:ea typeface="+mn-lt"/>
                <a:cs typeface="+mn-lt"/>
              </a:rPr>
              <a:t>implementé</a:t>
            </a:r>
            <a:r>
              <a:rPr lang="it-IT" b="0" dirty="0">
                <a:ea typeface="+mn-lt"/>
                <a:cs typeface="+mn-lt"/>
              </a:rPr>
              <a:t> un agente de Microsoft </a:t>
            </a:r>
            <a:r>
              <a:rPr lang="it-IT" b="0" dirty="0" err="1">
                <a:ea typeface="+mn-lt"/>
                <a:cs typeface="+mn-lt"/>
              </a:rPr>
              <a:t>Copilot</a:t>
            </a:r>
            <a:r>
              <a:rPr lang="it-IT" b="0" dirty="0">
                <a:ea typeface="+mn-lt"/>
                <a:cs typeface="+mn-lt"/>
              </a:rPr>
              <a:t> </a:t>
            </a:r>
            <a:r>
              <a:rPr lang="it-IT" b="0" dirty="0" err="1">
                <a:ea typeface="+mn-lt"/>
                <a:cs typeface="+mn-lt"/>
              </a:rPr>
              <a:t>integrado</a:t>
            </a:r>
            <a:r>
              <a:rPr lang="it-IT" b="0" dirty="0">
                <a:ea typeface="+mn-lt"/>
                <a:cs typeface="+mn-lt"/>
              </a:rPr>
              <a:t> con SharePoint para </a:t>
            </a:r>
            <a:r>
              <a:rPr lang="it-IT" b="0" dirty="0" err="1">
                <a:ea typeface="+mn-lt"/>
                <a:cs typeface="+mn-lt"/>
              </a:rPr>
              <a:t>agilizar</a:t>
            </a:r>
            <a:r>
              <a:rPr lang="it-IT" b="0" dirty="0">
                <a:ea typeface="+mn-lt"/>
                <a:cs typeface="+mn-lt"/>
              </a:rPr>
              <a:t> la </a:t>
            </a:r>
            <a:r>
              <a:rPr lang="it-IT" b="0" dirty="0" err="1">
                <a:ea typeface="+mn-lt"/>
                <a:cs typeface="+mn-lt"/>
              </a:rPr>
              <a:t>recuperación</a:t>
            </a:r>
            <a:r>
              <a:rPr lang="it-IT" b="0" dirty="0">
                <a:ea typeface="+mn-lt"/>
                <a:cs typeface="+mn-lt"/>
              </a:rPr>
              <a:t> de </a:t>
            </a:r>
            <a:r>
              <a:rPr lang="it-IT" b="0" dirty="0" err="1">
                <a:ea typeface="+mn-lt"/>
                <a:cs typeface="+mn-lt"/>
              </a:rPr>
              <a:t>documentos</a:t>
            </a:r>
            <a:r>
              <a:rPr lang="it-IT" b="0" dirty="0">
                <a:ea typeface="+mn-lt"/>
                <a:cs typeface="+mn-lt"/>
              </a:rPr>
              <a:t> y </a:t>
            </a:r>
            <a:r>
              <a:rPr lang="it-IT" b="0" dirty="0" err="1">
                <a:ea typeface="+mn-lt"/>
                <a:cs typeface="+mn-lt"/>
              </a:rPr>
              <a:t>optimizar</a:t>
            </a:r>
            <a:r>
              <a:rPr lang="it-IT" b="0" dirty="0">
                <a:ea typeface="+mn-lt"/>
                <a:cs typeface="+mn-lt"/>
              </a:rPr>
              <a:t> </a:t>
            </a:r>
            <a:r>
              <a:rPr lang="it-IT" b="0" dirty="0" err="1">
                <a:ea typeface="+mn-lt"/>
                <a:cs typeface="+mn-lt"/>
              </a:rPr>
              <a:t>el</a:t>
            </a:r>
            <a:r>
              <a:rPr lang="it-IT" b="0" dirty="0">
                <a:ea typeface="+mn-lt"/>
                <a:cs typeface="+mn-lt"/>
              </a:rPr>
              <a:t> </a:t>
            </a:r>
            <a:r>
              <a:rPr lang="it-IT" b="0" dirty="0" err="1">
                <a:ea typeface="+mn-lt"/>
                <a:cs typeface="+mn-lt"/>
              </a:rPr>
              <a:t>proceso</a:t>
            </a:r>
            <a:r>
              <a:rPr lang="it-IT" b="0" dirty="0">
                <a:ea typeface="+mn-lt"/>
                <a:cs typeface="+mn-lt"/>
              </a:rPr>
              <a:t> de </a:t>
            </a:r>
            <a:r>
              <a:rPr lang="it-IT" b="0" dirty="0" err="1">
                <a:ea typeface="+mn-lt"/>
                <a:cs typeface="+mn-lt"/>
              </a:rPr>
              <a:t>incorporación</a:t>
            </a:r>
            <a:r>
              <a:rPr lang="it-IT" b="0" dirty="0">
                <a:ea typeface="+mn-lt"/>
                <a:cs typeface="+mn-lt"/>
              </a:rPr>
              <a:t> de </a:t>
            </a:r>
            <a:r>
              <a:rPr lang="it-IT" b="0" dirty="0" err="1">
                <a:ea typeface="+mn-lt"/>
                <a:cs typeface="+mn-lt"/>
              </a:rPr>
              <a:t>nuevos</a:t>
            </a:r>
            <a:r>
              <a:rPr lang="it-IT" b="0" dirty="0">
                <a:ea typeface="+mn-lt"/>
                <a:cs typeface="+mn-lt"/>
              </a:rPr>
              <a:t> </a:t>
            </a:r>
            <a:r>
              <a:rPr lang="it-IT" b="0" dirty="0" err="1">
                <a:ea typeface="+mn-lt"/>
                <a:cs typeface="+mn-lt"/>
              </a:rPr>
              <a:t>colaboradores</a:t>
            </a:r>
            <a:r>
              <a:rPr lang="it-IT" b="0" dirty="0">
                <a:ea typeface="+mn-lt"/>
                <a:cs typeface="+mn-lt"/>
              </a:rPr>
              <a:t>.</a:t>
            </a:r>
          </a:p>
          <a:p>
            <a:pPr defTabSz="912813">
              <a:tabLst>
                <a:tab pos="917575" algn="l"/>
              </a:tabLst>
              <a:defRPr/>
            </a:pPr>
            <a:r>
              <a:rPr lang="it-IT" b="0" dirty="0" err="1">
                <a:ea typeface="+mn-lt"/>
                <a:cs typeface="+mn-lt"/>
              </a:rPr>
              <a:t>Desarrollé</a:t>
            </a:r>
            <a:r>
              <a:rPr lang="it-IT" b="0" dirty="0">
                <a:ea typeface="+mn-lt"/>
                <a:cs typeface="+mn-lt"/>
              </a:rPr>
              <a:t> </a:t>
            </a:r>
            <a:r>
              <a:rPr lang="it-IT" b="0" dirty="0" err="1">
                <a:ea typeface="+mn-lt"/>
                <a:cs typeface="+mn-lt"/>
              </a:rPr>
              <a:t>flujos</a:t>
            </a:r>
            <a:r>
              <a:rPr lang="it-IT" b="0" dirty="0">
                <a:ea typeface="+mn-lt"/>
                <a:cs typeface="+mn-lt"/>
              </a:rPr>
              <a:t> </a:t>
            </a:r>
            <a:r>
              <a:rPr lang="it-IT" b="0" dirty="0" err="1">
                <a:ea typeface="+mn-lt"/>
                <a:cs typeface="+mn-lt"/>
              </a:rPr>
              <a:t>automatizados</a:t>
            </a:r>
            <a:r>
              <a:rPr lang="it-IT" b="0" dirty="0">
                <a:ea typeface="+mn-lt"/>
                <a:cs typeface="+mn-lt"/>
              </a:rPr>
              <a:t> con Power </a:t>
            </a:r>
            <a:r>
              <a:rPr lang="it-IT" b="0" dirty="0" err="1">
                <a:ea typeface="+mn-lt"/>
                <a:cs typeface="+mn-lt"/>
              </a:rPr>
              <a:t>Automate</a:t>
            </a:r>
            <a:r>
              <a:rPr lang="it-IT" b="0" dirty="0">
                <a:ea typeface="+mn-lt"/>
                <a:cs typeface="+mn-lt"/>
              </a:rPr>
              <a:t> para </a:t>
            </a:r>
            <a:r>
              <a:rPr lang="it-IT" b="0" dirty="0" err="1">
                <a:ea typeface="+mn-lt"/>
                <a:cs typeface="+mn-lt"/>
              </a:rPr>
              <a:t>notificaciones</a:t>
            </a:r>
            <a:r>
              <a:rPr lang="it-IT" b="0" dirty="0">
                <a:ea typeface="+mn-lt"/>
                <a:cs typeface="+mn-lt"/>
              </a:rPr>
              <a:t> </a:t>
            </a:r>
            <a:r>
              <a:rPr lang="it-IT" b="0" dirty="0" err="1">
                <a:ea typeface="+mn-lt"/>
                <a:cs typeface="+mn-lt"/>
              </a:rPr>
              <a:t>operativas</a:t>
            </a:r>
            <a:r>
              <a:rPr lang="it-IT" b="0" dirty="0">
                <a:ea typeface="+mn-lt"/>
                <a:cs typeface="+mn-lt"/>
              </a:rPr>
              <a:t> y </a:t>
            </a:r>
            <a:r>
              <a:rPr lang="it-IT" b="0" dirty="0" err="1">
                <a:ea typeface="+mn-lt"/>
                <a:cs typeface="+mn-lt"/>
              </a:rPr>
              <a:t>seguimiento</a:t>
            </a:r>
            <a:r>
              <a:rPr lang="it-IT" b="0" dirty="0">
                <a:ea typeface="+mn-lt"/>
                <a:cs typeface="+mn-lt"/>
              </a:rPr>
              <a:t> de </a:t>
            </a:r>
            <a:r>
              <a:rPr lang="it-IT" b="0" dirty="0" err="1">
                <a:ea typeface="+mn-lt"/>
                <a:cs typeface="+mn-lt"/>
              </a:rPr>
              <a:t>SLAs</a:t>
            </a:r>
            <a:r>
              <a:rPr lang="it-IT" b="0" dirty="0">
                <a:ea typeface="+mn-lt"/>
                <a:cs typeface="+mn-lt"/>
              </a:rPr>
              <a:t>.</a:t>
            </a:r>
            <a:endParaRPr lang="it-IT" dirty="0">
              <a:ea typeface="+mn-lt"/>
              <a:cs typeface="+mn-lt"/>
            </a:endParaRPr>
          </a:p>
          <a:p>
            <a:pPr defTabSz="912813">
              <a:tabLst>
                <a:tab pos="917575" algn="l"/>
              </a:tabLst>
              <a:defRPr/>
            </a:pPr>
            <a:r>
              <a:rPr lang="it-IT" b="0" dirty="0" err="1">
                <a:ea typeface="+mn-lt"/>
                <a:cs typeface="+mn-lt"/>
              </a:rPr>
              <a:t>Lideré</a:t>
            </a:r>
            <a:r>
              <a:rPr lang="it-IT" b="0" dirty="0">
                <a:ea typeface="+mn-lt"/>
                <a:cs typeface="+mn-lt"/>
              </a:rPr>
              <a:t> un </a:t>
            </a:r>
            <a:r>
              <a:rPr lang="it-IT" b="0" dirty="0" err="1">
                <a:ea typeface="+mn-lt"/>
                <a:cs typeface="+mn-lt"/>
              </a:rPr>
              <a:t>equipo</a:t>
            </a:r>
            <a:r>
              <a:rPr lang="it-IT" b="0" dirty="0">
                <a:ea typeface="+mn-lt"/>
                <a:cs typeface="+mn-lt"/>
              </a:rPr>
              <a:t> cross-</a:t>
            </a:r>
            <a:r>
              <a:rPr lang="it-IT" b="0" dirty="0" err="1">
                <a:ea typeface="+mn-lt"/>
                <a:cs typeface="+mn-lt"/>
              </a:rPr>
              <a:t>funcional</a:t>
            </a:r>
            <a:r>
              <a:rPr lang="it-IT" b="0" dirty="0">
                <a:ea typeface="+mn-lt"/>
                <a:cs typeface="+mn-lt"/>
              </a:rPr>
              <a:t> para impulsar la </a:t>
            </a:r>
            <a:r>
              <a:rPr lang="it-IT" b="0" dirty="0" err="1">
                <a:ea typeface="+mn-lt"/>
                <a:cs typeface="+mn-lt"/>
              </a:rPr>
              <a:t>adopción</a:t>
            </a:r>
            <a:r>
              <a:rPr lang="it-IT" b="0" dirty="0">
                <a:ea typeface="+mn-lt"/>
                <a:cs typeface="+mn-lt"/>
              </a:rPr>
              <a:t> de IA dentro de la </a:t>
            </a:r>
            <a:r>
              <a:rPr lang="it-IT" b="0" dirty="0" err="1">
                <a:ea typeface="+mn-lt"/>
                <a:cs typeface="+mn-lt"/>
              </a:rPr>
              <a:t>organización</a:t>
            </a:r>
            <a:r>
              <a:rPr lang="it-IT" b="0" dirty="0">
                <a:ea typeface="+mn-lt"/>
                <a:cs typeface="+mn-lt"/>
              </a:rPr>
              <a:t>, </a:t>
            </a:r>
            <a:r>
              <a:rPr lang="it-IT" b="0" dirty="0" err="1">
                <a:ea typeface="+mn-lt"/>
                <a:cs typeface="+mn-lt"/>
              </a:rPr>
              <a:t>realizando</a:t>
            </a:r>
            <a:r>
              <a:rPr lang="it-IT" b="0" dirty="0">
                <a:ea typeface="+mn-lt"/>
                <a:cs typeface="+mn-lt"/>
              </a:rPr>
              <a:t> </a:t>
            </a:r>
            <a:r>
              <a:rPr lang="it-IT" b="0" dirty="0" err="1">
                <a:ea typeface="+mn-lt"/>
                <a:cs typeface="+mn-lt"/>
              </a:rPr>
              <a:t>presentaciones</a:t>
            </a:r>
            <a:r>
              <a:rPr lang="it-IT" b="0" dirty="0">
                <a:ea typeface="+mn-lt"/>
                <a:cs typeface="+mn-lt"/>
              </a:rPr>
              <a:t> a </a:t>
            </a:r>
            <a:r>
              <a:rPr lang="it-IT" b="0" dirty="0" err="1">
                <a:ea typeface="+mn-lt"/>
                <a:cs typeface="+mn-lt"/>
              </a:rPr>
              <a:t>líderes</a:t>
            </a:r>
            <a:r>
              <a:rPr lang="it-IT" b="0" dirty="0">
                <a:ea typeface="+mn-lt"/>
                <a:cs typeface="+mn-lt"/>
              </a:rPr>
              <a:t> y stakeholders en </a:t>
            </a:r>
            <a:r>
              <a:rPr lang="it-IT" b="0" dirty="0" err="1">
                <a:ea typeface="+mn-lt"/>
                <a:cs typeface="+mn-lt"/>
              </a:rPr>
              <a:t>Estados</a:t>
            </a:r>
            <a:r>
              <a:rPr lang="it-IT" b="0" dirty="0">
                <a:ea typeface="+mn-lt"/>
                <a:cs typeface="+mn-lt"/>
              </a:rPr>
              <a:t> Unidos con foco en </a:t>
            </a:r>
            <a:r>
              <a:rPr lang="it-IT" b="0" dirty="0" err="1">
                <a:ea typeface="+mn-lt"/>
                <a:cs typeface="+mn-lt"/>
              </a:rPr>
              <a:t>casos</a:t>
            </a:r>
            <a:r>
              <a:rPr lang="it-IT" b="0" dirty="0">
                <a:ea typeface="+mn-lt"/>
                <a:cs typeface="+mn-lt"/>
              </a:rPr>
              <a:t> de uso </a:t>
            </a:r>
            <a:r>
              <a:rPr lang="it-IT" b="0" dirty="0" err="1">
                <a:ea typeface="+mn-lt"/>
                <a:cs typeface="+mn-lt"/>
              </a:rPr>
              <a:t>prácticos</a:t>
            </a:r>
            <a:r>
              <a:rPr lang="it-IT" b="0" dirty="0">
                <a:ea typeface="+mn-lt"/>
                <a:cs typeface="+mn-lt"/>
              </a:rPr>
              <a:t>, </a:t>
            </a:r>
            <a:r>
              <a:rPr lang="it-IT" b="0" dirty="0" err="1">
                <a:ea typeface="+mn-lt"/>
                <a:cs typeface="+mn-lt"/>
              </a:rPr>
              <a:t>eficiencia</a:t>
            </a:r>
            <a:r>
              <a:rPr lang="it-IT" b="0" dirty="0">
                <a:ea typeface="+mn-lt"/>
                <a:cs typeface="+mn-lt"/>
              </a:rPr>
              <a:t> diaria y </a:t>
            </a:r>
            <a:r>
              <a:rPr lang="it-IT" b="0" dirty="0" err="1">
                <a:ea typeface="+mn-lt"/>
                <a:cs typeface="+mn-lt"/>
              </a:rPr>
              <a:t>mejoras</a:t>
            </a:r>
            <a:r>
              <a:rPr lang="it-IT" b="0" dirty="0">
                <a:ea typeface="+mn-lt"/>
                <a:cs typeface="+mn-lt"/>
              </a:rPr>
              <a:t> de </a:t>
            </a:r>
            <a:r>
              <a:rPr lang="it-IT" b="0" dirty="0" err="1">
                <a:ea typeface="+mn-lt"/>
                <a:cs typeface="+mn-lt"/>
              </a:rPr>
              <a:t>productividad</a:t>
            </a:r>
            <a:r>
              <a:rPr lang="it-IT" b="0" dirty="0">
                <a:ea typeface="+mn-lt"/>
                <a:cs typeface="+mn-lt"/>
              </a:rPr>
              <a:t>.</a:t>
            </a:r>
            <a:endParaRPr lang="it-IT" dirty="0">
              <a:ea typeface="+mn-lt"/>
              <a:cs typeface="+mn-lt"/>
            </a:endParaRPr>
          </a:p>
          <a:p>
            <a:pPr defTabSz="912813">
              <a:lnSpc>
                <a:spcPct val="100000"/>
              </a:lnSpc>
              <a:spcBef>
                <a:spcPts val="0"/>
              </a:spcBef>
              <a:tabLst>
                <a:tab pos="917575" algn="l"/>
              </a:tabLst>
              <a:defRPr/>
            </a:pPr>
            <a:endParaRPr lang="it-IT" b="0" dirty="0">
              <a:ea typeface="Calibri"/>
              <a:cs typeface="Calibri"/>
            </a:endParaRPr>
          </a:p>
          <a:p>
            <a:pPr mar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endParaRPr lang="it-IT" sz="1000" dirty="0">
              <a:solidFill>
                <a:prstClr val="black"/>
              </a:solidFill>
            </a:endParaRPr>
          </a:p>
          <a:p>
            <a:pPr mar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endParaRPr lang="it-IT" sz="1000" dirty="0">
              <a:solidFill>
                <a:prstClr val="black"/>
              </a:solidFill>
            </a:endParaRPr>
          </a:p>
          <a:p>
            <a:pPr mar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endParaRPr lang="it-IT" sz="1000" dirty="0">
              <a:solidFill>
                <a:prstClr val="black"/>
              </a:solidFill>
            </a:endParaRPr>
          </a:p>
          <a:p>
            <a:pPr lvl="0" defTabSz="912813">
              <a:lnSpc>
                <a:spcPct val="100000"/>
              </a:lnSpc>
              <a:spcBef>
                <a:spcPts val="0"/>
              </a:spcBef>
              <a:buFontTx/>
              <a:buChar char="-"/>
              <a:tabLst>
                <a:tab pos="917575" algn="l"/>
              </a:tabLst>
              <a:defRPr/>
            </a:pPr>
            <a:endParaRPr lang="en-US" sz="1000" dirty="0">
              <a:solidFill>
                <a:prstClr val="black"/>
              </a:solidFill>
            </a:endParaRPr>
          </a:p>
          <a:p>
            <a:pPr marL="0" lv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endParaRPr lang="en-US" sz="1000" dirty="0">
              <a:solidFill>
                <a:prstClr val="black"/>
              </a:solidFill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33C2123-7A7F-7353-596A-7DB8DD3BFEE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369005" y="1048090"/>
            <a:ext cx="6541532" cy="310896"/>
          </a:xfrm>
        </p:spPr>
        <p:txBody>
          <a:bodyPr>
            <a:normAutofit/>
          </a:bodyPr>
          <a:lstStyle/>
          <a:p>
            <a:r>
              <a:rPr lang="en-US" dirty="0"/>
              <a:t>AI Engineering 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4E4B3-7B5A-B901-38C4-412FDF72F8D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8077200" y="6492875"/>
            <a:ext cx="4114800" cy="2286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© 2021 Accenture. </a:t>
            </a:r>
            <a:r>
              <a:rPr kumimoji="0" lang="es-E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</a:t>
            </a: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s-E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rights</a:t>
            </a: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s-E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reserved</a:t>
            </a: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8E717FEF-D002-1C10-71DD-CFAC5D391F6D}"/>
              </a:ext>
            </a:extLst>
          </p:cNvPr>
          <p:cNvSpPr txBox="1">
            <a:spLocks/>
          </p:cNvSpPr>
          <p:nvPr/>
        </p:nvSpPr>
        <p:spPr>
          <a:xfrm>
            <a:off x="3176139" y="4272380"/>
            <a:ext cx="2012108" cy="1159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0781" indent="-170781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endParaRPr lang="en-US" altLang="en-US" sz="800" dirty="0">
              <a:solidFill>
                <a:prstClr val="black"/>
              </a:solidFill>
              <a:latin typeface="Calibri" panose="020F0502020204030204"/>
              <a:cs typeface="Arial"/>
            </a:endParaRPr>
          </a:p>
          <a:p>
            <a:pPr marL="170781" indent="-170781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endParaRPr lang="en-US" altLang="en-US" sz="800" dirty="0">
              <a:solidFill>
                <a:prstClr val="black"/>
              </a:solidFill>
              <a:latin typeface="Calibri" panose="020F0502020204030204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450"/>
              </a:spcBef>
              <a:buFont typeface="Arial" panose="020B0604020202020204" pitchFamily="34" charset="0"/>
              <a:buNone/>
              <a:tabLst>
                <a:tab pos="133270" algn="l"/>
              </a:tabLst>
              <a:defRPr/>
            </a:pPr>
            <a:endParaRPr lang="en-US" altLang="en-US" sz="800" dirty="0">
              <a:solidFill>
                <a:prstClr val="black"/>
              </a:solidFill>
              <a:latin typeface="Calibri" panose="020F0502020204030204"/>
              <a:cs typeface="Arial"/>
            </a:endParaRP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3565F44-7BE8-4547-D362-B967BDAE9A0B}"/>
              </a:ext>
            </a:extLst>
          </p:cNvPr>
          <p:cNvSpPr txBox="1">
            <a:spLocks/>
          </p:cNvSpPr>
          <p:nvPr/>
        </p:nvSpPr>
        <p:spPr>
          <a:xfrm>
            <a:off x="3176139" y="4413677"/>
            <a:ext cx="2012108" cy="1018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0781" indent="-170781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altLang="en-US" sz="900" dirty="0">
                <a:solidFill>
                  <a:prstClr val="black"/>
                </a:solidFill>
                <a:latin typeface="Calibri" panose="020F0502020204030204"/>
                <a:cs typeface="Arial"/>
              </a:rPr>
              <a:t>Ciencia</a:t>
            </a:r>
          </a:p>
          <a:p>
            <a:pPr marL="170781" indent="-170781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sz="900" dirty="0"/>
              <a:t>Soluciones de IA &amp; Datos</a:t>
            </a:r>
            <a:endParaRPr lang="en-US" altLang="en-US" sz="900" dirty="0">
              <a:solidFill>
                <a:prstClr val="black"/>
              </a:solidFill>
              <a:latin typeface="Calibri" panose="020F0502020204030204"/>
              <a:cs typeface="Arial"/>
            </a:endParaRPr>
          </a:p>
          <a:p>
            <a:pPr marL="170781" indent="-170781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sz="900" dirty="0" err="1"/>
              <a:t>Tecnología</a:t>
            </a:r>
            <a:endParaRPr lang="en-US" altLang="en-US" sz="900" dirty="0">
              <a:solidFill>
                <a:prstClr val="black"/>
              </a:solidFill>
              <a:latin typeface="Calibri" panose="020F0502020204030204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450"/>
              </a:spcBef>
              <a:buFont typeface="Arial" panose="020B0604020202020204" pitchFamily="34" charset="0"/>
              <a:buNone/>
              <a:tabLst>
                <a:tab pos="133270" algn="l"/>
              </a:tabLst>
              <a:defRPr/>
            </a:pPr>
            <a:endParaRPr lang="en-US" altLang="en-US" sz="900" dirty="0">
              <a:solidFill>
                <a:prstClr val="black"/>
              </a:solidFill>
              <a:latin typeface="Calibri" panose="020F0502020204030204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A9B8AD-BE9C-AD0C-B43E-5ABDEB16F684}"/>
              </a:ext>
            </a:extLst>
          </p:cNvPr>
          <p:cNvSpPr txBox="1"/>
          <p:nvPr/>
        </p:nvSpPr>
        <p:spPr>
          <a:xfrm>
            <a:off x="210586" y="5245785"/>
            <a:ext cx="23426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100" b="1" dirty="0">
                <a:solidFill>
                  <a:srgbClr val="7030A0"/>
                </a:solidFill>
                <a:latin typeface="Graphik" panose="020B0503030202060203" pitchFamily="34" charset="0"/>
              </a:rPr>
              <a:t>CERTIFICATIONS</a:t>
            </a:r>
            <a:endParaRPr lang="en-US" sz="1100" b="1" dirty="0">
              <a:solidFill>
                <a:srgbClr val="7030A0"/>
              </a:solidFill>
              <a:latin typeface="Graphik" panose="020B050303020206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02BDD2-25C9-CE22-1B04-7B0990839624}"/>
              </a:ext>
            </a:extLst>
          </p:cNvPr>
          <p:cNvSpPr txBox="1"/>
          <p:nvPr/>
        </p:nvSpPr>
        <p:spPr>
          <a:xfrm>
            <a:off x="341211" y="5603433"/>
            <a:ext cx="2781010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Font typeface="Arial,Sans-Serif" panose="020B0604020202020204" pitchFamily="34" charset="0"/>
              <a:buChar char="•"/>
            </a:pPr>
            <a:r>
              <a:rPr lang="en-US" sz="1000"/>
              <a:t>AI Engineering &amp; Agentic AI- AI Academy</a:t>
            </a:r>
            <a:endParaRPr lang="en-US" sz="1000">
              <a:ea typeface="Calibri"/>
              <a:cs typeface="Calibri"/>
            </a:endParaRPr>
          </a:p>
          <a:p>
            <a:pPr marL="171450" indent="-171450">
              <a:buFont typeface="Arial,Sans-Serif" panose="020B0604020202020204" pitchFamily="34" charset="0"/>
              <a:buChar char="•"/>
            </a:pPr>
            <a:r>
              <a:rPr lang="en-US" sz="1000" dirty="0"/>
              <a:t>Full-Stack Development (JavaScript, Backend &amp;APIs) - </a:t>
            </a:r>
            <a:r>
              <a:rPr lang="en-US" sz="1000" dirty="0" err="1"/>
              <a:t>CoderHouse</a:t>
            </a:r>
            <a:endParaRPr lang="en-US" sz="1000" dirty="0" err="1">
              <a:ea typeface="Calibri"/>
              <a:cs typeface="Calibri"/>
            </a:endParaRPr>
          </a:p>
          <a:p>
            <a:pPr marL="171450" indent="-171450">
              <a:buFont typeface="Arial,Sans-Serif" panose="020B0604020202020204" pitchFamily="34" charset="0"/>
              <a:buChar char="•"/>
            </a:pPr>
            <a:r>
              <a:rPr lang="en-US" sz="1000"/>
              <a:t>Data Science Nanodegree – AI Academy</a:t>
            </a:r>
          </a:p>
          <a:p>
            <a:pPr marL="171450" indent="-171450">
              <a:buFont typeface="Arial,Sans-Serif" panose="020B0604020202020204" pitchFamily="34" charset="0"/>
              <a:buChar char="•"/>
            </a:pP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prstClr val="black"/>
              </a:solidFill>
              <a:ea typeface="Calibri"/>
              <a:cs typeface="Calibri"/>
            </a:endParaRPr>
          </a:p>
        </p:txBody>
      </p:sp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3330C361-03B0-954D-0DED-B89E008B1BB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6" r="2956"/>
          <a:stretch>
            <a:fillRect/>
          </a:stretch>
        </p:blipFill>
        <p:spPr/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749A3A4-D8A8-5832-B4A8-5ED6759F7675}"/>
              </a:ext>
            </a:extLst>
          </p:cNvPr>
          <p:cNvSpPr txBox="1"/>
          <p:nvPr/>
        </p:nvSpPr>
        <p:spPr>
          <a:xfrm>
            <a:off x="3122221" y="5230396"/>
            <a:ext cx="24361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200" b="1" dirty="0">
                <a:solidFill>
                  <a:srgbClr val="7030A0"/>
                </a:solidFill>
                <a:latin typeface="Graphik" panose="020B0503030202060203" pitchFamily="34" charset="0"/>
              </a:rPr>
              <a:t>LANGUAGES</a:t>
            </a:r>
            <a:endParaRPr lang="en-US" sz="1200" b="1" dirty="0">
              <a:solidFill>
                <a:srgbClr val="7030A0"/>
              </a:solidFill>
              <a:latin typeface="Graphik" panose="020B050303020206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E9382E-DDDB-9591-5F6C-B5E968E41EBF}"/>
              </a:ext>
            </a:extLst>
          </p:cNvPr>
          <p:cNvSpPr txBox="1"/>
          <p:nvPr/>
        </p:nvSpPr>
        <p:spPr>
          <a:xfrm>
            <a:off x="3113312" y="5568098"/>
            <a:ext cx="20749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1000" dirty="0"/>
              <a:t>Español: Nativo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1000" dirty="0"/>
              <a:t>Inglés: C2 - Profesional</a:t>
            </a:r>
            <a:endParaRPr lang="en-US" sz="1000" dirty="0"/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7F39E17E-949B-D56E-99EB-434F79904EC8}"/>
              </a:ext>
            </a:extLst>
          </p:cNvPr>
          <p:cNvSpPr>
            <a:spLocks noGrp="1" noChangeArrowheads="1"/>
          </p:cNvSpPr>
          <p:nvPr>
            <p:ph type="body" sz="quarter" idx="16"/>
          </p:nvPr>
        </p:nvSpPr>
        <p:spPr bwMode="auto">
          <a:xfrm>
            <a:off x="341328" y="2393711"/>
            <a:ext cx="2771984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000" dirty="0" err="1">
                <a:solidFill>
                  <a:prstClr val="black"/>
                </a:solidFill>
              </a:rPr>
              <a:t>Estudiante</a:t>
            </a:r>
            <a:r>
              <a:rPr lang="en-US" altLang="en-US" sz="1000" dirty="0">
                <a:solidFill>
                  <a:prstClr val="black"/>
                </a:solidFill>
              </a:rPr>
              <a:t> de </a:t>
            </a:r>
            <a:r>
              <a:rPr lang="en-US" altLang="en-US" sz="1000" dirty="0" err="1">
                <a:solidFill>
                  <a:prstClr val="black"/>
                </a:solidFill>
              </a:rPr>
              <a:t>Ciencias</a:t>
            </a:r>
            <a:r>
              <a:rPr lang="en-US" altLang="en-US" sz="1000" dirty="0">
                <a:solidFill>
                  <a:prstClr val="black"/>
                </a:solidFill>
              </a:rPr>
              <a:t> de la </a:t>
            </a:r>
            <a:r>
              <a:rPr lang="en-US" altLang="en-US" sz="1000" dirty="0" err="1">
                <a:solidFill>
                  <a:prstClr val="black"/>
                </a:solidFill>
              </a:rPr>
              <a:t>Computación</a:t>
            </a:r>
            <a:r>
              <a:rPr lang="en-US" altLang="en-US" sz="1000" dirty="0">
                <a:solidFill>
                  <a:prstClr val="black"/>
                </a:solidFill>
              </a:rPr>
              <a:t> </a:t>
            </a:r>
            <a:r>
              <a:rPr lang="en-US" altLang="en-US" sz="1000" dirty="0" err="1">
                <a:solidFill>
                  <a:prstClr val="black"/>
                </a:solidFill>
              </a:rPr>
              <a:t>en</a:t>
            </a:r>
            <a:r>
              <a:rPr lang="en-US" altLang="en-US" sz="1000" dirty="0">
                <a:solidFill>
                  <a:prstClr val="black"/>
                </a:solidFill>
              </a:rPr>
              <a:t> la Universidad de Buenos Aires (UBA), </a:t>
            </a:r>
            <a:r>
              <a:rPr lang="en-US" altLang="en-US" sz="1000" dirty="0" err="1">
                <a:solidFill>
                  <a:prstClr val="black"/>
                </a:solidFill>
              </a:rPr>
              <a:t>actualmente</a:t>
            </a:r>
            <a:r>
              <a:rPr lang="en-US" altLang="en-US" sz="1000" dirty="0">
                <a:solidFill>
                  <a:prstClr val="black"/>
                </a:solidFill>
              </a:rPr>
              <a:t> </a:t>
            </a:r>
            <a:r>
              <a:rPr lang="en-US" altLang="en-US" sz="1000" dirty="0" err="1">
                <a:solidFill>
                  <a:prstClr val="black"/>
                </a:solidFill>
              </a:rPr>
              <a:t>trabajando</a:t>
            </a:r>
            <a:r>
              <a:rPr lang="en-US" altLang="en-US" sz="1000" dirty="0">
                <a:solidFill>
                  <a:prstClr val="black"/>
                </a:solidFill>
              </a:rPr>
              <a:t> </a:t>
            </a:r>
            <a:r>
              <a:rPr lang="en-US" altLang="en-US" sz="1000" dirty="0" err="1">
                <a:solidFill>
                  <a:prstClr val="black"/>
                </a:solidFill>
              </a:rPr>
              <a:t>en</a:t>
            </a:r>
            <a:r>
              <a:rPr lang="en-US" altLang="en-US" sz="1000" dirty="0">
                <a:solidFill>
                  <a:prstClr val="black"/>
                </a:solidFill>
              </a:rPr>
              <a:t> </a:t>
            </a:r>
            <a:r>
              <a:rPr lang="en-US" altLang="en-US" sz="1000" dirty="0" err="1">
                <a:solidFill>
                  <a:prstClr val="black"/>
                </a:solidFill>
              </a:rPr>
              <a:t>el</a:t>
            </a:r>
            <a:r>
              <a:rPr lang="en-US" altLang="en-US" sz="1000" dirty="0">
                <a:solidFill>
                  <a:prstClr val="black"/>
                </a:solidFill>
              </a:rPr>
              <a:t> Departamento de IA de Accenture.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solidFill>
                <a:prstClr val="black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000" dirty="0" err="1">
                <a:solidFill>
                  <a:prstClr val="black"/>
                </a:solidFill>
              </a:rPr>
              <a:t>Ingeniero</a:t>
            </a:r>
            <a:r>
              <a:rPr lang="en-US" altLang="en-US" sz="1000" dirty="0">
                <a:solidFill>
                  <a:prstClr val="black"/>
                </a:solidFill>
              </a:rPr>
              <a:t> de Software con </a:t>
            </a:r>
            <a:r>
              <a:rPr lang="en-US" altLang="en-US" sz="1000" dirty="0" err="1">
                <a:solidFill>
                  <a:prstClr val="black"/>
                </a:solidFill>
              </a:rPr>
              <a:t>formación</a:t>
            </a:r>
            <a:r>
              <a:rPr lang="en-US" altLang="en-US" sz="1000" dirty="0">
                <a:solidFill>
                  <a:prstClr val="black"/>
                </a:solidFill>
              </a:rPr>
              <a:t> </a:t>
            </a:r>
            <a:r>
              <a:rPr lang="en-US" altLang="en-US" sz="1000" dirty="0" err="1">
                <a:solidFill>
                  <a:prstClr val="black"/>
                </a:solidFill>
              </a:rPr>
              <a:t>avanzada</a:t>
            </a:r>
            <a:r>
              <a:rPr lang="en-US" altLang="en-US" sz="1000" dirty="0">
                <a:solidFill>
                  <a:prstClr val="black"/>
                </a:solidFill>
              </a:rPr>
              <a:t> </a:t>
            </a:r>
            <a:r>
              <a:rPr lang="en-US" altLang="en-US" sz="1000" dirty="0" err="1">
                <a:solidFill>
                  <a:prstClr val="black"/>
                </a:solidFill>
              </a:rPr>
              <a:t>en</a:t>
            </a:r>
            <a:r>
              <a:rPr lang="en-US" altLang="en-US" sz="1000" dirty="0">
                <a:solidFill>
                  <a:prstClr val="black"/>
                </a:solidFill>
              </a:rPr>
              <a:t> </a:t>
            </a:r>
            <a:r>
              <a:rPr lang="en-US" altLang="en-US" sz="1000" dirty="0" err="1">
                <a:solidFill>
                  <a:prstClr val="black"/>
                </a:solidFill>
              </a:rPr>
              <a:t>Inteligencia</a:t>
            </a:r>
            <a:r>
              <a:rPr lang="en-US" altLang="en-US" sz="1000" dirty="0">
                <a:solidFill>
                  <a:prstClr val="black"/>
                </a:solidFill>
              </a:rPr>
              <a:t> Artificial y </a:t>
            </a:r>
            <a:r>
              <a:rPr lang="en-US" altLang="en-US" sz="1000" dirty="0" err="1">
                <a:solidFill>
                  <a:prstClr val="black"/>
                </a:solidFill>
              </a:rPr>
              <a:t>tecnologías</a:t>
            </a:r>
            <a:r>
              <a:rPr lang="en-US" altLang="en-US" sz="1000" dirty="0">
                <a:solidFill>
                  <a:prstClr val="black"/>
                </a:solidFill>
              </a:rPr>
              <a:t> </a:t>
            </a:r>
            <a:r>
              <a:rPr lang="en-US" altLang="en-US" sz="1000" dirty="0" err="1">
                <a:solidFill>
                  <a:prstClr val="black"/>
                </a:solidFill>
              </a:rPr>
              <a:t>emergentes</a:t>
            </a:r>
            <a:r>
              <a:rPr lang="en-US" altLang="en-US" sz="1000" dirty="0">
                <a:solidFill>
                  <a:prstClr val="black"/>
                </a:solidFill>
              </a:rPr>
              <a:t> a </a:t>
            </a:r>
            <a:r>
              <a:rPr lang="en-US" altLang="en-US" sz="1000" dirty="0" err="1">
                <a:solidFill>
                  <a:prstClr val="black"/>
                </a:solidFill>
              </a:rPr>
              <a:t>través</a:t>
            </a:r>
            <a:r>
              <a:rPr lang="en-US" altLang="en-US" sz="1000" dirty="0">
                <a:solidFill>
                  <a:prstClr val="black"/>
                </a:solidFill>
              </a:rPr>
              <a:t> de la AI Academy de Accenture, </a:t>
            </a:r>
            <a:r>
              <a:rPr lang="en-US" altLang="en-US" sz="1000" dirty="0" err="1">
                <a:solidFill>
                  <a:prstClr val="black"/>
                </a:solidFill>
              </a:rPr>
              <a:t>enfocado</a:t>
            </a:r>
            <a:r>
              <a:rPr lang="en-US" altLang="en-US" sz="1000" dirty="0">
                <a:solidFill>
                  <a:prstClr val="black"/>
                </a:solidFill>
              </a:rPr>
              <a:t> </a:t>
            </a:r>
            <a:r>
              <a:rPr lang="en-US" altLang="en-US" sz="1000" dirty="0" err="1">
                <a:solidFill>
                  <a:prstClr val="black"/>
                </a:solidFill>
              </a:rPr>
              <a:t>en</a:t>
            </a:r>
            <a:r>
              <a:rPr lang="en-US" altLang="en-US" sz="1000" dirty="0">
                <a:solidFill>
                  <a:prstClr val="black"/>
                </a:solidFill>
              </a:rPr>
              <a:t> </a:t>
            </a:r>
            <a:r>
              <a:rPr lang="en-US" altLang="en-US" sz="1000" dirty="0" err="1">
                <a:solidFill>
                  <a:prstClr val="black"/>
                </a:solidFill>
              </a:rPr>
              <a:t>desarrollo</a:t>
            </a:r>
            <a:r>
              <a:rPr lang="en-US" altLang="en-US" sz="1000" dirty="0">
                <a:solidFill>
                  <a:prstClr val="black"/>
                </a:solidFill>
              </a:rPr>
              <a:t> </a:t>
            </a:r>
            <a:r>
              <a:rPr lang="en-US" altLang="en-US" sz="1000" dirty="0" err="1">
                <a:solidFill>
                  <a:prstClr val="black"/>
                </a:solidFill>
              </a:rPr>
              <a:t>impulsado</a:t>
            </a:r>
            <a:r>
              <a:rPr lang="en-US" altLang="en-US" sz="1000" dirty="0">
                <a:solidFill>
                  <a:prstClr val="black"/>
                </a:solidFill>
              </a:rPr>
              <a:t> </a:t>
            </a:r>
            <a:r>
              <a:rPr lang="en-US" altLang="en-US" sz="1000" dirty="0" err="1">
                <a:solidFill>
                  <a:prstClr val="black"/>
                </a:solidFill>
              </a:rPr>
              <a:t>por</a:t>
            </a:r>
            <a:r>
              <a:rPr lang="en-US" altLang="en-US" sz="1000" dirty="0">
                <a:solidFill>
                  <a:prstClr val="black"/>
                </a:solidFill>
              </a:rPr>
              <a:t> IA para </a:t>
            </a:r>
            <a:r>
              <a:rPr lang="en-US" altLang="en-US" sz="1000" dirty="0" err="1">
                <a:solidFill>
                  <a:prstClr val="black"/>
                </a:solidFill>
              </a:rPr>
              <a:t>soluciones</a:t>
            </a:r>
            <a:r>
              <a:rPr lang="en-US" altLang="en-US" sz="1000" dirty="0">
                <a:solidFill>
                  <a:prstClr val="black"/>
                </a:solidFill>
              </a:rPr>
              <a:t> </a:t>
            </a:r>
            <a:r>
              <a:rPr lang="en-US" altLang="en-US" sz="1000" dirty="0" err="1">
                <a:solidFill>
                  <a:prstClr val="black"/>
                </a:solidFill>
              </a:rPr>
              <a:t>empresariales</a:t>
            </a:r>
            <a:r>
              <a:rPr lang="en-US" altLang="en-US" sz="1000" dirty="0">
                <a:solidFill>
                  <a:prstClr val="black"/>
                </a:solidFill>
              </a:rPr>
              <a:t> </a:t>
            </a:r>
            <a:r>
              <a:rPr lang="en-US" altLang="en-US" sz="1000" dirty="0" err="1">
                <a:solidFill>
                  <a:prstClr val="black"/>
                </a:solidFill>
              </a:rPr>
              <a:t>escalables</a:t>
            </a:r>
            <a:r>
              <a:rPr lang="en-US" altLang="en-US" sz="1000" dirty="0">
                <a:solidFill>
                  <a:prstClr val="black"/>
                </a:solidFill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solidFill>
                <a:prstClr val="black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000" dirty="0" err="1">
                <a:solidFill>
                  <a:prstClr val="black"/>
                </a:solidFill>
              </a:rPr>
              <a:t>Experiencia</a:t>
            </a:r>
            <a:r>
              <a:rPr lang="en-US" altLang="en-US" sz="1000" dirty="0">
                <a:solidFill>
                  <a:prstClr val="black"/>
                </a:solidFill>
              </a:rPr>
              <a:t> </a:t>
            </a:r>
            <a:r>
              <a:rPr lang="en-US" altLang="en-US" sz="1000" dirty="0" err="1">
                <a:solidFill>
                  <a:prstClr val="black"/>
                </a:solidFill>
              </a:rPr>
              <a:t>en</a:t>
            </a:r>
            <a:r>
              <a:rPr lang="en-US" altLang="en-US" sz="1000" dirty="0">
                <a:solidFill>
                  <a:prstClr val="black"/>
                </a:solidFill>
              </a:rPr>
              <a:t> </a:t>
            </a:r>
            <a:r>
              <a:rPr lang="en-US" altLang="en-US" sz="1000" dirty="0" err="1">
                <a:solidFill>
                  <a:prstClr val="black"/>
                </a:solidFill>
              </a:rPr>
              <a:t>diseñar</a:t>
            </a:r>
            <a:r>
              <a:rPr lang="en-US" altLang="en-US" sz="1000" dirty="0">
                <a:solidFill>
                  <a:prstClr val="black"/>
                </a:solidFill>
              </a:rPr>
              <a:t> </a:t>
            </a:r>
            <a:r>
              <a:rPr lang="en-US" altLang="en-US" sz="1000" dirty="0" err="1">
                <a:solidFill>
                  <a:prstClr val="black"/>
                </a:solidFill>
              </a:rPr>
              <a:t>mejoras</a:t>
            </a:r>
            <a:r>
              <a:rPr lang="en-US" altLang="en-US" sz="1000" dirty="0">
                <a:solidFill>
                  <a:prstClr val="black"/>
                </a:solidFill>
              </a:rPr>
              <a:t> </a:t>
            </a:r>
            <a:r>
              <a:rPr lang="en-US" altLang="en-US" sz="1000" dirty="0" err="1">
                <a:solidFill>
                  <a:prstClr val="black"/>
                </a:solidFill>
              </a:rPr>
              <a:t>tecnológicas</a:t>
            </a:r>
            <a:r>
              <a:rPr lang="en-US" altLang="en-US" sz="1000" dirty="0">
                <a:solidFill>
                  <a:prstClr val="black"/>
                </a:solidFill>
              </a:rPr>
              <a:t>, </a:t>
            </a:r>
            <a:r>
              <a:rPr lang="en-US" altLang="en-US" sz="1000" dirty="0" err="1">
                <a:solidFill>
                  <a:prstClr val="black"/>
                </a:solidFill>
              </a:rPr>
              <a:t>optimizar</a:t>
            </a:r>
            <a:r>
              <a:rPr lang="en-US" altLang="en-US" sz="1000" dirty="0">
                <a:solidFill>
                  <a:prstClr val="black"/>
                </a:solidFill>
              </a:rPr>
              <a:t> </a:t>
            </a:r>
            <a:r>
              <a:rPr lang="en-US" altLang="en-US" sz="1000" dirty="0" err="1">
                <a:solidFill>
                  <a:prstClr val="black"/>
                </a:solidFill>
              </a:rPr>
              <a:t>procesos</a:t>
            </a:r>
            <a:r>
              <a:rPr lang="en-US" altLang="en-US" sz="1000" dirty="0">
                <a:solidFill>
                  <a:prstClr val="black"/>
                </a:solidFill>
              </a:rPr>
              <a:t> y </a:t>
            </a:r>
            <a:r>
              <a:rPr lang="en-US" altLang="en-US" sz="1000" dirty="0" err="1">
                <a:solidFill>
                  <a:prstClr val="black"/>
                </a:solidFill>
              </a:rPr>
              <a:t>desarrollar</a:t>
            </a:r>
            <a:r>
              <a:rPr lang="en-US" altLang="en-US" sz="1000" dirty="0">
                <a:solidFill>
                  <a:prstClr val="black"/>
                </a:solidFill>
              </a:rPr>
              <a:t> </a:t>
            </a:r>
            <a:r>
              <a:rPr lang="en-US" altLang="en-US" sz="1000" dirty="0" err="1">
                <a:solidFill>
                  <a:prstClr val="black"/>
                </a:solidFill>
              </a:rPr>
              <a:t>soluciones</a:t>
            </a:r>
            <a:r>
              <a:rPr lang="en-US" altLang="en-US" sz="1000" dirty="0">
                <a:solidFill>
                  <a:prstClr val="black"/>
                </a:solidFill>
              </a:rPr>
              <a:t> </a:t>
            </a:r>
            <a:r>
              <a:rPr lang="en-US" altLang="en-US" sz="1000" dirty="0" err="1">
                <a:solidFill>
                  <a:prstClr val="black"/>
                </a:solidFill>
              </a:rPr>
              <a:t>escalables</a:t>
            </a:r>
            <a:r>
              <a:rPr lang="en-US" altLang="en-US" sz="1000" dirty="0">
                <a:solidFill>
                  <a:prstClr val="black"/>
                </a:solidFill>
              </a:rPr>
              <a:t> </a:t>
            </a:r>
            <a:r>
              <a:rPr lang="en-US" altLang="en-US" sz="1000" dirty="0" err="1">
                <a:solidFill>
                  <a:prstClr val="black"/>
                </a:solidFill>
              </a:rPr>
              <a:t>en</a:t>
            </a:r>
            <a:r>
              <a:rPr lang="en-US" altLang="en-US" sz="1000" dirty="0">
                <a:solidFill>
                  <a:prstClr val="black"/>
                </a:solidFill>
              </a:rPr>
              <a:t> </a:t>
            </a:r>
            <a:r>
              <a:rPr lang="en-US" altLang="en-US" sz="1000" dirty="0" err="1">
                <a:solidFill>
                  <a:prstClr val="black"/>
                </a:solidFill>
              </a:rPr>
              <a:t>entornos</a:t>
            </a:r>
            <a:r>
              <a:rPr lang="en-US" altLang="en-US" sz="1000" dirty="0">
                <a:solidFill>
                  <a:prstClr val="black"/>
                </a:solidFill>
              </a:rPr>
              <a:t> </a:t>
            </a:r>
            <a:r>
              <a:rPr lang="en-US" altLang="en-US" sz="1000" dirty="0" err="1">
                <a:solidFill>
                  <a:prstClr val="black"/>
                </a:solidFill>
              </a:rPr>
              <a:t>corporativos</a:t>
            </a:r>
            <a:r>
              <a:rPr lang="en-US" altLang="en-US" sz="1000" dirty="0">
                <a:solidFill>
                  <a:prstClr val="black"/>
                </a:solidFill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solidFill>
                <a:prstClr val="black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000" dirty="0" err="1">
                <a:solidFill>
                  <a:prstClr val="black"/>
                </a:solidFill>
              </a:rPr>
              <a:t>Orientado</a:t>
            </a:r>
            <a:r>
              <a:rPr lang="en-US" altLang="en-US" sz="1000" dirty="0">
                <a:solidFill>
                  <a:prstClr val="black"/>
                </a:solidFill>
              </a:rPr>
              <a:t> a la </a:t>
            </a:r>
            <a:r>
              <a:rPr lang="en-US" altLang="en-US" sz="1000" dirty="0" err="1">
                <a:solidFill>
                  <a:prstClr val="black"/>
                </a:solidFill>
              </a:rPr>
              <a:t>resolución</a:t>
            </a:r>
            <a:r>
              <a:rPr lang="en-US" altLang="en-US" sz="1000" dirty="0">
                <a:solidFill>
                  <a:prstClr val="black"/>
                </a:solidFill>
              </a:rPr>
              <a:t> de </a:t>
            </a:r>
            <a:r>
              <a:rPr lang="en-US" altLang="en-US" sz="1000" dirty="0" err="1">
                <a:solidFill>
                  <a:prstClr val="black"/>
                </a:solidFill>
              </a:rPr>
              <a:t>problemas</a:t>
            </a:r>
            <a:r>
              <a:rPr lang="en-US" altLang="en-US" sz="1000" dirty="0">
                <a:solidFill>
                  <a:prstClr val="black"/>
                </a:solidFill>
              </a:rPr>
              <a:t>, la </a:t>
            </a:r>
            <a:r>
              <a:rPr lang="en-US" altLang="en-US" sz="1000" dirty="0" err="1">
                <a:solidFill>
                  <a:prstClr val="black"/>
                </a:solidFill>
              </a:rPr>
              <a:t>mejora</a:t>
            </a:r>
            <a:r>
              <a:rPr lang="en-US" altLang="en-US" sz="1000" dirty="0">
                <a:solidFill>
                  <a:prstClr val="black"/>
                </a:solidFill>
              </a:rPr>
              <a:t> continua y </a:t>
            </a:r>
            <a:r>
              <a:rPr lang="en-US" altLang="en-US" sz="1000" dirty="0" err="1">
                <a:solidFill>
                  <a:prstClr val="black"/>
                </a:solidFill>
              </a:rPr>
              <a:t>el</a:t>
            </a:r>
            <a:r>
              <a:rPr lang="en-US" altLang="en-US" sz="1000" dirty="0">
                <a:solidFill>
                  <a:prstClr val="black"/>
                </a:solidFill>
              </a:rPr>
              <a:t> </a:t>
            </a:r>
            <a:r>
              <a:rPr lang="en-US" altLang="en-US" sz="1000" dirty="0" err="1">
                <a:solidFill>
                  <a:prstClr val="black"/>
                </a:solidFill>
              </a:rPr>
              <a:t>desarrollo</a:t>
            </a:r>
            <a:r>
              <a:rPr lang="en-US" altLang="en-US" sz="1000" dirty="0">
                <a:solidFill>
                  <a:prstClr val="black"/>
                </a:solidFill>
              </a:rPr>
              <a:t> de </a:t>
            </a:r>
            <a:r>
              <a:rPr lang="en-US" altLang="en-US" sz="1000" dirty="0" err="1">
                <a:solidFill>
                  <a:prstClr val="black"/>
                </a:solidFill>
              </a:rPr>
              <a:t>arquitecturas</a:t>
            </a:r>
            <a:r>
              <a:rPr lang="en-US" altLang="en-US" sz="1000" dirty="0">
                <a:solidFill>
                  <a:prstClr val="black"/>
                </a:solidFill>
              </a:rPr>
              <a:t> </a:t>
            </a:r>
            <a:r>
              <a:rPr lang="en-US" altLang="en-US" sz="1000" dirty="0" err="1">
                <a:solidFill>
                  <a:prstClr val="black"/>
                </a:solidFill>
              </a:rPr>
              <a:t>tecnológicas</a:t>
            </a:r>
            <a:r>
              <a:rPr lang="en-US" altLang="en-US" sz="1000" dirty="0">
                <a:solidFill>
                  <a:prstClr val="black"/>
                </a:solidFill>
              </a:rPr>
              <a:t> robustas y </a:t>
            </a:r>
            <a:r>
              <a:rPr lang="en-US" altLang="en-US" sz="1000" dirty="0" err="1">
                <a:solidFill>
                  <a:prstClr val="black"/>
                </a:solidFill>
              </a:rPr>
              <a:t>escalables</a:t>
            </a:r>
            <a:r>
              <a:rPr lang="en-US" altLang="en-US" sz="1000" dirty="0">
                <a:solidFill>
                  <a:prstClr val="black"/>
                </a:solidFill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lang="en-US" altLang="en-US" sz="1000" dirty="0">
                <a:solidFill>
                  <a:prstClr val="black"/>
                </a:solidFill>
              </a:rPr>
            </a:br>
            <a:endParaRPr lang="en-US" altLang="en-US" sz="1000" dirty="0">
              <a:solidFill>
                <a:prstClr val="black"/>
              </a:solidFill>
            </a:endParaRPr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F99F5F1C-39AE-7E63-94EA-E71B3FC9D145}"/>
              </a:ext>
            </a:extLst>
          </p:cNvPr>
          <p:cNvSpPr>
            <a:spLocks noGrp="1" noChangeArrowheads="1"/>
          </p:cNvSpPr>
          <p:nvPr>
            <p:ph type="body" sz="quarter" idx="17"/>
          </p:nvPr>
        </p:nvSpPr>
        <p:spPr bwMode="auto">
          <a:xfrm>
            <a:off x="3176139" y="2817631"/>
            <a:ext cx="2382236" cy="1041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0180" marR="0" lvl="0" indent="-170180" fontAlgn="base">
              <a:lnSpc>
                <a:spcPct val="100000"/>
              </a:lnSpc>
              <a:spcBef>
                <a:spcPts val="450"/>
              </a:spcBef>
              <a:spcAft>
                <a:spcPct val="0"/>
              </a:spcAft>
              <a:buClrTx/>
              <a:buSzTx/>
              <a:tabLst>
                <a:tab pos="133270" algn="l"/>
              </a:tabLst>
              <a:defRPr/>
            </a:pPr>
            <a:r>
              <a:rPr lang="en-US" altLang="en-US" sz="900" dirty="0" err="1"/>
              <a:t>Arquitectura</a:t>
            </a:r>
            <a:r>
              <a:rPr lang="en-US" altLang="en-US" sz="900" dirty="0"/>
              <a:t> de IA </a:t>
            </a:r>
            <a:r>
              <a:rPr lang="en-US" altLang="en-US" sz="900" dirty="0" err="1"/>
              <a:t>Agéntica</a:t>
            </a:r>
            <a:endParaRPr lang="en-US" altLang="en-US" sz="900" dirty="0"/>
          </a:p>
          <a:p>
            <a:pPr marL="170180" indent="-170180" fontAlgn="base">
              <a:lnSpc>
                <a:spcPct val="100000"/>
              </a:lnSpc>
              <a:spcBef>
                <a:spcPts val="450"/>
              </a:spcBef>
              <a:spcAft>
                <a:spcPct val="0"/>
              </a:spcAft>
              <a:tabLst>
                <a:tab pos="133270" algn="l"/>
              </a:tabLst>
              <a:defRPr/>
            </a:pPr>
            <a:r>
              <a:rPr lang="en-US" altLang="en-US" sz="900">
                <a:latin typeface="Graphik"/>
              </a:rPr>
              <a:t>Data Science &amp; Machine Learning</a:t>
            </a:r>
          </a:p>
          <a:p>
            <a:pPr marL="170781" marR="0" lvl="0" indent="-170781" fontAlgn="base">
              <a:lnSpc>
                <a:spcPct val="100000"/>
              </a:lnSpc>
              <a:spcBef>
                <a:spcPts val="450"/>
              </a:spcBef>
              <a:spcAft>
                <a:spcPct val="0"/>
              </a:spcAft>
              <a:buClrTx/>
              <a:buSzTx/>
              <a:tabLst>
                <a:tab pos="133270" algn="l"/>
              </a:tabLst>
              <a:defRPr/>
            </a:pPr>
            <a:r>
              <a:rPr lang="en-US" altLang="en-US" sz="900" dirty="0"/>
              <a:t> Ingeniería de Prompts</a:t>
            </a:r>
          </a:p>
          <a:p>
            <a:pPr marL="170781" marR="0" lvl="0" indent="-170781" fontAlgn="base">
              <a:lnSpc>
                <a:spcPct val="100000"/>
              </a:lnSpc>
              <a:spcBef>
                <a:spcPts val="450"/>
              </a:spcBef>
              <a:spcAft>
                <a:spcPct val="0"/>
              </a:spcAft>
              <a:buClrTx/>
              <a:buSzTx/>
              <a:tabLst>
                <a:tab pos="133270" algn="l"/>
              </a:tabLst>
              <a:defRPr/>
            </a:pPr>
            <a:r>
              <a:rPr lang="en-US" altLang="en-US" sz="900" dirty="0"/>
              <a:t> Python, JavaScript, Java, C++, Git</a:t>
            </a:r>
          </a:p>
          <a:p>
            <a:pPr marL="170180" indent="-170180" fontAlgn="base">
              <a:lnSpc>
                <a:spcPct val="100000"/>
              </a:lnSpc>
              <a:spcBef>
                <a:spcPts val="450"/>
              </a:spcBef>
              <a:spcAft>
                <a:spcPct val="0"/>
              </a:spcAft>
              <a:tabLst>
                <a:tab pos="133270" algn="l"/>
              </a:tabLst>
              <a:defRPr/>
            </a:pPr>
            <a:r>
              <a:rPr lang="en-US" altLang="en-US" sz="900">
                <a:latin typeface="Graphik"/>
              </a:rPr>
              <a:t> Ingeniería de Software</a:t>
            </a:r>
          </a:p>
        </p:txBody>
      </p:sp>
    </p:spTree>
    <p:extLst>
      <p:ext uri="{BB962C8B-B14F-4D97-AF65-F5344CB8AC3E}">
        <p14:creationId xmlns:p14="http://schemas.microsoft.com/office/powerpoint/2010/main" val="10418653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666D6F4CFFA446B5D32C4039F08BDD" ma:contentTypeVersion="12" ma:contentTypeDescription="Create a new document." ma:contentTypeScope="" ma:versionID="7a6cc17327f8fd4a1bea693b89822f0e">
  <xsd:schema xmlns:xsd="http://www.w3.org/2001/XMLSchema" xmlns:xs="http://www.w3.org/2001/XMLSchema" xmlns:p="http://schemas.microsoft.com/office/2006/metadata/properties" xmlns:ns2="9e5dff9b-ec84-400a-8d4d-02e969566393" xmlns:ns3="9e1adda6-93f2-443e-b0ef-40d6e1dc8c9d" targetNamespace="http://schemas.microsoft.com/office/2006/metadata/properties" ma:root="true" ma:fieldsID="0fcd0ec4e5a5c37c753411fc93cc8c20" ns2:_="" ns3:_="">
    <xsd:import namespace="9e5dff9b-ec84-400a-8d4d-02e969566393"/>
    <xsd:import namespace="9e1adda6-93f2-443e-b0ef-40d6e1dc8c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5dff9b-ec84-400a-8d4d-02e9695663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1adda6-93f2-443e-b0ef-40d6e1dc8c9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4a7b0e6-297d-4a6a-b5d6-da3887b93b0d}" ma:internalName="TaxCatchAll" ma:showField="CatchAllData" ma:web="9e1adda6-93f2-443e-b0ef-40d6e1dc8c9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e1adda6-93f2-443e-b0ef-40d6e1dc8c9d" xsi:nil="true"/>
    <lcf76f155ced4ddcb4097134ff3c332f xmlns="9e5dff9b-ec84-400a-8d4d-02e96956639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144C9B9-51C1-4799-AC7C-FA632A9C1FB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239168C-932D-4ADC-BB41-DD2B56B97FE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5dff9b-ec84-400a-8d4d-02e969566393"/>
    <ds:schemaRef ds:uri="9e1adda6-93f2-443e-b0ef-40d6e1dc8c9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4FDDEF0-1083-4094-9B20-46F9C8F14342}">
  <ds:schemaRefs>
    <ds:schemaRef ds:uri="http://schemas.microsoft.com/office/2006/metadata/properties"/>
    <ds:schemaRef ds:uri="http://schemas.microsoft.com/office/infopath/2007/PartnerControls"/>
    <ds:schemaRef ds:uri="9e1adda6-93f2-443e-b0ef-40d6e1dc8c9d"/>
    <ds:schemaRef ds:uri="9e5dff9b-ec84-400a-8d4d-02e96956639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5787</TotalTime>
  <Words>614</Words>
  <Application>Microsoft Office PowerPoint</Application>
  <PresentationFormat>Widescreen</PresentationFormat>
  <Paragraphs>80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1_Office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Penacchioni, Ana</dc:creator>
  <cp:lastModifiedBy>Monte, Julian</cp:lastModifiedBy>
  <cp:revision>97</cp:revision>
  <dcterms:created xsi:type="dcterms:W3CDTF">2022-03-18T18:13:59Z</dcterms:created>
  <dcterms:modified xsi:type="dcterms:W3CDTF">2026-04-13T11:15:25Z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0x010100D1666D6F4CFFA446B5D32C4039F08BDD</vt:lpwstr>
  </property>
  <property fmtid="{D5CDD505-2E9C-101B-9397-08002B2CF9AE}" pid="3" name="MediaServiceImageTags">
    <vt:lpwstr/>
  </property>
</Properties>
</file>