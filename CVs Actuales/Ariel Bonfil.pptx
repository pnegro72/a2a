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761362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7500C0"/>
    <a:srgbClr val="460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3294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Ariel Bonfil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>
                <a:solidFill>
                  <a:schemeClr val="accent1"/>
                </a:solidFill>
              </a:rPr>
              <a:t>AI LLM Technology Arch Sr Analyst</a:t>
            </a:r>
          </a:p>
          <a:p>
            <a:pPr marL="0" indent="0">
              <a:buNone/>
            </a:pPr>
            <a:r>
              <a:rPr lang="es-AR" sz="1200" dirty="0" err="1"/>
              <a:t>Technology</a:t>
            </a:r>
            <a:r>
              <a:rPr lang="es-AR" sz="1200" dirty="0"/>
              <a:t> / Data &amp; AI</a:t>
            </a:r>
          </a:p>
          <a:p>
            <a:pPr marL="0" indent="0">
              <a:buNone/>
            </a:pPr>
            <a:r>
              <a:rPr lang="en-US" sz="1200" b="1" dirty="0">
                <a:latin typeface="Graphik"/>
              </a:rPr>
              <a:t>ariel.bonfil@accenture.com</a:t>
            </a: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  <a:endParaRPr lang="en-US" sz="1200" dirty="0"/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864069" y="284545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8"/>
            <a:ext cx="3246987" cy="31240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1898179"/>
            <a:chOff x="652656" y="2462768"/>
            <a:chExt cx="2903835" cy="1898179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4147026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2451" y="2817224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AI / LLM: </a:t>
            </a:r>
            <a:r>
              <a:rPr lang="en-US" b="0" dirty="0">
                <a:solidFill>
                  <a:schemeClr val="tx1"/>
                </a:solidFill>
              </a:rPr>
              <a:t>OpenAI, Large Language Models (LLM), </a:t>
            </a:r>
            <a:r>
              <a:rPr lang="en-US" b="0" dirty="0" err="1">
                <a:solidFill>
                  <a:schemeClr val="tx1"/>
                </a:solidFill>
              </a:rPr>
              <a:t>LangChain</a:t>
            </a:r>
            <a:r>
              <a:rPr lang="en-US" b="0" dirty="0">
                <a:solidFill>
                  <a:schemeClr val="tx1"/>
                </a:solidFill>
              </a:rPr>
              <a:t>, RAG, Generative AI, Conversational AI, MCP server.</a:t>
            </a:r>
          </a:p>
          <a:p>
            <a:r>
              <a:rPr lang="en-US" dirty="0"/>
              <a:t>Backend / APIs: </a:t>
            </a:r>
            <a:r>
              <a:rPr lang="en-US" b="0" dirty="0">
                <a:solidFill>
                  <a:schemeClr val="tx1"/>
                </a:solidFill>
              </a:rPr>
              <a:t>Python, </a:t>
            </a:r>
            <a:r>
              <a:rPr lang="en-US" b="0" dirty="0" err="1">
                <a:solidFill>
                  <a:schemeClr val="tx1"/>
                </a:solidFill>
              </a:rPr>
              <a:t>FastAPI</a:t>
            </a:r>
            <a:r>
              <a:rPr lang="en-US" b="0" dirty="0">
                <a:solidFill>
                  <a:schemeClr val="tx1"/>
                </a:solidFill>
              </a:rPr>
              <a:t>, Microservices, Pandas, API Development, PostgreSQL, Vector Databases.</a:t>
            </a:r>
          </a:p>
          <a:p>
            <a:r>
              <a:rPr lang="en-US" dirty="0" err="1"/>
              <a:t>Arquitecture</a:t>
            </a:r>
            <a:r>
              <a:rPr lang="en-US" dirty="0"/>
              <a:t> &amp; Data:  </a:t>
            </a:r>
            <a:r>
              <a:rPr lang="en-US" b="0" dirty="0">
                <a:solidFill>
                  <a:schemeClr val="tx1"/>
                </a:solidFill>
              </a:rPr>
              <a:t>Apache Kafka, Event‑Driven Architectures, OCR &amp; Semantic Extraction Pipelines.</a:t>
            </a:r>
          </a:p>
          <a:p>
            <a:r>
              <a:rPr lang="en-US" dirty="0"/>
              <a:t>Cloud &amp; DevOps:  </a:t>
            </a:r>
            <a:r>
              <a:rPr lang="en-US" b="0" dirty="0">
                <a:solidFill>
                  <a:schemeClr val="tx1"/>
                </a:solidFill>
              </a:rPr>
              <a:t>Microsoft Azure, OpenShift, Jenkins, CI/CD, Software Infrastructure.</a:t>
            </a:r>
          </a:p>
          <a:p>
            <a:r>
              <a:rPr lang="en-US" dirty="0"/>
              <a:t>Frontend:</a:t>
            </a:r>
            <a:r>
              <a:rPr lang="en-US" b="0" dirty="0">
                <a:solidFill>
                  <a:schemeClr val="tx1"/>
                </a:solidFill>
              </a:rPr>
              <a:t> React.js, TypeScript, JavaScript, HTML, CSS/SASS, Webpack, </a:t>
            </a:r>
            <a:r>
              <a:rPr lang="en-US" b="0" dirty="0" err="1">
                <a:solidFill>
                  <a:schemeClr val="tx1"/>
                </a:solidFill>
              </a:rPr>
              <a:t>GraphQL</a:t>
            </a:r>
            <a:r>
              <a:rPr lang="en-US" b="0" dirty="0">
                <a:solidFill>
                  <a:schemeClr val="tx1"/>
                </a:solidFill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00093" y="3836700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Systems Analyst, ORT (2020 - 2021)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4" y="2709461"/>
            <a:ext cx="3086979" cy="1238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Graphik"/>
              </a:rPr>
              <a:t>Backend / AI Engineer with experience designing and implementing scalable solutions for data- and document‑driven systems, working closely with technical and product stakeholders to deliver maintainable and business‑aligned platforms.</a:t>
            </a:r>
            <a:endParaRPr lang="es-AR" sz="1000" dirty="0">
              <a:latin typeface="Graphik"/>
            </a:endParaRP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10488" y="4370607"/>
            <a:ext cx="3039945" cy="5810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000" dirty="0">
                <a:solidFill>
                  <a:srgbClr val="000000"/>
                </a:solidFill>
                <a:latin typeface="Graphik"/>
              </a:rPr>
              <a:t>Python and </a:t>
            </a:r>
            <a:r>
              <a:rPr lang="en-US" sz="1000" dirty="0" err="1">
                <a:solidFill>
                  <a:srgbClr val="000000"/>
                </a:solidFill>
                <a:latin typeface="Graphik"/>
              </a:rPr>
              <a:t>FastAPI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 development, LLM‑based solutions (RAG), event‑driven architectures with Kafka, Azure AI services, and automated document processing pipelines combining OCR and semantic extraction.</a:t>
            </a:r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7" y="5529965"/>
            <a:ext cx="2794005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(Professional Working Proficiency)</a:t>
            </a:r>
          </a:p>
          <a:p>
            <a:r>
              <a:rPr lang="en-US" dirty="0"/>
              <a:t>Spanish (Native)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855769" y="579053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IT Services</a:t>
            </a:r>
          </a:p>
          <a:p>
            <a:r>
              <a:rPr lang="en-US" dirty="0"/>
              <a:t>Financial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8748" y="5790533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Pharmaceutical</a:t>
            </a:r>
          </a:p>
          <a:p>
            <a:r>
              <a:rPr lang="en-US" dirty="0"/>
              <a:t>E-Commerce</a:t>
            </a:r>
          </a:p>
          <a:p>
            <a:endParaRPr lang="es-AR" dirty="0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864069" y="603288"/>
            <a:ext cx="5153065" cy="50372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Full-Stack / Backend + AI Engineer </a:t>
            </a:r>
            <a:r>
              <a:rPr lang="en-US" sz="1000" dirty="0">
                <a:solidFill>
                  <a:srgbClr val="000000"/>
                </a:solidFill>
              </a:rPr>
              <a:t>– Accenture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000000"/>
                </a:solidFill>
              </a:rPr>
              <a:t>– 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Banco Galicia (Jun 2024 – May 2026 )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/>
              </a:rPr>
              <a:t>   Role: Full-Stack / Backend + AI Engineer</a:t>
            </a: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Banking / Financial Services</a:t>
            </a: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 dirty="0">
                <a:latin typeface="+mn-lt"/>
                <a:cs typeface="Calibri"/>
              </a:rPr>
              <a:t>Main tool/s: Python / </a:t>
            </a:r>
            <a:r>
              <a:rPr lang="en-US" sz="1000" b="0" dirty="0" err="1">
                <a:latin typeface="+mn-lt"/>
                <a:cs typeface="Calibri"/>
              </a:rPr>
              <a:t>FastAPI</a:t>
            </a:r>
            <a:r>
              <a:rPr lang="en-US" sz="1000" b="0" dirty="0">
                <a:latin typeface="+mn-lt"/>
                <a:cs typeface="Calibri"/>
              </a:rPr>
              <a:t> / Azure Document Intelligence / Apache Kafka / LLMs / OpenShift</a:t>
            </a: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Designed and scaled an end‑to‑end intelligent document processing platform using microservices, OCR, and LLM‑driven pipelines.</a:t>
            </a:r>
            <a:endParaRPr lang="en-US" sz="1000" b="0" dirty="0">
              <a:latin typeface="+mn-lt"/>
              <a:cs typeface="Calibri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Back-End Developer </a:t>
            </a:r>
            <a:r>
              <a:rPr lang="en-US" sz="1000" dirty="0">
                <a:solidFill>
                  <a:srgbClr val="000000"/>
                </a:solidFill>
              </a:rPr>
              <a:t>– Accenture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(Jan 2023 – Jun 2024)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   Role: Back-End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Technology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FastAPI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/ Azure OpenAI / PostgreSQL / Vector Databases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 and optimized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FastAPI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APIs and AI pipelines for RAG‑based chatbots and intelligent data extraction systems.</a:t>
            </a: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Front-End Developer – Accenture (Jul 2022 – Dec 2022)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   Role: Front-End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Healthcare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React / TypeScript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Built internal enterprise web interfaces using React and TypeScript.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Front-End Developer </a:t>
            </a:r>
            <a:r>
              <a:rPr lang="en-US" sz="1000" dirty="0">
                <a:solidFill>
                  <a:srgbClr val="000000"/>
                </a:solidFill>
              </a:rPr>
              <a:t>–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CoreBiz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(Oct 2020 – Jul 2022) 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   Role: Front-End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E‑commerce / Retail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React / Node.js /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GraphQL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/ TypeScript / Webpack / VTEX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Developed, maintained, and integrated large‑scale e‑commerce solutions using React, Node.js,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GraphQL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, and VTEX.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Front-End Developer — TOBS (Mar 2020 – Oct 2020) 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   Role: Front-End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</a:t>
            </a:r>
            <a:r>
              <a:rPr lang="en-US" sz="1000" b="0" dirty="0">
                <a:cs typeface="Calibri" panose="020F0502020204030204" pitchFamily="34" charset="0"/>
              </a:rPr>
              <a:t>E‑commerce / Retail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JavaScript / CSS / HTML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Implemented e‑commerce features.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 Technology Data &amp;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95BD0-47FF-B186-0D46-EFE4FEBF5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" t="19412" r="-878" b="10460"/>
          <a:stretch>
            <a:fillRect/>
          </a:stretch>
        </p:blipFill>
        <p:spPr>
          <a:xfrm>
            <a:off x="200093" y="817186"/>
            <a:ext cx="1573864" cy="1444199"/>
          </a:xfrm>
          <a:prstGeom prst="ellipse">
            <a:avLst/>
          </a:prstGeom>
          <a:noFill/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15D9D7-CA79-5CD9-D270-A0FEF008FA5F}"/>
              </a:ext>
            </a:extLst>
          </p:cNvPr>
          <p:cNvSpPr txBox="1"/>
          <p:nvPr/>
        </p:nvSpPr>
        <p:spPr>
          <a:xfrm>
            <a:off x="3598748" y="5493477"/>
            <a:ext cx="6141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BD3915-20FD-9009-045E-FB5E4B68E674}"/>
              </a:ext>
            </a:extLst>
          </p:cNvPr>
          <p:cNvSpPr/>
          <p:nvPr/>
        </p:nvSpPr>
        <p:spPr>
          <a:xfrm>
            <a:off x="3598748" y="5299574"/>
            <a:ext cx="1001532" cy="173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05661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Props1.xml><?xml version="1.0" encoding="utf-8"?>
<ds:datastoreItem xmlns:ds="http://schemas.openxmlformats.org/officeDocument/2006/customXml" ds:itemID="{5F17FD1E-7191-40CA-9A41-13428D32A1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  <ds:schemaRef ds:uri="9e5dff9b-ec84-400a-8d4d-02e969566393"/>
    <ds:schemaRef ds:uri="9e1adda6-93f2-443e-b0ef-40d6e1dc8c9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512</Words>
  <Application>Microsoft Office PowerPoint</Application>
  <PresentationFormat>Widescreen</PresentationFormat>
  <Paragraphs>58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Arial,Sans-Serif</vt:lpstr>
      <vt:lpstr>Calibri</vt:lpstr>
      <vt:lpstr>Graphik</vt:lpstr>
      <vt:lpstr>GT Sectra Fine Rg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Bonfil, Ariel</cp:lastModifiedBy>
  <cp:revision>26</cp:revision>
  <dcterms:created xsi:type="dcterms:W3CDTF">2022-12-16T18:40:20Z</dcterms:created>
  <dcterms:modified xsi:type="dcterms:W3CDTF">2026-05-14T15:48:09Z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