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076136191" r:id="rId5"/>
    <p:sldId id="20761361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400D2-5264-7551-4735-298C330957C3}" v="1" dt="2026-04-15T12:30:43.680"/>
    <p1510:client id="{8C102FE1-3524-E350-46C1-EAA013A61796}" v="30" dt="2026-04-15T12:23:51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fon, Nicolás" userId="S::nicolas.bulfon@accenture.com::e469c701-870f-413f-adde-acf427f60207" providerId="AD" clId="Web-{8C102FE1-3524-E350-46C1-EAA013A61796}"/>
    <pc:docChg chg="modSld">
      <pc:chgData name="Bulfon, Nicolás" userId="S::nicolas.bulfon@accenture.com::e469c701-870f-413f-adde-acf427f60207" providerId="AD" clId="Web-{8C102FE1-3524-E350-46C1-EAA013A61796}" dt="2026-04-15T12:23:51.609" v="28" actId="20577"/>
      <pc:docMkLst>
        <pc:docMk/>
      </pc:docMkLst>
      <pc:sldChg chg="modSp">
        <pc:chgData name="Bulfon, Nicolás" userId="S::nicolas.bulfon@accenture.com::e469c701-870f-413f-adde-acf427f60207" providerId="AD" clId="Web-{8C102FE1-3524-E350-46C1-EAA013A61796}" dt="2026-04-15T12:23:45.297" v="25" actId="20577"/>
        <pc:sldMkLst>
          <pc:docMk/>
          <pc:sldMk cId="521239612" sldId="2076136191"/>
        </pc:sldMkLst>
        <pc:spChg chg="mod">
          <ac:chgData name="Bulfon, Nicolás" userId="S::nicolas.bulfon@accenture.com::e469c701-870f-413f-adde-acf427f60207" providerId="AD" clId="Web-{8C102FE1-3524-E350-46C1-EAA013A61796}" dt="2026-04-15T12:22:36.547" v="22" actId="20577"/>
          <ac:spMkLst>
            <pc:docMk/>
            <pc:sldMk cId="521239612" sldId="2076136191"/>
            <ac:spMk id="10" creationId="{C3265563-7E7C-4DBB-AF77-CDEA802FB0B2}"/>
          </ac:spMkLst>
        </pc:spChg>
        <pc:spChg chg="mod">
          <ac:chgData name="Bulfon, Nicolás" userId="S::nicolas.bulfon@accenture.com::e469c701-870f-413f-adde-acf427f60207" providerId="AD" clId="Web-{8C102FE1-3524-E350-46C1-EAA013A61796}" dt="2026-04-15T12:21:42.093" v="11" actId="20577"/>
          <ac:spMkLst>
            <pc:docMk/>
            <pc:sldMk cId="521239612" sldId="2076136191"/>
            <ac:spMk id="12" creationId="{2134980F-833A-4CEA-B193-B68AFF606610}"/>
          </ac:spMkLst>
        </pc:spChg>
        <pc:spChg chg="mod">
          <ac:chgData name="Bulfon, Nicolás" userId="S::nicolas.bulfon@accenture.com::e469c701-870f-413f-adde-acf427f60207" providerId="AD" clId="Web-{8C102FE1-3524-E350-46C1-EAA013A61796}" dt="2026-04-15T12:23:45.297" v="25" actId="20577"/>
          <ac:spMkLst>
            <pc:docMk/>
            <pc:sldMk cId="521239612" sldId="2076136191"/>
            <ac:spMk id="31" creationId="{3658CBF4-BCD4-4FE7-976F-59FAEC664190}"/>
          </ac:spMkLst>
        </pc:spChg>
      </pc:sldChg>
      <pc:sldChg chg="modSp">
        <pc:chgData name="Bulfon, Nicolás" userId="S::nicolas.bulfon@accenture.com::e469c701-870f-413f-adde-acf427f60207" providerId="AD" clId="Web-{8C102FE1-3524-E350-46C1-EAA013A61796}" dt="2026-04-15T12:23:51.609" v="28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8C102FE1-3524-E350-46C1-EAA013A61796}" dt="2026-04-15T12:21:27.234" v="9" actId="20577"/>
          <ac:spMkLst>
            <pc:docMk/>
            <pc:sldMk cId="1962599123" sldId="2076136192"/>
            <ac:spMk id="12" creationId="{F8CEAD43-C914-DB46-187D-47FD93AA6BBB}"/>
          </ac:spMkLst>
        </pc:spChg>
        <pc:spChg chg="mod">
          <ac:chgData name="Bulfon, Nicolás" userId="S::nicolas.bulfon@accenture.com::e469c701-870f-413f-adde-acf427f60207" providerId="AD" clId="Web-{8C102FE1-3524-E350-46C1-EAA013A61796}" dt="2026-04-15T12:23:51.609" v="28" actId="20577"/>
          <ac:spMkLst>
            <pc:docMk/>
            <pc:sldMk cId="1962599123" sldId="2076136192"/>
            <ac:spMk id="31" creationId="{4E31DA8B-0248-1383-59D3-21748D20D5CE}"/>
          </ac:spMkLst>
        </pc:spChg>
      </pc:sldChg>
    </pc:docChg>
  </pc:docChgLst>
  <pc:docChgLst>
    <pc:chgData name="Bulfon, Nicolás" userId="S::nicolas.bulfon@accenture.com::e469c701-870f-413f-adde-acf427f60207" providerId="AD" clId="Web-{6EB400D2-5264-7551-4735-298C330957C3}"/>
    <pc:docChg chg="modSld">
      <pc:chgData name="Bulfon, Nicolás" userId="S::nicolas.bulfon@accenture.com::e469c701-870f-413f-adde-acf427f60207" providerId="AD" clId="Web-{6EB400D2-5264-7551-4735-298C330957C3}" dt="2026-04-15T12:30:43.680" v="0" actId="20577"/>
      <pc:docMkLst>
        <pc:docMk/>
      </pc:docMkLst>
      <pc:sldChg chg="modSp">
        <pc:chgData name="Bulfon, Nicolás" userId="S::nicolas.bulfon@accenture.com::e469c701-870f-413f-adde-acf427f60207" providerId="AD" clId="Web-{6EB400D2-5264-7551-4735-298C330957C3}" dt="2026-04-15T12:30:43.680" v="0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6EB400D2-5264-7551-4735-298C330957C3}" dt="2026-04-15T12:30:43.680" v="0" actId="20577"/>
          <ac:spMkLst>
            <pc:docMk/>
            <pc:sldMk cId="1962599123" sldId="2076136192"/>
            <ac:spMk id="12" creationId="{F8CEAD43-C914-DB46-187D-47FD93AA6BBB}"/>
          </ac:spMkLst>
        </pc:spChg>
      </pc:sldChg>
    </pc:docChg>
  </pc:docChgLst>
  <pc:docChgLst>
    <pc:chgData name="Bulfon, Nicolás" userId="S::nicolas.bulfon@accenture.com::e469c701-870f-413f-adde-acf427f60207" providerId="AD" clId="Web-{24473C43-1EB5-7BED-13F0-6BE9FDD3F1EF}"/>
    <pc:docChg chg="modSld">
      <pc:chgData name="Bulfon, Nicolás" userId="S::nicolas.bulfon@accenture.com::e469c701-870f-413f-adde-acf427f60207" providerId="AD" clId="Web-{24473C43-1EB5-7BED-13F0-6BE9FDD3F1EF}" dt="2026-04-10T14:10:33.676" v="97" actId="20577"/>
      <pc:docMkLst>
        <pc:docMk/>
      </pc:docMkLst>
      <pc:sldChg chg="modSp">
        <pc:chgData name="Bulfon, Nicolás" userId="S::nicolas.bulfon@accenture.com::e469c701-870f-413f-adde-acf427f60207" providerId="AD" clId="Web-{24473C43-1EB5-7BED-13F0-6BE9FDD3F1EF}" dt="2026-04-10T14:09:46.597" v="94" actId="20577"/>
        <pc:sldMkLst>
          <pc:docMk/>
          <pc:sldMk cId="521239612" sldId="2076136191"/>
        </pc:sldMkLst>
        <pc:spChg chg="mod">
          <ac:chgData name="Bulfon, Nicolás" userId="S::nicolas.bulfon@accenture.com::e469c701-870f-413f-adde-acf427f60207" providerId="AD" clId="Web-{24473C43-1EB5-7BED-13F0-6BE9FDD3F1EF}" dt="2026-04-10T14:09:46.597" v="94" actId="20577"/>
          <ac:spMkLst>
            <pc:docMk/>
            <pc:sldMk cId="521239612" sldId="2076136191"/>
            <ac:spMk id="10" creationId="{C3265563-7E7C-4DBB-AF77-CDEA802FB0B2}"/>
          </ac:spMkLst>
        </pc:spChg>
      </pc:sldChg>
      <pc:sldChg chg="modSp">
        <pc:chgData name="Bulfon, Nicolás" userId="S::nicolas.bulfon@accenture.com::e469c701-870f-413f-adde-acf427f60207" providerId="AD" clId="Web-{24473C43-1EB5-7BED-13F0-6BE9FDD3F1EF}" dt="2026-04-10T14:10:33.676" v="97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24473C43-1EB5-7BED-13F0-6BE9FDD3F1EF}" dt="2026-04-10T14:10:33.676" v="97" actId="20577"/>
          <ac:spMkLst>
            <pc:docMk/>
            <pc:sldMk cId="1962599123" sldId="2076136192"/>
            <ac:spMk id="10" creationId="{A3CB3C79-6AA5-BFE6-FC8A-ABA662D42118}"/>
          </ac:spMkLst>
        </pc:spChg>
      </pc:sldChg>
    </pc:docChg>
  </pc:docChgLst>
  <pc:docChgLst>
    <pc:chgData name="Bulfon, Nicolás" userId="S::nicolas.bulfon@accenture.com::e469c701-870f-413f-adde-acf427f60207" providerId="AD" clId="Web-{C922C281-8EED-67D5-A00C-CAF640298854}"/>
    <pc:docChg chg="modSld">
      <pc:chgData name="Bulfon, Nicolás" userId="S::nicolas.bulfon@accenture.com::e469c701-870f-413f-adde-acf427f60207" providerId="AD" clId="Web-{C922C281-8EED-67D5-A00C-CAF640298854}" dt="2026-04-10T14:17:01.530" v="23" actId="20577"/>
      <pc:docMkLst>
        <pc:docMk/>
      </pc:docMkLst>
      <pc:sldChg chg="modSp">
        <pc:chgData name="Bulfon, Nicolás" userId="S::nicolas.bulfon@accenture.com::e469c701-870f-413f-adde-acf427f60207" providerId="AD" clId="Web-{C922C281-8EED-67D5-A00C-CAF640298854}" dt="2026-04-10T14:17:01.530" v="23" actId="20577"/>
        <pc:sldMkLst>
          <pc:docMk/>
          <pc:sldMk cId="521239612" sldId="2076136191"/>
        </pc:sldMkLst>
        <pc:spChg chg="mod">
          <ac:chgData name="Bulfon, Nicolás" userId="S::nicolas.bulfon@accenture.com::e469c701-870f-413f-adde-acf427f60207" providerId="AD" clId="Web-{C922C281-8EED-67D5-A00C-CAF640298854}" dt="2026-04-10T14:17:01.530" v="23" actId="20577"/>
          <ac:spMkLst>
            <pc:docMk/>
            <pc:sldMk cId="521239612" sldId="2076136191"/>
            <ac:spMk id="11" creationId="{1B95D3D0-EDF6-4D74-965C-4B25FEDFCCC5}"/>
          </ac:spMkLst>
        </pc:spChg>
      </pc:sldChg>
      <pc:sldChg chg="modSp">
        <pc:chgData name="Bulfon, Nicolás" userId="S::nicolas.bulfon@accenture.com::e469c701-870f-413f-adde-acf427f60207" providerId="AD" clId="Web-{C922C281-8EED-67D5-A00C-CAF640298854}" dt="2026-04-10T14:16:59.655" v="22" actId="20577"/>
        <pc:sldMkLst>
          <pc:docMk/>
          <pc:sldMk cId="1962599123" sldId="2076136192"/>
        </pc:sldMkLst>
        <pc:spChg chg="mod">
          <ac:chgData name="Bulfon, Nicolás" userId="S::nicolas.bulfon@accenture.com::e469c701-870f-413f-adde-acf427f60207" providerId="AD" clId="Web-{C922C281-8EED-67D5-A00C-CAF640298854}" dt="2026-04-10T14:16:59.655" v="22" actId="20577"/>
          <ac:spMkLst>
            <pc:docMk/>
            <pc:sldMk cId="1962599123" sldId="2076136192"/>
            <ac:spMk id="11" creationId="{25D2AFD1-8269-99A0-7375-F4266E1FB4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877665F-10BD-4C6C-AC32-89F087D69A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877665F-10BD-4C6C-AC32-89F087D69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© 2018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205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938" y="88223"/>
            <a:ext cx="1336675" cy="16732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99975" y="2132513"/>
            <a:ext cx="267930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4863CF-A9CF-4E25-8C24-C00A183C18E3}"/>
              </a:ext>
            </a:extLst>
          </p:cNvPr>
          <p:cNvGrpSpPr/>
          <p:nvPr userDrawn="1"/>
        </p:nvGrpSpPr>
        <p:grpSpPr>
          <a:xfrm>
            <a:off x="237237" y="2237951"/>
            <a:ext cx="5074087" cy="4252790"/>
            <a:chOff x="470702" y="2490873"/>
            <a:chExt cx="5074087" cy="42527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7A9885D-A32A-4F6C-952D-566AFC7BC7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0702" y="2490873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3C22190-B227-49DD-8F11-48D76E075E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12947" y="2490875"/>
              <a:ext cx="0" cy="3319272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7EE7479-6552-4B10-8999-F9FFF684DA7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544788" y="2518340"/>
              <a:ext cx="1" cy="4225323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3BBBEA3D-ACAB-4B7B-8EF3-C7C27964A6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77" y="4272823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FUNCTIONAL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3926442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</p:spTree>
    <p:extLst>
      <p:ext uri="{BB962C8B-B14F-4D97-AF65-F5344CB8AC3E}">
        <p14:creationId xmlns:p14="http://schemas.microsoft.com/office/powerpoint/2010/main" val="273318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D2A40-219B-4A42-BDCD-91ED1016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AC728-5E8B-42F7-9F39-F04825FAA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3194B-FBE7-4F5A-BBFD-20B6E0DC0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6486-13E7-424D-BC87-91F135AC867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166AE-AC75-490C-A610-103573351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9CD1-69FD-462A-8C84-A583CCA69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859B2-4A9A-4F64-9661-9DC88835B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BDC1-E9F8-4EEF-9FAB-00FC58FA9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BFBA5-6622-4657-A915-630FEC1BA0A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597F7-1063-46BB-A5C6-BD69CD4624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Nicolás </a:t>
            </a:r>
            <a:r>
              <a:rPr lang="en-US" err="1"/>
              <a:t>Bulfón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3080F5-2607-4F7B-9264-C504103233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AI LLM Technology Architecture Analyst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2E9116-884D-487E-A1F6-B67499333E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nicolas.bulfon@accenture.com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54985B-72FF-41C6-B083-F11D3DDEF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69005" y="1496937"/>
            <a:ext cx="6541532" cy="310896"/>
          </a:xfrm>
        </p:spPr>
        <p:txBody>
          <a:bodyPr/>
          <a:lstStyle/>
          <a:p>
            <a:r>
              <a:rPr lang="en-US"/>
              <a:t>La Plata, Buenos Aires, Argentina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265563-7E7C-4DBB-AF77-CDEA802FB0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7"/>
            <a:ext cx="2650385" cy="2919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>
                <a:solidFill>
                  <a:prstClr val="black"/>
                </a:solidFill>
              </a:rPr>
              <a:t>Economist (UCALP 2020-2025) with 6 years as Backend Engineer (C#, Python, SQL). Self-taught in ML/Deep Learning (Stanford Specialization). Experience in API development, automation, and data analysis. Combining economic thinking with software engineering for AI/LLM solutions</a:t>
            </a: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Currently working on agent development.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sz="1050" dirty="0">
              <a:ea typeface="+mn-lt"/>
              <a:cs typeface="+mn-lt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sz="1050" dirty="0">
                <a:ea typeface="+mn-lt"/>
                <a:cs typeface="+mn-lt"/>
              </a:rPr>
              <a:t>Engaged with </a:t>
            </a:r>
            <a:r>
              <a:rPr lang="en-US" sz="1050" dirty="0" err="1">
                <a:ea typeface="+mn-lt"/>
                <a:cs typeface="+mn-lt"/>
              </a:rPr>
              <a:t>Anthropic's</a:t>
            </a:r>
            <a:r>
              <a:rPr lang="en-US" sz="1050" dirty="0">
                <a:ea typeface="+mn-lt"/>
                <a:cs typeface="+mn-lt"/>
              </a:rPr>
              <a:t> Claude ecosystem – currently working forward Claude Architect certification.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sz="1050" dirty="0">
              <a:ea typeface="+mn-lt"/>
              <a:cs typeface="+mn-lt"/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Spanish (Native)</a:t>
            </a: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English (B2+)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95D3D0-EDF6-4D74-965C-4B25FEDFCC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9172" y="2671910"/>
            <a:ext cx="2121001" cy="13057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Economic problems</a:t>
            </a:r>
            <a:endParaRPr lang="en-US"/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Machine &amp; Deep Learning 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800">
                <a:solidFill>
                  <a:prstClr val="black"/>
                </a:solidFill>
                <a:latin typeface="Calibri" panose="020F0502020204030204"/>
                <a:cs typeface="Calibri"/>
              </a:rPr>
              <a:t>Claude (Anthropic) Ecosystem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Data 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Science,</a:t>
            </a:r>
            <a:r>
              <a:rPr lang="en-US" sz="800" dirty="0" err="1">
                <a:solidFill>
                  <a:prstClr val="black"/>
                </a:solidFill>
                <a:latin typeface="Calibri" panose="020F0502020204030204"/>
                <a:cs typeface="Calibri"/>
              </a:rPr>
              <a:t>Power</a:t>
            </a:r>
            <a:r>
              <a:rPr lang="en-US" sz="800" dirty="0">
                <a:solidFill>
                  <a:prstClr val="black"/>
                </a:solidFill>
                <a:latin typeface="Calibri" panose="020F0502020204030204"/>
                <a:cs typeface="Calibri"/>
              </a:rPr>
              <a:t> BI</a:t>
            </a:r>
            <a:endParaRPr lang="en-US" sz="800" dirty="0">
              <a:solidFill>
                <a:prstClr val="black"/>
              </a:solidFill>
              <a:latin typeface="Calibri" panose="020F0502020204030204"/>
              <a:ea typeface="Calibri"/>
              <a:cs typeface="Calibri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Python, C#, TypeScript, JavaScript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BD SQL y No-SQL (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MondoDB</a:t>
            </a: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)</a:t>
            </a:r>
            <a:endParaRPr lang="en-US" altLang="en-US" sz="8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N8n, Docker (basic)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0" lvl="0" indent="0">
              <a:lnSpc>
                <a:spcPct val="100000"/>
              </a:lnSpc>
              <a:spcBef>
                <a:spcPts val="450"/>
              </a:spcBef>
              <a:buNone/>
              <a:tabLst>
                <a:tab pos="133270" algn="l"/>
              </a:tabLst>
              <a:defRPr/>
            </a:pPr>
            <a:endParaRPr lang="en-US" altLang="en-US" sz="9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34980F-833A-4CEA-B193-B68AFF6066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25645"/>
            <a:ext cx="6524747" cy="40532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>
                <a:solidFill>
                  <a:prstClr val="black"/>
                </a:solidFill>
              </a:rPr>
              <a:t>Accenture SRL</a:t>
            </a:r>
            <a:endParaRPr lang="en-US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AI LLM Technology Architecture Analyst | FEB 2026 – Present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Currently undergoing intensive AI Academy training (6 weeks) in Agentic AI, RAG systems, </a:t>
            </a:r>
            <a:r>
              <a:rPr lang="en-US" sz="1000" b="0" dirty="0" err="1">
                <a:solidFill>
                  <a:prstClr val="black"/>
                </a:solidFill>
              </a:rPr>
              <a:t>LangChain</a:t>
            </a:r>
            <a:r>
              <a:rPr lang="en-US" sz="1000" b="0" dirty="0">
                <a:solidFill>
                  <a:prstClr val="black"/>
                </a:solidFill>
              </a:rPr>
              <a:t>, and LLM orchestration. Preparing for client project assignment in AI/LLM implementation. Focus areas: multi-agent systems</a:t>
            </a:r>
            <a:endParaRPr lang="en-US" sz="1000" b="0" dirty="0">
              <a:solidFill>
                <a:prstClr val="black"/>
              </a:solidFill>
              <a:ea typeface="Calibri"/>
              <a:cs typeface="Calibri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  <a:ea typeface="+mn-lt"/>
                <a:cs typeface="+mn-lt"/>
              </a:rPr>
              <a:t>Contributing to a strategic internal A2A initiative, leveraging multi-agent system architecture expertise with proficiency in Python, Google ADK, vector database integration, and API management across multiple leading LLM providers.</a:t>
            </a: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s-AR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 dirty="0" err="1">
                <a:solidFill>
                  <a:prstClr val="black"/>
                </a:solidFill>
              </a:rPr>
              <a:t>DoTech</a:t>
            </a:r>
            <a:r>
              <a:rPr lang="es-AR" sz="1000" dirty="0">
                <a:solidFill>
                  <a:prstClr val="black"/>
                </a:solidFill>
              </a:rPr>
              <a:t> SA</a:t>
            </a:r>
            <a:endParaRPr lang="en-US" sz="1000" dirty="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000" dirty="0">
                <a:solidFill>
                  <a:prstClr val="black"/>
                </a:solidFill>
              </a:rPr>
              <a:t>Backend Software Engineer | 2020 – 2026.</a:t>
            </a:r>
            <a:r>
              <a:rPr lang="es-AR" sz="1000" dirty="0">
                <a:solidFill>
                  <a:prstClr val="black"/>
                </a:solidFill>
              </a:rPr>
              <a:t> 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Developed</a:t>
            </a:r>
            <a:r>
              <a:rPr lang="es-AR" sz="1000" b="0" dirty="0">
                <a:solidFill>
                  <a:prstClr val="black"/>
                </a:solidFill>
              </a:rPr>
              <a:t> REST </a:t>
            </a:r>
            <a:r>
              <a:rPr lang="es-AR" sz="1000" b="0" dirty="0" err="1">
                <a:solidFill>
                  <a:prstClr val="black"/>
                </a:solidFill>
              </a:rPr>
              <a:t>APIs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using</a:t>
            </a:r>
            <a:r>
              <a:rPr lang="es-AR" sz="1000" b="0" dirty="0">
                <a:solidFill>
                  <a:prstClr val="black"/>
                </a:solidFill>
              </a:rPr>
              <a:t> C# (.NET Framework &amp; .NET Core) </a:t>
            </a:r>
            <a:r>
              <a:rPr lang="es-AR" sz="1000" b="0" dirty="0" err="1">
                <a:solidFill>
                  <a:prstClr val="black"/>
                </a:solidFill>
              </a:rPr>
              <a:t>for</a:t>
            </a:r>
            <a:r>
              <a:rPr lang="es-AR" sz="1000" b="0" dirty="0">
                <a:solidFill>
                  <a:prstClr val="black"/>
                </a:solidFill>
              </a:rPr>
              <a:t> web and </a:t>
            </a:r>
            <a:r>
              <a:rPr lang="es-AR" sz="1000" b="0" dirty="0" err="1">
                <a:solidFill>
                  <a:prstClr val="black"/>
                </a:solidFill>
              </a:rPr>
              <a:t>mobile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applications</a:t>
            </a:r>
            <a:r>
              <a:rPr lang="es-AR" sz="1000" b="0" dirty="0">
                <a:solidFill>
                  <a:prstClr val="black"/>
                </a:solidFill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Managed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relational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databases</a:t>
            </a:r>
            <a:r>
              <a:rPr lang="es-AR" sz="1000" b="0" dirty="0">
                <a:solidFill>
                  <a:prstClr val="black"/>
                </a:solidFill>
              </a:rPr>
              <a:t> (SQL Server, MySQL, PostgreSQL) and NoSQL (MongoDB). </a:t>
            </a:r>
            <a:br>
              <a:rPr lang="es-AR" sz="1000" b="0" dirty="0">
                <a:ea typeface="Calibri"/>
                <a:cs typeface="Calibri"/>
              </a:rPr>
            </a:b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Web, Mobile and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external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services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development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on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production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s-AR" sz="1000" b="0" dirty="0" err="1">
                <a:solidFill>
                  <a:prstClr val="black"/>
                </a:solidFill>
                <a:ea typeface="Calibri"/>
                <a:cs typeface="Calibri"/>
              </a:rPr>
              <a:t>enviroments</a:t>
            </a:r>
            <a:r>
              <a:rPr lang="es-AR" sz="1000" b="0" dirty="0">
                <a:solidFill>
                  <a:prstClr val="black"/>
                </a:solidFill>
                <a:ea typeface="Calibri"/>
                <a:cs typeface="Calibri"/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Implemented</a:t>
            </a:r>
            <a:r>
              <a:rPr lang="es-AR" sz="1000" b="0" dirty="0">
                <a:solidFill>
                  <a:prstClr val="black"/>
                </a:solidFill>
              </a:rPr>
              <a:t> Python scripts </a:t>
            </a:r>
            <a:r>
              <a:rPr lang="es-AR" sz="1000" b="0" dirty="0" err="1">
                <a:solidFill>
                  <a:prstClr val="black"/>
                </a:solidFill>
              </a:rPr>
              <a:t>for</a:t>
            </a:r>
            <a:r>
              <a:rPr lang="es-AR" sz="1000" b="0" dirty="0">
                <a:solidFill>
                  <a:prstClr val="black"/>
                </a:solidFill>
              </a:rPr>
              <a:t> log </a:t>
            </a:r>
            <a:r>
              <a:rPr lang="es-AR" sz="1000" b="0" dirty="0" err="1">
                <a:solidFill>
                  <a:prstClr val="black"/>
                </a:solidFill>
              </a:rPr>
              <a:t>analysis</a:t>
            </a:r>
            <a:r>
              <a:rPr lang="es-AR" sz="1000" b="0" dirty="0">
                <a:solidFill>
                  <a:prstClr val="black"/>
                </a:solidFill>
              </a:rPr>
              <a:t>, data </a:t>
            </a:r>
            <a:r>
              <a:rPr lang="es-AR" sz="1000" b="0" dirty="0" err="1">
                <a:solidFill>
                  <a:prstClr val="black"/>
                </a:solidFill>
              </a:rPr>
              <a:t>processing</a:t>
            </a:r>
            <a:r>
              <a:rPr lang="es-AR" sz="1000" b="0" dirty="0">
                <a:solidFill>
                  <a:prstClr val="black"/>
                </a:solidFill>
              </a:rPr>
              <a:t>, and </a:t>
            </a:r>
            <a:r>
              <a:rPr lang="es-AR" sz="1000" b="0" dirty="0" err="1">
                <a:solidFill>
                  <a:prstClr val="black"/>
                </a:solidFill>
              </a:rPr>
              <a:t>workflow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automation</a:t>
            </a:r>
            <a:r>
              <a:rPr lang="es-AR" sz="1000" b="0" dirty="0">
                <a:solidFill>
                  <a:prstClr val="black"/>
                </a:solidFill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Optimized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system</a:t>
            </a:r>
            <a:r>
              <a:rPr lang="es-AR" sz="1000" b="0" dirty="0">
                <a:solidFill>
                  <a:prstClr val="black"/>
                </a:solidFill>
              </a:rPr>
              <a:t> performance and </a:t>
            </a:r>
            <a:r>
              <a:rPr lang="es-AR" sz="1000" b="0" dirty="0" err="1">
                <a:solidFill>
                  <a:prstClr val="black"/>
                </a:solidFill>
              </a:rPr>
              <a:t>automated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internal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processes</a:t>
            </a:r>
            <a:r>
              <a:rPr lang="es-AR" sz="1000" b="0" dirty="0">
                <a:solidFill>
                  <a:prstClr val="black"/>
                </a:solidFill>
              </a:rPr>
              <a:t>.</a:t>
            </a:r>
            <a:br>
              <a:rPr lang="es-AR" sz="1000" b="0" dirty="0"/>
            </a:br>
            <a:r>
              <a:rPr lang="es-AR" sz="1000" b="0" dirty="0" err="1">
                <a:solidFill>
                  <a:prstClr val="black"/>
                </a:solidFill>
              </a:rPr>
              <a:t>Built</a:t>
            </a:r>
            <a:r>
              <a:rPr lang="es-AR" sz="1000" b="0" dirty="0">
                <a:solidFill>
                  <a:prstClr val="black"/>
                </a:solidFill>
              </a:rPr>
              <a:t> and </a:t>
            </a:r>
            <a:r>
              <a:rPr lang="es-AR" sz="1000" b="0" dirty="0" err="1">
                <a:solidFill>
                  <a:prstClr val="black"/>
                </a:solidFill>
              </a:rPr>
              <a:t>maintained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scalable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backend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architectures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for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production</a:t>
            </a:r>
            <a:r>
              <a:rPr lang="es-AR" sz="1000" b="0" dirty="0">
                <a:solidFill>
                  <a:prstClr val="black"/>
                </a:solidFill>
              </a:rPr>
              <a:t> </a:t>
            </a:r>
            <a:r>
              <a:rPr lang="es-AR" sz="1000" b="0" dirty="0" err="1">
                <a:solidFill>
                  <a:prstClr val="black"/>
                </a:solidFill>
              </a:rPr>
              <a:t>environments</a:t>
            </a:r>
            <a:endParaRPr lang="es-AR" sz="1000" b="0" dirty="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 b="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lvl="0" defTabSz="912813">
              <a:lnSpc>
                <a:spcPct val="100000"/>
              </a:lnSpc>
              <a:spcBef>
                <a:spcPts val="0"/>
              </a:spcBef>
              <a:buFontTx/>
              <a:buChar char="-"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B44894-8232-41D9-A194-2698685863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AI &amp; Data &gt; AI LLM Technology Architecture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966CF-FD9C-4253-80B3-E3B4151511A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2021 Accenture.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C6332352-5514-4374-8288-6E71320978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3" b="14383"/>
          <a:stretch/>
        </p:blipFill>
        <p:spPr/>
      </p:pic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D8EBDDCE-48D7-4534-8057-F03D089029E4}"/>
              </a:ext>
            </a:extLst>
          </p:cNvPr>
          <p:cNvSpPr txBox="1">
            <a:spLocks/>
          </p:cNvSpPr>
          <p:nvPr/>
        </p:nvSpPr>
        <p:spPr>
          <a:xfrm>
            <a:off x="3176139" y="4272380"/>
            <a:ext cx="2012108" cy="115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3658CBF4-BCD4-4FE7-976F-59FAEC664190}"/>
              </a:ext>
            </a:extLst>
          </p:cNvPr>
          <p:cNvSpPr txBox="1">
            <a:spLocks/>
          </p:cNvSpPr>
          <p:nvPr/>
        </p:nvSpPr>
        <p:spPr>
          <a:xfrm>
            <a:off x="3176124" y="4408128"/>
            <a:ext cx="2012108" cy="1018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s-AR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9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oftware</a:t>
            </a: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 and Technology</a:t>
            </a:r>
            <a:endParaRPr lang="en-US" dirty="0">
              <a:solidFill>
                <a:prstClr val="black"/>
              </a:solidFill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>
                <a:solidFill>
                  <a:prstClr val="black"/>
                </a:solidFill>
                <a:latin typeface="Graphik"/>
                <a:ea typeface="Calibri"/>
                <a:cs typeface="Arial"/>
              </a:rPr>
              <a:t>AI &amp; Data Solutions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 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8D3015-BB46-4C76-ABE0-1D7F99BFFC21}"/>
              </a:ext>
            </a:extLst>
          </p:cNvPr>
          <p:cNvSpPr txBox="1"/>
          <p:nvPr/>
        </p:nvSpPr>
        <p:spPr>
          <a:xfrm>
            <a:off x="239503" y="5295438"/>
            <a:ext cx="2342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>
                <a:solidFill>
                  <a:srgbClr val="7030A0"/>
                </a:solidFill>
                <a:latin typeface="Graphik" panose="020B0503030202060203" pitchFamily="34" charset="0"/>
              </a:rPr>
              <a:t>CERTIFICATIONS</a:t>
            </a:r>
            <a:endParaRPr lang="en-US" sz="1100" b="1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9E137-957C-3A35-467E-838DA660A245}"/>
              </a:ext>
            </a:extLst>
          </p:cNvPr>
          <p:cNvSpPr txBox="1"/>
          <p:nvPr/>
        </p:nvSpPr>
        <p:spPr>
          <a:xfrm>
            <a:off x="341211" y="5571483"/>
            <a:ext cx="2781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>
                <a:solidFill>
                  <a:prstClr val="black"/>
                </a:solidFill>
              </a:rPr>
              <a:t>AI </a:t>
            </a:r>
            <a:r>
              <a:rPr lang="es-AR" sz="1000" err="1">
                <a:solidFill>
                  <a:prstClr val="black"/>
                </a:solidFill>
              </a:rPr>
              <a:t>Academy</a:t>
            </a:r>
            <a:r>
              <a:rPr lang="es-AR" sz="1000">
                <a:solidFill>
                  <a:prstClr val="black"/>
                </a:solidFill>
              </a:rPr>
              <a:t> –Accenture (2026 – in </a:t>
            </a:r>
            <a:r>
              <a:rPr lang="es-AR" sz="1000" err="1">
                <a:solidFill>
                  <a:prstClr val="black"/>
                </a:solidFill>
              </a:rPr>
              <a:t>progress</a:t>
            </a:r>
            <a:r>
              <a:rPr lang="es-AR" sz="1000">
                <a:solidFill>
                  <a:prstClr val="black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</a:rPr>
              <a:t>Machine Learning Specialization – Standford University (DeepLearning.ai – Coursera)</a:t>
            </a:r>
          </a:p>
          <a:p>
            <a:endParaRPr 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239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1C3B-E064-DB1F-1AB1-92B2BE65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99BC6-36F1-E6BC-AEF8-BF693ECEA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BFBA5-6622-4657-A915-630FEC1BA0A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353ED-5E5A-A38F-60C8-51A7D767F1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Nicolás </a:t>
            </a:r>
            <a:r>
              <a:rPr lang="en-US" err="1"/>
              <a:t>Bulfón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F4CDDA-2F66-2340-3062-DB1B340CF0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AI LLM Technology Architecture Analyst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DCBD00-ABF7-4B6E-99A3-FFD117E076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nicolas.bulfon@accenture.com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7CC97C-0BDE-B2C4-2C3F-C31E1CA365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69005" y="1496937"/>
            <a:ext cx="6541532" cy="310896"/>
          </a:xfrm>
        </p:spPr>
        <p:txBody>
          <a:bodyPr/>
          <a:lstStyle/>
          <a:p>
            <a:r>
              <a:rPr lang="en-US"/>
              <a:t>La Plata, Buenos Aires, Argentina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CB3C79-6AA5-BFE6-FC8A-ABA662D421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211" y="2421647"/>
            <a:ext cx="2650385" cy="29191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1050" err="1">
                <a:solidFill>
                  <a:prstClr val="black"/>
                </a:solidFill>
              </a:rPr>
              <a:t>Economista</a:t>
            </a:r>
            <a:r>
              <a:rPr lang="en-US" sz="1050">
                <a:solidFill>
                  <a:prstClr val="black"/>
                </a:solidFill>
              </a:rPr>
              <a:t> (UCALP 2020–2025) con 6 </a:t>
            </a:r>
            <a:r>
              <a:rPr lang="en-US" sz="1050" err="1">
                <a:solidFill>
                  <a:prstClr val="black"/>
                </a:solidFill>
              </a:rPr>
              <a:t>años</a:t>
            </a:r>
            <a:r>
              <a:rPr lang="en-US" sz="1050">
                <a:solidFill>
                  <a:prstClr val="black"/>
                </a:solidFill>
              </a:rPr>
              <a:t> de </a:t>
            </a:r>
            <a:r>
              <a:rPr lang="en-US" sz="1050" err="1">
                <a:solidFill>
                  <a:prstClr val="black"/>
                </a:solidFill>
              </a:rPr>
              <a:t>experiencia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como</a:t>
            </a:r>
            <a:r>
              <a:rPr lang="en-US" sz="1050">
                <a:solidFill>
                  <a:prstClr val="black"/>
                </a:solidFill>
              </a:rPr>
              <a:t> Backend Engineer (C#, Python, SQL). </a:t>
            </a:r>
            <a:r>
              <a:rPr lang="en-US" sz="1050" err="1">
                <a:solidFill>
                  <a:prstClr val="black"/>
                </a:solidFill>
              </a:rPr>
              <a:t>Autodidacta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en</a:t>
            </a:r>
            <a:r>
              <a:rPr lang="en-US" sz="1050">
                <a:solidFill>
                  <a:prstClr val="black"/>
                </a:solidFill>
              </a:rPr>
              <a:t> ML/Deep Learning (</a:t>
            </a:r>
            <a:r>
              <a:rPr lang="en-US" sz="1050" err="1">
                <a:solidFill>
                  <a:prstClr val="black"/>
                </a:solidFill>
              </a:rPr>
              <a:t>especialización</a:t>
            </a:r>
            <a:r>
              <a:rPr lang="en-US" sz="1050">
                <a:solidFill>
                  <a:prstClr val="black"/>
                </a:solidFill>
              </a:rPr>
              <a:t> de Stanford). </a:t>
            </a:r>
            <a:r>
              <a:rPr lang="en-US" sz="1050" err="1">
                <a:solidFill>
                  <a:prstClr val="black"/>
                </a:solidFill>
              </a:rPr>
              <a:t>Experiencia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en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desarrollo</a:t>
            </a:r>
            <a:r>
              <a:rPr lang="en-US" sz="1050">
                <a:solidFill>
                  <a:prstClr val="black"/>
                </a:solidFill>
              </a:rPr>
              <a:t> de APIs, </a:t>
            </a:r>
            <a:r>
              <a:rPr lang="en-US" sz="1050" err="1">
                <a:solidFill>
                  <a:prstClr val="black"/>
                </a:solidFill>
              </a:rPr>
              <a:t>automatización</a:t>
            </a:r>
            <a:r>
              <a:rPr lang="en-US" sz="1050">
                <a:solidFill>
                  <a:prstClr val="black"/>
                </a:solidFill>
              </a:rPr>
              <a:t> y </a:t>
            </a:r>
            <a:r>
              <a:rPr lang="en-US" sz="1050" err="1">
                <a:solidFill>
                  <a:prstClr val="black"/>
                </a:solidFill>
              </a:rPr>
              <a:t>análisis</a:t>
            </a:r>
            <a:r>
              <a:rPr lang="en-US" sz="1050">
                <a:solidFill>
                  <a:prstClr val="black"/>
                </a:solidFill>
              </a:rPr>
              <a:t> de </a:t>
            </a:r>
            <a:r>
              <a:rPr lang="en-US" sz="1050" err="1">
                <a:solidFill>
                  <a:prstClr val="black"/>
                </a:solidFill>
              </a:rPr>
              <a:t>datos</a:t>
            </a:r>
            <a:r>
              <a:rPr lang="en-US" sz="1050">
                <a:solidFill>
                  <a:prstClr val="black"/>
                </a:solidFill>
              </a:rPr>
              <a:t>. </a:t>
            </a:r>
            <a:r>
              <a:rPr lang="en-US" sz="1050" err="1">
                <a:solidFill>
                  <a:prstClr val="black"/>
                </a:solidFill>
              </a:rPr>
              <a:t>Combinando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el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pensamiento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económico</a:t>
            </a:r>
            <a:r>
              <a:rPr lang="en-US" sz="1050">
                <a:solidFill>
                  <a:prstClr val="black"/>
                </a:solidFill>
              </a:rPr>
              <a:t> con la </a:t>
            </a:r>
            <a:r>
              <a:rPr lang="en-US" sz="1050" err="1">
                <a:solidFill>
                  <a:prstClr val="black"/>
                </a:solidFill>
              </a:rPr>
              <a:t>ingeniería</a:t>
            </a:r>
            <a:r>
              <a:rPr lang="en-US" sz="1050">
                <a:solidFill>
                  <a:prstClr val="black"/>
                </a:solidFill>
              </a:rPr>
              <a:t> de software para </a:t>
            </a:r>
            <a:r>
              <a:rPr lang="en-US" sz="1050" err="1">
                <a:solidFill>
                  <a:prstClr val="black"/>
                </a:solidFill>
              </a:rPr>
              <a:t>soluciones</a:t>
            </a:r>
            <a:r>
              <a:rPr lang="en-US" sz="1050">
                <a:solidFill>
                  <a:prstClr val="black"/>
                </a:solidFill>
              </a:rPr>
              <a:t> de IA/LLM.</a:t>
            </a:r>
            <a:endParaRPr lang="en-US">
              <a:solidFill>
                <a:prstClr val="black"/>
              </a:solidFill>
            </a:endParaRP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1050" err="1">
                <a:solidFill>
                  <a:prstClr val="black"/>
                </a:solidFill>
              </a:rPr>
              <a:t>Actualmente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trabajando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en</a:t>
            </a:r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1050" err="1">
                <a:solidFill>
                  <a:prstClr val="black"/>
                </a:solidFill>
              </a:rPr>
              <a:t>desarrollo</a:t>
            </a:r>
            <a:r>
              <a:rPr lang="en-US" sz="1050">
                <a:solidFill>
                  <a:prstClr val="black"/>
                </a:solidFill>
              </a:rPr>
              <a:t> de </a:t>
            </a:r>
            <a:r>
              <a:rPr lang="en-US" sz="1050" err="1">
                <a:solidFill>
                  <a:prstClr val="black"/>
                </a:solidFill>
              </a:rPr>
              <a:t>agentes</a:t>
            </a:r>
            <a:r>
              <a:rPr lang="en-US" sz="1050">
                <a:solidFill>
                  <a:prstClr val="black"/>
                </a:solidFill>
              </a:rPr>
              <a:t>.</a:t>
            </a:r>
            <a:endParaRPr lang="en-US">
              <a:solidFill>
                <a:prstClr val="black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endParaRPr lang="en-US" sz="1050">
              <a:solidFill>
                <a:prstClr val="black"/>
              </a:solidFill>
              <a:ea typeface="Calibri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  <a:defRPr/>
            </a:pPr>
            <a:r>
              <a:rPr lang="en-US" sz="1050">
                <a:solidFill>
                  <a:prstClr val="black"/>
                </a:solidFill>
                <a:ea typeface="+mn-lt"/>
                <a:cs typeface="+mn-lt"/>
              </a:rPr>
              <a:t>involucrado en el ecosistema Claude de Anthropic — actualmente trabajando hacia la certificación de Claude Architect.</a:t>
            </a:r>
            <a:endParaRPr lang="en-US"/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endParaRPr lang="en-US" sz="1050"/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Español (Nativo)</a:t>
            </a:r>
            <a:endParaRPr lang="en-US" sz="1050">
              <a:ea typeface="Calibri"/>
              <a:cs typeface="Calibri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50"/>
              <a:t>Inglés (B2+)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5D2AFD1-8269-99A0-7375-F4266E1FB4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9172" y="2671910"/>
            <a:ext cx="2121001" cy="13057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Problemas</a:t>
            </a: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 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económicos</a:t>
            </a:r>
            <a:endParaRPr lang="en-US" altLang="en-US" sz="800" dirty="0" err="1">
              <a:solidFill>
                <a:prstClr val="black"/>
              </a:solidFill>
              <a:latin typeface="Calibri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Machine &amp; Deep Learning 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Claude (Anthropic) Ecosystem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Data Science, Power BI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Python, C#, TypeScript, JavaScript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BD SQL y No-SQL (</a:t>
            </a:r>
            <a:r>
              <a:rPr lang="en-US" altLang="en-US" sz="8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MondoDB</a:t>
            </a:r>
            <a:r>
              <a:rPr lang="en-US" altLang="en-US" sz="800" dirty="0">
                <a:solidFill>
                  <a:prstClr val="black"/>
                </a:solidFill>
                <a:latin typeface="Calibri" panose="020F0502020204030204"/>
                <a:cs typeface="Arial"/>
              </a:rPr>
              <a:t>)</a:t>
            </a:r>
            <a:endParaRPr lang="en-US" altLang="en-US" sz="8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170180" lvl="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altLang="en-US" sz="800">
                <a:solidFill>
                  <a:prstClr val="black"/>
                </a:solidFill>
                <a:latin typeface="Calibri" panose="020F0502020204030204"/>
                <a:cs typeface="Arial"/>
              </a:rPr>
              <a:t>N8n, Docker (basic)</a:t>
            </a:r>
            <a:endParaRPr lang="en-US" altLang="en-US" sz="80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  <a:p>
            <a:pPr marL="0" lvl="0" indent="0">
              <a:lnSpc>
                <a:spcPct val="100000"/>
              </a:lnSpc>
              <a:spcBef>
                <a:spcPts val="450"/>
              </a:spcBef>
              <a:buNone/>
              <a:tabLst>
                <a:tab pos="133270" algn="l"/>
              </a:tabLst>
              <a:defRPr/>
            </a:pPr>
            <a:endParaRPr lang="en-US" altLang="en-US" sz="90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CEAD43-C914-DB46-187D-47FD93AA6B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7750" y="2425645"/>
            <a:ext cx="6524747" cy="40532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>
                <a:solidFill>
                  <a:prstClr val="black"/>
                </a:solidFill>
              </a:rPr>
              <a:t>Accenture SRL</a:t>
            </a:r>
            <a:endParaRPr lang="en-US" sz="1000">
              <a:solidFill>
                <a:prstClr val="black"/>
              </a:solidFill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Actualmente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cursando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una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formación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intensiva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la Academia de IA (6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semanas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)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IA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agéntica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,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sistemas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RAG,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LangChain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y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orquestación</a:t>
            </a:r>
            <a:r>
              <a:rPr lang="en-US" sz="1100" b="0" dirty="0">
                <a:solidFill>
                  <a:prstClr val="black"/>
                </a:solidFill>
                <a:latin typeface="Segoe UI"/>
                <a:cs typeface="Segoe UI"/>
              </a:rPr>
              <a:t> de LLMs. 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Preparándome para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asignación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a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proyectos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con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clientes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implementación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de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soluciones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de IA/LLM.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Áreas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de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enfoque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: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sistemas</a:t>
            </a:r>
            <a:r>
              <a:rPr lang="en-US" sz="1100" b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1100" b="0" err="1">
                <a:solidFill>
                  <a:prstClr val="black"/>
                </a:solidFill>
                <a:latin typeface="Segoe UI"/>
                <a:cs typeface="Segoe UI"/>
              </a:rPr>
              <a:t>multiagente</a:t>
            </a:r>
            <a:endParaRPr lang="en-US" err="1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Contribuyendo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a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una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iniciativa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interna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estratégica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A2A,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aprovechando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expertise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en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arquitectura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sistemas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multi-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agente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con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dominio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en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Python, Google ADK,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integración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bases de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datos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vectoriales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y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gestión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APIs con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múltiples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proveedores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1100" b="0" dirty="0" err="1">
                <a:solidFill>
                  <a:prstClr val="black"/>
                </a:solidFill>
                <a:ea typeface="+mn-lt"/>
                <a:cs typeface="+mn-lt"/>
              </a:rPr>
              <a:t>líderes</a:t>
            </a:r>
            <a:r>
              <a:rPr lang="en-US" sz="1100" b="0" dirty="0">
                <a:solidFill>
                  <a:prstClr val="black"/>
                </a:solidFill>
                <a:ea typeface="+mn-lt"/>
                <a:cs typeface="+mn-lt"/>
              </a:rPr>
              <a:t> de LLM.</a:t>
            </a:r>
            <a:endParaRPr lang="en-US" sz="1100" b="0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100" b="0" dirty="0">
              <a:solidFill>
                <a:prstClr val="black"/>
              </a:solidFill>
              <a:ea typeface="Calibri"/>
              <a:cs typeface="Calibri"/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r>
              <a:rPr lang="es-AR" sz="1000" dirty="0" err="1">
                <a:solidFill>
                  <a:prstClr val="black"/>
                </a:solidFill>
              </a:rPr>
              <a:t>DoTech</a:t>
            </a:r>
            <a:r>
              <a:rPr lang="es-AR" sz="1000" dirty="0">
                <a:solidFill>
                  <a:prstClr val="black"/>
                </a:solidFill>
              </a:rPr>
              <a:t> SA</a:t>
            </a:r>
            <a:endParaRPr lang="en-US" sz="1000" dirty="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buNone/>
              <a:tabLst>
                <a:tab pos="917575" algn="l"/>
              </a:tabLst>
              <a:defRPr/>
            </a:pPr>
            <a:r>
              <a:rPr lang="en-US" sz="1000" dirty="0" err="1">
                <a:solidFill>
                  <a:prstClr val="black"/>
                </a:solidFill>
              </a:rPr>
              <a:t>Ingeniero</a:t>
            </a:r>
            <a:r>
              <a:rPr lang="en-US" sz="1000" dirty="0">
                <a:solidFill>
                  <a:prstClr val="black"/>
                </a:solidFill>
              </a:rPr>
              <a:t> de Software Backend | 2020 – 2026</a:t>
            </a:r>
            <a:endParaRPr lang="en-US" dirty="0">
              <a:solidFill>
                <a:prstClr val="black"/>
              </a:solidFill>
            </a:endParaRPr>
          </a:p>
          <a:p>
            <a:pPr marL="171450" indent="-171450" defTabSz="912813">
              <a:lnSpc>
                <a:spcPct val="100000"/>
              </a:lnSpc>
              <a:tabLst>
                <a:tab pos="917575" algn="l"/>
              </a:tabLst>
              <a:defRPr/>
            </a:pPr>
            <a:r>
              <a:rPr lang="en-US" sz="1000" b="0" dirty="0">
                <a:solidFill>
                  <a:prstClr val="black"/>
                </a:solidFill>
              </a:rPr>
              <a:t>Desarrollo de APIs REST </a:t>
            </a:r>
            <a:r>
              <a:rPr lang="en-US" sz="1000" b="0" dirty="0" err="1">
                <a:solidFill>
                  <a:prstClr val="black"/>
                </a:solidFill>
              </a:rPr>
              <a:t>utilizando</a:t>
            </a:r>
            <a:r>
              <a:rPr lang="en-US" sz="1000" b="0" dirty="0">
                <a:solidFill>
                  <a:prstClr val="black"/>
                </a:solidFill>
              </a:rPr>
              <a:t> C# (.NET Framework y .NET Core) para </a:t>
            </a:r>
            <a:r>
              <a:rPr lang="en-US" sz="1000" b="0" dirty="0" err="1">
                <a:solidFill>
                  <a:prstClr val="black"/>
                </a:solidFill>
              </a:rPr>
              <a:t>aplicaciones</a:t>
            </a:r>
            <a:r>
              <a:rPr lang="en-US" sz="1000" b="0" dirty="0">
                <a:solidFill>
                  <a:prstClr val="black"/>
                </a:solidFill>
              </a:rPr>
              <a:t> web y </a:t>
            </a:r>
            <a:r>
              <a:rPr lang="en-US" sz="1000" b="0" dirty="0" err="1">
                <a:solidFill>
                  <a:prstClr val="black"/>
                </a:solidFill>
              </a:rPr>
              <a:t>móviles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Gestión</a:t>
            </a:r>
            <a:r>
              <a:rPr lang="en-US" sz="1000" b="0" dirty="0">
                <a:solidFill>
                  <a:prstClr val="black"/>
                </a:solidFill>
              </a:rPr>
              <a:t> de bases de </a:t>
            </a:r>
            <a:r>
              <a:rPr lang="en-US" sz="1000" b="0" dirty="0" err="1">
                <a:solidFill>
                  <a:prstClr val="black"/>
                </a:solidFill>
              </a:rPr>
              <a:t>datos</a:t>
            </a: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relacionales</a:t>
            </a:r>
            <a:r>
              <a:rPr lang="en-US" sz="1000" b="0" dirty="0">
                <a:solidFill>
                  <a:prstClr val="black"/>
                </a:solidFill>
              </a:rPr>
              <a:t> (SQL Server, MySQL, PostgreSQL) y NoSQL (MongoDB).</a:t>
            </a:r>
            <a:br>
              <a:rPr lang="en-US" sz="1000" b="0" dirty="0">
                <a:ea typeface="Calibri"/>
                <a:cs typeface="Calibri"/>
              </a:rPr>
            </a:b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Desarrollo de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aplicaciones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web,móviles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y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servicios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externos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en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 ambientes </a:t>
            </a:r>
            <a:r>
              <a:rPr lang="en-US" sz="1000" b="0" dirty="0" err="1">
                <a:solidFill>
                  <a:prstClr val="black"/>
                </a:solidFill>
                <a:ea typeface="Calibri"/>
                <a:cs typeface="Calibri"/>
              </a:rPr>
              <a:t>productivos</a:t>
            </a:r>
            <a:r>
              <a:rPr lang="en-US" sz="1000" b="0" dirty="0">
                <a:solidFill>
                  <a:prstClr val="black"/>
                </a:solidFill>
                <a:ea typeface="Calibri"/>
                <a:cs typeface="Calibri"/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Implementación</a:t>
            </a:r>
            <a:r>
              <a:rPr lang="en-US" sz="1000" b="0" dirty="0">
                <a:solidFill>
                  <a:prstClr val="black"/>
                </a:solidFill>
              </a:rPr>
              <a:t> de scripts </a:t>
            </a:r>
            <a:r>
              <a:rPr lang="en-US" sz="1000" b="0" dirty="0" err="1">
                <a:solidFill>
                  <a:prstClr val="black"/>
                </a:solidFill>
              </a:rPr>
              <a:t>en</a:t>
            </a:r>
            <a:r>
              <a:rPr lang="en-US" sz="1000" b="0" dirty="0">
                <a:solidFill>
                  <a:prstClr val="black"/>
                </a:solidFill>
              </a:rPr>
              <a:t> Python para </a:t>
            </a:r>
            <a:r>
              <a:rPr lang="en-US" sz="1000" b="0" dirty="0" err="1">
                <a:solidFill>
                  <a:prstClr val="black"/>
                </a:solidFill>
              </a:rPr>
              <a:t>análisis</a:t>
            </a:r>
            <a:r>
              <a:rPr lang="en-US" sz="1000" b="0" dirty="0">
                <a:solidFill>
                  <a:prstClr val="black"/>
                </a:solidFill>
              </a:rPr>
              <a:t> de logs, </a:t>
            </a:r>
            <a:r>
              <a:rPr lang="en-US" sz="1000" b="0" dirty="0" err="1">
                <a:solidFill>
                  <a:prstClr val="black"/>
                </a:solidFill>
              </a:rPr>
              <a:t>procesamiento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datos</a:t>
            </a:r>
            <a:r>
              <a:rPr lang="en-US" sz="1000" b="0" dirty="0">
                <a:solidFill>
                  <a:prstClr val="black"/>
                </a:solidFill>
              </a:rPr>
              <a:t> y </a:t>
            </a:r>
            <a:r>
              <a:rPr lang="en-US" sz="1000" b="0" dirty="0" err="1">
                <a:solidFill>
                  <a:prstClr val="black"/>
                </a:solidFill>
              </a:rPr>
              <a:t>automatización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flujos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trabajo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Optimización</a:t>
            </a:r>
            <a:r>
              <a:rPr lang="en-US" sz="1000" b="0" dirty="0">
                <a:solidFill>
                  <a:prstClr val="black"/>
                </a:solidFill>
              </a:rPr>
              <a:t> del </a:t>
            </a:r>
            <a:r>
              <a:rPr lang="en-US" sz="1000" b="0" dirty="0" err="1">
                <a:solidFill>
                  <a:prstClr val="black"/>
                </a:solidFill>
              </a:rPr>
              <a:t>rendimiento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sistemas</a:t>
            </a:r>
            <a:r>
              <a:rPr lang="en-US" sz="1000" b="0" dirty="0">
                <a:solidFill>
                  <a:prstClr val="black"/>
                </a:solidFill>
              </a:rPr>
              <a:t> y </a:t>
            </a:r>
            <a:r>
              <a:rPr lang="en-US" sz="1000" b="0" dirty="0" err="1">
                <a:solidFill>
                  <a:prstClr val="black"/>
                </a:solidFill>
              </a:rPr>
              <a:t>automatización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procesos</a:t>
            </a: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internos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br>
              <a:rPr lang="en-US" sz="1000" b="0" dirty="0"/>
            </a:b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Diseño</a:t>
            </a:r>
            <a:r>
              <a:rPr lang="en-US" sz="1000" b="0" dirty="0">
                <a:solidFill>
                  <a:prstClr val="black"/>
                </a:solidFill>
              </a:rPr>
              <a:t>, </a:t>
            </a:r>
            <a:r>
              <a:rPr lang="en-US" sz="1000" b="0" dirty="0" err="1">
                <a:solidFill>
                  <a:prstClr val="black"/>
                </a:solidFill>
              </a:rPr>
              <a:t>construcción</a:t>
            </a:r>
            <a:r>
              <a:rPr lang="en-US" sz="1000" b="0" dirty="0">
                <a:solidFill>
                  <a:prstClr val="black"/>
                </a:solidFill>
              </a:rPr>
              <a:t> y </a:t>
            </a:r>
            <a:r>
              <a:rPr lang="en-US" sz="1000" b="0" dirty="0" err="1">
                <a:solidFill>
                  <a:prstClr val="black"/>
                </a:solidFill>
              </a:rPr>
              <a:t>mantenimiento</a:t>
            </a:r>
            <a:r>
              <a:rPr lang="en-US" sz="1000" b="0" dirty="0">
                <a:solidFill>
                  <a:prstClr val="black"/>
                </a:solidFill>
              </a:rPr>
              <a:t> de </a:t>
            </a:r>
            <a:r>
              <a:rPr lang="en-US" sz="1000" b="0" dirty="0" err="1">
                <a:solidFill>
                  <a:prstClr val="black"/>
                </a:solidFill>
              </a:rPr>
              <a:t>arquitecturas</a:t>
            </a:r>
            <a:r>
              <a:rPr lang="en-US" sz="1000" b="0" dirty="0">
                <a:solidFill>
                  <a:prstClr val="black"/>
                </a:solidFill>
              </a:rPr>
              <a:t> backend </a:t>
            </a:r>
            <a:r>
              <a:rPr lang="en-US" sz="1000" b="0" dirty="0" err="1">
                <a:solidFill>
                  <a:prstClr val="black"/>
                </a:solidFill>
              </a:rPr>
              <a:t>escalables</a:t>
            </a:r>
            <a:r>
              <a:rPr lang="en-US" sz="1000" b="0" dirty="0">
                <a:solidFill>
                  <a:prstClr val="black"/>
                </a:solidFill>
              </a:rPr>
              <a:t> para </a:t>
            </a:r>
            <a:r>
              <a:rPr lang="en-US" sz="1000" b="0" dirty="0" err="1">
                <a:solidFill>
                  <a:prstClr val="black"/>
                </a:solidFill>
              </a:rPr>
              <a:t>entornos</a:t>
            </a:r>
            <a:r>
              <a:rPr lang="en-US" sz="1000" b="0" dirty="0">
                <a:solidFill>
                  <a:prstClr val="black"/>
                </a:solidFill>
              </a:rPr>
              <a:t> </a:t>
            </a:r>
            <a:r>
              <a:rPr lang="en-US" sz="1000" b="0" dirty="0" err="1">
                <a:solidFill>
                  <a:prstClr val="black"/>
                </a:solidFill>
              </a:rPr>
              <a:t>productivos</a:t>
            </a:r>
            <a:r>
              <a:rPr lang="en-US" sz="1000" b="0" dirty="0">
                <a:solidFill>
                  <a:prstClr val="black"/>
                </a:solidFill>
              </a:rPr>
              <a:t>.</a:t>
            </a:r>
            <a:endParaRPr lang="es-AR" b="0" dirty="0">
              <a:solidFill>
                <a:prstClr val="black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  <a:ea typeface="Calibri"/>
              <a:cs typeface="Calibri"/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en-US" sz="1000" b="0">
              <a:solidFill>
                <a:prstClr val="black"/>
              </a:solidFill>
            </a:endParaRPr>
          </a:p>
          <a:p>
            <a:pPr defTabSz="912813">
              <a:lnSpc>
                <a:spcPct val="100000"/>
              </a:lnSpc>
              <a:spcBef>
                <a:spcPts val="0"/>
              </a:spcBef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mar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it-IT" sz="1000">
              <a:solidFill>
                <a:prstClr val="black"/>
              </a:solidFill>
            </a:endParaRPr>
          </a:p>
          <a:p>
            <a:pPr lvl="0" defTabSz="912813">
              <a:lnSpc>
                <a:spcPct val="100000"/>
              </a:lnSpc>
              <a:spcBef>
                <a:spcPts val="0"/>
              </a:spcBef>
              <a:buFont typeface="Arial"/>
              <a:buChar char="•"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  <a:ea typeface="Calibri" panose="020F0502020204030204"/>
              <a:cs typeface="Calibri" panose="020F0502020204030204"/>
            </a:endParaRPr>
          </a:p>
          <a:p>
            <a:pPr marL="0" lvl="0" indent="0" defTabSz="912813">
              <a:lnSpc>
                <a:spcPct val="100000"/>
              </a:lnSpc>
              <a:spcBef>
                <a:spcPts val="0"/>
              </a:spcBef>
              <a:buNone/>
              <a:tabLst>
                <a:tab pos="917575" algn="l"/>
              </a:tabLst>
              <a:defRPr/>
            </a:pPr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284409-9F7E-B999-331B-A6B760BF4A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AI &amp; Data &gt; AI LLM Technology Architecture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422A9-E0CB-E517-E571-49453E6C098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92875"/>
            <a:ext cx="4114800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2021 Accenture.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A165EE54-802C-C3D5-6BA2-F78B374865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3" b="14383"/>
          <a:stretch/>
        </p:blipFill>
        <p:spPr/>
      </p:pic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376BD4A-1CA6-B68C-7CC9-3879E92011BF}"/>
              </a:ext>
            </a:extLst>
          </p:cNvPr>
          <p:cNvSpPr txBox="1">
            <a:spLocks/>
          </p:cNvSpPr>
          <p:nvPr/>
        </p:nvSpPr>
        <p:spPr>
          <a:xfrm>
            <a:off x="3176139" y="4272380"/>
            <a:ext cx="2012108" cy="115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170781" indent="-170781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133270" algn="l"/>
              </a:tabLst>
              <a:defRPr/>
            </a:pPr>
            <a:endParaRPr lang="en-US" altLang="en-US" sz="800">
              <a:solidFill>
                <a:prstClr val="black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4E31DA8B-0248-1383-59D3-21748D20D5CE}"/>
              </a:ext>
            </a:extLst>
          </p:cNvPr>
          <p:cNvSpPr txBox="1">
            <a:spLocks/>
          </p:cNvSpPr>
          <p:nvPr/>
        </p:nvSpPr>
        <p:spPr>
          <a:xfrm>
            <a:off x="3176124" y="4408128"/>
            <a:ext cx="2012108" cy="1018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s-AR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9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oftware</a:t>
            </a:r>
            <a:r>
              <a:rPr lang="en-US" altLang="en-US" sz="900" dirty="0">
                <a:solidFill>
                  <a:prstClr val="black"/>
                </a:solidFill>
                <a:latin typeface="Calibri" panose="020F0502020204030204"/>
                <a:cs typeface="Arial"/>
              </a:rPr>
              <a:t> y </a:t>
            </a:r>
            <a:r>
              <a:rPr lang="en-US" altLang="en-US" sz="900" dirty="0" err="1">
                <a:solidFill>
                  <a:prstClr val="black"/>
                </a:solidFill>
                <a:latin typeface="Calibri" panose="020F0502020204030204"/>
                <a:cs typeface="Arial"/>
              </a:rPr>
              <a:t>Tecnología</a:t>
            </a:r>
            <a:endParaRPr lang="en-US" altLang="en-US" sz="900">
              <a:solidFill>
                <a:prstClr val="black"/>
              </a:solidFill>
              <a:latin typeface="Calibri" panose="020F0502020204030204"/>
              <a:ea typeface="Calibri"/>
              <a:cs typeface="Arial"/>
            </a:endParaRPr>
          </a:p>
          <a:p>
            <a:pPr marL="170180" indent="-170180">
              <a:lnSpc>
                <a:spcPct val="100000"/>
              </a:lnSpc>
              <a:spcBef>
                <a:spcPts val="450"/>
              </a:spcBef>
              <a:tabLst>
                <a:tab pos="133270" algn="l"/>
              </a:tabLst>
              <a:defRPr/>
            </a:pPr>
            <a:r>
              <a:rPr lang="en-US" sz="900">
                <a:solidFill>
                  <a:prstClr val="black"/>
                </a:solidFill>
                <a:latin typeface="Graphik"/>
                <a:ea typeface="Calibri" panose="020F0502020204030204"/>
                <a:cs typeface="Arial"/>
              </a:rPr>
              <a:t>AI &amp; Data Solutions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  <a:ea typeface="Calibri" panose="020F0502020204030204"/>
                <a:cs typeface="Calibri"/>
              </a:rPr>
              <a:t> </a:t>
            </a:r>
            <a:endParaRPr lang="en-US" altLang="en-US" sz="9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CFD168-758C-7F5A-CBD0-03EFE0EBA595}"/>
              </a:ext>
            </a:extLst>
          </p:cNvPr>
          <p:cNvSpPr txBox="1"/>
          <p:nvPr/>
        </p:nvSpPr>
        <p:spPr>
          <a:xfrm>
            <a:off x="239503" y="5295438"/>
            <a:ext cx="2342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>
                <a:solidFill>
                  <a:srgbClr val="7030A0"/>
                </a:solidFill>
                <a:latin typeface="Graphik" panose="020B0503030202060203" pitchFamily="34" charset="0"/>
              </a:rPr>
              <a:t>CERTIFICATIONS</a:t>
            </a:r>
            <a:endParaRPr lang="en-US" sz="1100" b="1">
              <a:solidFill>
                <a:srgbClr val="7030A0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66BB2-D1BC-3D85-B0BF-ECC95067BCA3}"/>
              </a:ext>
            </a:extLst>
          </p:cNvPr>
          <p:cNvSpPr txBox="1"/>
          <p:nvPr/>
        </p:nvSpPr>
        <p:spPr>
          <a:xfrm>
            <a:off x="341211" y="5571483"/>
            <a:ext cx="278101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000">
                <a:solidFill>
                  <a:prstClr val="black"/>
                </a:solidFill>
              </a:rPr>
              <a:t>AI </a:t>
            </a:r>
            <a:r>
              <a:rPr lang="es-AR" sz="1000" err="1">
                <a:solidFill>
                  <a:prstClr val="black"/>
                </a:solidFill>
              </a:rPr>
              <a:t>Academy</a:t>
            </a:r>
            <a:r>
              <a:rPr lang="es-AR" sz="1000">
                <a:solidFill>
                  <a:prstClr val="black"/>
                </a:solidFill>
              </a:rPr>
              <a:t> –Accenture (2026 – en progreso)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prstClr val="black"/>
                </a:solidFill>
              </a:rPr>
              <a:t>Machine Learning Specialization – Standford University (DeepLearning.ai – Coursera)</a:t>
            </a:r>
          </a:p>
          <a:p>
            <a:endParaRPr 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991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44C9B9-51C1-4799-AC7C-FA632A9C1F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FDDEF0-1083-4094-9B20-46F9C8F14342}">
  <ds:schemaRefs>
    <ds:schemaRef ds:uri="9e1adda6-93f2-443e-b0ef-40d6e1dc8c9d"/>
    <ds:schemaRef ds:uri="9e5dff9b-ec84-400a-8d4d-02e96956639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B4FFC08-6DC1-452C-B9AE-49A674C494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Penacchioni, Ana</dc:creator>
  <cp:revision>47</cp:revision>
  <dcterms:created xsi:type="dcterms:W3CDTF">2022-03-18T18:13:59Z</dcterms:created>
  <dcterms:modified xsi:type="dcterms:W3CDTF">2026-04-15T12:30:44Z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